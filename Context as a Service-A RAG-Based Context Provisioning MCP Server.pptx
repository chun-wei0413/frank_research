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3_0.xml" ContentType="application/vnd.ms-powerpoint.comments+xml"/>
  <Override PartName="/ppt/notesSlides/notesSlide9.xml" ContentType="application/vnd.openxmlformats-officedocument.presentationml.notesSlide+xml"/>
  <Override PartName="/ppt/comments/modernComment_106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1"/>
  </p:notesMasterIdLst>
  <p:sldIdLst>
    <p:sldId id="256" r:id="rId2"/>
    <p:sldId id="257" r:id="rId3"/>
    <p:sldId id="275" r:id="rId4"/>
    <p:sldId id="274" r:id="rId5"/>
    <p:sldId id="276" r:id="rId6"/>
    <p:sldId id="280" r:id="rId7"/>
    <p:sldId id="258" r:id="rId8"/>
    <p:sldId id="259" r:id="rId9"/>
    <p:sldId id="262" r:id="rId10"/>
    <p:sldId id="279" r:id="rId11"/>
    <p:sldId id="264" r:id="rId12"/>
    <p:sldId id="281" r:id="rId13"/>
    <p:sldId id="278" r:id="rId14"/>
    <p:sldId id="282" r:id="rId15"/>
    <p:sldId id="267" r:id="rId16"/>
    <p:sldId id="269" r:id="rId17"/>
    <p:sldId id="270" r:id="rId18"/>
    <p:sldId id="283" r:id="rId19"/>
    <p:sldId id="271" r:id="rId20"/>
  </p:sldIdLst>
  <p:sldSz cx="12192000" cy="6858000"/>
  <p:notesSz cx="7099300" cy="10234613"/>
  <p:embeddedFontLst>
    <p:embeddedFont>
      <p:font typeface="微軟正黑體" panose="020B0604030504040204" pitchFamily="34" charset="-120"/>
      <p:regular r:id="rId22"/>
      <p:bold r:id="rId23"/>
    </p:embeddedFont>
    <p:embeddedFont>
      <p:font typeface="微軟正黑體" panose="020B0604030504040204" pitchFamily="34" charset="-120"/>
      <p:regular r:id="rId22"/>
      <p:bold r:id="rId23"/>
    </p:embeddedFont>
    <p:embeddedFont>
      <p:font typeface="Helvetica Neue" panose="02000503000000020004"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jVYWe9aou/H3Yj/jOOLoPiCa0o6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B2BCC7-BA44-2B2A-85DF-CDA8C59980A1}" name="喻翔 胡" initials="喻胡" userId="bce98f34b5dff7b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p:restoredTop sz="64736" autoAdjust="0"/>
  </p:normalViewPr>
  <p:slideViewPr>
    <p:cSldViewPr snapToGrid="0">
      <p:cViewPr varScale="1">
        <p:scale>
          <a:sx n="87" d="100"/>
          <a:sy n="87" d="100"/>
        </p:scale>
        <p:origin x="1872" y="200"/>
      </p:cViewPr>
      <p:guideLst/>
    </p:cSldViewPr>
  </p:slideViewPr>
  <p:outlineViewPr>
    <p:cViewPr>
      <p:scale>
        <a:sx n="33" d="100"/>
        <a:sy n="33" d="100"/>
      </p:scale>
      <p:origin x="0" y="-235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 Id="rId8" Type="http://schemas.openxmlformats.org/officeDocument/2006/relationships/slide" Target="slides/slide7.xml"/></Relationships>
</file>

<file path=ppt/comments/modernComment_103_0.xml><?xml version="1.0" encoding="utf-8"?>
<p188:cmLst xmlns:a="http://schemas.openxmlformats.org/drawingml/2006/main" xmlns:r="http://schemas.openxmlformats.org/officeDocument/2006/relationships" xmlns:p188="http://schemas.microsoft.com/office/powerpoint/2018/8/main">
  <p188:cm id="{4F54A30C-E2F4-E34D-8455-EFC50681FB80}" authorId="{0EB2BCC7-BA44-2B2A-85DF-CDA8C59980A1}" status="resolved" created="2025-11-20T14:09:41.727" complete="100000">
    <ac:deMkLst xmlns:ac="http://schemas.microsoft.com/office/drawing/2013/main/command">
      <pc:docMk xmlns:pc="http://schemas.microsoft.com/office/powerpoint/2013/main/command"/>
      <pc:sldMk xmlns:pc="http://schemas.microsoft.com/office/powerpoint/2013/main/command" cId="0" sldId="259"/>
      <ac:picMk id="119" creationId="{00000000-0000-0000-0000-000000000000}"/>
    </ac:deMkLst>
    <p188:txBody>
      <a:bodyPr/>
      <a:lstStyle/>
      <a:p>
        <a:r>
          <a:rPr lang="zh-TW" altLang="en-US"/>
          <a:t>字大一點，太小了</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B0A6AD95-1146-5446-99E6-D0F5EDAADB7E}" authorId="{0EB2BCC7-BA44-2B2A-85DF-CDA8C59980A1}" created="2025-11-20T14:22:38.658">
    <pc:sldMkLst xmlns:pc="http://schemas.microsoft.com/office/powerpoint/2013/main/command">
      <pc:docMk/>
      <pc:sldMk cId="0" sldId="262"/>
    </pc:sldMkLst>
    <p188:pos x="11299825" y="1854200"/>
    <p188:txBody>
      <a:bodyPr/>
      <a:lstStyle/>
      <a:p>
        <a:r>
          <a:rPr lang="zh-TW" altLang="en-US"/>
          <a:t>你這邊的備忘稿在寫什麼啦XDDD
『這邊談到概念因為這個不是我想介紹的重點』
這是什麼因果關係XDDD</a:t>
        </a:r>
      </a:p>
    </p188:txBody>
  </p188:cm>
  <p188:cm id="{CE665FD8-6281-EC44-BE7A-93274BCC2E58}" authorId="{0EB2BCC7-BA44-2B2A-85DF-CDA8C59980A1}" created="2025-11-20T14:23:14.111">
    <pc:sldMkLst xmlns:pc="http://schemas.microsoft.com/office/powerpoint/2013/main/command">
      <pc:docMk/>
      <pc:sldMk cId="0" sldId="262"/>
    </pc:sldMkLst>
    <p188:pos x="9740900" y="3133725"/>
    <p188:txBody>
      <a:bodyPr/>
      <a:lstStyle/>
      <a:p>
        <a:r>
          <a:rPr lang="zh-TW" altLang="en-US"/>
          <a:t>文字太小</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1175"/>
          </a:xfrm>
          <a:prstGeom prst="rect">
            <a:avLst/>
          </a:prstGeom>
          <a:noFill/>
          <a:ln>
            <a:noFill/>
          </a:ln>
        </p:spPr>
        <p:txBody>
          <a:bodyPr spcFirstLastPara="1" wrap="square" lIns="99025" tIns="49500" rIns="99025" bIns="49500" anchor="t" anchorCtr="0">
            <a:noAutofit/>
          </a:bodyPr>
          <a:lstStyle>
            <a:lvl1pPr marR="0" lvl="0" algn="l" rtl="0">
              <a:spcBef>
                <a:spcPts val="0"/>
              </a:spcBef>
              <a:spcAft>
                <a:spcPts val="0"/>
              </a:spcAft>
              <a:buSzPts val="1400"/>
              <a:buNone/>
              <a:defRPr sz="13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021138" y="0"/>
            <a:ext cx="3076575" cy="511175"/>
          </a:xfrm>
          <a:prstGeom prst="rect">
            <a:avLst/>
          </a:prstGeom>
          <a:noFill/>
          <a:ln>
            <a:noFill/>
          </a:ln>
        </p:spPr>
        <p:txBody>
          <a:bodyPr spcFirstLastPara="1" wrap="square" lIns="99025" tIns="49500" rIns="99025" bIns="49500" anchor="t" anchorCtr="0">
            <a:noAutofit/>
          </a:bodyPr>
          <a:lstStyle>
            <a:lvl1pPr marR="0" lvl="0" algn="r" rtl="0">
              <a:spcBef>
                <a:spcPts val="0"/>
              </a:spcBef>
              <a:spcAft>
                <a:spcPts val="0"/>
              </a:spcAft>
              <a:buSzPts val="1400"/>
              <a:buNone/>
              <a:defRPr sz="13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850"/>
            <a:ext cx="3076575" cy="511175"/>
          </a:xfrm>
          <a:prstGeom prst="rect">
            <a:avLst/>
          </a:prstGeom>
          <a:noFill/>
          <a:ln>
            <a:noFill/>
          </a:ln>
        </p:spPr>
        <p:txBody>
          <a:bodyPr spcFirstLastPara="1" wrap="square" lIns="99025" tIns="49500" rIns="99025" bIns="49500" anchor="b" anchorCtr="0">
            <a:noAutofit/>
          </a:bodyPr>
          <a:lstStyle>
            <a:lvl1pPr marR="0" lvl="0" algn="l" rtl="0">
              <a:spcBef>
                <a:spcPts val="0"/>
              </a:spcBef>
              <a:spcAft>
                <a:spcPts val="0"/>
              </a:spcAft>
              <a:buSzPts val="1400"/>
              <a:buNone/>
              <a:defRPr sz="13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Arial"/>
                <a:ea typeface="Arial"/>
                <a:cs typeface="Arial"/>
                <a:sym typeface="Arial"/>
              </a:rPr>
              <a:t>‹#›</a:t>
            </a:fld>
            <a:endParaRPr sz="13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en-US" dirty="0" err="1"/>
              <a:t>我會先介紹我在ai</a:t>
            </a:r>
            <a:r>
              <a:rPr lang="en-US" dirty="0"/>
              <a:t> </a:t>
            </a:r>
            <a:r>
              <a:rPr lang="en-US" dirty="0" err="1"/>
              <a:t>codin遇到的問題</a:t>
            </a:r>
            <a:endParaRPr lang="en-US" dirty="0"/>
          </a:p>
          <a:p>
            <a:pPr marL="0" lvl="0" indent="0" algn="l" rtl="0">
              <a:spcBef>
                <a:spcPts val="0"/>
              </a:spcBef>
              <a:spcAft>
                <a:spcPts val="0"/>
              </a:spcAft>
              <a:buNone/>
            </a:pPr>
            <a:r>
              <a:rPr lang="en-US" dirty="0" err="1"/>
              <a:t>然後簡單介紹背景知識</a:t>
            </a:r>
            <a:endParaRPr lang="en-US" dirty="0"/>
          </a:p>
          <a:p>
            <a:pPr marL="0" lvl="0" indent="0" algn="l" rtl="0">
              <a:spcBef>
                <a:spcPts val="0"/>
              </a:spcBef>
              <a:spcAft>
                <a:spcPts val="0"/>
              </a:spcAft>
              <a:buNone/>
            </a:pPr>
            <a:r>
              <a:rPr lang="en-US" dirty="0" err="1"/>
              <a:t>再來講到我用RAG</a:t>
            </a:r>
            <a:r>
              <a:rPr lang="en-US" dirty="0"/>
              <a:t> </a:t>
            </a:r>
            <a:r>
              <a:rPr lang="en-US" dirty="0" err="1"/>
              <a:t>mcp</a:t>
            </a:r>
            <a:r>
              <a:rPr lang="en-US" dirty="0"/>
              <a:t> </a:t>
            </a:r>
            <a:r>
              <a:rPr lang="en-US" dirty="0" err="1"/>
              <a:t>serve來解決這個問題</a:t>
            </a:r>
            <a:endParaRPr lang="en-US" dirty="0"/>
          </a:p>
          <a:p>
            <a:pPr marL="0" lvl="0" indent="0" algn="l" rtl="0">
              <a:spcBef>
                <a:spcPts val="0"/>
              </a:spcBef>
              <a:spcAft>
                <a:spcPts val="0"/>
              </a:spcAft>
              <a:buNone/>
            </a:pPr>
            <a:r>
              <a:rPr lang="en-US" dirty="0" err="1"/>
              <a:t>再來講benefit</a:t>
            </a:r>
            <a:r>
              <a:rPr lang="en-US" dirty="0"/>
              <a:t> &amp; Trade off</a:t>
            </a:r>
          </a:p>
          <a:p>
            <a:pPr marL="0" lvl="0" indent="0" algn="l" rtl="0">
              <a:spcBef>
                <a:spcPts val="0"/>
              </a:spcBef>
              <a:spcAft>
                <a:spcPts val="0"/>
              </a:spcAft>
              <a:buNone/>
            </a:pPr>
            <a:r>
              <a:rPr lang="en-US" dirty="0" err="1"/>
              <a:t>最後總結</a:t>
            </a:r>
            <a:endParaRPr lang="en-US" dirty="0"/>
          </a:p>
        </p:txBody>
      </p:sp>
      <p:sp>
        <p:nvSpPr>
          <p:cNvPr id="95" name="Google Shape;95;p2:notes"/>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2A9E059-6A92-1F2F-7C29-25A75B26F21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64E5305-460B-2AEA-D3E8-00E2FF0991F8}"/>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a:extLst>
              <a:ext uri="{FF2B5EF4-FFF2-40B4-BE49-F238E27FC236}">
                <a16:creationId xmlns:a16="http://schemas.microsoft.com/office/drawing/2014/main" id="{EE8EDB35-87B0-A883-BDDD-65FA0F75BC34}"/>
              </a:ext>
            </a:extLst>
          </p:cNvPr>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fontScale="62500" lnSpcReduction="20000"/>
          </a:bodyPr>
          <a:lstStyle/>
          <a:p>
            <a:r>
              <a:rPr lang="en-US" altLang="zh-TW" sz="3000" b="1" dirty="0"/>
              <a:t>(</a:t>
            </a:r>
            <a:r>
              <a:rPr lang="zh-TW" altLang="en-US" sz="3000" b="1" dirty="0"/>
              <a:t>痛點：為什麼直接把檔案丟給 </a:t>
            </a:r>
            <a:r>
              <a:rPr lang="en-US" altLang="zh-TW" sz="3000" b="1" dirty="0"/>
              <a:t>AI </a:t>
            </a:r>
            <a:r>
              <a:rPr lang="zh-TW" altLang="en-US" sz="3000" b="1" dirty="0"/>
              <a:t>不夠好？）</a:t>
            </a:r>
            <a:endParaRPr lang="en-US" altLang="zh-TW" sz="3000" dirty="0"/>
          </a:p>
          <a:p>
            <a:r>
              <a:rPr lang="zh-TW" altLang="en-US" sz="3000" dirty="0"/>
              <a:t>在使用</a:t>
            </a:r>
            <a:r>
              <a:rPr lang="en-US" altLang="zh-TW" sz="3000" dirty="0"/>
              <a:t>ai coding</a:t>
            </a:r>
            <a:r>
              <a:rPr lang="zh-TW" altLang="en-US" sz="3000" dirty="0"/>
              <a:t>加快系統的開發速度時，我希望可以確保</a:t>
            </a:r>
            <a:r>
              <a:rPr lang="en-US" altLang="zh-TW" sz="3000" dirty="0"/>
              <a:t>ai coding</a:t>
            </a:r>
            <a:r>
              <a:rPr lang="zh-TW" altLang="en-US" sz="3000" dirty="0"/>
              <a:t>的軟體品質，所以我們需要制定很多規範來作為</a:t>
            </a:r>
            <a:r>
              <a:rPr lang="en-US" altLang="zh-TW" sz="3000" dirty="0"/>
              <a:t>AI</a:t>
            </a:r>
            <a:r>
              <a:rPr lang="zh-TW" altLang="en-US" sz="3000" dirty="0"/>
              <a:t>開發的</a:t>
            </a:r>
            <a:r>
              <a:rPr lang="en-US" altLang="zh-TW" sz="3000" dirty="0"/>
              <a:t>context</a:t>
            </a:r>
          </a:p>
          <a:p>
            <a:r>
              <a:rPr lang="zh-TW" altLang="en-US" sz="3000" dirty="0"/>
              <a:t>那這些規範會用</a:t>
            </a:r>
            <a:r>
              <a:rPr lang="en-US" altLang="zh-TW" sz="3000" dirty="0"/>
              <a:t>md</a:t>
            </a:r>
            <a:r>
              <a:rPr lang="zh-TW" altLang="en-US" sz="3000" dirty="0"/>
              <a:t>檔的形式作為</a:t>
            </a:r>
            <a:r>
              <a:rPr lang="en-US" altLang="zh-TW" sz="3000" dirty="0"/>
              <a:t>input</a:t>
            </a:r>
            <a:r>
              <a:rPr lang="zh-TW" altLang="en-US" sz="3000" dirty="0"/>
              <a:t>給予</a:t>
            </a:r>
            <a:r>
              <a:rPr lang="en-US" altLang="zh-TW" sz="3000" dirty="0"/>
              <a:t>ai</a:t>
            </a:r>
          </a:p>
          <a:p>
            <a:r>
              <a:rPr lang="zh-TW" altLang="en-US" sz="3000" dirty="0"/>
              <a:t>那現在有</a:t>
            </a:r>
            <a:r>
              <a:rPr lang="en-US" altLang="zh-TW" sz="3000" dirty="0"/>
              <a:t>3</a:t>
            </a:r>
            <a:r>
              <a:rPr lang="zh-TW" altLang="en-US" sz="3000" dirty="0"/>
              <a:t>個問題是</a:t>
            </a:r>
            <a:br>
              <a:rPr lang="en-US" altLang="zh-TW" sz="3000" dirty="0"/>
            </a:br>
            <a:r>
              <a:rPr lang="en-US" altLang="zh-TW" sz="3000" dirty="0"/>
              <a:t>1. </a:t>
            </a:r>
            <a:r>
              <a:rPr lang="zh-TW" altLang="en-US" sz="3000" dirty="0"/>
              <a:t>維護性：當這些文件越來越大的時候，我們就需要告訴</a:t>
            </a:r>
            <a:r>
              <a:rPr lang="en-US" altLang="zh-TW" sz="3000" dirty="0"/>
              <a:t>ai</a:t>
            </a:r>
            <a:r>
              <a:rPr lang="zh-TW" altLang="en-US" sz="3000" dirty="0"/>
              <a:t>什麼檔案在哪裡看（索引規則），所以開發者需要知道這些</a:t>
            </a:r>
            <a:r>
              <a:rPr lang="en-US" altLang="zh-TW" sz="3000" dirty="0"/>
              <a:t>md</a:t>
            </a:r>
            <a:r>
              <a:rPr lang="zh-TW" altLang="en-US" sz="3000" dirty="0"/>
              <a:t>檔案的位置．</a:t>
            </a:r>
            <a:endParaRPr lang="en-US" altLang="zh-TW" sz="3000" dirty="0"/>
          </a:p>
          <a:p>
            <a:r>
              <a:rPr lang="en-US" altLang="zh-TW" sz="3000" dirty="0"/>
              <a:t>	2. </a:t>
            </a:r>
            <a:r>
              <a:rPr lang="zh-TW" altLang="en-US" sz="3000" dirty="0"/>
              <a:t>注意力稀釋：因為</a:t>
            </a:r>
            <a:r>
              <a:rPr lang="en-US" altLang="zh-TW" sz="3000" dirty="0"/>
              <a:t>Claude code</a:t>
            </a:r>
            <a:r>
              <a:rPr lang="zh-TW" altLang="en-US" sz="3000" dirty="0"/>
              <a:t>在開發的過程中，他會</a:t>
            </a:r>
            <a:r>
              <a:rPr lang="en-US" altLang="zh-TW" sz="3000" dirty="0"/>
              <a:t>scan</a:t>
            </a:r>
            <a:r>
              <a:rPr lang="zh-TW" altLang="en-US" sz="3000" dirty="0"/>
              <a:t>到一些跟你當下任務無關的文件，這些文件會變成雜訊影響</a:t>
            </a:r>
            <a:r>
              <a:rPr lang="en-US" altLang="zh-TW" sz="3000" dirty="0"/>
              <a:t>ai</a:t>
            </a:r>
            <a:r>
              <a:rPr lang="zh-TW" altLang="en-US" sz="3000" dirty="0"/>
              <a:t>當下的判斷．</a:t>
            </a:r>
            <a:endParaRPr lang="en-US" altLang="zh-TW" sz="3000" dirty="0"/>
          </a:p>
          <a:p>
            <a:r>
              <a:rPr lang="zh-TW" altLang="en-US" sz="3000" dirty="0"/>
              <a:t>     </a:t>
            </a:r>
            <a:r>
              <a:rPr lang="en-US" altLang="zh-TW" sz="3000" dirty="0"/>
              <a:t>	3. </a:t>
            </a:r>
            <a:r>
              <a:rPr lang="zh-TW" altLang="en-US" sz="3000" dirty="0"/>
              <a:t>這些文件其實就是靜態檔案放在某個</a:t>
            </a:r>
            <a:r>
              <a:rPr lang="en-US" altLang="zh-TW" sz="3000" dirty="0"/>
              <a:t>folder</a:t>
            </a:r>
            <a:r>
              <a:rPr lang="zh-TW" altLang="en-US" sz="3000" dirty="0"/>
              <a:t>，所以如果你忘記幫這個檔案標註索引，</a:t>
            </a:r>
            <a:r>
              <a:rPr lang="en-US" altLang="zh-TW" sz="3000" dirty="0"/>
              <a:t>AI</a:t>
            </a:r>
            <a:r>
              <a:rPr lang="zh-TW" altLang="en-US" sz="3000" dirty="0"/>
              <a:t>很常忽略這些檔案．</a:t>
            </a:r>
            <a:endParaRPr lang="en-US" altLang="zh-TW" sz="3000" dirty="0"/>
          </a:p>
          <a:p>
            <a:endParaRPr lang="zh-TW" altLang="en-US" sz="3000" dirty="0"/>
          </a:p>
          <a:p>
            <a:pPr marL="0" lvl="0" indent="0" algn="l" rtl="0">
              <a:spcBef>
                <a:spcPts val="0"/>
              </a:spcBef>
              <a:spcAft>
                <a:spcPts val="0"/>
              </a:spcAft>
              <a:buNone/>
            </a:pPr>
            <a:endParaRPr dirty="0"/>
          </a:p>
        </p:txBody>
      </p:sp>
      <p:sp>
        <p:nvSpPr>
          <p:cNvPr id="95" name="Google Shape;95;p2:notes">
            <a:extLst>
              <a:ext uri="{FF2B5EF4-FFF2-40B4-BE49-F238E27FC236}">
                <a16:creationId xmlns:a16="http://schemas.microsoft.com/office/drawing/2014/main" id="{1D8FF03E-B82D-5ADF-40A9-AD8D84ABCB7A}"/>
              </a:ext>
            </a:extLst>
          </p:cNvPr>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571243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EF83967-832D-72D2-0BF0-CE6A750DB9D5}"/>
            </a:ext>
          </a:extLst>
        </p:cNvPr>
        <p:cNvGrpSpPr/>
        <p:nvPr/>
      </p:nvGrpSpPr>
      <p:grpSpPr>
        <a:xfrm>
          <a:off x="0" y="0"/>
          <a:ext cx="0" cy="0"/>
          <a:chOff x="0" y="0"/>
          <a:chExt cx="0" cy="0"/>
        </a:xfrm>
      </p:grpSpPr>
      <p:sp>
        <p:nvSpPr>
          <p:cNvPr id="151" name="Google Shape;151;p8:notes">
            <a:extLst>
              <a:ext uri="{FF2B5EF4-FFF2-40B4-BE49-F238E27FC236}">
                <a16:creationId xmlns:a16="http://schemas.microsoft.com/office/drawing/2014/main" id="{C037575C-EBD7-CA45-E07A-473D00123F72}"/>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8:notes">
            <a:extLst>
              <a:ext uri="{FF2B5EF4-FFF2-40B4-BE49-F238E27FC236}">
                <a16:creationId xmlns:a16="http://schemas.microsoft.com/office/drawing/2014/main" id="{17A64B09-F365-5844-B468-9B6ABF384A0A}"/>
              </a:ext>
            </a:extLst>
          </p:cNvPr>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zh-TW" altLang="en-US" dirty="0"/>
              <a:t>可以看到這些提升</a:t>
            </a:r>
            <a:r>
              <a:rPr lang="en-US" altLang="zh-TW" dirty="0"/>
              <a:t>ai coding</a:t>
            </a:r>
            <a:r>
              <a:rPr lang="zh-TW" altLang="en-US" dirty="0"/>
              <a:t>品質的規範檔案總共有</a:t>
            </a:r>
            <a:r>
              <a:rPr lang="en-US" altLang="zh-TW" dirty="0"/>
              <a:t>240</a:t>
            </a:r>
            <a:r>
              <a:rPr lang="zh-TW" altLang="en-US" dirty="0"/>
              <a:t>個，光</a:t>
            </a:r>
            <a:r>
              <a:rPr lang="en-US" altLang="zh-TW" dirty="0"/>
              <a:t>markdown</a:t>
            </a:r>
            <a:r>
              <a:rPr lang="zh-TW" altLang="en-US" dirty="0"/>
              <a:t>就有</a:t>
            </a:r>
            <a:r>
              <a:rPr lang="en-US" altLang="zh-TW" dirty="0"/>
              <a:t>162</a:t>
            </a:r>
            <a:r>
              <a:rPr lang="zh-TW" altLang="en-US" dirty="0"/>
              <a:t>個，而且他之後有可能繼續膨脹．</a:t>
            </a:r>
            <a:endParaRPr dirty="0"/>
          </a:p>
        </p:txBody>
      </p:sp>
      <p:sp>
        <p:nvSpPr>
          <p:cNvPr id="153" name="Google Shape;153;p8:notes">
            <a:extLst>
              <a:ext uri="{FF2B5EF4-FFF2-40B4-BE49-F238E27FC236}">
                <a16:creationId xmlns:a16="http://schemas.microsoft.com/office/drawing/2014/main" id="{6F405A54-10C2-3774-A1DD-3BCA2C543BBD}"/>
              </a:ext>
            </a:extLst>
          </p:cNvPr>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2465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C5713AE-8A97-9245-EF9E-65BDAC464B6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ABF758B-1B7E-3547-BD5D-8B69A63822A3}"/>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a:extLst>
              <a:ext uri="{FF2B5EF4-FFF2-40B4-BE49-F238E27FC236}">
                <a16:creationId xmlns:a16="http://schemas.microsoft.com/office/drawing/2014/main" id="{B38744D0-5CB9-C3A2-A10C-183CD7B17A58}"/>
              </a:ext>
            </a:extLst>
          </p:cNvPr>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zh-TW" altLang="en-US" dirty="0"/>
              <a:t>這裡可以看到我們為這些文件制定了一些</a:t>
            </a:r>
            <a:r>
              <a:rPr lang="en-US" altLang="zh-TW" dirty="0"/>
              <a:t>index</a:t>
            </a:r>
            <a:r>
              <a:rPr lang="zh-TW" altLang="en-US" dirty="0"/>
              <a:t>資訊，但這只是一小部分．</a:t>
            </a:r>
            <a:endParaRPr dirty="0"/>
          </a:p>
        </p:txBody>
      </p:sp>
      <p:sp>
        <p:nvSpPr>
          <p:cNvPr id="95" name="Google Shape;95;p2:notes">
            <a:extLst>
              <a:ext uri="{FF2B5EF4-FFF2-40B4-BE49-F238E27FC236}">
                <a16:creationId xmlns:a16="http://schemas.microsoft.com/office/drawing/2014/main" id="{BA6C0C3A-7A47-DD2D-5B4A-9B223C3D0264}"/>
              </a:ext>
            </a:extLst>
          </p:cNvPr>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498436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7DE8AE0-2F89-5B2B-36EF-B786E30309B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C6D23C8-2EB6-1FDB-5D7E-2FF5DF374BB2}"/>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a:extLst>
              <a:ext uri="{FF2B5EF4-FFF2-40B4-BE49-F238E27FC236}">
                <a16:creationId xmlns:a16="http://schemas.microsoft.com/office/drawing/2014/main" id="{DC92829F-D940-F803-7A3B-44D6924061B1}"/>
              </a:ext>
            </a:extLst>
          </p:cNvPr>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zh-TW" altLang="en-US" dirty="0"/>
              <a:t>所以我想解決的問題是，如何精準提供</a:t>
            </a:r>
            <a:r>
              <a:rPr lang="en-US" altLang="zh-TW" dirty="0"/>
              <a:t>ai</a:t>
            </a:r>
            <a:r>
              <a:rPr lang="zh-TW" altLang="en-US" dirty="0"/>
              <a:t>他需要的資訊或者是</a:t>
            </a:r>
            <a:r>
              <a:rPr lang="en-US" altLang="zh-TW" dirty="0"/>
              <a:t>context.</a:t>
            </a:r>
          </a:p>
        </p:txBody>
      </p:sp>
      <p:sp>
        <p:nvSpPr>
          <p:cNvPr id="95" name="Google Shape;95;p2:notes">
            <a:extLst>
              <a:ext uri="{FF2B5EF4-FFF2-40B4-BE49-F238E27FC236}">
                <a16:creationId xmlns:a16="http://schemas.microsoft.com/office/drawing/2014/main" id="{D8CA2D0F-2392-43D4-B811-9F83EEC8A98E}"/>
              </a:ext>
            </a:extLst>
          </p:cNvPr>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373043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r>
              <a:rPr lang="en-US" altLang="zh-TW" sz="1200" b="1" i="0" u="none" strike="noStrike" cap="none" dirty="0" err="1">
                <a:solidFill>
                  <a:schemeClr val="dk1"/>
                </a:solidFill>
                <a:effectLst/>
                <a:latin typeface="Calibri"/>
                <a:ea typeface="Calibri"/>
                <a:cs typeface="Calibri"/>
                <a:sym typeface="Calibri"/>
              </a:rPr>
              <a:t>Mcp</a:t>
            </a:r>
            <a:r>
              <a:rPr lang="zh-TW" altLang="en-US" sz="1200" b="1" i="0" u="none" strike="noStrike" cap="none" dirty="0">
                <a:solidFill>
                  <a:schemeClr val="dk1"/>
                </a:solidFill>
                <a:effectLst/>
                <a:latin typeface="Calibri"/>
                <a:ea typeface="Calibri"/>
                <a:cs typeface="Calibri"/>
                <a:sym typeface="Calibri"/>
              </a:rPr>
              <a:t>是開源的標準協定，他讓</a:t>
            </a:r>
            <a:r>
              <a:rPr lang="en-US" altLang="zh-TW" sz="1200" b="1" i="0" u="none" strike="noStrike" cap="none" dirty="0">
                <a:solidFill>
                  <a:schemeClr val="dk1"/>
                </a:solidFill>
                <a:effectLst/>
                <a:latin typeface="Calibri"/>
                <a:ea typeface="Calibri"/>
                <a:cs typeface="Calibri"/>
                <a:sym typeface="Calibri"/>
              </a:rPr>
              <a:t>ai</a:t>
            </a:r>
            <a:r>
              <a:rPr lang="zh-TW" altLang="en-US" sz="1200" b="1" i="0" u="none" strike="noStrike" cap="none" dirty="0">
                <a:solidFill>
                  <a:schemeClr val="dk1"/>
                </a:solidFill>
                <a:effectLst/>
                <a:latin typeface="Calibri"/>
                <a:ea typeface="Calibri"/>
                <a:cs typeface="Calibri"/>
                <a:sym typeface="Calibri"/>
              </a:rPr>
              <a:t>能夠透過這個協定來連接外部系統</a:t>
            </a:r>
            <a:endParaRPr lang="en-US" altLang="zh-TW" sz="1200" b="1" i="0" u="none" strike="noStrike" cap="none" dirty="0">
              <a:solidFill>
                <a:schemeClr val="dk1"/>
              </a:solidFill>
              <a:effectLst/>
              <a:latin typeface="Calibri"/>
              <a:ea typeface="Calibri"/>
              <a:cs typeface="Calibri"/>
              <a:sym typeface="Calibri"/>
            </a:endParaRPr>
          </a:p>
          <a:p>
            <a:r>
              <a:rPr lang="zh-TW" altLang="en-US" sz="1200" b="1" i="0" u="none" strike="noStrike" cap="none" dirty="0">
                <a:solidFill>
                  <a:schemeClr val="dk1"/>
                </a:solidFill>
                <a:effectLst/>
                <a:latin typeface="Calibri"/>
                <a:ea typeface="Calibri"/>
                <a:cs typeface="Calibri"/>
                <a:sym typeface="Calibri"/>
              </a:rPr>
              <a:t>我們可以透過像是</a:t>
            </a:r>
            <a:r>
              <a:rPr lang="en-US" altLang="zh-TW" sz="1200" b="1" i="0" u="none" strike="noStrike" cap="none" dirty="0" err="1">
                <a:solidFill>
                  <a:schemeClr val="dk1"/>
                </a:solidFill>
                <a:effectLst/>
                <a:latin typeface="Calibri"/>
                <a:ea typeface="Calibri"/>
                <a:cs typeface="Calibri"/>
                <a:sym typeface="Calibri"/>
              </a:rPr>
              <a:t>claude</a:t>
            </a:r>
            <a:r>
              <a:rPr lang="en-US" altLang="zh-TW" sz="1200" b="1" i="0" u="none" strike="noStrike" cap="none" dirty="0">
                <a:solidFill>
                  <a:schemeClr val="dk1"/>
                </a:solidFill>
                <a:effectLst/>
                <a:latin typeface="Calibri"/>
                <a:ea typeface="Calibri"/>
                <a:cs typeface="Calibri"/>
                <a:sym typeface="Calibri"/>
              </a:rPr>
              <a:t> or </a:t>
            </a:r>
            <a:r>
              <a:rPr lang="en-US" altLang="zh-TW" sz="1200" b="1" i="0" u="none" strike="noStrike" cap="none" dirty="0" err="1">
                <a:solidFill>
                  <a:schemeClr val="dk1"/>
                </a:solidFill>
                <a:effectLst/>
                <a:latin typeface="Calibri"/>
                <a:ea typeface="Calibri"/>
                <a:cs typeface="Calibri"/>
                <a:sym typeface="Calibri"/>
              </a:rPr>
              <a:t>chatgpt</a:t>
            </a:r>
            <a:r>
              <a:rPr lang="zh-TW" altLang="en-US" sz="1200" b="1" i="0" u="none" strike="noStrike" cap="none" dirty="0">
                <a:solidFill>
                  <a:schemeClr val="dk1"/>
                </a:solidFill>
                <a:effectLst/>
                <a:latin typeface="Calibri"/>
                <a:ea typeface="Calibri"/>
                <a:cs typeface="Calibri"/>
                <a:sym typeface="Calibri"/>
              </a:rPr>
              <a:t>這樣的</a:t>
            </a:r>
            <a:r>
              <a:rPr lang="en-US" altLang="zh-TW" sz="1200" b="1" i="0" u="none" strike="noStrike" cap="none" dirty="0">
                <a:solidFill>
                  <a:schemeClr val="dk1"/>
                </a:solidFill>
                <a:effectLst/>
                <a:latin typeface="Calibri"/>
                <a:ea typeface="Calibri"/>
                <a:cs typeface="Calibri"/>
                <a:sym typeface="Calibri"/>
              </a:rPr>
              <a:t>ai app</a:t>
            </a:r>
            <a:r>
              <a:rPr lang="zh-TW" altLang="en-US" sz="1200" b="1" i="0" u="none" strike="noStrike" cap="none" dirty="0">
                <a:solidFill>
                  <a:schemeClr val="dk1"/>
                </a:solidFill>
                <a:effectLst/>
                <a:latin typeface="Calibri"/>
                <a:ea typeface="Calibri"/>
                <a:cs typeface="Calibri"/>
                <a:sym typeface="Calibri"/>
              </a:rPr>
              <a:t>來</a:t>
            </a:r>
            <a:endParaRPr lang="en-US" altLang="zh-TW" sz="1200" b="1" i="0" u="none" strike="noStrike" cap="none" dirty="0">
              <a:solidFill>
                <a:schemeClr val="dk1"/>
              </a:solidFill>
              <a:effectLst/>
              <a:latin typeface="Calibri"/>
              <a:ea typeface="Calibri"/>
              <a:cs typeface="Calibri"/>
              <a:sym typeface="Calibri"/>
            </a:endParaRPr>
          </a:p>
          <a:p>
            <a:pPr>
              <a:buAutoNum type="arabicPeriod"/>
            </a:pPr>
            <a:r>
              <a:rPr lang="zh-TW" altLang="en-US" sz="1200" b="1" i="0" u="none" strike="noStrike" cap="none" dirty="0">
                <a:solidFill>
                  <a:schemeClr val="dk1"/>
                </a:solidFill>
                <a:effectLst/>
                <a:latin typeface="Calibri"/>
                <a:ea typeface="Calibri"/>
                <a:cs typeface="Calibri"/>
                <a:sym typeface="Calibri"/>
              </a:rPr>
              <a:t>操作</a:t>
            </a:r>
            <a:r>
              <a:rPr lang="en-US" altLang="zh-TW" sz="1200" b="1" i="0" u="none" strike="noStrike" cap="none" dirty="0">
                <a:solidFill>
                  <a:schemeClr val="dk1"/>
                </a:solidFill>
                <a:effectLst/>
                <a:latin typeface="Calibri"/>
                <a:ea typeface="Calibri"/>
                <a:cs typeface="Calibri"/>
                <a:sym typeface="Calibri"/>
              </a:rPr>
              <a:t>data base</a:t>
            </a:r>
            <a:r>
              <a:rPr lang="zh-TW" altLang="en-US" sz="1200" b="1" i="0" u="none" strike="noStrike" cap="none" dirty="0">
                <a:solidFill>
                  <a:schemeClr val="dk1"/>
                </a:solidFill>
                <a:effectLst/>
                <a:latin typeface="Calibri"/>
                <a:ea typeface="Calibri"/>
                <a:cs typeface="Calibri"/>
                <a:sym typeface="Calibri"/>
              </a:rPr>
              <a:t>，拿取</a:t>
            </a:r>
            <a:r>
              <a:rPr lang="en-US" altLang="zh-TW" sz="1200" b="1" i="0" u="none" strike="noStrike" cap="none" dirty="0" err="1">
                <a:solidFill>
                  <a:schemeClr val="dk1"/>
                </a:solidFill>
                <a:effectLst/>
                <a:latin typeface="Calibri"/>
                <a:ea typeface="Calibri"/>
                <a:cs typeface="Calibri"/>
                <a:sym typeface="Calibri"/>
              </a:rPr>
              <a:t>db</a:t>
            </a:r>
            <a:r>
              <a:rPr lang="zh-TW" altLang="en-US" sz="1200" b="1" i="0" u="none" strike="noStrike" cap="none" dirty="0">
                <a:solidFill>
                  <a:schemeClr val="dk1"/>
                </a:solidFill>
                <a:effectLst/>
                <a:latin typeface="Calibri"/>
                <a:ea typeface="Calibri"/>
                <a:cs typeface="Calibri"/>
                <a:sym typeface="Calibri"/>
              </a:rPr>
              <a:t>資料做分析</a:t>
            </a:r>
            <a:endParaRPr lang="en-US" altLang="zh-TW" sz="1200" b="1" i="0" u="none" strike="noStrike" cap="none" dirty="0">
              <a:solidFill>
                <a:schemeClr val="dk1"/>
              </a:solidFill>
              <a:effectLst/>
              <a:latin typeface="Calibri"/>
              <a:ea typeface="Calibri"/>
              <a:cs typeface="Calibri"/>
              <a:sym typeface="Calibri"/>
            </a:endParaRPr>
          </a:p>
          <a:p>
            <a:pPr>
              <a:buAutoNum type="arabicPeriod"/>
            </a:pPr>
            <a:r>
              <a:rPr lang="zh-TW" altLang="en-US" sz="1200" b="1" i="0" u="none" strike="noStrike" cap="none" dirty="0">
                <a:solidFill>
                  <a:schemeClr val="dk1"/>
                </a:solidFill>
                <a:effectLst/>
                <a:latin typeface="Calibri"/>
                <a:ea typeface="Calibri"/>
                <a:cs typeface="Calibri"/>
                <a:sym typeface="Calibri"/>
              </a:rPr>
              <a:t>操作</a:t>
            </a:r>
            <a:r>
              <a:rPr lang="en-US" altLang="zh-TW" sz="1200" b="1" i="0" u="none" strike="noStrike" cap="none" dirty="0" err="1">
                <a:solidFill>
                  <a:schemeClr val="dk1"/>
                </a:solidFill>
                <a:effectLst/>
                <a:latin typeface="Calibri"/>
                <a:ea typeface="Calibri"/>
                <a:cs typeface="Calibri"/>
                <a:sym typeface="Calibri"/>
              </a:rPr>
              <a:t>github</a:t>
            </a:r>
            <a:r>
              <a:rPr lang="zh-TW" altLang="en-US" sz="1200" b="1" i="0" u="none" strike="noStrike" cap="none" dirty="0">
                <a:solidFill>
                  <a:schemeClr val="dk1"/>
                </a:solidFill>
                <a:effectLst/>
                <a:latin typeface="Calibri"/>
                <a:ea typeface="Calibri"/>
                <a:cs typeface="Calibri"/>
                <a:sym typeface="Calibri"/>
              </a:rPr>
              <a:t>這種協作工具，讓</a:t>
            </a:r>
            <a:r>
              <a:rPr lang="en-US" altLang="zh-TW" sz="1200" b="1" i="0" u="none" strike="noStrike" cap="none" dirty="0">
                <a:solidFill>
                  <a:schemeClr val="dk1"/>
                </a:solidFill>
                <a:effectLst/>
                <a:latin typeface="Calibri"/>
                <a:ea typeface="Calibri"/>
                <a:cs typeface="Calibri"/>
                <a:sym typeface="Calibri"/>
              </a:rPr>
              <a:t>ai</a:t>
            </a:r>
            <a:r>
              <a:rPr lang="zh-TW" altLang="en-US" sz="1200" b="1" i="0" u="none" strike="noStrike" cap="none" dirty="0">
                <a:solidFill>
                  <a:schemeClr val="dk1"/>
                </a:solidFill>
                <a:effectLst/>
                <a:latin typeface="Calibri"/>
                <a:ea typeface="Calibri"/>
                <a:cs typeface="Calibri"/>
                <a:sym typeface="Calibri"/>
              </a:rPr>
              <a:t>去看最近的</a:t>
            </a:r>
            <a:r>
              <a:rPr lang="en-US" altLang="zh-TW" sz="1200" b="1" i="0" u="none" strike="noStrike" cap="none" dirty="0">
                <a:solidFill>
                  <a:schemeClr val="dk1"/>
                </a:solidFill>
                <a:effectLst/>
                <a:latin typeface="Calibri"/>
                <a:ea typeface="Calibri"/>
                <a:cs typeface="Calibri"/>
                <a:sym typeface="Calibri"/>
              </a:rPr>
              <a:t>pr</a:t>
            </a:r>
            <a:r>
              <a:rPr lang="zh-TW" altLang="en-US" sz="1200" b="1" i="0" u="none" strike="noStrike" cap="none" dirty="0">
                <a:solidFill>
                  <a:schemeClr val="dk1"/>
                </a:solidFill>
                <a:effectLst/>
                <a:latin typeface="Calibri"/>
                <a:ea typeface="Calibri"/>
                <a:cs typeface="Calibri"/>
                <a:sym typeface="Calibri"/>
              </a:rPr>
              <a:t>有什麼問題．</a:t>
            </a:r>
            <a:endParaRPr lang="en-US" altLang="zh-TW" sz="1200" b="1" i="0" u="none" strike="noStrike" cap="none" dirty="0">
              <a:solidFill>
                <a:schemeClr val="dk1"/>
              </a:solidFill>
              <a:effectLst/>
              <a:latin typeface="Calibri"/>
              <a:ea typeface="Calibri"/>
              <a:cs typeface="Calibri"/>
              <a:sym typeface="Calibri"/>
            </a:endParaRPr>
          </a:p>
          <a:p>
            <a:pPr>
              <a:buAutoNum type="arabicPeriod"/>
            </a:pPr>
            <a:r>
              <a:rPr lang="zh-TW" altLang="en-US" sz="1200" b="1" i="0" u="none" strike="noStrike" cap="none" dirty="0">
                <a:solidFill>
                  <a:schemeClr val="dk1"/>
                </a:solidFill>
                <a:effectLst/>
                <a:latin typeface="Calibri"/>
                <a:ea typeface="Calibri"/>
                <a:cs typeface="Calibri"/>
                <a:sym typeface="Calibri"/>
              </a:rPr>
              <a:t>操作</a:t>
            </a:r>
            <a:r>
              <a:rPr lang="en-US" altLang="zh-TW" sz="1200" b="1" i="0" u="none" strike="noStrike" cap="none" dirty="0">
                <a:solidFill>
                  <a:schemeClr val="dk1"/>
                </a:solidFill>
                <a:effectLst/>
                <a:latin typeface="Calibri"/>
                <a:ea typeface="Calibri"/>
                <a:cs typeface="Calibri"/>
                <a:sym typeface="Calibri"/>
              </a:rPr>
              <a:t>slack</a:t>
            </a:r>
            <a:r>
              <a:rPr lang="zh-TW" altLang="en-US" sz="1200" b="1" i="0" u="none" strike="noStrike" cap="none" dirty="0">
                <a:solidFill>
                  <a:schemeClr val="dk1"/>
                </a:solidFill>
                <a:effectLst/>
                <a:latin typeface="Calibri"/>
                <a:ea typeface="Calibri"/>
                <a:cs typeface="Calibri"/>
                <a:sym typeface="Calibri"/>
              </a:rPr>
              <a:t>辦公室軟體來整理某個群組討論某件事的重點 </a:t>
            </a:r>
            <a:endParaRPr lang="en-US" altLang="zh-TW" sz="1200" b="1" i="0" u="none" strike="noStrike" cap="none" dirty="0">
              <a:solidFill>
                <a:schemeClr val="dk1"/>
              </a:solidFill>
              <a:effectLst/>
              <a:latin typeface="Calibri"/>
              <a:ea typeface="Calibri"/>
              <a:cs typeface="Calibri"/>
              <a:sym typeface="Calibri"/>
            </a:endParaRPr>
          </a:p>
          <a:p>
            <a:pPr>
              <a:buAutoNum type="arabicPeriod"/>
            </a:pPr>
            <a:endParaRPr lang="en-US" altLang="zh-TW" sz="1200" b="1" i="0" u="none" strike="noStrike" cap="none" dirty="0">
              <a:solidFill>
                <a:schemeClr val="dk1"/>
              </a:solidFill>
              <a:effectLst/>
              <a:latin typeface="Calibri"/>
              <a:ea typeface="Calibri"/>
              <a:cs typeface="Calibri"/>
              <a:sym typeface="Calibri"/>
            </a:endParaRPr>
          </a:p>
          <a:p>
            <a:pPr>
              <a:buAutoNum type="arabicPeriod"/>
            </a:pPr>
            <a:r>
              <a:rPr lang="zh-TW" altLang="en-US" sz="1200" b="1" i="0" u="none" strike="noStrike" cap="none" dirty="0">
                <a:solidFill>
                  <a:schemeClr val="dk1"/>
                </a:solidFill>
                <a:effectLst/>
                <a:latin typeface="Calibri"/>
                <a:ea typeface="Calibri"/>
                <a:cs typeface="Calibri"/>
                <a:sym typeface="Calibri"/>
              </a:rPr>
              <a:t>所以</a:t>
            </a:r>
            <a:r>
              <a:rPr lang="en-US" altLang="zh-TW" sz="1200" b="1" i="0" u="none" strike="noStrike" cap="none" dirty="0" err="1">
                <a:solidFill>
                  <a:schemeClr val="dk1"/>
                </a:solidFill>
                <a:effectLst/>
                <a:latin typeface="Calibri"/>
                <a:ea typeface="Calibri"/>
                <a:cs typeface="Calibri"/>
                <a:sym typeface="Calibri"/>
              </a:rPr>
              <a:t>mcp</a:t>
            </a:r>
            <a:r>
              <a:rPr lang="zh-TW" altLang="en-US" sz="1200" b="1" i="0" u="none" strike="noStrike" cap="none" dirty="0">
                <a:solidFill>
                  <a:schemeClr val="dk1"/>
                </a:solidFill>
                <a:effectLst/>
                <a:latin typeface="Calibri"/>
                <a:ea typeface="Calibri"/>
                <a:cs typeface="Calibri"/>
                <a:sym typeface="Calibri"/>
              </a:rPr>
              <a:t>就像是</a:t>
            </a:r>
            <a:r>
              <a:rPr lang="en-US" altLang="zh-TW" sz="1200" b="1" i="0" u="none" strike="noStrike" cap="none" dirty="0">
                <a:solidFill>
                  <a:schemeClr val="dk1"/>
                </a:solidFill>
                <a:effectLst/>
                <a:latin typeface="Calibri"/>
                <a:ea typeface="Calibri"/>
                <a:cs typeface="Calibri"/>
                <a:sym typeface="Calibri"/>
              </a:rPr>
              <a:t>ai</a:t>
            </a:r>
            <a:r>
              <a:rPr lang="zh-TW" altLang="en-US" sz="1200" b="1" i="0" u="none" strike="noStrike" cap="none" dirty="0">
                <a:solidFill>
                  <a:schemeClr val="dk1"/>
                </a:solidFill>
                <a:effectLst/>
                <a:latin typeface="Calibri"/>
                <a:ea typeface="Calibri"/>
                <a:cs typeface="Calibri"/>
                <a:sym typeface="Calibri"/>
              </a:rPr>
              <a:t>的</a:t>
            </a:r>
            <a:r>
              <a:rPr lang="en-US" altLang="zh-TW" sz="1200" b="1" i="0" u="none" strike="noStrike" cap="none" dirty="0" err="1">
                <a:solidFill>
                  <a:schemeClr val="dk1"/>
                </a:solidFill>
                <a:effectLst/>
                <a:latin typeface="Calibri"/>
                <a:ea typeface="Calibri"/>
                <a:cs typeface="Calibri"/>
                <a:sym typeface="Calibri"/>
              </a:rPr>
              <a:t>usb</a:t>
            </a:r>
            <a:r>
              <a:rPr lang="en-US" altLang="zh-TW" sz="1200" b="1" i="0" u="none" strike="noStrike" cap="none" dirty="0">
                <a:solidFill>
                  <a:schemeClr val="dk1"/>
                </a:solidFill>
                <a:effectLst/>
                <a:latin typeface="Calibri"/>
                <a:ea typeface="Calibri"/>
                <a:cs typeface="Calibri"/>
                <a:sym typeface="Calibri"/>
              </a:rPr>
              <a:t>-c</a:t>
            </a:r>
            <a:r>
              <a:rPr lang="zh-TW" altLang="en-US" sz="1200" b="1" i="0" u="none" strike="noStrike" cap="none" dirty="0">
                <a:solidFill>
                  <a:schemeClr val="dk1"/>
                </a:solidFill>
                <a:effectLst/>
                <a:latin typeface="Calibri"/>
                <a:ea typeface="Calibri"/>
                <a:cs typeface="Calibri"/>
                <a:sym typeface="Calibri"/>
              </a:rPr>
              <a:t>接口，提供</a:t>
            </a:r>
            <a:r>
              <a:rPr lang="en-US" altLang="zh-TW" sz="1200" b="1" i="0" u="none" strike="noStrike" cap="none" dirty="0">
                <a:solidFill>
                  <a:schemeClr val="dk1"/>
                </a:solidFill>
                <a:effectLst/>
                <a:latin typeface="Calibri"/>
                <a:ea typeface="Calibri"/>
                <a:cs typeface="Calibri"/>
                <a:sym typeface="Calibri"/>
              </a:rPr>
              <a:t>ai</a:t>
            </a:r>
            <a:r>
              <a:rPr lang="zh-TW" altLang="en-US" sz="1200" b="1" i="0" u="none" strike="noStrike" cap="none" dirty="0">
                <a:solidFill>
                  <a:schemeClr val="dk1"/>
                </a:solidFill>
                <a:effectLst/>
                <a:latin typeface="Calibri"/>
                <a:ea typeface="Calibri"/>
                <a:cs typeface="Calibri"/>
                <a:sym typeface="Calibri"/>
              </a:rPr>
              <a:t>去介接不同的外部系統，如果這些系統有提供</a:t>
            </a:r>
            <a:r>
              <a:rPr lang="en-US" altLang="zh-TW" sz="1200" b="1" i="0" u="none" strike="noStrike" cap="none" dirty="0" err="1">
                <a:solidFill>
                  <a:schemeClr val="dk1"/>
                </a:solidFill>
                <a:effectLst/>
                <a:latin typeface="Calibri"/>
                <a:ea typeface="Calibri"/>
                <a:cs typeface="Calibri"/>
                <a:sym typeface="Calibri"/>
              </a:rPr>
              <a:t>mcp</a:t>
            </a:r>
            <a:r>
              <a:rPr lang="zh-TW" altLang="en-US" sz="1200" b="1" i="0" u="none" strike="noStrike" cap="none" dirty="0">
                <a:solidFill>
                  <a:schemeClr val="dk1"/>
                </a:solidFill>
                <a:effectLst/>
                <a:latin typeface="Calibri"/>
                <a:ea typeface="Calibri"/>
                <a:cs typeface="Calibri"/>
                <a:sym typeface="Calibri"/>
              </a:rPr>
              <a:t>服務的話．</a:t>
            </a:r>
            <a:endParaRPr lang="en-US" altLang="zh-TW" sz="1200" b="1" i="0" u="none" strike="noStrike" cap="none" dirty="0">
              <a:solidFill>
                <a:schemeClr val="dk1"/>
              </a:solidFill>
              <a:effectLst/>
              <a:latin typeface="Calibri"/>
              <a:ea typeface="Calibri"/>
              <a:cs typeface="Calibri"/>
              <a:sym typeface="Calibri"/>
            </a:endParaRPr>
          </a:p>
        </p:txBody>
      </p:sp>
      <p:sp>
        <p:nvSpPr>
          <p:cNvPr id="104" name="Google Shape;104;p3: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pPr marL="0" lvl="0" indent="0" algn="l" rtl="0">
              <a:spcBef>
                <a:spcPts val="360"/>
              </a:spcBef>
              <a:spcAft>
                <a:spcPts val="0"/>
              </a:spcAft>
              <a:buNone/>
            </a:pPr>
            <a:endParaRPr dirty="0"/>
          </a:p>
        </p:txBody>
      </p:sp>
      <p:sp>
        <p:nvSpPr>
          <p:cNvPr id="113" name="Google Shape;113;p4: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7:notes"/>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en-US" altLang="zh-TW" sz="1200" b="0" i="0" dirty="0">
                <a:solidFill>
                  <a:schemeClr val="dk1"/>
                </a:solidFill>
                <a:latin typeface="Calibri"/>
                <a:ea typeface="Calibri"/>
                <a:cs typeface="Calibri"/>
                <a:sym typeface="Calibri"/>
              </a:rPr>
              <a:t>RAG</a:t>
            </a:r>
            <a:r>
              <a:rPr lang="zh-TW" altLang="en-US" sz="1200" b="0" i="0" dirty="0">
                <a:solidFill>
                  <a:schemeClr val="dk1"/>
                </a:solidFill>
                <a:latin typeface="Calibri"/>
                <a:ea typeface="Calibri"/>
                <a:cs typeface="Calibri"/>
                <a:sym typeface="Calibri"/>
              </a:rPr>
              <a:t>是一種</a:t>
            </a:r>
            <a:r>
              <a:rPr lang="en-US" altLang="zh-TW" sz="1200" b="0" i="0" dirty="0">
                <a:solidFill>
                  <a:schemeClr val="dk1"/>
                </a:solidFill>
                <a:latin typeface="Calibri"/>
                <a:ea typeface="Calibri"/>
                <a:cs typeface="Calibri"/>
                <a:sym typeface="Calibri"/>
              </a:rPr>
              <a:t>AI</a:t>
            </a:r>
            <a:r>
              <a:rPr lang="zh-TW" altLang="en-US" sz="1200" b="0" i="0" dirty="0">
                <a:solidFill>
                  <a:schemeClr val="dk1"/>
                </a:solidFill>
                <a:latin typeface="Calibri"/>
                <a:ea typeface="Calibri"/>
                <a:cs typeface="Calibri"/>
                <a:sym typeface="Calibri"/>
              </a:rPr>
              <a:t>技術或方法，它的主要目的是解決大型語言模型 </a:t>
            </a:r>
            <a:r>
              <a:rPr lang="en-US" altLang="zh-TW" sz="1200" b="0" i="0" dirty="0">
                <a:solidFill>
                  <a:schemeClr val="dk1"/>
                </a:solidFill>
                <a:latin typeface="Calibri"/>
                <a:ea typeface="Calibri"/>
                <a:cs typeface="Calibri"/>
                <a:sym typeface="Calibri"/>
              </a:rPr>
              <a:t>(LLM) </a:t>
            </a:r>
            <a:r>
              <a:rPr lang="zh-TW" altLang="en-US" sz="1200" b="0" i="0" dirty="0">
                <a:solidFill>
                  <a:schemeClr val="dk1"/>
                </a:solidFill>
                <a:latin typeface="Calibri"/>
                <a:ea typeface="Calibri"/>
                <a:cs typeface="Calibri"/>
                <a:sym typeface="Calibri"/>
              </a:rPr>
              <a:t>可能會產生不準確、過時資訊或「幻覺」（</a:t>
            </a:r>
            <a:r>
              <a:rPr lang="en-US" altLang="zh-TW" sz="1200" b="0" i="0" dirty="0">
                <a:solidFill>
                  <a:schemeClr val="dk1"/>
                </a:solidFill>
                <a:latin typeface="Calibri"/>
                <a:ea typeface="Calibri"/>
                <a:cs typeface="Calibri"/>
                <a:sym typeface="Calibri"/>
              </a:rPr>
              <a:t>hallucination</a:t>
            </a:r>
            <a:r>
              <a:rPr lang="zh-TW" altLang="en-US" sz="1200" b="0" i="0" dirty="0">
                <a:solidFill>
                  <a:schemeClr val="dk1"/>
                </a:solidFill>
                <a:latin typeface="Calibri"/>
                <a:ea typeface="Calibri"/>
                <a:cs typeface="Calibri"/>
                <a:sym typeface="Calibri"/>
              </a:rPr>
              <a:t>）的問題，透過從外部知識來源檢索相關事實資訊來強化語言模型回答的準確性和可靠性。 </a:t>
            </a:r>
            <a:endParaRPr sz="1200" b="1" i="0" dirty="0">
              <a:solidFill>
                <a:schemeClr val="dk1"/>
              </a:solidFill>
              <a:latin typeface="Calibri"/>
              <a:ea typeface="Calibri"/>
              <a:cs typeface="Calibri"/>
              <a:sym typeface="Calibri"/>
            </a:endParaRPr>
          </a:p>
          <a:p>
            <a:pPr marL="0" lvl="0" indent="0" algn="l" rtl="0">
              <a:spcBef>
                <a:spcPts val="360"/>
              </a:spcBef>
              <a:spcAft>
                <a:spcPts val="0"/>
              </a:spcAft>
              <a:buNone/>
            </a:pPr>
            <a:r>
              <a:rPr lang="en-US" sz="1200" b="1" i="0" dirty="0" err="1">
                <a:solidFill>
                  <a:schemeClr val="dk1"/>
                </a:solidFill>
                <a:latin typeface="Calibri"/>
                <a:ea typeface="Calibri"/>
                <a:cs typeface="Calibri"/>
                <a:sym typeface="Calibri"/>
              </a:rPr>
              <a:t>檢索階段</a:t>
            </a:r>
            <a:r>
              <a:rPr lang="en-US" sz="1200" b="1" i="0" dirty="0">
                <a:solidFill>
                  <a:schemeClr val="dk1"/>
                </a:solidFill>
                <a:latin typeface="Calibri"/>
                <a:ea typeface="Calibri"/>
                <a:cs typeface="Calibri"/>
                <a:sym typeface="Calibri"/>
              </a:rPr>
              <a:t> (Retrieval Phase)</a:t>
            </a:r>
            <a:r>
              <a:rPr lang="en-US" sz="1200" b="0" i="0" dirty="0">
                <a:solidFill>
                  <a:schemeClr val="dk1"/>
                </a:solidFill>
                <a:latin typeface="Calibri"/>
                <a:ea typeface="Calibri"/>
                <a:cs typeface="Calibri"/>
                <a:sym typeface="Calibri"/>
              </a:rPr>
              <a:t>：系統會分析使用者的查詢，並從預先建立好的外部知識庫（例如：企業文件、資料庫、網頁內容等）中，搜尋並找出最相關的資訊片段。這個知識庫通常會經過向量化和索引處理，以便進行快速的語意檢索。</a:t>
            </a:r>
            <a:endParaRPr dirty="0"/>
          </a:p>
          <a:p>
            <a:pPr marL="0" lvl="0" indent="0" algn="l" rtl="0">
              <a:spcBef>
                <a:spcPts val="360"/>
              </a:spcBef>
              <a:spcAft>
                <a:spcPts val="0"/>
              </a:spcAft>
              <a:buNone/>
            </a:pPr>
            <a:r>
              <a:rPr lang="en-US" sz="1200" b="1" i="0" dirty="0" err="1">
                <a:solidFill>
                  <a:schemeClr val="dk1"/>
                </a:solidFill>
                <a:latin typeface="Calibri"/>
                <a:ea typeface="Calibri"/>
                <a:cs typeface="Calibri"/>
                <a:sym typeface="Calibri"/>
              </a:rPr>
              <a:t>增強階段</a:t>
            </a:r>
            <a:r>
              <a:rPr lang="en-US" sz="1200" b="1" i="0" dirty="0">
                <a:solidFill>
                  <a:schemeClr val="dk1"/>
                </a:solidFill>
                <a:latin typeface="Calibri"/>
                <a:ea typeface="Calibri"/>
                <a:cs typeface="Calibri"/>
                <a:sym typeface="Calibri"/>
              </a:rPr>
              <a:t> (Augmentation Phase)</a:t>
            </a:r>
            <a:r>
              <a:rPr lang="en-US" sz="1200" b="0" i="0" dirty="0">
                <a:solidFill>
                  <a:schemeClr val="dk1"/>
                </a:solidFill>
                <a:latin typeface="Calibri"/>
                <a:ea typeface="Calibri"/>
                <a:cs typeface="Calibri"/>
                <a:sym typeface="Calibri"/>
              </a:rPr>
              <a:t>：</a:t>
            </a:r>
            <a:r>
              <a:rPr lang="en-US" sz="1200" b="0" i="0" dirty="0" err="1">
                <a:solidFill>
                  <a:schemeClr val="dk1"/>
                </a:solidFill>
                <a:latin typeface="Calibri"/>
                <a:ea typeface="Calibri"/>
                <a:cs typeface="Calibri"/>
                <a:sym typeface="Calibri"/>
              </a:rPr>
              <a:t>檢索到的相關資訊會被作為「額外的上下文」或「參考資料</a:t>
            </a:r>
            <a:r>
              <a:rPr lang="en-US" sz="1200" b="0" i="0" dirty="0">
                <a:solidFill>
                  <a:schemeClr val="dk1"/>
                </a:solidFill>
                <a:latin typeface="Calibri"/>
                <a:ea typeface="Calibri"/>
                <a:cs typeface="Calibri"/>
                <a:sym typeface="Calibri"/>
              </a:rPr>
              <a:t>」，</a:t>
            </a:r>
            <a:r>
              <a:rPr lang="en-US" sz="1200" b="0" i="0" dirty="0" err="1">
                <a:solidFill>
                  <a:schemeClr val="dk1"/>
                </a:solidFill>
                <a:latin typeface="Calibri"/>
                <a:ea typeface="Calibri"/>
                <a:cs typeface="Calibri"/>
                <a:sym typeface="Calibri"/>
              </a:rPr>
              <a:t>連同原始查詢一起提供給大型語言模型</a:t>
            </a:r>
            <a:r>
              <a:rPr lang="en-US" sz="1200" b="0" i="0" dirty="0">
                <a:solidFill>
                  <a:schemeClr val="dk1"/>
                </a:solidFill>
                <a:latin typeface="Calibri"/>
                <a:ea typeface="Calibri"/>
                <a:cs typeface="Calibri"/>
                <a:sym typeface="Calibri"/>
              </a:rPr>
              <a:t>。</a:t>
            </a:r>
            <a:endParaRPr dirty="0"/>
          </a:p>
          <a:p>
            <a:pPr marL="0" lvl="0" indent="0" algn="l" rtl="0">
              <a:spcBef>
                <a:spcPts val="360"/>
              </a:spcBef>
              <a:spcAft>
                <a:spcPts val="0"/>
              </a:spcAft>
              <a:buNone/>
            </a:pPr>
            <a:r>
              <a:rPr lang="en-US" sz="1200" b="1" i="0" dirty="0" err="1">
                <a:solidFill>
                  <a:schemeClr val="dk1"/>
                </a:solidFill>
                <a:latin typeface="Calibri"/>
                <a:ea typeface="Calibri"/>
                <a:cs typeface="Calibri"/>
                <a:sym typeface="Calibri"/>
              </a:rPr>
              <a:t>生成階段</a:t>
            </a:r>
            <a:r>
              <a:rPr lang="en-US" sz="1200" b="1" i="0" dirty="0">
                <a:solidFill>
                  <a:schemeClr val="dk1"/>
                </a:solidFill>
                <a:latin typeface="Calibri"/>
                <a:ea typeface="Calibri"/>
                <a:cs typeface="Calibri"/>
                <a:sym typeface="Calibri"/>
              </a:rPr>
              <a:t> (Generation Phase)</a:t>
            </a:r>
            <a:r>
              <a:rPr lang="en-US" sz="1200" b="0" i="0" dirty="0">
                <a:solidFill>
                  <a:schemeClr val="dk1"/>
                </a:solidFill>
                <a:latin typeface="Calibri"/>
                <a:ea typeface="Calibri"/>
                <a:cs typeface="Calibri"/>
                <a:sym typeface="Calibri"/>
              </a:rPr>
              <a:t>：</a:t>
            </a:r>
            <a:r>
              <a:rPr lang="en-US" sz="1200" b="0" i="0" dirty="0" err="1">
                <a:solidFill>
                  <a:schemeClr val="dk1"/>
                </a:solidFill>
                <a:latin typeface="Calibri"/>
                <a:ea typeface="Calibri"/>
                <a:cs typeface="Calibri"/>
                <a:sym typeface="Calibri"/>
              </a:rPr>
              <a:t>大型語言模型根據這些豐富的上下文來生成最終答案，而不僅僅依賴其內建的訓練數據</a:t>
            </a:r>
            <a:r>
              <a:rPr lang="en-US" sz="1200" b="0" i="0" dirty="0">
                <a:solidFill>
                  <a:schemeClr val="dk1"/>
                </a:solidFill>
                <a:latin typeface="Calibri"/>
                <a:ea typeface="Calibri"/>
                <a:cs typeface="Calibri"/>
                <a:sym typeface="Calibri"/>
              </a:rPr>
              <a:t>。</a:t>
            </a:r>
          </a:p>
          <a:p>
            <a:pPr marL="0" lvl="0" indent="0" algn="l" rtl="0">
              <a:spcBef>
                <a:spcPts val="360"/>
              </a:spcBef>
              <a:spcAft>
                <a:spcPts val="0"/>
              </a:spcAft>
              <a:buNone/>
            </a:pPr>
            <a:endParaRPr lang="en-US" sz="1200" b="0" i="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zh-TW" altLang="en-US" sz="1200" b="0" i="0" dirty="0">
                <a:solidFill>
                  <a:schemeClr val="dk1"/>
                </a:solidFill>
                <a:latin typeface="Calibri"/>
                <a:ea typeface="Calibri"/>
                <a:cs typeface="Calibri"/>
                <a:sym typeface="Calibri"/>
              </a:rPr>
              <a:t>簡單來說，</a:t>
            </a:r>
            <a:r>
              <a:rPr lang="en" altLang="zh-TW" sz="1200" b="0" i="0" dirty="0">
                <a:solidFill>
                  <a:schemeClr val="dk1"/>
                </a:solidFill>
                <a:latin typeface="Calibri"/>
                <a:ea typeface="Calibri"/>
                <a:cs typeface="Calibri"/>
                <a:sym typeface="Calibri"/>
              </a:rPr>
              <a:t>RAG </a:t>
            </a:r>
            <a:r>
              <a:rPr lang="zh-TW" altLang="en-US" sz="1200" b="0" i="0" dirty="0">
                <a:solidFill>
                  <a:schemeClr val="dk1"/>
                </a:solidFill>
                <a:latin typeface="Calibri"/>
                <a:ea typeface="Calibri"/>
                <a:cs typeface="Calibri"/>
                <a:sym typeface="Calibri"/>
              </a:rPr>
              <a:t>就像是給予 </a:t>
            </a:r>
            <a:r>
              <a:rPr lang="en" altLang="zh-TW" sz="1200" b="0" i="0" dirty="0">
                <a:solidFill>
                  <a:schemeClr val="dk1"/>
                </a:solidFill>
                <a:latin typeface="Calibri"/>
                <a:ea typeface="Calibri"/>
                <a:cs typeface="Calibri"/>
                <a:sym typeface="Calibri"/>
              </a:rPr>
              <a:t>AI </a:t>
            </a:r>
            <a:r>
              <a:rPr lang="zh-TW" altLang="en-US" sz="1200" b="0" i="0" dirty="0">
                <a:solidFill>
                  <a:schemeClr val="dk1"/>
                </a:solidFill>
                <a:latin typeface="Calibri"/>
                <a:ea typeface="Calibri"/>
                <a:cs typeface="Calibri"/>
                <a:sym typeface="Calibri"/>
              </a:rPr>
              <a:t>快速查找「小抄」的能力，讓它在回答問題時更有依據、更可靠。 </a:t>
            </a:r>
            <a:endParaRPr sz="1200" b="0" i="0" dirty="0">
              <a:solidFill>
                <a:schemeClr val="dk1"/>
              </a:solidFill>
              <a:latin typeface="Calibri"/>
              <a:ea typeface="Calibri"/>
              <a:cs typeface="Calibri"/>
              <a:sym typeface="Calibri"/>
            </a:endParaRPr>
          </a:p>
          <a:p>
            <a:pPr marL="0" lvl="0" indent="0" algn="l" rtl="0">
              <a:spcBef>
                <a:spcPts val="360"/>
              </a:spcBef>
              <a:spcAft>
                <a:spcPts val="0"/>
              </a:spcAft>
              <a:buNone/>
            </a:pPr>
            <a:endParaRPr dirty="0"/>
          </a:p>
        </p:txBody>
      </p:sp>
      <p:sp>
        <p:nvSpPr>
          <p:cNvPr id="143" name="Google Shape;143;p7:notes"/>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6E9B7C1A-DD3E-0304-C669-9F81A937F35E}"/>
            </a:ext>
          </a:extLst>
        </p:cNvPr>
        <p:cNvGrpSpPr/>
        <p:nvPr/>
      </p:nvGrpSpPr>
      <p:grpSpPr>
        <a:xfrm>
          <a:off x="0" y="0"/>
          <a:ext cx="0" cy="0"/>
          <a:chOff x="0" y="0"/>
          <a:chExt cx="0" cy="0"/>
        </a:xfrm>
      </p:grpSpPr>
      <p:sp>
        <p:nvSpPr>
          <p:cNvPr id="210" name="Google Shape;210;p14:notes">
            <a:extLst>
              <a:ext uri="{FF2B5EF4-FFF2-40B4-BE49-F238E27FC236}">
                <a16:creationId xmlns:a16="http://schemas.microsoft.com/office/drawing/2014/main" id="{32EB8FB1-0390-1FFA-A7BF-8B3E32F7144D}"/>
              </a:ext>
            </a:extLst>
          </p:cNvPr>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pPr marL="0" lvl="0" indent="0" algn="l" rtl="0">
              <a:spcBef>
                <a:spcPts val="360"/>
              </a:spcBef>
              <a:spcAft>
                <a:spcPts val="0"/>
              </a:spcAft>
              <a:buNone/>
            </a:pPr>
            <a:r>
              <a:rPr lang="zh-TW" altLang="en-US" dirty="0"/>
              <a:t>目前在做</a:t>
            </a:r>
            <a:r>
              <a:rPr lang="en-US" altLang="zh-TW" dirty="0"/>
              <a:t>ai coding</a:t>
            </a:r>
            <a:r>
              <a:rPr lang="zh-TW" altLang="en-US" dirty="0"/>
              <a:t>時我給予</a:t>
            </a:r>
            <a:r>
              <a:rPr lang="en-US" altLang="zh-TW" dirty="0"/>
              <a:t>Claude code</a:t>
            </a:r>
            <a:r>
              <a:rPr lang="zh-TW" altLang="en-US" dirty="0"/>
              <a:t>的</a:t>
            </a:r>
            <a:r>
              <a:rPr lang="en-US" altLang="zh-TW" dirty="0"/>
              <a:t>input</a:t>
            </a:r>
            <a:r>
              <a:rPr lang="zh-TW" altLang="en-US" dirty="0"/>
              <a:t>大致上分成三種．</a:t>
            </a:r>
            <a:endParaRPr lang="en-US" altLang="zh-TW" dirty="0"/>
          </a:p>
          <a:p>
            <a:pPr marL="0" lvl="0" indent="0" algn="l" rtl="0">
              <a:spcBef>
                <a:spcPts val="360"/>
              </a:spcBef>
              <a:spcAft>
                <a:spcPts val="0"/>
              </a:spcAft>
              <a:buNone/>
            </a:pPr>
            <a:r>
              <a:rPr lang="zh-TW" altLang="en-US" dirty="0"/>
              <a:t>第一種是</a:t>
            </a:r>
            <a:r>
              <a:rPr lang="en-US" altLang="zh-TW" dirty="0"/>
              <a:t> .ai </a:t>
            </a:r>
            <a:r>
              <a:rPr lang="zh-TW" altLang="en-US" dirty="0"/>
              <a:t>也就是</a:t>
            </a:r>
            <a:r>
              <a:rPr lang="en-US" altLang="zh-TW" dirty="0"/>
              <a:t>ai</a:t>
            </a:r>
            <a:r>
              <a:rPr lang="zh-TW" altLang="en-US" dirty="0"/>
              <a:t>的通用規則，它包含（</a:t>
            </a:r>
            <a:r>
              <a:rPr lang="en-US" altLang="zh-TW" dirty="0" err="1"/>
              <a:t>DDD,CA,CQRS,Event</a:t>
            </a:r>
            <a:r>
              <a:rPr lang="en-US" altLang="zh-TW" dirty="0"/>
              <a:t> Sourcing</a:t>
            </a:r>
            <a:r>
              <a:rPr lang="zh-TW" altLang="en-US" dirty="0"/>
              <a:t>）之類的規則還有範例程式，還有一些</a:t>
            </a:r>
            <a:r>
              <a:rPr lang="en-US" altLang="zh-TW" dirty="0"/>
              <a:t>code review</a:t>
            </a:r>
            <a:r>
              <a:rPr lang="zh-TW" altLang="en-US" dirty="0"/>
              <a:t>跟定義開發時的</a:t>
            </a:r>
            <a:r>
              <a:rPr lang="en-US" altLang="zh-TW" dirty="0"/>
              <a:t>anti pattern.</a:t>
            </a:r>
          </a:p>
          <a:p>
            <a:pPr marL="0" lvl="0" indent="0" algn="l" rtl="0">
              <a:spcBef>
                <a:spcPts val="360"/>
              </a:spcBef>
              <a:spcAft>
                <a:spcPts val="0"/>
              </a:spcAft>
              <a:buNone/>
            </a:pPr>
            <a:r>
              <a:rPr lang="zh-TW" altLang="en-US" dirty="0"/>
              <a:t>還有</a:t>
            </a:r>
            <a:r>
              <a:rPr lang="en-US" altLang="zh-TW" dirty="0"/>
              <a:t>.dev</a:t>
            </a:r>
            <a:r>
              <a:rPr lang="zh-TW" altLang="en-US" dirty="0"/>
              <a:t>就是專案的特定知識，像是我們給予這個專案的什麼物件，他要帶什麼</a:t>
            </a:r>
            <a:r>
              <a:rPr lang="en-US" altLang="zh-TW" dirty="0"/>
              <a:t>attribute</a:t>
            </a:r>
            <a:r>
              <a:rPr lang="zh-TW" altLang="en-US" dirty="0"/>
              <a:t>，跟哪些物件有依賴，還有這個物件的</a:t>
            </a:r>
            <a:r>
              <a:rPr lang="en-US" altLang="zh-TW" dirty="0" err="1"/>
              <a:t>businessRules</a:t>
            </a:r>
            <a:r>
              <a:rPr lang="zh-TW" altLang="en-US" dirty="0"/>
              <a:t>是什麼</a:t>
            </a:r>
            <a:endParaRPr lang="en-US" altLang="zh-TW" dirty="0"/>
          </a:p>
          <a:p>
            <a:pPr marL="0" lvl="0" indent="0" algn="l" rtl="0">
              <a:spcBef>
                <a:spcPts val="360"/>
              </a:spcBef>
              <a:spcAft>
                <a:spcPts val="0"/>
              </a:spcAft>
              <a:buNone/>
            </a:pPr>
            <a:r>
              <a:rPr lang="zh-TW" altLang="en-US" dirty="0"/>
              <a:t>第三種就是</a:t>
            </a:r>
            <a:r>
              <a:rPr lang="en-US" altLang="zh-TW" dirty="0" err="1"/>
              <a:t>ezSpec</a:t>
            </a:r>
            <a:r>
              <a:rPr lang="zh-TW" altLang="en-US" dirty="0"/>
              <a:t>也就是作為</a:t>
            </a:r>
            <a:r>
              <a:rPr lang="en-US" altLang="zh-TW" dirty="0"/>
              <a:t>ai coding</a:t>
            </a:r>
            <a:r>
              <a:rPr lang="zh-TW" altLang="en-US" dirty="0"/>
              <a:t>的驗收測試．他分成</a:t>
            </a:r>
            <a:r>
              <a:rPr lang="en-US" altLang="zh-TW" dirty="0"/>
              <a:t>feature file and step definition</a:t>
            </a:r>
          </a:p>
          <a:p>
            <a:pPr marL="0" lvl="0" indent="0" algn="l" rtl="0">
              <a:spcBef>
                <a:spcPts val="360"/>
              </a:spcBef>
              <a:spcAft>
                <a:spcPts val="0"/>
              </a:spcAft>
              <a:buNone/>
            </a:pPr>
            <a:r>
              <a:rPr lang="en" altLang="zh-TW" sz="1200" b="0" i="0" u="none" strike="noStrike" cap="none" dirty="0">
                <a:solidFill>
                  <a:schemeClr val="dk1"/>
                </a:solidFill>
                <a:effectLst/>
                <a:latin typeface="Calibri"/>
                <a:ea typeface="Calibri"/>
                <a:cs typeface="Calibri"/>
                <a:sym typeface="Calibri"/>
              </a:rPr>
              <a:t>Feature File </a:t>
            </a:r>
            <a:r>
              <a:rPr lang="zh-TW" altLang="en-US" sz="1200" b="0" i="0" u="none" strike="noStrike" cap="none" dirty="0">
                <a:solidFill>
                  <a:schemeClr val="dk1"/>
                </a:solidFill>
                <a:effectLst/>
                <a:latin typeface="Calibri"/>
                <a:ea typeface="Calibri"/>
                <a:cs typeface="Calibri"/>
                <a:sym typeface="Calibri"/>
              </a:rPr>
              <a:t>是一種使用自然語言（通常是 </a:t>
            </a:r>
            <a:r>
              <a:rPr lang="en" altLang="zh-TW" sz="1200" b="0" i="0" u="none" strike="noStrike" cap="none" dirty="0">
                <a:solidFill>
                  <a:schemeClr val="dk1"/>
                </a:solidFill>
                <a:effectLst/>
                <a:latin typeface="Calibri"/>
                <a:ea typeface="Calibri"/>
                <a:cs typeface="Calibri"/>
                <a:sym typeface="Calibri"/>
              </a:rPr>
              <a:t>Gherkin </a:t>
            </a:r>
            <a:r>
              <a:rPr lang="zh-TW" altLang="en-US" sz="1200" b="0" i="0" u="none" strike="noStrike" cap="none" dirty="0">
                <a:solidFill>
                  <a:schemeClr val="dk1"/>
                </a:solidFill>
                <a:effectLst/>
                <a:latin typeface="Calibri"/>
                <a:ea typeface="Calibri"/>
                <a:cs typeface="Calibri"/>
                <a:sym typeface="Calibri"/>
              </a:rPr>
              <a:t>語法的 </a:t>
            </a:r>
            <a:r>
              <a:rPr lang="en" altLang="zh-TW" sz="1200" b="0" i="0" u="none" strike="noStrike" cap="none" dirty="0">
                <a:solidFill>
                  <a:schemeClr val="dk1"/>
                </a:solidFill>
                <a:effectLst/>
                <a:latin typeface="Calibri"/>
                <a:ea typeface="Calibri"/>
                <a:cs typeface="Calibri"/>
                <a:sym typeface="Calibri"/>
              </a:rPr>
              <a:t>Given/When/Then</a:t>
            </a:r>
            <a:r>
              <a:rPr lang="zh-TW" altLang="en" sz="1200" b="0" i="0" u="none" strike="noStrike" cap="none" dirty="0">
                <a:solidFill>
                  <a:schemeClr val="dk1"/>
                </a:solidFill>
                <a:effectLst/>
                <a:latin typeface="Calibri"/>
                <a:ea typeface="Calibri"/>
                <a:cs typeface="Calibri"/>
                <a:sym typeface="Calibri"/>
              </a:rPr>
              <a:t>）</a:t>
            </a:r>
            <a:r>
              <a:rPr lang="zh-TW" altLang="en-US" sz="1200" b="0" i="0" u="none" strike="noStrike" cap="none" dirty="0">
                <a:solidFill>
                  <a:schemeClr val="dk1"/>
                </a:solidFill>
                <a:effectLst/>
                <a:latin typeface="Calibri"/>
                <a:ea typeface="Calibri"/>
                <a:cs typeface="Calibri"/>
                <a:sym typeface="Calibri"/>
              </a:rPr>
              <a:t>撰寫的文件，用來描述軟體的功能與測試場景，目的是讓開發、測試與非技術人員都能理解系統需求，它定義了系統「要做什麼」。而 </a:t>
            </a:r>
            <a:r>
              <a:rPr lang="en" altLang="zh-TW" sz="1200" b="0" i="0" u="none" strike="noStrike" cap="none" dirty="0">
                <a:solidFill>
                  <a:schemeClr val="dk1"/>
                </a:solidFill>
                <a:effectLst/>
                <a:latin typeface="Calibri"/>
                <a:ea typeface="Calibri"/>
                <a:cs typeface="Calibri"/>
                <a:sym typeface="Calibri"/>
              </a:rPr>
              <a:t>Step Definition </a:t>
            </a:r>
            <a:r>
              <a:rPr lang="zh-TW" altLang="en-US" sz="1200" b="0" i="0" u="none" strike="noStrike" cap="none" dirty="0">
                <a:solidFill>
                  <a:schemeClr val="dk1"/>
                </a:solidFill>
                <a:effectLst/>
                <a:latin typeface="Calibri"/>
                <a:ea typeface="Calibri"/>
                <a:cs typeface="Calibri"/>
                <a:sym typeface="Calibri"/>
              </a:rPr>
              <a:t>則是背後實際運作的程式碼，負責將 </a:t>
            </a:r>
            <a:r>
              <a:rPr lang="en" altLang="zh-TW" sz="1200" b="0" i="0" u="none" strike="noStrike" cap="none" dirty="0">
                <a:solidFill>
                  <a:schemeClr val="dk1"/>
                </a:solidFill>
                <a:effectLst/>
                <a:latin typeface="Calibri"/>
                <a:ea typeface="Calibri"/>
                <a:cs typeface="Calibri"/>
                <a:sym typeface="Calibri"/>
              </a:rPr>
              <a:t>Feature File </a:t>
            </a:r>
            <a:r>
              <a:rPr lang="zh-TW" altLang="en-US" sz="1200" b="0" i="0" u="none" strike="noStrike" cap="none" dirty="0">
                <a:solidFill>
                  <a:schemeClr val="dk1"/>
                </a:solidFill>
                <a:effectLst/>
                <a:latin typeface="Calibri"/>
                <a:ea typeface="Calibri"/>
                <a:cs typeface="Calibri"/>
                <a:sym typeface="Calibri"/>
              </a:rPr>
              <a:t>中的每一句自然語言描述映射到具體的程式邏輯，告訴電腦「該怎麼做」來執行測試。簡單來說，</a:t>
            </a:r>
            <a:r>
              <a:rPr lang="en" altLang="zh-TW" sz="1200" b="0" i="0" u="none" strike="noStrike" cap="none" dirty="0">
                <a:solidFill>
                  <a:schemeClr val="dk1"/>
                </a:solidFill>
                <a:effectLst/>
                <a:latin typeface="Calibri"/>
                <a:ea typeface="Calibri"/>
                <a:cs typeface="Calibri"/>
                <a:sym typeface="Calibri"/>
              </a:rPr>
              <a:t>Feature File </a:t>
            </a:r>
            <a:r>
              <a:rPr lang="zh-TW" altLang="en-US" sz="1200" b="0" i="0" u="none" strike="noStrike" cap="none" dirty="0">
                <a:solidFill>
                  <a:schemeClr val="dk1"/>
                </a:solidFill>
                <a:effectLst/>
                <a:latin typeface="Calibri"/>
                <a:ea typeface="Calibri"/>
                <a:cs typeface="Calibri"/>
                <a:sym typeface="Calibri"/>
              </a:rPr>
              <a:t>是寫給人看的劇本，</a:t>
            </a:r>
            <a:r>
              <a:rPr lang="en" altLang="zh-TW" sz="1200" b="0" i="0" u="none" strike="noStrike" cap="none" dirty="0">
                <a:solidFill>
                  <a:schemeClr val="dk1"/>
                </a:solidFill>
                <a:effectLst/>
                <a:latin typeface="Calibri"/>
                <a:ea typeface="Calibri"/>
                <a:cs typeface="Calibri"/>
                <a:sym typeface="Calibri"/>
              </a:rPr>
              <a:t>Step Definition </a:t>
            </a:r>
            <a:r>
              <a:rPr lang="zh-TW" altLang="en-US" sz="1200" b="0" i="0" u="none" strike="noStrike" cap="none" dirty="0">
                <a:solidFill>
                  <a:schemeClr val="dk1"/>
                </a:solidFill>
                <a:effectLst/>
                <a:latin typeface="Calibri"/>
                <a:ea typeface="Calibri"/>
                <a:cs typeface="Calibri"/>
                <a:sym typeface="Calibri"/>
              </a:rPr>
              <a:t>則是讓劇本能被電腦自動執行的翻譯機。</a:t>
            </a:r>
            <a:endParaRPr lang="en-US" altLang="zh-TW" sz="1200" b="0" i="0" u="none" strike="noStrike" cap="none" dirty="0">
              <a:solidFill>
                <a:schemeClr val="dk1"/>
              </a:solidFill>
              <a:effectLst/>
              <a:latin typeface="Calibri"/>
              <a:ea typeface="Calibri"/>
              <a:cs typeface="Calibri"/>
              <a:sym typeface="Calibri"/>
            </a:endParaRPr>
          </a:p>
          <a:p>
            <a:pPr marL="0" lvl="0" indent="0" algn="l" rtl="0">
              <a:spcBef>
                <a:spcPts val="360"/>
              </a:spcBef>
              <a:spcAft>
                <a:spcPts val="0"/>
              </a:spcAft>
              <a:buNone/>
            </a:pPr>
            <a:endParaRPr lang="en-US" altLang="zh-TW" sz="1200" b="0" i="0" u="none" strike="noStrike" cap="none" dirty="0">
              <a:solidFill>
                <a:schemeClr val="dk1"/>
              </a:solidFill>
              <a:effectLst/>
              <a:latin typeface="Calibri"/>
              <a:cs typeface="Calibri"/>
              <a:sym typeface="Calibri"/>
            </a:endParaRPr>
          </a:p>
          <a:p>
            <a:pPr marL="0" lvl="0" indent="0" algn="l" rtl="0">
              <a:spcBef>
                <a:spcPts val="360"/>
              </a:spcBef>
              <a:spcAft>
                <a:spcPts val="0"/>
              </a:spcAft>
              <a:buNone/>
            </a:pPr>
            <a:r>
              <a:rPr lang="zh-TW" altLang="en-US" sz="1200" b="0" i="0" u="none" strike="noStrike" cap="none" dirty="0">
                <a:solidFill>
                  <a:schemeClr val="dk1"/>
                </a:solidFill>
                <a:effectLst/>
                <a:latin typeface="Calibri"/>
                <a:cs typeface="Calibri"/>
                <a:sym typeface="Calibri"/>
              </a:rPr>
              <a:t>那目前我只有把</a:t>
            </a:r>
            <a:r>
              <a:rPr lang="en-US" altLang="zh-TW" sz="1200" b="0" i="0" u="none" strike="noStrike" cap="none" dirty="0">
                <a:solidFill>
                  <a:schemeClr val="dk1"/>
                </a:solidFill>
                <a:effectLst/>
                <a:latin typeface="Calibri"/>
                <a:cs typeface="Calibri"/>
                <a:sym typeface="Calibri"/>
              </a:rPr>
              <a:t>.ai</a:t>
            </a:r>
            <a:r>
              <a:rPr lang="zh-TW" altLang="en-US" sz="1200" b="0" i="0" u="none" strike="noStrike" cap="none" dirty="0">
                <a:solidFill>
                  <a:schemeClr val="dk1"/>
                </a:solidFill>
                <a:effectLst/>
                <a:latin typeface="Calibri"/>
                <a:cs typeface="Calibri"/>
                <a:sym typeface="Calibri"/>
              </a:rPr>
              <a:t>這裡的資料放在</a:t>
            </a:r>
            <a:r>
              <a:rPr lang="en-US" altLang="zh-TW" sz="1200" b="0" i="0" u="none" strike="noStrike" cap="none" dirty="0" err="1">
                <a:solidFill>
                  <a:schemeClr val="dk1"/>
                </a:solidFill>
                <a:effectLst/>
                <a:latin typeface="Calibri"/>
                <a:cs typeface="Calibri"/>
                <a:sym typeface="Calibri"/>
              </a:rPr>
              <a:t>mcp</a:t>
            </a:r>
            <a:r>
              <a:rPr lang="en-US" altLang="zh-TW" sz="1200" b="0" i="0" u="none" strike="noStrike" cap="none" dirty="0">
                <a:solidFill>
                  <a:schemeClr val="dk1"/>
                </a:solidFill>
                <a:effectLst/>
                <a:latin typeface="Calibri"/>
                <a:cs typeface="Calibri"/>
                <a:sym typeface="Calibri"/>
              </a:rPr>
              <a:t> server</a:t>
            </a:r>
            <a:r>
              <a:rPr lang="zh-TW" altLang="en-US" sz="1200" b="0" i="0" u="none" strike="noStrike" cap="none" dirty="0">
                <a:solidFill>
                  <a:schemeClr val="dk1"/>
                </a:solidFill>
                <a:effectLst/>
                <a:latin typeface="Calibri"/>
                <a:cs typeface="Calibri"/>
                <a:sym typeface="Calibri"/>
              </a:rPr>
              <a:t>提供給</a:t>
            </a:r>
            <a:r>
              <a:rPr lang="en-US" altLang="zh-TW" sz="1200" b="0" i="0" u="none" strike="noStrike" cap="none" dirty="0">
                <a:solidFill>
                  <a:schemeClr val="dk1"/>
                </a:solidFill>
                <a:effectLst/>
                <a:latin typeface="Calibri"/>
                <a:cs typeface="Calibri"/>
                <a:sym typeface="Calibri"/>
              </a:rPr>
              <a:t>ai</a:t>
            </a:r>
            <a:r>
              <a:rPr lang="zh-TW" altLang="en-US" sz="1200" b="0" i="0" u="none" strike="noStrike" cap="none" dirty="0">
                <a:solidFill>
                  <a:schemeClr val="dk1"/>
                </a:solidFill>
                <a:effectLst/>
                <a:latin typeface="Calibri"/>
                <a:cs typeface="Calibri"/>
                <a:sym typeface="Calibri"/>
              </a:rPr>
              <a:t>開發時需要的</a:t>
            </a:r>
            <a:r>
              <a:rPr lang="en-US" altLang="zh-TW" sz="1200" b="0" i="0" u="none" strike="noStrike" cap="none" dirty="0">
                <a:solidFill>
                  <a:schemeClr val="dk1"/>
                </a:solidFill>
                <a:effectLst/>
                <a:latin typeface="Calibri"/>
                <a:cs typeface="Calibri"/>
                <a:sym typeface="Calibri"/>
              </a:rPr>
              <a:t>context</a:t>
            </a:r>
          </a:p>
          <a:p>
            <a:pPr marL="0" lvl="0" indent="0" algn="l" rtl="0">
              <a:spcBef>
                <a:spcPts val="360"/>
              </a:spcBef>
              <a:spcAft>
                <a:spcPts val="0"/>
              </a:spcAft>
              <a:buNone/>
            </a:pPr>
            <a:endParaRPr lang="en-US" altLang="zh-TW" sz="1200" b="0" i="0" u="none" strike="noStrike" cap="none" dirty="0">
              <a:solidFill>
                <a:schemeClr val="dk1"/>
              </a:solidFill>
              <a:effectLst/>
              <a:latin typeface="Calibri"/>
              <a:cs typeface="Calibri"/>
              <a:sym typeface="Calibri"/>
            </a:endParaRPr>
          </a:p>
        </p:txBody>
      </p:sp>
      <p:sp>
        <p:nvSpPr>
          <p:cNvPr id="211" name="Google Shape;211;p14:notes">
            <a:extLst>
              <a:ext uri="{FF2B5EF4-FFF2-40B4-BE49-F238E27FC236}">
                <a16:creationId xmlns:a16="http://schemas.microsoft.com/office/drawing/2014/main" id="{64EC9C9C-04C6-D595-041F-4B585A6A31D1}"/>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483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9:notes"/>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en-US" dirty="0" err="1"/>
              <a:t>我先講我是怎麼讓Claude</a:t>
            </a:r>
            <a:r>
              <a:rPr lang="en-US" dirty="0"/>
              <a:t> </a:t>
            </a:r>
            <a:r>
              <a:rPr lang="en-US" dirty="0" err="1"/>
              <a:t>code去使用這個mcp</a:t>
            </a:r>
            <a:r>
              <a:rPr lang="en-US" dirty="0"/>
              <a:t> </a:t>
            </a:r>
            <a:r>
              <a:rPr lang="en-US" dirty="0" err="1"/>
              <a:t>serve來開發系統</a:t>
            </a:r>
            <a:endParaRPr lang="en-US" dirty="0"/>
          </a:p>
        </p:txBody>
      </p:sp>
      <p:sp>
        <p:nvSpPr>
          <p:cNvPr id="163" name="Google Shape;163;p9:notes"/>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512A95A-3C3D-4562-1D07-6031508C66F6}"/>
            </a:ext>
          </a:extLst>
        </p:cNvPr>
        <p:cNvGrpSpPr/>
        <p:nvPr/>
      </p:nvGrpSpPr>
      <p:grpSpPr>
        <a:xfrm>
          <a:off x="0" y="0"/>
          <a:ext cx="0" cy="0"/>
          <a:chOff x="0" y="0"/>
          <a:chExt cx="0" cy="0"/>
        </a:xfrm>
      </p:grpSpPr>
      <p:sp>
        <p:nvSpPr>
          <p:cNvPr id="161" name="Google Shape;161;p9:notes">
            <a:extLst>
              <a:ext uri="{FF2B5EF4-FFF2-40B4-BE49-F238E27FC236}">
                <a16:creationId xmlns:a16="http://schemas.microsoft.com/office/drawing/2014/main" id="{4841300A-AD1E-0BFA-3D32-99D76015005B}"/>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9:notes">
            <a:extLst>
              <a:ext uri="{FF2B5EF4-FFF2-40B4-BE49-F238E27FC236}">
                <a16:creationId xmlns:a16="http://schemas.microsoft.com/office/drawing/2014/main" id="{9ED2F990-4663-8046-8C70-6AA5442550BE}"/>
              </a:ext>
            </a:extLst>
          </p:cNvPr>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marL="0" lvl="0" indent="0" algn="l" rtl="0">
              <a:spcBef>
                <a:spcPts val="0"/>
              </a:spcBef>
              <a:spcAft>
                <a:spcPts val="0"/>
              </a:spcAft>
              <a:buNone/>
            </a:pPr>
            <a:r>
              <a:rPr lang="zh-TW" altLang="en-US" dirty="0"/>
              <a:t>這個是把</a:t>
            </a:r>
            <a:r>
              <a:rPr lang="en-US" altLang="zh-TW" dirty="0"/>
              <a:t>.ai</a:t>
            </a:r>
            <a:r>
              <a:rPr lang="zh-TW" altLang="en-US" dirty="0"/>
              <a:t>文件存進</a:t>
            </a:r>
            <a:r>
              <a:rPr lang="en-US" altLang="zh-TW" dirty="0" err="1"/>
              <a:t>mcp</a:t>
            </a:r>
            <a:r>
              <a:rPr lang="en-US" altLang="zh-TW" dirty="0"/>
              <a:t> server</a:t>
            </a:r>
            <a:r>
              <a:rPr lang="zh-TW" altLang="en-US" dirty="0"/>
              <a:t>的流程</a:t>
            </a:r>
            <a:r>
              <a:rPr lang="en-US" altLang="zh-TW" dirty="0"/>
              <a:t>,</a:t>
            </a:r>
            <a:r>
              <a:rPr lang="zh-TW" altLang="en-US" dirty="0"/>
              <a:t>先把資料做</a:t>
            </a:r>
            <a:r>
              <a:rPr lang="en-US" altLang="zh-TW" dirty="0"/>
              <a:t>chunking</a:t>
            </a:r>
            <a:r>
              <a:rPr lang="zh-TW" altLang="en-US" dirty="0"/>
              <a:t>因為我們是在做智慧檢索所以整坨資料丟給</a:t>
            </a:r>
            <a:r>
              <a:rPr lang="en-US" altLang="zh-TW" dirty="0"/>
              <a:t>model</a:t>
            </a:r>
            <a:r>
              <a:rPr lang="zh-TW" altLang="en-US" dirty="0"/>
              <a:t>計算可能會影響檢索出來的品質，</a:t>
            </a:r>
            <a:endParaRPr lang="en-US" altLang="zh-TW" dirty="0"/>
          </a:p>
          <a:p>
            <a:pPr marL="0" lvl="0" indent="0" algn="l" rtl="0">
              <a:spcBef>
                <a:spcPts val="0"/>
              </a:spcBef>
              <a:spcAft>
                <a:spcPts val="0"/>
              </a:spcAft>
              <a:buNone/>
            </a:pPr>
            <a:r>
              <a:rPr lang="zh-TW" altLang="en-US" dirty="0"/>
              <a:t>所以我們需要切分這些資料，目前來說切分邏輯就是</a:t>
            </a:r>
            <a:r>
              <a:rPr lang="en-US" altLang="zh-TW" dirty="0"/>
              <a:t>md</a:t>
            </a:r>
            <a:r>
              <a:rPr lang="zh-TW" altLang="en-US" dirty="0"/>
              <a:t>的</a:t>
            </a:r>
            <a:r>
              <a:rPr lang="en-US" altLang="zh-TW" dirty="0"/>
              <a:t>##</a:t>
            </a:r>
            <a:r>
              <a:rPr lang="zh-TW" altLang="en-US" dirty="0"/>
              <a:t>就切一份（等一下會提到這有什麼問題），切完之後就會丟給</a:t>
            </a:r>
            <a:r>
              <a:rPr lang="en-US" altLang="zh-TW" dirty="0"/>
              <a:t>embedding model</a:t>
            </a:r>
            <a:r>
              <a:rPr lang="zh-TW" altLang="en-US" dirty="0"/>
              <a:t>把</a:t>
            </a:r>
            <a:endParaRPr lang="en-US" altLang="zh-TW" dirty="0"/>
          </a:p>
          <a:p>
            <a:pPr marL="0" lvl="0" indent="0" algn="l" rtl="0">
              <a:spcBef>
                <a:spcPts val="0"/>
              </a:spcBef>
              <a:spcAft>
                <a:spcPts val="0"/>
              </a:spcAft>
              <a:buNone/>
            </a:pPr>
            <a:r>
              <a:rPr lang="zh-TW" altLang="en-US" dirty="0"/>
              <a:t>文字語意轉換為向量，最後存到</a:t>
            </a:r>
            <a:r>
              <a:rPr lang="en-US" altLang="zh-TW" dirty="0"/>
              <a:t>vector </a:t>
            </a:r>
            <a:r>
              <a:rPr lang="en-US" altLang="zh-TW" dirty="0" err="1"/>
              <a:t>db</a:t>
            </a:r>
            <a:r>
              <a:rPr lang="zh-TW" altLang="en-US" dirty="0"/>
              <a:t>．</a:t>
            </a:r>
            <a:endParaRPr lang="en-US" altLang="zh-TW" dirty="0"/>
          </a:p>
        </p:txBody>
      </p:sp>
      <p:sp>
        <p:nvSpPr>
          <p:cNvPr id="163" name="Google Shape;163;p9:notes">
            <a:extLst>
              <a:ext uri="{FF2B5EF4-FFF2-40B4-BE49-F238E27FC236}">
                <a16:creationId xmlns:a16="http://schemas.microsoft.com/office/drawing/2014/main" id="{32EF24E8-D2E5-1AFC-3DE3-FF79FB240ECB}"/>
              </a:ext>
            </a:extLst>
          </p:cNvPr>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103310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3091EB06-CC31-CBAB-2A39-CF01B4972B03}"/>
            </a:ext>
          </a:extLst>
        </p:cNvPr>
        <p:cNvGrpSpPr/>
        <p:nvPr/>
      </p:nvGrpSpPr>
      <p:grpSpPr>
        <a:xfrm>
          <a:off x="0" y="0"/>
          <a:ext cx="0" cy="0"/>
          <a:chOff x="0" y="0"/>
          <a:chExt cx="0" cy="0"/>
        </a:xfrm>
      </p:grpSpPr>
      <p:sp>
        <p:nvSpPr>
          <p:cNvPr id="210" name="Google Shape;210;p14:notes">
            <a:extLst>
              <a:ext uri="{FF2B5EF4-FFF2-40B4-BE49-F238E27FC236}">
                <a16:creationId xmlns:a16="http://schemas.microsoft.com/office/drawing/2014/main" id="{BB8A2AAE-E6B2-8E0E-69DF-752B0B56A616}"/>
              </a:ext>
            </a:extLst>
          </p:cNvPr>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pPr marL="0" lvl="0" indent="0" algn="l" rtl="0">
              <a:spcBef>
                <a:spcPts val="360"/>
              </a:spcBef>
              <a:spcAft>
                <a:spcPts val="0"/>
              </a:spcAft>
              <a:buNone/>
            </a:pPr>
            <a:endParaRPr dirty="0"/>
          </a:p>
        </p:txBody>
      </p:sp>
      <p:sp>
        <p:nvSpPr>
          <p:cNvPr id="211" name="Google Shape;211;p14:notes">
            <a:extLst>
              <a:ext uri="{FF2B5EF4-FFF2-40B4-BE49-F238E27FC236}">
                <a16:creationId xmlns:a16="http://schemas.microsoft.com/office/drawing/2014/main" id="{CEAE5155-F260-2693-FBDA-903D6EF941B4}"/>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29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AFC46765-10D2-84CC-8E9A-00DCCEF9131A}"/>
            </a:ext>
          </a:extLst>
        </p:cNvPr>
        <p:cNvGrpSpPr/>
        <p:nvPr/>
      </p:nvGrpSpPr>
      <p:grpSpPr>
        <a:xfrm>
          <a:off x="0" y="0"/>
          <a:ext cx="0" cy="0"/>
          <a:chOff x="0" y="0"/>
          <a:chExt cx="0" cy="0"/>
        </a:xfrm>
      </p:grpSpPr>
      <p:sp>
        <p:nvSpPr>
          <p:cNvPr id="210" name="Google Shape;210;p14:notes">
            <a:extLst>
              <a:ext uri="{FF2B5EF4-FFF2-40B4-BE49-F238E27FC236}">
                <a16:creationId xmlns:a16="http://schemas.microsoft.com/office/drawing/2014/main" id="{33C3DF55-DADA-B8EC-3C48-2A554A71709D}"/>
              </a:ext>
            </a:extLst>
          </p:cNvPr>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pPr marL="0" lvl="0" indent="0" algn="l" rtl="0">
              <a:spcBef>
                <a:spcPts val="360"/>
              </a:spcBef>
              <a:spcAft>
                <a:spcPts val="0"/>
              </a:spcAft>
              <a:buNone/>
            </a:pPr>
            <a:endParaRPr dirty="0"/>
          </a:p>
        </p:txBody>
      </p:sp>
      <p:sp>
        <p:nvSpPr>
          <p:cNvPr id="211" name="Google Shape;211;p14:notes">
            <a:extLst>
              <a:ext uri="{FF2B5EF4-FFF2-40B4-BE49-F238E27FC236}">
                <a16:creationId xmlns:a16="http://schemas.microsoft.com/office/drawing/2014/main" id="{DA0A0138-4155-06D3-A9FA-23867D0D4C10}"/>
              </a:ext>
            </a:extLst>
          </p:cNvPr>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6099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12:notes"/>
          <p:cNvSpPr txBox="1">
            <a:spLocks noGrp="1"/>
          </p:cNvSpPr>
          <p:nvPr>
            <p:ph type="body" idx="1"/>
          </p:nvPr>
        </p:nvSpPr>
        <p:spPr>
          <a:xfrm>
            <a:off x="709613" y="4860925"/>
            <a:ext cx="5680075" cy="4605338"/>
          </a:xfrm>
          <a:prstGeom prst="rect">
            <a:avLst/>
          </a:prstGeom>
          <a:noFill/>
          <a:ln>
            <a:noFill/>
          </a:ln>
        </p:spPr>
        <p:txBody>
          <a:bodyPr spcFirstLastPara="1" wrap="square" lIns="99025" tIns="49500" rIns="99025" bIns="49500" anchor="t" anchorCtr="0">
            <a:normAutofit/>
          </a:bodyPr>
          <a:lstStyle/>
          <a:p>
            <a:pPr lvl="1"/>
            <a:r>
              <a:rPr lang="zh-TW" altLang="en-US" dirty="0"/>
              <a:t>好處：</a:t>
            </a:r>
            <a:endParaRPr lang="en-US" altLang="zh-TW" dirty="0"/>
          </a:p>
          <a:p>
            <a:pPr lvl="1"/>
            <a:r>
              <a:rPr lang="en-US" altLang="zh-TW" dirty="0"/>
              <a:t>1.</a:t>
            </a:r>
            <a:r>
              <a:rPr lang="zh-TW" altLang="en-US" dirty="0"/>
              <a:t>因為他是</a:t>
            </a:r>
            <a:r>
              <a:rPr lang="en-US" altLang="zh-TW" dirty="0" err="1"/>
              <a:t>mcp</a:t>
            </a:r>
            <a:r>
              <a:rPr lang="en-US" altLang="zh-TW" dirty="0"/>
              <a:t> server</a:t>
            </a:r>
            <a:r>
              <a:rPr lang="zh-TW" altLang="en-US" dirty="0"/>
              <a:t>，所以所有</a:t>
            </a:r>
            <a:r>
              <a:rPr lang="en-US" altLang="zh-TW" dirty="0"/>
              <a:t>ai app</a:t>
            </a:r>
            <a:r>
              <a:rPr lang="zh-TW" altLang="en-US" dirty="0"/>
              <a:t>都可以使用它，以我的例子就是</a:t>
            </a:r>
            <a:r>
              <a:rPr lang="en-US" altLang="zh-TW" dirty="0" err="1"/>
              <a:t>claude</a:t>
            </a:r>
            <a:r>
              <a:rPr lang="en-US" altLang="zh-TW" dirty="0"/>
              <a:t> desktop</a:t>
            </a:r>
            <a:r>
              <a:rPr lang="zh-TW" altLang="en-US" dirty="0"/>
              <a:t>也可以使用它來學習或者查詢我們開發</a:t>
            </a:r>
            <a:r>
              <a:rPr lang="en-US" altLang="zh-TW" dirty="0" err="1"/>
              <a:t>ezkanban</a:t>
            </a:r>
            <a:r>
              <a:rPr lang="zh-TW" altLang="en-US" dirty="0"/>
              <a:t>使用的</a:t>
            </a:r>
            <a:r>
              <a:rPr lang="en-US" altLang="zh-TW" dirty="0"/>
              <a:t>pattern</a:t>
            </a:r>
            <a:r>
              <a:rPr lang="zh-TW" altLang="en-US" dirty="0"/>
              <a:t>知識．</a:t>
            </a:r>
            <a:endParaRPr lang="en-US" altLang="zh-TW" dirty="0"/>
          </a:p>
          <a:p>
            <a:pPr lvl="1"/>
            <a:r>
              <a:rPr lang="en-US" altLang="zh-TW" dirty="0"/>
              <a:t>2.</a:t>
            </a:r>
            <a:r>
              <a:rPr lang="zh-TW" altLang="en-US" dirty="0"/>
              <a:t>相較於一般放在</a:t>
            </a:r>
            <a:r>
              <a:rPr lang="en-US" altLang="zh-TW" dirty="0"/>
              <a:t>file system</a:t>
            </a:r>
            <a:r>
              <a:rPr lang="zh-TW" altLang="en-US" dirty="0"/>
              <a:t>好維護是因為他只會有一份，你同時有很多</a:t>
            </a:r>
            <a:r>
              <a:rPr lang="en-US" altLang="zh-TW" dirty="0"/>
              <a:t>side project</a:t>
            </a:r>
            <a:r>
              <a:rPr lang="zh-TW" altLang="en-US" dirty="0"/>
              <a:t>會用到這個</a:t>
            </a:r>
            <a:r>
              <a:rPr lang="en-US" altLang="zh-TW" dirty="0"/>
              <a:t>server</a:t>
            </a:r>
            <a:r>
              <a:rPr lang="zh-TW" altLang="en-US" dirty="0"/>
              <a:t>不會有像存在</a:t>
            </a:r>
            <a:r>
              <a:rPr lang="en-US" altLang="zh-TW" dirty="0"/>
              <a:t>file</a:t>
            </a:r>
            <a:r>
              <a:rPr lang="zh-TW" altLang="en-US" dirty="0"/>
              <a:t>版本不一致的問題．</a:t>
            </a:r>
            <a:endParaRPr lang="en-US" altLang="zh-TW" dirty="0"/>
          </a:p>
          <a:p>
            <a:pPr lvl="1"/>
            <a:r>
              <a:rPr lang="en-US" altLang="zh-TW" dirty="0"/>
              <a:t>3.</a:t>
            </a:r>
            <a:r>
              <a:rPr lang="zh-TW" altLang="en-US" dirty="0"/>
              <a:t>因為原先我們要消耗</a:t>
            </a:r>
            <a:r>
              <a:rPr lang="en-US" altLang="zh-TW" dirty="0"/>
              <a:t>token</a:t>
            </a:r>
            <a:r>
              <a:rPr lang="zh-TW" altLang="en-US" dirty="0"/>
              <a:t>來搜尋或者</a:t>
            </a:r>
            <a:r>
              <a:rPr lang="en-US" altLang="zh-TW" dirty="0"/>
              <a:t>scan</a:t>
            </a:r>
            <a:r>
              <a:rPr lang="zh-TW" altLang="en-US" dirty="0"/>
              <a:t>我們要的檔案，但現在我們把找檔案這件事交給</a:t>
            </a:r>
            <a:r>
              <a:rPr lang="en-US" altLang="zh-TW" dirty="0" err="1"/>
              <a:t>mcp</a:t>
            </a:r>
            <a:r>
              <a:rPr lang="en-US" altLang="zh-TW" dirty="0"/>
              <a:t> server(</a:t>
            </a:r>
            <a:r>
              <a:rPr lang="zh-TW" altLang="en-US" dirty="0"/>
              <a:t>讓</a:t>
            </a:r>
            <a:r>
              <a:rPr lang="en-US" altLang="zh-TW" dirty="0" err="1"/>
              <a:t>claude</a:t>
            </a:r>
            <a:r>
              <a:rPr lang="en-US" altLang="zh-TW" dirty="0"/>
              <a:t> code</a:t>
            </a:r>
            <a:r>
              <a:rPr lang="zh-TW" altLang="en-US" dirty="0"/>
              <a:t>少走彎路</a:t>
            </a:r>
            <a:r>
              <a:rPr lang="en-US" altLang="zh-TW" dirty="0"/>
              <a:t>)</a:t>
            </a:r>
            <a:r>
              <a:rPr lang="zh-TW" altLang="en-US" dirty="0"/>
              <a:t>，</a:t>
            </a:r>
            <a:endParaRPr lang="en-US" altLang="zh-TW" dirty="0"/>
          </a:p>
          <a:p>
            <a:pPr lvl="1"/>
            <a:r>
              <a:rPr lang="zh-TW" altLang="en-US" dirty="0"/>
              <a:t>所以理論上他消耗的</a:t>
            </a:r>
            <a:r>
              <a:rPr lang="en-US" altLang="zh-TW" dirty="0"/>
              <a:t>token</a:t>
            </a:r>
            <a:r>
              <a:rPr lang="zh-TW" altLang="en-US" dirty="0"/>
              <a:t>應該要比較少．因為這些</a:t>
            </a:r>
            <a:r>
              <a:rPr lang="en-US" altLang="zh-TW" dirty="0"/>
              <a:t>token</a:t>
            </a:r>
            <a:r>
              <a:rPr lang="zh-TW" altLang="en-US" dirty="0"/>
              <a:t>都是錢．</a:t>
            </a:r>
            <a:endParaRPr lang="en-US" altLang="zh-TW" dirty="0"/>
          </a:p>
          <a:p>
            <a:pPr lvl="1"/>
            <a:endParaRPr lang="en-US" altLang="zh-TW" dirty="0"/>
          </a:p>
          <a:p>
            <a:pPr lvl="1"/>
            <a:r>
              <a:rPr lang="en-US" altLang="zh-TW" dirty="0"/>
              <a:t>Trade offs</a:t>
            </a:r>
            <a:r>
              <a:rPr lang="zh-TW" altLang="en-US" dirty="0"/>
              <a:t>取捨</a:t>
            </a:r>
            <a:endParaRPr lang="en-US" altLang="zh-TW" dirty="0"/>
          </a:p>
          <a:p>
            <a:pPr lvl="1"/>
            <a:r>
              <a:rPr lang="en-US" altLang="zh-TW" dirty="0"/>
              <a:t>1.</a:t>
            </a:r>
            <a:r>
              <a:rPr lang="zh-TW" altLang="en-US" dirty="0"/>
              <a:t>多了這個</a:t>
            </a:r>
            <a:r>
              <a:rPr lang="en-US" altLang="zh-TW" dirty="0" err="1"/>
              <a:t>mcp</a:t>
            </a:r>
            <a:r>
              <a:rPr lang="en-US" altLang="zh-TW" dirty="0"/>
              <a:t> server</a:t>
            </a:r>
            <a:r>
              <a:rPr lang="zh-TW" altLang="en-US" dirty="0"/>
              <a:t>會讓單純提供</a:t>
            </a:r>
            <a:r>
              <a:rPr lang="en-US" altLang="zh-TW" dirty="0"/>
              <a:t>spec</a:t>
            </a:r>
            <a:r>
              <a:rPr lang="zh-TW" altLang="en-US" dirty="0"/>
              <a:t>給</a:t>
            </a:r>
            <a:r>
              <a:rPr lang="en-US" altLang="zh-TW" dirty="0"/>
              <a:t>Claude code</a:t>
            </a:r>
            <a:r>
              <a:rPr lang="zh-TW" altLang="en-US" dirty="0"/>
              <a:t>這件事變複雜</a:t>
            </a:r>
            <a:endParaRPr lang="en-US" altLang="zh-TW" dirty="0"/>
          </a:p>
          <a:p>
            <a:pPr lvl="1"/>
            <a:r>
              <a:rPr lang="en-US" altLang="zh-TW" dirty="0"/>
              <a:t>2.</a:t>
            </a:r>
            <a:r>
              <a:rPr lang="zh-TW" altLang="en-US" dirty="0"/>
              <a:t>透過</a:t>
            </a:r>
            <a:r>
              <a:rPr lang="en-US" altLang="zh-TW" dirty="0" err="1"/>
              <a:t>mcp</a:t>
            </a:r>
            <a:r>
              <a:rPr lang="en-US" altLang="zh-TW" dirty="0"/>
              <a:t> server</a:t>
            </a:r>
            <a:r>
              <a:rPr lang="zh-TW" altLang="en-US" dirty="0"/>
              <a:t>檢索出來的</a:t>
            </a:r>
            <a:r>
              <a:rPr lang="en-US" altLang="zh-TW" dirty="0"/>
              <a:t>context</a:t>
            </a:r>
            <a:r>
              <a:rPr lang="zh-TW" altLang="en-US" dirty="0"/>
              <a:t>準確度會直接影響到</a:t>
            </a:r>
            <a:r>
              <a:rPr lang="en-US" altLang="zh-TW" dirty="0"/>
              <a:t>Claude code</a:t>
            </a:r>
            <a:r>
              <a:rPr lang="zh-TW" altLang="en-US" dirty="0"/>
              <a:t>生成</a:t>
            </a:r>
            <a:r>
              <a:rPr lang="en-US" altLang="zh-TW" dirty="0"/>
              <a:t>code</a:t>
            </a:r>
            <a:r>
              <a:rPr lang="zh-TW" altLang="en-US" dirty="0"/>
              <a:t>的品質</a:t>
            </a:r>
            <a:endParaRPr lang="en-US" altLang="zh-TW" dirty="0"/>
          </a:p>
          <a:p>
            <a:pPr lvl="1"/>
            <a:endParaRPr lang="en-US" altLang="zh-TW" dirty="0"/>
          </a:p>
          <a:p>
            <a:pPr lvl="1"/>
            <a:endParaRPr lang="en-US" altLang="zh-TW" dirty="0"/>
          </a:p>
        </p:txBody>
      </p:sp>
      <p:sp>
        <p:nvSpPr>
          <p:cNvPr id="193" name="Google Shape;193;p12:notes"/>
          <p:cNvSpPr txBox="1">
            <a:spLocks noGrp="1"/>
          </p:cNvSpPr>
          <p:nvPr>
            <p:ph type="sldNum" idx="12"/>
          </p:nvPr>
        </p:nvSpPr>
        <p:spPr>
          <a:xfrm>
            <a:off x="4021138" y="9721850"/>
            <a:ext cx="3076575" cy="511175"/>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r>
              <a:rPr lang="en-US" altLang="zh-TW" b="1" dirty="0"/>
              <a:t>Summary</a:t>
            </a:r>
            <a:r>
              <a:rPr lang="zh-TW" altLang="en-US" dirty="0"/>
              <a:t>：透過 </a:t>
            </a:r>
            <a:r>
              <a:rPr lang="en-US" altLang="zh-TW" dirty="0"/>
              <a:t>RAG-based MCP Server</a:t>
            </a:r>
            <a:r>
              <a:rPr lang="zh-TW" altLang="en-US" dirty="0"/>
              <a:t>，我們將 </a:t>
            </a:r>
            <a:r>
              <a:rPr lang="en-US" altLang="zh-TW" dirty="0"/>
              <a:t>AI </a:t>
            </a:r>
            <a:r>
              <a:rPr lang="zh-TW" altLang="en-US" dirty="0"/>
              <a:t>從一個「需要被餵食大量文件的讀者」，轉變為一個「懂得主動查閱圖書館的專家」。</a:t>
            </a:r>
          </a:p>
          <a:p>
            <a:r>
              <a:rPr lang="en-US" altLang="zh-TW" b="1" dirty="0"/>
              <a:t>vision</a:t>
            </a:r>
            <a:r>
              <a:rPr lang="zh-TW" altLang="en-US" dirty="0"/>
              <a:t>：這為 </a:t>
            </a:r>
            <a:r>
              <a:rPr lang="en-US" altLang="zh-TW" b="1" dirty="0"/>
              <a:t>Spec-Driven Development</a:t>
            </a:r>
            <a:r>
              <a:rPr lang="zh-TW" altLang="en-US" dirty="0"/>
              <a:t> 奠定了基礎</a:t>
            </a:r>
            <a:r>
              <a:rPr lang="en-US" altLang="zh-TW" dirty="0"/>
              <a:t>——</a:t>
            </a:r>
            <a:r>
              <a:rPr lang="zh-TW" altLang="en-US" dirty="0"/>
              <a:t>只要給定明確的需求，</a:t>
            </a:r>
            <a:r>
              <a:rPr lang="en-US" altLang="zh-TW" dirty="0"/>
              <a:t>AI </a:t>
            </a:r>
            <a:r>
              <a:rPr lang="zh-TW" altLang="en-US" dirty="0"/>
              <a:t>就能自動檢索對應的架構知識來完成任務。</a:t>
            </a:r>
          </a:p>
          <a:p>
            <a:pPr marL="0" lvl="0" indent="0" algn="l" rtl="0">
              <a:spcBef>
                <a:spcPts val="360"/>
              </a:spcBef>
              <a:spcAft>
                <a:spcPts val="0"/>
              </a:spcAft>
              <a:buNone/>
            </a:pPr>
            <a:endParaRPr dirty="0"/>
          </a:p>
        </p:txBody>
      </p:sp>
      <p:sp>
        <p:nvSpPr>
          <p:cNvPr id="211" name="Google Shape;211;p14: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5:notes"/>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pPr marL="0" lvl="0" indent="0" algn="l" rtl="0">
              <a:spcBef>
                <a:spcPts val="360"/>
              </a:spcBef>
              <a:spcAft>
                <a:spcPts val="0"/>
              </a:spcAft>
              <a:buNone/>
            </a:pPr>
            <a:endParaRPr dirty="0"/>
          </a:p>
        </p:txBody>
      </p:sp>
      <p:sp>
        <p:nvSpPr>
          <p:cNvPr id="220" name="Google Shape;220;p15: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Arial"/>
                <a:ea typeface="Arial"/>
                <a:cs typeface="Arial"/>
                <a:sym typeface="Arial"/>
              </a:rPr>
              <a:t>18</a:t>
            </a:fld>
            <a:endParaRPr lang="en-US" sz="13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5524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6:notes"/>
          <p:cNvSpPr txBox="1">
            <a:spLocks noGrp="1"/>
          </p:cNvSpPr>
          <p:nvPr>
            <p:ph type="body" idx="1"/>
          </p:nvPr>
        </p:nvSpPr>
        <p:spPr>
          <a:xfrm>
            <a:off x="709613" y="4860925"/>
            <a:ext cx="5680075" cy="4605338"/>
          </a:xfrm>
          <a:prstGeom prst="rect">
            <a:avLst/>
          </a:prstGeom>
        </p:spPr>
        <p:txBody>
          <a:bodyPr spcFirstLastPara="1" wrap="square" lIns="99025" tIns="49500" rIns="99025" bIns="49500" anchor="t" anchorCtr="0">
            <a:noAutofit/>
          </a:bodyPr>
          <a:lstStyle/>
          <a:p>
            <a:pPr marL="0" lvl="0" indent="0" algn="l" rtl="0">
              <a:spcBef>
                <a:spcPts val="360"/>
              </a:spcBef>
              <a:spcAft>
                <a:spcPts val="0"/>
              </a:spcAft>
              <a:buNone/>
            </a:pPr>
            <a:endParaRPr/>
          </a:p>
        </p:txBody>
      </p:sp>
      <p:sp>
        <p:nvSpPr>
          <p:cNvPr id="229" name="Google Shape;229;p16: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1523968" y="1285861"/>
            <a:ext cx="103632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0" cap="none">
                <a:solidFill>
                  <a:schemeClr val="lt1"/>
                </a:solidFill>
                <a:latin typeface="Microsoft JhengHei"/>
                <a:ea typeface="Microsoft JhengHei"/>
                <a:cs typeface="Microsoft JhengHei"/>
                <a:sym typeface="Microsoft JhengHe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523968" y="3071810"/>
            <a:ext cx="8534400" cy="1752600"/>
          </a:xfrm>
          <a:prstGeom prst="rect">
            <a:avLst/>
          </a:prstGeom>
          <a:noFill/>
          <a:ln>
            <a:noFill/>
          </a:ln>
        </p:spPr>
        <p:txBody>
          <a:bodyPr spcFirstLastPara="1" wrap="square" lIns="91425" tIns="45700" rIns="91425" bIns="45700" anchor="t" anchorCtr="0">
            <a:noAutofit/>
          </a:bodyPr>
          <a:lstStyle>
            <a:lvl1pPr lvl="0" algn="l">
              <a:spcBef>
                <a:spcPts val="640"/>
              </a:spcBef>
              <a:spcAft>
                <a:spcPts val="0"/>
              </a:spcAft>
              <a:buClr>
                <a:srgbClr val="F2F2F2"/>
              </a:buClr>
              <a:buSzPts val="3200"/>
              <a:buNone/>
              <a:defRPr>
                <a:solidFill>
                  <a:srgbClr val="F2F2F2"/>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10253F"/>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10253F"/>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10253F"/>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10253F"/>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10253F"/>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10253F"/>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10253F"/>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10253F"/>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9"/>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F243E"/>
              </a:buClr>
              <a:buSzPts val="3200"/>
              <a:buChar char="•"/>
              <a:defRPr>
                <a:solidFill>
                  <a:srgbClr val="0F243E"/>
                </a:solidFill>
              </a:defRPr>
            </a:lvl1pPr>
            <a:lvl2pPr marL="914400" lvl="1" indent="-406400" algn="l">
              <a:spcBef>
                <a:spcPts val="560"/>
              </a:spcBef>
              <a:spcAft>
                <a:spcPts val="0"/>
              </a:spcAft>
              <a:buClr>
                <a:srgbClr val="0F243E"/>
              </a:buClr>
              <a:buSzPts val="2800"/>
              <a:buChar char="–"/>
              <a:defRPr>
                <a:solidFill>
                  <a:srgbClr val="0F243E"/>
                </a:solidFill>
              </a:defRPr>
            </a:lvl2pPr>
            <a:lvl3pPr marL="1371600" lvl="2" indent="-381000" algn="l">
              <a:spcBef>
                <a:spcPts val="480"/>
              </a:spcBef>
              <a:spcAft>
                <a:spcPts val="0"/>
              </a:spcAft>
              <a:buClr>
                <a:srgbClr val="0F243E"/>
              </a:buClr>
              <a:buSzPts val="2400"/>
              <a:buChar char="•"/>
              <a:defRPr>
                <a:solidFill>
                  <a:srgbClr val="0F243E"/>
                </a:solidFill>
              </a:defRPr>
            </a:lvl3pPr>
            <a:lvl4pPr marL="1828800" lvl="3" indent="-355600" algn="l">
              <a:spcBef>
                <a:spcPts val="400"/>
              </a:spcBef>
              <a:spcAft>
                <a:spcPts val="0"/>
              </a:spcAft>
              <a:buClr>
                <a:srgbClr val="0F243E"/>
              </a:buClr>
              <a:buSzPts val="2000"/>
              <a:buChar char="–"/>
              <a:defRPr>
                <a:solidFill>
                  <a:srgbClr val="0F243E"/>
                </a:solidFill>
              </a:defRPr>
            </a:lvl4pPr>
            <a:lvl5pPr marL="2286000" lvl="4" indent="-355600" algn="l">
              <a:spcBef>
                <a:spcPts val="400"/>
              </a:spcBef>
              <a:spcAft>
                <a:spcPts val="0"/>
              </a:spcAft>
              <a:buClr>
                <a:srgbClr val="0F243E"/>
              </a:buClr>
              <a:buSzPts val="2000"/>
              <a:buChar char="»"/>
              <a:defRPr>
                <a:solidFill>
                  <a:srgbClr val="0F243E"/>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10253F"/>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10253F"/>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10253F"/>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10253F"/>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10253F"/>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10253F"/>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10253F"/>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10253F"/>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區段標題"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0F243E"/>
              </a:buClr>
              <a:buSzPts val="2000"/>
              <a:buNone/>
              <a:defRPr sz="2000">
                <a:solidFill>
                  <a:srgbClr val="0F243E"/>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項物件"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10253F"/>
              </a:buClr>
              <a:buSzPts val="2800"/>
              <a:buChar char="•"/>
              <a:defRPr sz="2800"/>
            </a:lvl1pPr>
            <a:lvl2pPr marL="914400" lvl="1" indent="-381000" algn="l">
              <a:spcBef>
                <a:spcPts val="480"/>
              </a:spcBef>
              <a:spcAft>
                <a:spcPts val="0"/>
              </a:spcAft>
              <a:buClr>
                <a:srgbClr val="10253F"/>
              </a:buClr>
              <a:buSzPts val="2400"/>
              <a:buChar char="–"/>
              <a:defRPr sz="2400"/>
            </a:lvl2pPr>
            <a:lvl3pPr marL="1371600" lvl="2" indent="-355600" algn="l">
              <a:spcBef>
                <a:spcPts val="400"/>
              </a:spcBef>
              <a:spcAft>
                <a:spcPts val="0"/>
              </a:spcAft>
              <a:buClr>
                <a:srgbClr val="10253F"/>
              </a:buClr>
              <a:buSzPts val="2000"/>
              <a:buChar char="•"/>
              <a:defRPr sz="2000"/>
            </a:lvl3pPr>
            <a:lvl4pPr marL="1828800" lvl="3" indent="-342900" algn="l">
              <a:spcBef>
                <a:spcPts val="360"/>
              </a:spcBef>
              <a:spcAft>
                <a:spcPts val="0"/>
              </a:spcAft>
              <a:buClr>
                <a:srgbClr val="10253F"/>
              </a:buClr>
              <a:buSzPts val="1800"/>
              <a:buChar char="–"/>
              <a:defRPr sz="1800"/>
            </a:lvl4pPr>
            <a:lvl5pPr marL="2286000" lvl="4" indent="-342900" algn="l">
              <a:spcBef>
                <a:spcPts val="360"/>
              </a:spcBef>
              <a:spcAft>
                <a:spcPts val="0"/>
              </a:spcAft>
              <a:buClr>
                <a:srgbClr val="10253F"/>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1"/>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10253F"/>
              </a:buClr>
              <a:buSzPts val="2800"/>
              <a:buChar char="•"/>
              <a:defRPr sz="2800"/>
            </a:lvl1pPr>
            <a:lvl2pPr marL="914400" lvl="1" indent="-381000" algn="l">
              <a:spcBef>
                <a:spcPts val="480"/>
              </a:spcBef>
              <a:spcAft>
                <a:spcPts val="0"/>
              </a:spcAft>
              <a:buClr>
                <a:srgbClr val="10253F"/>
              </a:buClr>
              <a:buSzPts val="2400"/>
              <a:buChar char="–"/>
              <a:defRPr sz="2400"/>
            </a:lvl2pPr>
            <a:lvl3pPr marL="1371600" lvl="2" indent="-355600" algn="l">
              <a:spcBef>
                <a:spcPts val="400"/>
              </a:spcBef>
              <a:spcAft>
                <a:spcPts val="0"/>
              </a:spcAft>
              <a:buClr>
                <a:srgbClr val="10253F"/>
              </a:buClr>
              <a:buSzPts val="2000"/>
              <a:buChar char="•"/>
              <a:defRPr sz="2000"/>
            </a:lvl3pPr>
            <a:lvl4pPr marL="1828800" lvl="3" indent="-342900" algn="l">
              <a:spcBef>
                <a:spcPts val="360"/>
              </a:spcBef>
              <a:spcAft>
                <a:spcPts val="0"/>
              </a:spcAft>
              <a:buClr>
                <a:srgbClr val="10253F"/>
              </a:buClr>
              <a:buSzPts val="1800"/>
              <a:buChar char="–"/>
              <a:defRPr sz="1800"/>
            </a:lvl4pPr>
            <a:lvl5pPr marL="2286000" lvl="4" indent="-342900" algn="l">
              <a:spcBef>
                <a:spcPts val="360"/>
              </a:spcBef>
              <a:spcAft>
                <a:spcPts val="0"/>
              </a:spcAft>
              <a:buClr>
                <a:srgbClr val="10253F"/>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對"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rgbClr val="10253F"/>
              </a:buClr>
              <a:buSzPts val="2400"/>
              <a:buNone/>
              <a:defRPr sz="2400" b="1"/>
            </a:lvl1pPr>
            <a:lvl2pPr marL="914400" lvl="1" indent="-228600" algn="l">
              <a:spcBef>
                <a:spcPts val="400"/>
              </a:spcBef>
              <a:spcAft>
                <a:spcPts val="0"/>
              </a:spcAft>
              <a:buClr>
                <a:srgbClr val="10253F"/>
              </a:buClr>
              <a:buSzPts val="2000"/>
              <a:buNone/>
              <a:defRPr sz="2000" b="1"/>
            </a:lvl2pPr>
            <a:lvl3pPr marL="1371600" lvl="2" indent="-228600" algn="l">
              <a:spcBef>
                <a:spcPts val="360"/>
              </a:spcBef>
              <a:spcAft>
                <a:spcPts val="0"/>
              </a:spcAft>
              <a:buClr>
                <a:srgbClr val="10253F"/>
              </a:buClr>
              <a:buSzPts val="1800"/>
              <a:buNone/>
              <a:defRPr sz="1800" b="1"/>
            </a:lvl3pPr>
            <a:lvl4pPr marL="1828800" lvl="3" indent="-228600" algn="l">
              <a:spcBef>
                <a:spcPts val="320"/>
              </a:spcBef>
              <a:spcAft>
                <a:spcPts val="0"/>
              </a:spcAft>
              <a:buClr>
                <a:srgbClr val="10253F"/>
              </a:buClr>
              <a:buSzPts val="1600"/>
              <a:buNone/>
              <a:defRPr sz="1600" b="1"/>
            </a:lvl4pPr>
            <a:lvl5pPr marL="2286000" lvl="4" indent="-228600" algn="l">
              <a:spcBef>
                <a:spcPts val="320"/>
              </a:spcBef>
              <a:spcAft>
                <a:spcPts val="0"/>
              </a:spcAft>
              <a:buClr>
                <a:srgbClr val="10253F"/>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rgbClr val="10253F"/>
              </a:buClr>
              <a:buSzPts val="2400"/>
              <a:buChar char="•"/>
              <a:defRPr sz="2400"/>
            </a:lvl1pPr>
            <a:lvl2pPr marL="914400" lvl="1" indent="-355600" algn="l">
              <a:spcBef>
                <a:spcPts val="400"/>
              </a:spcBef>
              <a:spcAft>
                <a:spcPts val="0"/>
              </a:spcAft>
              <a:buClr>
                <a:srgbClr val="10253F"/>
              </a:buClr>
              <a:buSzPts val="2000"/>
              <a:buChar char="–"/>
              <a:defRPr sz="2000"/>
            </a:lvl2pPr>
            <a:lvl3pPr marL="1371600" lvl="2" indent="-342900" algn="l">
              <a:spcBef>
                <a:spcPts val="360"/>
              </a:spcBef>
              <a:spcAft>
                <a:spcPts val="0"/>
              </a:spcAft>
              <a:buClr>
                <a:srgbClr val="10253F"/>
              </a:buClr>
              <a:buSzPts val="1800"/>
              <a:buChar char="•"/>
              <a:defRPr sz="1800"/>
            </a:lvl3pPr>
            <a:lvl4pPr marL="1828800" lvl="3" indent="-330200" algn="l">
              <a:spcBef>
                <a:spcPts val="320"/>
              </a:spcBef>
              <a:spcAft>
                <a:spcPts val="0"/>
              </a:spcAft>
              <a:buClr>
                <a:srgbClr val="10253F"/>
              </a:buClr>
              <a:buSzPts val="1600"/>
              <a:buChar char="–"/>
              <a:defRPr sz="1600"/>
            </a:lvl4pPr>
            <a:lvl5pPr marL="2286000" lvl="4" indent="-330200" algn="l">
              <a:spcBef>
                <a:spcPts val="320"/>
              </a:spcBef>
              <a:spcAft>
                <a:spcPts val="0"/>
              </a:spcAft>
              <a:buClr>
                <a:srgbClr val="10253F"/>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rgbClr val="10253F"/>
              </a:buClr>
              <a:buSzPts val="2400"/>
              <a:buNone/>
              <a:defRPr sz="2400" b="1"/>
            </a:lvl1pPr>
            <a:lvl2pPr marL="914400" lvl="1" indent="-228600" algn="l">
              <a:spcBef>
                <a:spcPts val="400"/>
              </a:spcBef>
              <a:spcAft>
                <a:spcPts val="0"/>
              </a:spcAft>
              <a:buClr>
                <a:srgbClr val="10253F"/>
              </a:buClr>
              <a:buSzPts val="2000"/>
              <a:buNone/>
              <a:defRPr sz="2000" b="1"/>
            </a:lvl2pPr>
            <a:lvl3pPr marL="1371600" lvl="2" indent="-228600" algn="l">
              <a:spcBef>
                <a:spcPts val="360"/>
              </a:spcBef>
              <a:spcAft>
                <a:spcPts val="0"/>
              </a:spcAft>
              <a:buClr>
                <a:srgbClr val="10253F"/>
              </a:buClr>
              <a:buSzPts val="1800"/>
              <a:buNone/>
              <a:defRPr sz="1800" b="1"/>
            </a:lvl3pPr>
            <a:lvl4pPr marL="1828800" lvl="3" indent="-228600" algn="l">
              <a:spcBef>
                <a:spcPts val="320"/>
              </a:spcBef>
              <a:spcAft>
                <a:spcPts val="0"/>
              </a:spcAft>
              <a:buClr>
                <a:srgbClr val="10253F"/>
              </a:buClr>
              <a:buSzPts val="1600"/>
              <a:buNone/>
              <a:defRPr sz="1600" b="1"/>
            </a:lvl4pPr>
            <a:lvl5pPr marL="2286000" lvl="4" indent="-228600" algn="l">
              <a:spcBef>
                <a:spcPts val="320"/>
              </a:spcBef>
              <a:spcAft>
                <a:spcPts val="0"/>
              </a:spcAft>
              <a:buClr>
                <a:srgbClr val="10253F"/>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rgbClr val="10253F"/>
              </a:buClr>
              <a:buSzPts val="2400"/>
              <a:buChar char="•"/>
              <a:defRPr sz="2400"/>
            </a:lvl1pPr>
            <a:lvl2pPr marL="914400" lvl="1" indent="-355600" algn="l">
              <a:spcBef>
                <a:spcPts val="400"/>
              </a:spcBef>
              <a:spcAft>
                <a:spcPts val="0"/>
              </a:spcAft>
              <a:buClr>
                <a:srgbClr val="10253F"/>
              </a:buClr>
              <a:buSzPts val="2000"/>
              <a:buChar char="–"/>
              <a:defRPr sz="2000"/>
            </a:lvl2pPr>
            <a:lvl3pPr marL="1371600" lvl="2" indent="-342900" algn="l">
              <a:spcBef>
                <a:spcPts val="360"/>
              </a:spcBef>
              <a:spcAft>
                <a:spcPts val="0"/>
              </a:spcAft>
              <a:buClr>
                <a:srgbClr val="10253F"/>
              </a:buClr>
              <a:buSzPts val="1800"/>
              <a:buChar char="•"/>
              <a:defRPr sz="1800"/>
            </a:lvl3pPr>
            <a:lvl4pPr marL="1828800" lvl="3" indent="-330200" algn="l">
              <a:spcBef>
                <a:spcPts val="320"/>
              </a:spcBef>
              <a:spcAft>
                <a:spcPts val="0"/>
              </a:spcAft>
              <a:buClr>
                <a:srgbClr val="10253F"/>
              </a:buClr>
              <a:buSzPts val="1600"/>
              <a:buChar char="–"/>
              <a:defRPr sz="1600"/>
            </a:lvl4pPr>
            <a:lvl5pPr marL="2286000" lvl="4" indent="-330200" algn="l">
              <a:spcBef>
                <a:spcPts val="320"/>
              </a:spcBef>
              <a:spcAft>
                <a:spcPts val="0"/>
              </a:spcAft>
              <a:buClr>
                <a:srgbClr val="10253F"/>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4"/>
        <p:cNvGrpSpPr/>
        <p:nvPr/>
      </p:nvGrpSpPr>
      <p:grpSpPr>
        <a:xfrm>
          <a:off x="0" y="0"/>
          <a:ext cx="0" cy="0"/>
          <a:chOff x="0" y="0"/>
          <a:chExt cx="0" cy="0"/>
        </a:xfrm>
      </p:grpSpPr>
      <p:sp>
        <p:nvSpPr>
          <p:cNvPr id="55" name="Google Shape;55;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10253F"/>
              </a:buClr>
              <a:buSzPts val="3200"/>
              <a:buChar char="•"/>
              <a:defRPr sz="3200"/>
            </a:lvl1pPr>
            <a:lvl2pPr marL="914400" lvl="1" indent="-406400" algn="l">
              <a:spcBef>
                <a:spcPts val="560"/>
              </a:spcBef>
              <a:spcAft>
                <a:spcPts val="0"/>
              </a:spcAft>
              <a:buClr>
                <a:srgbClr val="10253F"/>
              </a:buClr>
              <a:buSzPts val="2800"/>
              <a:buChar char="–"/>
              <a:defRPr sz="2800"/>
            </a:lvl2pPr>
            <a:lvl3pPr marL="1371600" lvl="2" indent="-381000" algn="l">
              <a:spcBef>
                <a:spcPts val="480"/>
              </a:spcBef>
              <a:spcAft>
                <a:spcPts val="0"/>
              </a:spcAft>
              <a:buClr>
                <a:srgbClr val="10253F"/>
              </a:buClr>
              <a:buSzPts val="2400"/>
              <a:buChar char="•"/>
              <a:defRPr sz="2400"/>
            </a:lvl3pPr>
            <a:lvl4pPr marL="1828800" lvl="3" indent="-355600" algn="l">
              <a:spcBef>
                <a:spcPts val="400"/>
              </a:spcBef>
              <a:spcAft>
                <a:spcPts val="0"/>
              </a:spcAft>
              <a:buClr>
                <a:srgbClr val="10253F"/>
              </a:buClr>
              <a:buSzPts val="2000"/>
              <a:buChar char="–"/>
              <a:defRPr sz="2000"/>
            </a:lvl4pPr>
            <a:lvl5pPr marL="2286000" lvl="4" indent="-355600" algn="l">
              <a:spcBef>
                <a:spcPts val="400"/>
              </a:spcBef>
              <a:spcAft>
                <a:spcPts val="0"/>
              </a:spcAft>
              <a:buClr>
                <a:srgbClr val="10253F"/>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rgbClr val="10253F"/>
              </a:buClr>
              <a:buSzPts val="1400"/>
              <a:buNone/>
              <a:defRPr sz="1400"/>
            </a:lvl1pPr>
            <a:lvl2pPr marL="914400" lvl="1" indent="-228600" algn="l">
              <a:spcBef>
                <a:spcPts val="240"/>
              </a:spcBef>
              <a:spcAft>
                <a:spcPts val="0"/>
              </a:spcAft>
              <a:buClr>
                <a:srgbClr val="10253F"/>
              </a:buClr>
              <a:buSzPts val="1200"/>
              <a:buNone/>
              <a:defRPr sz="1200"/>
            </a:lvl2pPr>
            <a:lvl3pPr marL="1371600" lvl="2" indent="-228600" algn="l">
              <a:spcBef>
                <a:spcPts val="200"/>
              </a:spcBef>
              <a:spcAft>
                <a:spcPts val="0"/>
              </a:spcAft>
              <a:buClr>
                <a:srgbClr val="10253F"/>
              </a:buClr>
              <a:buSzPts val="1000"/>
              <a:buNone/>
              <a:defRPr sz="1000"/>
            </a:lvl3pPr>
            <a:lvl4pPr marL="1828800" lvl="3" indent="-228600" algn="l">
              <a:spcBef>
                <a:spcPts val="180"/>
              </a:spcBef>
              <a:spcAft>
                <a:spcPts val="0"/>
              </a:spcAft>
              <a:buClr>
                <a:srgbClr val="10253F"/>
              </a:buClr>
              <a:buSzPts val="900"/>
              <a:buNone/>
              <a:defRPr sz="900"/>
            </a:lvl4pPr>
            <a:lvl5pPr marL="2286000" lvl="4" indent="-228600" algn="l">
              <a:spcBef>
                <a:spcPts val="180"/>
              </a:spcBef>
              <a:spcAft>
                <a:spcPts val="0"/>
              </a:spcAft>
              <a:buClr>
                <a:srgbClr val="10253F"/>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26"/>
          <p:cNvSpPr>
            <a:spLocks noGrp="1"/>
          </p:cNvSpPr>
          <p:nvPr>
            <p:ph type="pic" idx="2"/>
          </p:nvPr>
        </p:nvSpPr>
        <p:spPr>
          <a:xfrm>
            <a:off x="2389717" y="612775"/>
            <a:ext cx="7315200" cy="4114800"/>
          </a:xfrm>
          <a:prstGeom prst="rect">
            <a:avLst/>
          </a:prstGeom>
          <a:noFill/>
          <a:ln>
            <a:noFill/>
          </a:ln>
        </p:spPr>
      </p:sp>
      <p:sp>
        <p:nvSpPr>
          <p:cNvPr id="68" name="Google Shape;68;p2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rgbClr val="10253F"/>
              </a:buClr>
              <a:buSzPts val="1400"/>
              <a:buNone/>
              <a:defRPr sz="1400"/>
            </a:lvl1pPr>
            <a:lvl2pPr marL="914400" lvl="1" indent="-228600" algn="l">
              <a:spcBef>
                <a:spcPts val="240"/>
              </a:spcBef>
              <a:spcAft>
                <a:spcPts val="0"/>
              </a:spcAft>
              <a:buClr>
                <a:srgbClr val="10253F"/>
              </a:buClr>
              <a:buSzPts val="1200"/>
              <a:buNone/>
              <a:defRPr sz="1200"/>
            </a:lvl2pPr>
            <a:lvl3pPr marL="1371600" lvl="2" indent="-228600" algn="l">
              <a:spcBef>
                <a:spcPts val="200"/>
              </a:spcBef>
              <a:spcAft>
                <a:spcPts val="0"/>
              </a:spcAft>
              <a:buClr>
                <a:srgbClr val="10253F"/>
              </a:buClr>
              <a:buSzPts val="1000"/>
              <a:buNone/>
              <a:defRPr sz="1000"/>
            </a:lvl3pPr>
            <a:lvl4pPr marL="1828800" lvl="3" indent="-228600" algn="l">
              <a:spcBef>
                <a:spcPts val="180"/>
              </a:spcBef>
              <a:spcAft>
                <a:spcPts val="0"/>
              </a:spcAft>
              <a:buClr>
                <a:srgbClr val="10253F"/>
              </a:buClr>
              <a:buSzPts val="900"/>
              <a:buNone/>
              <a:defRPr sz="900"/>
            </a:lvl4pPr>
            <a:lvl5pPr marL="2286000" lvl="4" indent="-228600" algn="l">
              <a:spcBef>
                <a:spcPts val="180"/>
              </a:spcBef>
              <a:spcAft>
                <a:spcPts val="0"/>
              </a:spcAft>
              <a:buClr>
                <a:srgbClr val="10253F"/>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10253F"/>
              </a:buClr>
              <a:buSzPts val="1800"/>
              <a:buChar char="•"/>
              <a:defRPr/>
            </a:lvl1pPr>
            <a:lvl2pPr marL="914400" lvl="1" indent="-342900" algn="l">
              <a:spcBef>
                <a:spcPts val="360"/>
              </a:spcBef>
              <a:spcAft>
                <a:spcPts val="0"/>
              </a:spcAft>
              <a:buClr>
                <a:srgbClr val="10253F"/>
              </a:buClr>
              <a:buSzPts val="1800"/>
              <a:buChar char="–"/>
              <a:defRPr/>
            </a:lvl2pPr>
            <a:lvl3pPr marL="1371600" lvl="2" indent="-342900" algn="l">
              <a:spcBef>
                <a:spcPts val="360"/>
              </a:spcBef>
              <a:spcAft>
                <a:spcPts val="0"/>
              </a:spcAft>
              <a:buClr>
                <a:srgbClr val="10253F"/>
              </a:buClr>
              <a:buSzPts val="1800"/>
              <a:buChar char="•"/>
              <a:defRPr/>
            </a:lvl3pPr>
            <a:lvl4pPr marL="1828800" lvl="3" indent="-342900" algn="l">
              <a:spcBef>
                <a:spcPts val="360"/>
              </a:spcBef>
              <a:spcAft>
                <a:spcPts val="0"/>
              </a:spcAft>
              <a:buClr>
                <a:srgbClr val="10253F"/>
              </a:buClr>
              <a:buSzPts val="1800"/>
              <a:buChar char="–"/>
              <a:defRPr/>
            </a:lvl4pPr>
            <a:lvl5pPr marL="2286000" lvl="4" indent="-342900" algn="l">
              <a:spcBef>
                <a:spcPts val="360"/>
              </a:spcBef>
              <a:spcAft>
                <a:spcPts val="0"/>
              </a:spcAft>
              <a:buClr>
                <a:srgbClr val="10253F"/>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10253F"/>
              </a:buClr>
              <a:buSzPts val="1800"/>
              <a:buChar char="•"/>
              <a:defRPr/>
            </a:lvl1pPr>
            <a:lvl2pPr marL="914400" lvl="1" indent="-342900" algn="l">
              <a:spcBef>
                <a:spcPts val="360"/>
              </a:spcBef>
              <a:spcAft>
                <a:spcPts val="0"/>
              </a:spcAft>
              <a:buClr>
                <a:srgbClr val="10253F"/>
              </a:buClr>
              <a:buSzPts val="1800"/>
              <a:buChar char="–"/>
              <a:defRPr/>
            </a:lvl2pPr>
            <a:lvl3pPr marL="1371600" lvl="2" indent="-342900" algn="l">
              <a:spcBef>
                <a:spcPts val="360"/>
              </a:spcBef>
              <a:spcAft>
                <a:spcPts val="0"/>
              </a:spcAft>
              <a:buClr>
                <a:srgbClr val="10253F"/>
              </a:buClr>
              <a:buSzPts val="1800"/>
              <a:buChar char="•"/>
              <a:defRPr/>
            </a:lvl3pPr>
            <a:lvl4pPr marL="1828800" lvl="3" indent="-342900" algn="l">
              <a:spcBef>
                <a:spcPts val="360"/>
              </a:spcBef>
              <a:spcAft>
                <a:spcPts val="0"/>
              </a:spcAft>
              <a:buClr>
                <a:srgbClr val="10253F"/>
              </a:buClr>
              <a:buSzPts val="1800"/>
              <a:buChar char="–"/>
              <a:defRPr/>
            </a:lvl4pPr>
            <a:lvl5pPr marL="2286000" lvl="4" indent="-342900" algn="l">
              <a:spcBef>
                <a:spcPts val="360"/>
              </a:spcBef>
              <a:spcAft>
                <a:spcPts val="0"/>
              </a:spcAft>
              <a:buClr>
                <a:srgbClr val="10253F"/>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10253F"/>
                </a:solidFill>
                <a:latin typeface="Calibri"/>
                <a:ea typeface="Calibri"/>
                <a:cs typeface="Calibri"/>
                <a:sym typeface="Calibri"/>
              </a:defRPr>
            </a:lvl1pPr>
            <a:lvl2pPr marL="0" lvl="1" indent="0" algn="r">
              <a:spcBef>
                <a:spcPts val="0"/>
              </a:spcBef>
              <a:spcAft>
                <a:spcPts val="0"/>
              </a:spcAft>
              <a:buNone/>
              <a:defRPr sz="1200">
                <a:solidFill>
                  <a:srgbClr val="10253F"/>
                </a:solidFill>
                <a:latin typeface="Calibri"/>
                <a:ea typeface="Calibri"/>
                <a:cs typeface="Calibri"/>
                <a:sym typeface="Calibri"/>
              </a:defRPr>
            </a:lvl2pPr>
            <a:lvl3pPr marL="0" lvl="2" indent="0" algn="r">
              <a:spcBef>
                <a:spcPts val="0"/>
              </a:spcBef>
              <a:spcAft>
                <a:spcPts val="0"/>
              </a:spcAft>
              <a:buNone/>
              <a:defRPr sz="1200">
                <a:solidFill>
                  <a:srgbClr val="10253F"/>
                </a:solidFill>
                <a:latin typeface="Calibri"/>
                <a:ea typeface="Calibri"/>
                <a:cs typeface="Calibri"/>
                <a:sym typeface="Calibri"/>
              </a:defRPr>
            </a:lvl3pPr>
            <a:lvl4pPr marL="0" lvl="3" indent="0" algn="r">
              <a:spcBef>
                <a:spcPts val="0"/>
              </a:spcBef>
              <a:spcAft>
                <a:spcPts val="0"/>
              </a:spcAft>
              <a:buNone/>
              <a:defRPr sz="1200">
                <a:solidFill>
                  <a:srgbClr val="10253F"/>
                </a:solidFill>
                <a:latin typeface="Calibri"/>
                <a:ea typeface="Calibri"/>
                <a:cs typeface="Calibri"/>
                <a:sym typeface="Calibri"/>
              </a:defRPr>
            </a:lvl4pPr>
            <a:lvl5pPr marL="0" lvl="4" indent="0" algn="r">
              <a:spcBef>
                <a:spcPts val="0"/>
              </a:spcBef>
              <a:spcAft>
                <a:spcPts val="0"/>
              </a:spcAft>
              <a:buNone/>
              <a:defRPr sz="1200">
                <a:solidFill>
                  <a:srgbClr val="10253F"/>
                </a:solidFill>
                <a:latin typeface="Calibri"/>
                <a:ea typeface="Calibri"/>
                <a:cs typeface="Calibri"/>
                <a:sym typeface="Calibri"/>
              </a:defRPr>
            </a:lvl5pPr>
            <a:lvl6pPr marL="0" lvl="5" indent="0" algn="r">
              <a:spcBef>
                <a:spcPts val="0"/>
              </a:spcBef>
              <a:spcAft>
                <a:spcPts val="0"/>
              </a:spcAft>
              <a:buNone/>
              <a:defRPr sz="1200">
                <a:solidFill>
                  <a:srgbClr val="10253F"/>
                </a:solidFill>
                <a:latin typeface="Calibri"/>
                <a:ea typeface="Calibri"/>
                <a:cs typeface="Calibri"/>
                <a:sym typeface="Calibri"/>
              </a:defRPr>
            </a:lvl6pPr>
            <a:lvl7pPr marL="0" lvl="6" indent="0" algn="r">
              <a:spcBef>
                <a:spcPts val="0"/>
              </a:spcBef>
              <a:spcAft>
                <a:spcPts val="0"/>
              </a:spcAft>
              <a:buNone/>
              <a:defRPr sz="1200">
                <a:solidFill>
                  <a:srgbClr val="10253F"/>
                </a:solidFill>
                <a:latin typeface="Calibri"/>
                <a:ea typeface="Calibri"/>
                <a:cs typeface="Calibri"/>
                <a:sym typeface="Calibri"/>
              </a:defRPr>
            </a:lvl7pPr>
            <a:lvl8pPr marL="0" lvl="7" indent="0" algn="r">
              <a:spcBef>
                <a:spcPts val="0"/>
              </a:spcBef>
              <a:spcAft>
                <a:spcPts val="0"/>
              </a:spcAft>
              <a:buNone/>
              <a:defRPr sz="1200">
                <a:solidFill>
                  <a:srgbClr val="10253F"/>
                </a:solidFill>
                <a:latin typeface="Calibri"/>
                <a:ea typeface="Calibri"/>
                <a:cs typeface="Calibri"/>
                <a:sym typeface="Calibri"/>
              </a:defRPr>
            </a:lvl8pPr>
            <a:lvl9pPr marL="0" lvl="8" indent="0" algn="r">
              <a:spcBef>
                <a:spcPts val="0"/>
              </a:spcBef>
              <a:spcAft>
                <a:spcPts val="0"/>
              </a:spcAft>
              <a:buNone/>
              <a:defRPr sz="1200">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rgbClr val="FFFFFF"/>
                </a:solidFill>
                <a:latin typeface="Microsoft JhengHei"/>
                <a:ea typeface="Microsoft JhengHei"/>
                <a:cs typeface="Microsoft JhengHei"/>
                <a:sym typeface="Microsoft JhengHei"/>
              </a:defRPr>
            </a:lvl1pPr>
            <a:lvl2pPr marR="0" lvl="1" algn="ctr" rtl="0">
              <a:spcBef>
                <a:spcPts val="0"/>
              </a:spcBef>
              <a:spcAft>
                <a:spcPts val="0"/>
              </a:spcAft>
              <a:buSzPts val="1400"/>
              <a:buNone/>
              <a:defRPr sz="4400" b="0" i="0" u="none" strike="noStrike" cap="none">
                <a:solidFill>
                  <a:srgbClr val="FFFFFF"/>
                </a:solidFill>
                <a:latin typeface="Microsoft JhengHei"/>
                <a:ea typeface="Microsoft JhengHei"/>
                <a:cs typeface="Microsoft JhengHei"/>
                <a:sym typeface="Microsoft JhengHei"/>
              </a:defRPr>
            </a:lvl2pPr>
            <a:lvl3pPr marR="0" lvl="2" algn="ctr" rtl="0">
              <a:spcBef>
                <a:spcPts val="0"/>
              </a:spcBef>
              <a:spcAft>
                <a:spcPts val="0"/>
              </a:spcAft>
              <a:buSzPts val="1400"/>
              <a:buNone/>
              <a:defRPr sz="4400" b="0" i="0" u="none" strike="noStrike" cap="none">
                <a:solidFill>
                  <a:srgbClr val="FFFFFF"/>
                </a:solidFill>
                <a:latin typeface="Microsoft JhengHei"/>
                <a:ea typeface="Microsoft JhengHei"/>
                <a:cs typeface="Microsoft JhengHei"/>
                <a:sym typeface="Microsoft JhengHei"/>
              </a:defRPr>
            </a:lvl3pPr>
            <a:lvl4pPr marR="0" lvl="3" algn="ctr" rtl="0">
              <a:spcBef>
                <a:spcPts val="0"/>
              </a:spcBef>
              <a:spcAft>
                <a:spcPts val="0"/>
              </a:spcAft>
              <a:buSzPts val="1400"/>
              <a:buNone/>
              <a:defRPr sz="4400" b="0" i="0" u="none" strike="noStrike" cap="none">
                <a:solidFill>
                  <a:srgbClr val="FFFFFF"/>
                </a:solidFill>
                <a:latin typeface="Microsoft JhengHei"/>
                <a:ea typeface="Microsoft JhengHei"/>
                <a:cs typeface="Microsoft JhengHei"/>
                <a:sym typeface="Microsoft JhengHei"/>
              </a:defRPr>
            </a:lvl4pPr>
            <a:lvl5pPr marR="0" lvl="4" algn="ctr" rtl="0">
              <a:spcBef>
                <a:spcPts val="0"/>
              </a:spcBef>
              <a:spcAft>
                <a:spcPts val="0"/>
              </a:spcAft>
              <a:buSzPts val="1400"/>
              <a:buNone/>
              <a:defRPr sz="4400" b="0" i="0" u="none" strike="noStrike" cap="none">
                <a:solidFill>
                  <a:srgbClr val="FFFFFF"/>
                </a:solidFill>
                <a:latin typeface="Microsoft JhengHei"/>
                <a:ea typeface="Microsoft JhengHei"/>
                <a:cs typeface="Microsoft JhengHei"/>
                <a:sym typeface="Microsoft JhengHei"/>
              </a:defRPr>
            </a:lvl5pPr>
            <a:lvl6pPr marR="0" lvl="5"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9pPr>
          </a:lstStyle>
          <a:p>
            <a:endParaRPr/>
          </a:p>
        </p:txBody>
      </p:sp>
      <p:sp>
        <p:nvSpPr>
          <p:cNvPr id="11" name="Google Shape;11;p1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rgbClr val="10253F"/>
              </a:buClr>
              <a:buSzPts val="3200"/>
              <a:buFont typeface="Arial"/>
              <a:buChar char="•"/>
              <a:defRPr sz="3200" b="0" i="0" u="none" strike="noStrike" cap="none">
                <a:solidFill>
                  <a:srgbClr val="10253F"/>
                </a:solidFill>
                <a:latin typeface="Times New Roman"/>
                <a:ea typeface="Times New Roman"/>
                <a:cs typeface="Times New Roman"/>
                <a:sym typeface="Times New Roman"/>
              </a:defRPr>
            </a:lvl1pPr>
            <a:lvl2pPr marL="914400" marR="0" lvl="1" indent="-406400" algn="l" rtl="0">
              <a:spcBef>
                <a:spcPts val="560"/>
              </a:spcBef>
              <a:spcAft>
                <a:spcPts val="0"/>
              </a:spcAft>
              <a:buClr>
                <a:srgbClr val="10253F"/>
              </a:buClr>
              <a:buSzPts val="2800"/>
              <a:buFont typeface="Arial"/>
              <a:buChar char="–"/>
              <a:defRPr sz="2800" b="0" i="0" u="none" strike="noStrike" cap="none">
                <a:solidFill>
                  <a:srgbClr val="10253F"/>
                </a:solidFill>
                <a:latin typeface="Times New Roman"/>
                <a:ea typeface="Times New Roman"/>
                <a:cs typeface="Times New Roman"/>
                <a:sym typeface="Times New Roman"/>
              </a:defRPr>
            </a:lvl2pPr>
            <a:lvl3pPr marL="1371600" marR="0" lvl="2" indent="-381000" algn="l" rtl="0">
              <a:spcBef>
                <a:spcPts val="480"/>
              </a:spcBef>
              <a:spcAft>
                <a:spcPts val="0"/>
              </a:spcAft>
              <a:buClr>
                <a:srgbClr val="10253F"/>
              </a:buClr>
              <a:buSzPts val="2400"/>
              <a:buFont typeface="Arial"/>
              <a:buChar char="•"/>
              <a:defRPr sz="2400" b="0" i="0" u="none" strike="noStrike" cap="none">
                <a:solidFill>
                  <a:srgbClr val="10253F"/>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10253F"/>
              </a:buClr>
              <a:buSzPts val="2000"/>
              <a:buFont typeface="Arial"/>
              <a:buChar char="–"/>
              <a:defRPr sz="2000" b="0" i="0" u="none" strike="noStrike" cap="none">
                <a:solidFill>
                  <a:srgbClr val="10253F"/>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10253F"/>
              </a:buClr>
              <a:buSzPts val="2000"/>
              <a:buFont typeface="Arial"/>
              <a:buChar char="»"/>
              <a:defRPr sz="2000" b="0" i="0" u="none" strike="noStrike" cap="none">
                <a:solidFill>
                  <a:srgbClr val="10253F"/>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0F243E"/>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0F243E"/>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10253F"/>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10253F"/>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10253F"/>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10253F"/>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10253F"/>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10253F"/>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10253F"/>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10253F"/>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1025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cc.ntu.edu.tw/chinese/epaper/0031/20141220_3103.html" TargetMode="External"/><Relationship Id="rId3" Type="http://schemas.openxmlformats.org/officeDocument/2006/relationships/hyperlink" Target="https://www.philschmid.de/mcp-introduction" TargetMode="External"/><Relationship Id="rId7" Type="http://schemas.openxmlformats.org/officeDocument/2006/relationships/hyperlink" Target="https://www.anthropic.com/engineering/contextual-retrieva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learn.microsoft.com/zh-tw/azure/databricks/generative-ai/retrieval-augmented-generation" TargetMode="External"/><Relationship Id="rId5" Type="http://schemas.openxmlformats.org/officeDocument/2006/relationships/hyperlink" Target="https://github.com/modelcontextprotocol/servers" TargetMode="External"/><Relationship Id="rId4" Type="http://schemas.openxmlformats.org/officeDocument/2006/relationships/hyperlink" Target="https://www.anthropic.com/news/model-context-protocol" TargetMode="External"/><Relationship Id="rId9" Type="http://schemas.openxmlformats.org/officeDocument/2006/relationships/hyperlink" Target="https://teddy-chen-tw.blogspot.com/2015/05/pattern5force.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chun-wei0413/mcp-registry"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371935" y="908720"/>
            <a:ext cx="11305256" cy="16561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dirty="0"/>
              <a:t>Context as a Service : A RAG-Based Context Provisioning MCP Server</a:t>
            </a:r>
            <a:endParaRPr sz="3200" b="1" dirty="0"/>
          </a:p>
        </p:txBody>
      </p:sp>
      <p:sp>
        <p:nvSpPr>
          <p:cNvPr id="90" name="Google Shape;90;p1"/>
          <p:cNvSpPr txBox="1">
            <a:spLocks noGrp="1"/>
          </p:cNvSpPr>
          <p:nvPr>
            <p:ph type="subTitle" idx="1"/>
          </p:nvPr>
        </p:nvSpPr>
        <p:spPr>
          <a:xfrm>
            <a:off x="2667000" y="3071813"/>
            <a:ext cx="6400800" cy="1752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F2F2F2"/>
              </a:buClr>
              <a:buSzPts val="3200"/>
              <a:buFont typeface="Arial"/>
              <a:buNone/>
            </a:pPr>
            <a:r>
              <a:rPr lang="en-US" dirty="0" err="1">
                <a:latin typeface="微軟正黑體" panose="020B0604030504040204" pitchFamily="34" charset="-120"/>
                <a:ea typeface="微軟正黑體" panose="020B0604030504040204" pitchFamily="34" charset="-120"/>
              </a:rPr>
              <a:t>演講者：Frank</a:t>
            </a:r>
            <a:endParaRPr dirty="0">
              <a:latin typeface="微軟正黑體" panose="020B0604030504040204" pitchFamily="34" charset="-120"/>
              <a:ea typeface="微軟正黑體" panose="020B0604030504040204" pitchFamily="34" charset="-120"/>
            </a:endParaRPr>
          </a:p>
          <a:p>
            <a:pPr marL="0" lvl="0" indent="0" algn="l" rtl="0">
              <a:spcBef>
                <a:spcPts val="640"/>
              </a:spcBef>
              <a:spcAft>
                <a:spcPts val="0"/>
              </a:spcAft>
              <a:buClr>
                <a:srgbClr val="F2F2F2"/>
              </a:buClr>
              <a:buSzPts val="3200"/>
              <a:buFont typeface="Arial"/>
              <a:buNone/>
            </a:pPr>
            <a:r>
              <a:rPr lang="en-US" dirty="0">
                <a:latin typeface="微軟正黑體" panose="020B0604030504040204" pitchFamily="34" charset="-120"/>
                <a:ea typeface="微軟正黑體" panose="020B0604030504040204" pitchFamily="34" charset="-120"/>
              </a:rPr>
              <a:t>2025/11/25</a:t>
            </a:r>
            <a:endParaRPr dirty="0">
              <a:latin typeface="微軟正黑體" panose="020B0604030504040204" pitchFamily="34" charset="-120"/>
              <a:ea typeface="微軟正黑體" panose="020B0604030504040204" pitchFamily="34" charset="-120"/>
            </a:endParaRPr>
          </a:p>
        </p:txBody>
      </p:sp>
      <p:sp>
        <p:nvSpPr>
          <p:cNvPr id="91" name="Google Shape;91;p1"/>
          <p:cNvSpPr/>
          <p:nvPr/>
        </p:nvSpPr>
        <p:spPr>
          <a:xfrm>
            <a:off x="2667001" y="4500564"/>
            <a:ext cx="6715125" cy="904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err="1">
                <a:solidFill>
                  <a:srgbClr val="F2F2F2"/>
                </a:solidFill>
                <a:latin typeface="微軟正黑體" panose="020B0604030504040204" pitchFamily="34" charset="-120"/>
                <a:ea typeface="微軟正黑體" panose="020B0604030504040204" pitchFamily="34" charset="-120"/>
                <a:cs typeface="Times New Roman"/>
                <a:sym typeface="Times New Roman"/>
              </a:rPr>
              <a:t>國立台北科技大學</a:t>
            </a:r>
            <a:r>
              <a:rPr lang="en-US" sz="2400" b="0" i="0" u="none" strike="noStrike" cap="none" dirty="0">
                <a:solidFill>
                  <a:srgbClr val="F2F2F2"/>
                </a:solidFill>
                <a:latin typeface="微軟正黑體" panose="020B0604030504040204" pitchFamily="34" charset="-120"/>
                <a:ea typeface="微軟正黑體" panose="020B0604030504040204" pitchFamily="34" charset="-120"/>
                <a:cs typeface="Times New Roman"/>
                <a:sym typeface="Times New Roman"/>
              </a:rPr>
              <a:t>　</a:t>
            </a:r>
            <a:r>
              <a:rPr lang="en-US" sz="2400" b="0" i="0" u="none" strike="noStrike" cap="none" dirty="0" err="1">
                <a:solidFill>
                  <a:srgbClr val="F2F2F2"/>
                </a:solidFill>
                <a:latin typeface="微軟正黑體" panose="020B0604030504040204" pitchFamily="34" charset="-120"/>
                <a:ea typeface="微軟正黑體" panose="020B0604030504040204" pitchFamily="34" charset="-120"/>
                <a:cs typeface="Times New Roman"/>
                <a:sym typeface="Times New Roman"/>
              </a:rPr>
              <a:t>資訊工程系</a:t>
            </a:r>
            <a:endParaRPr sz="2400" b="0" i="0" u="none" strike="noStrike" cap="none" dirty="0">
              <a:solidFill>
                <a:srgbClr val="F2F2F2"/>
              </a:solidFill>
              <a:latin typeface="微軟正黑體" panose="020B0604030504040204" pitchFamily="34" charset="-120"/>
              <a:ea typeface="微軟正黑體" panose="020B0604030504040204" pitchFamily="34" charset="-120"/>
              <a:cs typeface="Times New Roman"/>
              <a:sym typeface="Times New Roman"/>
            </a:endParaRPr>
          </a:p>
          <a:p>
            <a:pPr marL="0" marR="0" lvl="0" indent="0" algn="l" rtl="0">
              <a:spcBef>
                <a:spcPts val="480"/>
              </a:spcBef>
              <a:spcAft>
                <a:spcPts val="0"/>
              </a:spcAft>
              <a:buNone/>
            </a:pPr>
            <a:r>
              <a:rPr lang="en-US" sz="2400" b="0" i="0" u="none" strike="noStrike" cap="none" dirty="0" err="1">
                <a:solidFill>
                  <a:srgbClr val="F2F2F2"/>
                </a:solidFill>
                <a:latin typeface="微軟正黑體" panose="020B0604030504040204" pitchFamily="34" charset="-120"/>
                <a:ea typeface="微軟正黑體" panose="020B0604030504040204" pitchFamily="34" charset="-120"/>
                <a:cs typeface="Times New Roman"/>
                <a:sym typeface="Times New Roman"/>
              </a:rPr>
              <a:t>指導教授：鄭有進、謝金雲</a:t>
            </a:r>
            <a:endParaRPr sz="2400" b="0" i="0" u="none" strike="noStrike" cap="none" dirty="0">
              <a:solidFill>
                <a:srgbClr val="F2F2F2"/>
              </a:solidFill>
              <a:latin typeface="微軟正黑體" panose="020B0604030504040204" pitchFamily="34" charset="-120"/>
              <a:ea typeface="微軟正黑體" panose="020B0604030504040204" pitchFamily="34" charset="-120"/>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0253F"/>
                </a:solidFill>
                <a:latin typeface="Calibri"/>
                <a:ea typeface="Calibri"/>
                <a:cs typeface="Calibri"/>
                <a:sym typeface="Calibri"/>
              </a:rPr>
              <a:t>2</a:t>
            </a:fld>
            <a:endParaRPr sz="1200" b="0" i="0" u="none" strike="noStrike" cap="none">
              <a:solidFill>
                <a:srgbClr val="10253F"/>
              </a:solidFill>
              <a:latin typeface="Calibri"/>
              <a:ea typeface="Calibri"/>
              <a:cs typeface="Calibri"/>
              <a:sym typeface="Calibri"/>
            </a:endParaRPr>
          </a:p>
        </p:txBody>
      </p:sp>
      <p:sp>
        <p:nvSpPr>
          <p:cNvPr id="98" name="Google Shape;98;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lvl="0"/>
            <a:r>
              <a:rPr lang="en-US" altLang="zh-TW" dirty="0"/>
              <a:t>2025/11/25</a:t>
            </a:r>
          </a:p>
        </p:txBody>
      </p:sp>
      <p:sp>
        <p:nvSpPr>
          <p:cNvPr id="99" name="Google Shape;99;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軟體系統實驗室</a:t>
            </a:r>
            <a:endParaRPr dirty="0"/>
          </a:p>
        </p:txBody>
      </p:sp>
      <p:sp>
        <p:nvSpPr>
          <p:cNvPr id="100" name="Google Shape;100;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Outline</a:t>
            </a:r>
            <a:endParaRPr dirty="0"/>
          </a:p>
        </p:txBody>
      </p:sp>
      <p:sp>
        <p:nvSpPr>
          <p:cNvPr id="101" name="Google Shape;101;p2"/>
          <p:cNvSpPr txBox="1">
            <a:spLocks noGrp="1"/>
          </p:cNvSpPr>
          <p:nvPr>
            <p:ph type="body" idx="1"/>
          </p:nvPr>
        </p:nvSpPr>
        <p:spPr>
          <a:xfrm>
            <a:off x="609600" y="1626406"/>
            <a:ext cx="10972800" cy="36051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F243E"/>
              </a:buClr>
              <a:buSzPts val="3200"/>
              <a:buChar char="•"/>
            </a:pPr>
            <a:r>
              <a:rPr lang="en-US" dirty="0"/>
              <a:t>The Problem</a:t>
            </a:r>
          </a:p>
          <a:p>
            <a:pPr marL="342900" lvl="0" indent="-342900" algn="l" rtl="0">
              <a:spcBef>
                <a:spcPts val="0"/>
              </a:spcBef>
              <a:spcAft>
                <a:spcPts val="0"/>
              </a:spcAft>
              <a:buClr>
                <a:srgbClr val="0F243E"/>
              </a:buClr>
              <a:buSzPts val="3200"/>
              <a:buChar char="•"/>
            </a:pPr>
            <a:r>
              <a:rPr lang="en-US" dirty="0"/>
              <a:t>Background</a:t>
            </a:r>
            <a:endParaRPr dirty="0"/>
          </a:p>
          <a:p>
            <a:pPr marL="742950" lvl="1" indent="-285750" algn="l" rtl="0">
              <a:spcBef>
                <a:spcPts val="560"/>
              </a:spcBef>
              <a:spcAft>
                <a:spcPts val="0"/>
              </a:spcAft>
              <a:buClr>
                <a:srgbClr val="0F243E"/>
              </a:buClr>
              <a:buSzPts val="2800"/>
              <a:buChar char="–"/>
            </a:pPr>
            <a:r>
              <a:rPr lang="en-US" dirty="0"/>
              <a:t>Model Context Protocol(MCP)</a:t>
            </a:r>
            <a:endParaRPr dirty="0"/>
          </a:p>
          <a:p>
            <a:pPr marL="742950" lvl="1" indent="-285750" algn="l" rtl="0">
              <a:spcBef>
                <a:spcPts val="560"/>
              </a:spcBef>
              <a:spcAft>
                <a:spcPts val="0"/>
              </a:spcAft>
              <a:buClr>
                <a:srgbClr val="0F243E"/>
              </a:buClr>
              <a:buSzPts val="2800"/>
              <a:buChar char="–"/>
            </a:pPr>
            <a:r>
              <a:rPr lang="en-US" dirty="0"/>
              <a:t>Retrieval-Augmented Generation(RAG)</a:t>
            </a:r>
            <a:endParaRPr dirty="0"/>
          </a:p>
          <a:p>
            <a:pPr marL="342900" lvl="0" indent="-342900"/>
            <a:r>
              <a:rPr lang="en" altLang="zh-TW" dirty="0"/>
              <a:t>The Concept – RAG-Based MCP Server</a:t>
            </a:r>
          </a:p>
          <a:p>
            <a:pPr marL="342900" lvl="0" indent="-342900"/>
            <a:r>
              <a:rPr lang="en-US" altLang="zh-TW" dirty="0"/>
              <a:t>Benefits &amp; Trade-offs </a:t>
            </a:r>
          </a:p>
          <a:p>
            <a:pPr marL="342900" lvl="0" indent="-342900"/>
            <a:r>
              <a:rPr lang="en-US" dirty="0"/>
              <a:t>Conclusion</a:t>
            </a:r>
          </a:p>
          <a:p>
            <a:pPr marL="342900" lvl="0" indent="-342900"/>
            <a:r>
              <a:rPr lang="en-US" dirty="0"/>
              <a:t>Reference</a:t>
            </a:r>
            <a:endParaRPr dirty="0"/>
          </a:p>
          <a:p>
            <a:pPr marL="342900" lvl="0" indent="-139700" algn="l" rtl="0">
              <a:spcBef>
                <a:spcPts val="640"/>
              </a:spcBef>
              <a:spcAft>
                <a:spcPts val="0"/>
              </a:spcAft>
              <a:buClr>
                <a:srgbClr val="0F243E"/>
              </a:buClr>
              <a:buSzPts val="3200"/>
              <a:buFont typeface="Arial"/>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BE4B3119-8CDA-ABD8-0080-0AB8D6A6888C}"/>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C5A729FF-D087-9871-AB32-CEB0981C9ABE}"/>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0253F"/>
                </a:solidFill>
                <a:latin typeface="Calibri"/>
                <a:ea typeface="Calibri"/>
                <a:cs typeface="Calibri"/>
                <a:sym typeface="Calibri"/>
              </a:rPr>
              <a:t>3</a:t>
            </a:fld>
            <a:endParaRPr sz="1200" b="0" i="0" u="none" strike="noStrike" cap="none">
              <a:solidFill>
                <a:srgbClr val="10253F"/>
              </a:solidFill>
              <a:latin typeface="Calibri"/>
              <a:ea typeface="Calibri"/>
              <a:cs typeface="Calibri"/>
              <a:sym typeface="Calibri"/>
            </a:endParaRPr>
          </a:p>
        </p:txBody>
      </p:sp>
      <p:sp>
        <p:nvSpPr>
          <p:cNvPr id="98" name="Google Shape;98;p2">
            <a:extLst>
              <a:ext uri="{FF2B5EF4-FFF2-40B4-BE49-F238E27FC236}">
                <a16:creationId xmlns:a16="http://schemas.microsoft.com/office/drawing/2014/main" id="{097E7343-4B52-8C46-75AD-3DAD81B2D5D0}"/>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99" name="Google Shape;99;p2">
            <a:extLst>
              <a:ext uri="{FF2B5EF4-FFF2-40B4-BE49-F238E27FC236}">
                <a16:creationId xmlns:a16="http://schemas.microsoft.com/office/drawing/2014/main" id="{4706FA66-FBFA-98A6-D266-C0218D919893}"/>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軟體系統實驗室</a:t>
            </a:r>
            <a:endParaRPr dirty="0"/>
          </a:p>
        </p:txBody>
      </p:sp>
      <p:sp>
        <p:nvSpPr>
          <p:cNvPr id="100" name="Google Shape;100;p2">
            <a:extLst>
              <a:ext uri="{FF2B5EF4-FFF2-40B4-BE49-F238E27FC236}">
                <a16:creationId xmlns:a16="http://schemas.microsoft.com/office/drawing/2014/main" id="{F234CE54-6E3C-692C-2AA2-596879445962}"/>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lvl="0"/>
            <a:r>
              <a:rPr lang="en-US" altLang="zh-TW" dirty="0"/>
              <a:t>The Problem</a:t>
            </a:r>
            <a:endParaRPr dirty="0"/>
          </a:p>
        </p:txBody>
      </p:sp>
      <p:pic>
        <p:nvPicPr>
          <p:cNvPr id="4" name="圖片 3">
            <a:extLst>
              <a:ext uri="{FF2B5EF4-FFF2-40B4-BE49-F238E27FC236}">
                <a16:creationId xmlns:a16="http://schemas.microsoft.com/office/drawing/2014/main" id="{FFCB411E-A45F-6485-A8C7-3E980AB5D207}"/>
              </a:ext>
            </a:extLst>
          </p:cNvPr>
          <p:cNvPicPr>
            <a:picLocks noChangeAspect="1"/>
          </p:cNvPicPr>
          <p:nvPr/>
        </p:nvPicPr>
        <p:blipFill>
          <a:blip r:embed="rId3"/>
          <a:stretch>
            <a:fillRect/>
          </a:stretch>
        </p:blipFill>
        <p:spPr>
          <a:xfrm>
            <a:off x="1503319" y="1417638"/>
            <a:ext cx="9185362" cy="5049263"/>
          </a:xfrm>
          <a:prstGeom prst="rect">
            <a:avLst/>
          </a:prstGeom>
        </p:spPr>
      </p:pic>
    </p:spTree>
    <p:extLst>
      <p:ext uri="{BB962C8B-B14F-4D97-AF65-F5344CB8AC3E}">
        <p14:creationId xmlns:p14="http://schemas.microsoft.com/office/powerpoint/2010/main" val="525999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7F8EF602-8D0A-981A-AC1B-2A892B44C437}"/>
            </a:ext>
          </a:extLst>
        </p:cNvPr>
        <p:cNvGrpSpPr/>
        <p:nvPr/>
      </p:nvGrpSpPr>
      <p:grpSpPr>
        <a:xfrm>
          <a:off x="0" y="0"/>
          <a:ext cx="0" cy="0"/>
          <a:chOff x="0" y="0"/>
          <a:chExt cx="0" cy="0"/>
        </a:xfrm>
      </p:grpSpPr>
      <p:pic>
        <p:nvPicPr>
          <p:cNvPr id="9" name="圖片 8">
            <a:extLst>
              <a:ext uri="{FF2B5EF4-FFF2-40B4-BE49-F238E27FC236}">
                <a16:creationId xmlns:a16="http://schemas.microsoft.com/office/drawing/2014/main" id="{063F1573-5304-9D75-018E-3B13F11C0425}"/>
              </a:ext>
            </a:extLst>
          </p:cNvPr>
          <p:cNvPicPr>
            <a:picLocks noChangeAspect="1"/>
          </p:cNvPicPr>
          <p:nvPr/>
        </p:nvPicPr>
        <p:blipFill>
          <a:blip r:embed="rId3"/>
          <a:stretch>
            <a:fillRect/>
          </a:stretch>
        </p:blipFill>
        <p:spPr>
          <a:xfrm>
            <a:off x="1955544" y="1314815"/>
            <a:ext cx="8280912" cy="5144360"/>
          </a:xfrm>
          <a:prstGeom prst="rect">
            <a:avLst/>
          </a:prstGeom>
        </p:spPr>
      </p:pic>
      <p:sp>
        <p:nvSpPr>
          <p:cNvPr id="155" name="Google Shape;155;p8">
            <a:extLst>
              <a:ext uri="{FF2B5EF4-FFF2-40B4-BE49-F238E27FC236}">
                <a16:creationId xmlns:a16="http://schemas.microsoft.com/office/drawing/2014/main" id="{528AB79F-1B9B-A7DF-E14F-36FBCFC6F8C9}"/>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56" name="Google Shape;156;p8">
            <a:extLst>
              <a:ext uri="{FF2B5EF4-FFF2-40B4-BE49-F238E27FC236}">
                <a16:creationId xmlns:a16="http://schemas.microsoft.com/office/drawing/2014/main" id="{40AD3B62-EE0F-6083-BADA-81A05D00EB4C}"/>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57" name="Google Shape;157;p8">
            <a:extLst>
              <a:ext uri="{FF2B5EF4-FFF2-40B4-BE49-F238E27FC236}">
                <a16:creationId xmlns:a16="http://schemas.microsoft.com/office/drawing/2014/main" id="{2E47784E-5E19-3DCB-227B-94D963387E05}"/>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58" name="Google Shape;158;p8">
            <a:extLst>
              <a:ext uri="{FF2B5EF4-FFF2-40B4-BE49-F238E27FC236}">
                <a16:creationId xmlns:a16="http://schemas.microsoft.com/office/drawing/2014/main" id="{1E510366-667A-453D-10F6-B8736A51B308}"/>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342900" lvl="0" indent="-342900"/>
            <a:r>
              <a:rPr lang="en-US" altLang="zh-TW" dirty="0"/>
              <a:t>The Problem</a:t>
            </a:r>
            <a:endParaRPr lang="en" altLang="zh-TW" dirty="0"/>
          </a:p>
        </p:txBody>
      </p:sp>
      <p:sp>
        <p:nvSpPr>
          <p:cNvPr id="4" name="文字方塊 3">
            <a:extLst>
              <a:ext uri="{FF2B5EF4-FFF2-40B4-BE49-F238E27FC236}">
                <a16:creationId xmlns:a16="http://schemas.microsoft.com/office/drawing/2014/main" id="{A2EB1EEC-3C6D-8318-D727-7E52F28103F3}"/>
              </a:ext>
            </a:extLst>
          </p:cNvPr>
          <p:cNvSpPr txBox="1"/>
          <p:nvPr/>
        </p:nvSpPr>
        <p:spPr>
          <a:xfrm>
            <a:off x="3048918" y="3277866"/>
            <a:ext cx="6097836" cy="307777"/>
          </a:xfrm>
          <a:prstGeom prst="rect">
            <a:avLst/>
          </a:prstGeom>
          <a:noFill/>
        </p:spPr>
        <p:txBody>
          <a:bodyPr wrap="square">
            <a:spAutoFit/>
          </a:bodyPr>
          <a:lstStyle/>
          <a:p>
            <a:endParaRPr lang="zh-TW" altLang="en-US" dirty="0"/>
          </a:p>
        </p:txBody>
      </p:sp>
      <p:sp>
        <p:nvSpPr>
          <p:cNvPr id="6" name="文字方塊 5">
            <a:extLst>
              <a:ext uri="{FF2B5EF4-FFF2-40B4-BE49-F238E27FC236}">
                <a16:creationId xmlns:a16="http://schemas.microsoft.com/office/drawing/2014/main" id="{7799A2C4-5106-F06C-9822-013F48C2DE0E}"/>
              </a:ext>
            </a:extLst>
          </p:cNvPr>
          <p:cNvSpPr txBox="1"/>
          <p:nvPr/>
        </p:nvSpPr>
        <p:spPr>
          <a:xfrm>
            <a:off x="3048918" y="3277866"/>
            <a:ext cx="6097836" cy="307777"/>
          </a:xfrm>
          <a:prstGeom prst="rect">
            <a:avLst/>
          </a:prstGeom>
          <a:noFill/>
        </p:spPr>
        <p:txBody>
          <a:bodyPr wrap="square">
            <a:spAutoFit/>
          </a:bodyPr>
          <a:lstStyle/>
          <a:p>
            <a:endParaRPr lang="zh-TW" altLang="en-US" dirty="0"/>
          </a:p>
        </p:txBody>
      </p:sp>
    </p:spTree>
    <p:extLst>
      <p:ext uri="{BB962C8B-B14F-4D97-AF65-F5344CB8AC3E}">
        <p14:creationId xmlns:p14="http://schemas.microsoft.com/office/powerpoint/2010/main" val="73385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55D6B04D-1737-832B-7058-EC404F6CC83B}"/>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50714A07-0392-9749-DE36-4DC6CADC0564}"/>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0253F"/>
                </a:solidFill>
                <a:latin typeface="Calibri"/>
                <a:ea typeface="Calibri"/>
                <a:cs typeface="Calibri"/>
                <a:sym typeface="Calibri"/>
              </a:rPr>
              <a:t>5</a:t>
            </a:fld>
            <a:endParaRPr sz="1200" b="0" i="0" u="none" strike="noStrike" cap="none">
              <a:solidFill>
                <a:srgbClr val="10253F"/>
              </a:solidFill>
              <a:latin typeface="Calibri"/>
              <a:ea typeface="Calibri"/>
              <a:cs typeface="Calibri"/>
              <a:sym typeface="Calibri"/>
            </a:endParaRPr>
          </a:p>
        </p:txBody>
      </p:sp>
      <p:sp>
        <p:nvSpPr>
          <p:cNvPr id="98" name="Google Shape;98;p2">
            <a:extLst>
              <a:ext uri="{FF2B5EF4-FFF2-40B4-BE49-F238E27FC236}">
                <a16:creationId xmlns:a16="http://schemas.microsoft.com/office/drawing/2014/main" id="{A637C120-C803-C6B6-1249-F5BDA1F319B1}"/>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99" name="Google Shape;99;p2">
            <a:extLst>
              <a:ext uri="{FF2B5EF4-FFF2-40B4-BE49-F238E27FC236}">
                <a16:creationId xmlns:a16="http://schemas.microsoft.com/office/drawing/2014/main" id="{E8E23539-C8B5-50D0-F80D-79AFC65B017B}"/>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軟體系統實驗室</a:t>
            </a:r>
            <a:endParaRPr dirty="0"/>
          </a:p>
        </p:txBody>
      </p:sp>
      <p:sp>
        <p:nvSpPr>
          <p:cNvPr id="100" name="Google Shape;100;p2">
            <a:extLst>
              <a:ext uri="{FF2B5EF4-FFF2-40B4-BE49-F238E27FC236}">
                <a16:creationId xmlns:a16="http://schemas.microsoft.com/office/drawing/2014/main" id="{27CB17F5-6EEE-C4A0-5A2C-E0615AF456DD}"/>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lvl="0"/>
            <a:r>
              <a:rPr lang="en-US" altLang="zh-TW" dirty="0"/>
              <a:t>The Problem</a:t>
            </a:r>
            <a:endParaRPr dirty="0"/>
          </a:p>
        </p:txBody>
      </p:sp>
      <p:pic>
        <p:nvPicPr>
          <p:cNvPr id="3" name="圖片 2">
            <a:extLst>
              <a:ext uri="{FF2B5EF4-FFF2-40B4-BE49-F238E27FC236}">
                <a16:creationId xmlns:a16="http://schemas.microsoft.com/office/drawing/2014/main" id="{B95A7282-4D70-AED4-BBA3-46E8241018A9}"/>
              </a:ext>
            </a:extLst>
          </p:cNvPr>
          <p:cNvPicPr>
            <a:picLocks noChangeAspect="1"/>
          </p:cNvPicPr>
          <p:nvPr/>
        </p:nvPicPr>
        <p:blipFill>
          <a:blip r:embed="rId3"/>
          <a:stretch>
            <a:fillRect/>
          </a:stretch>
        </p:blipFill>
        <p:spPr>
          <a:xfrm>
            <a:off x="3228698" y="1303584"/>
            <a:ext cx="5734603" cy="5166821"/>
          </a:xfrm>
          <a:prstGeom prst="rect">
            <a:avLst/>
          </a:prstGeom>
        </p:spPr>
      </p:pic>
    </p:spTree>
    <p:extLst>
      <p:ext uri="{BB962C8B-B14F-4D97-AF65-F5344CB8AC3E}">
        <p14:creationId xmlns:p14="http://schemas.microsoft.com/office/powerpoint/2010/main" val="4137584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65B9BC0-F391-56F0-5A69-C10DA66D5F7D}"/>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AEB835FA-07E6-02A3-80DD-607A5DD74957}"/>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0253F"/>
                </a:solidFill>
                <a:latin typeface="Calibri"/>
                <a:ea typeface="Calibri"/>
                <a:cs typeface="Calibri"/>
                <a:sym typeface="Calibri"/>
              </a:rPr>
              <a:t>6</a:t>
            </a:fld>
            <a:endParaRPr sz="1200" b="0" i="0" u="none" strike="noStrike" cap="none">
              <a:solidFill>
                <a:srgbClr val="10253F"/>
              </a:solidFill>
              <a:latin typeface="Calibri"/>
              <a:ea typeface="Calibri"/>
              <a:cs typeface="Calibri"/>
              <a:sym typeface="Calibri"/>
            </a:endParaRPr>
          </a:p>
        </p:txBody>
      </p:sp>
      <p:sp>
        <p:nvSpPr>
          <p:cNvPr id="98" name="Google Shape;98;p2">
            <a:extLst>
              <a:ext uri="{FF2B5EF4-FFF2-40B4-BE49-F238E27FC236}">
                <a16:creationId xmlns:a16="http://schemas.microsoft.com/office/drawing/2014/main" id="{6A8FDA9F-D0A8-C6E2-30A9-3FEEC4712351}"/>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99" name="Google Shape;99;p2">
            <a:extLst>
              <a:ext uri="{FF2B5EF4-FFF2-40B4-BE49-F238E27FC236}">
                <a16:creationId xmlns:a16="http://schemas.microsoft.com/office/drawing/2014/main" id="{7CEB6312-48A4-D87E-85B1-E4AE6E868485}"/>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軟體系統實驗室</a:t>
            </a:r>
            <a:endParaRPr dirty="0"/>
          </a:p>
        </p:txBody>
      </p:sp>
      <p:sp>
        <p:nvSpPr>
          <p:cNvPr id="100" name="Google Shape;100;p2">
            <a:extLst>
              <a:ext uri="{FF2B5EF4-FFF2-40B4-BE49-F238E27FC236}">
                <a16:creationId xmlns:a16="http://schemas.microsoft.com/office/drawing/2014/main" id="{2BA5BFCE-587A-A81B-4292-6AB8390DCE77}"/>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lvl="0"/>
            <a:r>
              <a:rPr lang="en-US" altLang="zh-TW" dirty="0"/>
              <a:t>The Problem</a:t>
            </a:r>
            <a:endParaRPr dirty="0"/>
          </a:p>
        </p:txBody>
      </p:sp>
      <p:sp>
        <p:nvSpPr>
          <p:cNvPr id="2" name="文字方塊 1">
            <a:extLst>
              <a:ext uri="{FF2B5EF4-FFF2-40B4-BE49-F238E27FC236}">
                <a16:creationId xmlns:a16="http://schemas.microsoft.com/office/drawing/2014/main" id="{CA98C61C-87EC-A08B-2A37-17A4CC609E58}"/>
              </a:ext>
            </a:extLst>
          </p:cNvPr>
          <p:cNvSpPr txBox="1"/>
          <p:nvPr/>
        </p:nvSpPr>
        <p:spPr>
          <a:xfrm>
            <a:off x="729214" y="2767280"/>
            <a:ext cx="10567316" cy="1323439"/>
          </a:xfrm>
          <a:prstGeom prst="rect">
            <a:avLst/>
          </a:prstGeom>
          <a:noFill/>
        </p:spPr>
        <p:txBody>
          <a:bodyPr wrap="none" rtlCol="0">
            <a:spAutoFit/>
          </a:bodyPr>
          <a:lstStyle/>
          <a:p>
            <a:r>
              <a:rPr lang="en-US" altLang="zh-TW" sz="4000" dirty="0"/>
              <a:t>How do you precisely provide the information </a:t>
            </a:r>
          </a:p>
          <a:p>
            <a:r>
              <a:rPr lang="en-US" altLang="zh-TW" sz="4000" dirty="0"/>
              <a:t>required by the AI?</a:t>
            </a:r>
            <a:endParaRPr lang="zh-TW" altLang="en-US" sz="4000" dirty="0"/>
          </a:p>
        </p:txBody>
      </p:sp>
    </p:spTree>
    <p:extLst>
      <p:ext uri="{BB962C8B-B14F-4D97-AF65-F5344CB8AC3E}">
        <p14:creationId xmlns:p14="http://schemas.microsoft.com/office/powerpoint/2010/main" val="782486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07" name="Google Shape;107;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08" name="Google Shape;108;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09" name="Google Shape;109;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Background-MCP</a:t>
            </a:r>
            <a:endParaRPr dirty="0"/>
          </a:p>
        </p:txBody>
      </p:sp>
      <p:sp>
        <p:nvSpPr>
          <p:cNvPr id="110" name="Google Shape;110;p3"/>
          <p:cNvSpPr txBox="1"/>
          <p:nvPr/>
        </p:nvSpPr>
        <p:spPr>
          <a:xfrm>
            <a:off x="252201" y="1417638"/>
            <a:ext cx="11521280" cy="470894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altLang="zh-TW" sz="3000" b="1" i="0" u="none" strike="noStrike" cap="none" dirty="0">
                <a:solidFill>
                  <a:srgbClr val="FF0000"/>
                </a:solidFill>
                <a:latin typeface="Times New Roman" panose="02020603050405020304" pitchFamily="18" charset="0"/>
                <a:cs typeface="Times New Roman" panose="02020603050405020304" pitchFamily="18" charset="0"/>
                <a:sym typeface="Arial"/>
              </a:rPr>
              <a:t>Model Context Protocol (MCP) </a:t>
            </a:r>
            <a:r>
              <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rPr>
              <a:t>is an open-source standard that connects AI applications to external systems.</a:t>
            </a:r>
            <a:endParaRPr lang="en-US" sz="3000" dirty="0">
              <a:latin typeface="Times New Roman" panose="02020603050405020304" pitchFamily="18" charset="0"/>
              <a:cs typeface="Times New Roman" panose="02020603050405020304" pitchFamily="18" charset="0"/>
            </a:endParaRPr>
          </a:p>
          <a:p>
            <a:pPr marL="0" marR="0" lvl="0" indent="0" algn="just" rtl="0">
              <a:spcBef>
                <a:spcPts val="0"/>
              </a:spcBef>
              <a:spcAft>
                <a:spcPts val="0"/>
              </a:spcAft>
              <a:buNone/>
            </a:pPr>
            <a:endPar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spcBef>
                <a:spcPts val="0"/>
              </a:spcBef>
              <a:spcAft>
                <a:spcPts val="0"/>
              </a:spcAft>
              <a:buNone/>
            </a:pPr>
            <a:r>
              <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rPr>
              <a:t>Through MCP, AI like Claude or ChatGPT can connect to:</a:t>
            </a:r>
            <a:endParaRPr lang="en-US" sz="3000" dirty="0">
              <a:latin typeface="Times New Roman" panose="02020603050405020304" pitchFamily="18" charset="0"/>
              <a:cs typeface="Times New Roman" panose="02020603050405020304" pitchFamily="18" charset="0"/>
            </a:endParaRPr>
          </a:p>
          <a:p>
            <a:pPr lvl="5" algn="just"/>
            <a:r>
              <a:rPr lang="en-US" sz="3000" b="1" i="0" u="none" strike="noStrike" cap="none" dirty="0">
                <a:solidFill>
                  <a:schemeClr val="dk1"/>
                </a:solidFill>
                <a:latin typeface="Times New Roman" panose="02020603050405020304" pitchFamily="18" charset="0"/>
                <a:cs typeface="Times New Roman" panose="02020603050405020304" pitchFamily="18" charset="0"/>
                <a:sym typeface="Arial"/>
              </a:rPr>
              <a:t>	- Data sources</a:t>
            </a:r>
            <a:r>
              <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rPr>
              <a:t> (local files, databases…)</a:t>
            </a:r>
            <a:endParaRPr lang="en-US" sz="3000" dirty="0">
              <a:latin typeface="Times New Roman" panose="02020603050405020304" pitchFamily="18" charset="0"/>
              <a:cs typeface="Times New Roman" panose="02020603050405020304" pitchFamily="18" charset="0"/>
            </a:endParaRPr>
          </a:p>
          <a:p>
            <a:pPr lvl="5"/>
            <a:r>
              <a:rPr lang="en" altLang="zh-TW" sz="3000" b="1" dirty="0">
                <a:latin typeface="Times New Roman" panose="02020603050405020304" pitchFamily="18" charset="0"/>
                <a:cs typeface="Times New Roman" panose="02020603050405020304" pitchFamily="18" charset="0"/>
              </a:rPr>
              <a:t>	- Version Control (Git, GitHub, GitLab)</a:t>
            </a:r>
            <a:endParaRPr lang="en" altLang="zh-TW" sz="3000" dirty="0">
              <a:latin typeface="Times New Roman" panose="02020603050405020304" pitchFamily="18" charset="0"/>
              <a:cs typeface="Times New Roman" panose="02020603050405020304" pitchFamily="18" charset="0"/>
            </a:endParaRPr>
          </a:p>
          <a:p>
            <a:pPr lvl="5"/>
            <a:r>
              <a:rPr lang="en" altLang="zh-TW" sz="3000" b="1" dirty="0">
                <a:latin typeface="Times New Roman" panose="02020603050405020304" pitchFamily="18" charset="0"/>
                <a:cs typeface="Times New Roman" panose="02020603050405020304" pitchFamily="18" charset="0"/>
              </a:rPr>
              <a:t>	- Communication (Slack)</a:t>
            </a:r>
            <a:r>
              <a:rPr lang="en" altLang="zh-TW" sz="3000" dirty="0">
                <a:latin typeface="Times New Roman" panose="02020603050405020304" pitchFamily="18" charset="0"/>
                <a:cs typeface="Times New Roman" panose="02020603050405020304" pitchFamily="18" charset="0"/>
              </a:rPr>
              <a:t> </a:t>
            </a:r>
          </a:p>
          <a:p>
            <a:pPr marL="0" marR="0" lvl="0" indent="0" algn="just" rtl="0">
              <a:spcBef>
                <a:spcPts val="0"/>
              </a:spcBef>
              <a:spcAft>
                <a:spcPts val="0"/>
              </a:spcAft>
              <a:buNone/>
            </a:pPr>
            <a:endPar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spcBef>
                <a:spcPts val="0"/>
              </a:spcBef>
              <a:spcAft>
                <a:spcPts val="0"/>
              </a:spcAft>
              <a:buNone/>
            </a:pPr>
            <a:r>
              <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rPr>
              <a:t>MCP is like a </a:t>
            </a:r>
            <a:r>
              <a:rPr lang="en-US" sz="3000" b="1" i="0" u="none" strike="noStrike" cap="none" dirty="0">
                <a:solidFill>
                  <a:srgbClr val="FF0000"/>
                </a:solidFill>
                <a:latin typeface="Times New Roman" panose="02020603050405020304" pitchFamily="18" charset="0"/>
                <a:cs typeface="Times New Roman" panose="02020603050405020304" pitchFamily="18" charset="0"/>
                <a:sym typeface="Arial"/>
              </a:rPr>
              <a:t>USB-C port for AI</a:t>
            </a:r>
            <a:r>
              <a:rPr lang="en-US" sz="3000" b="0" i="0" u="none" strike="noStrike" cap="none" dirty="0">
                <a:solidFill>
                  <a:schemeClr val="dk1"/>
                </a:solidFill>
                <a:latin typeface="Times New Roman" panose="02020603050405020304" pitchFamily="18" charset="0"/>
                <a:cs typeface="Times New Roman" panose="02020603050405020304" pitchFamily="18" charset="0"/>
                <a:sym typeface="Arial"/>
              </a:rPr>
              <a:t>—providing a standardized way for AI to plug into various external systems.</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16" name="Google Shape;116;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17" name="Google Shape;117;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18" name="Google Shape;118;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Background-MCP</a:t>
            </a:r>
            <a:endParaRPr/>
          </a:p>
        </p:txBody>
      </p:sp>
      <p:pic>
        <p:nvPicPr>
          <p:cNvPr id="2" name="圖片 1">
            <a:extLst>
              <a:ext uri="{FF2B5EF4-FFF2-40B4-BE49-F238E27FC236}">
                <a16:creationId xmlns:a16="http://schemas.microsoft.com/office/drawing/2014/main" id="{DB763566-D9DA-DD59-8E7A-20C6E0F26DDE}"/>
              </a:ext>
            </a:extLst>
          </p:cNvPr>
          <p:cNvPicPr>
            <a:picLocks noChangeAspect="1"/>
          </p:cNvPicPr>
          <p:nvPr/>
        </p:nvPicPr>
        <p:blipFill>
          <a:blip r:embed="rId4"/>
          <a:stretch>
            <a:fillRect/>
          </a:stretch>
        </p:blipFill>
        <p:spPr>
          <a:xfrm>
            <a:off x="11858" y="2213438"/>
            <a:ext cx="12180142" cy="3474843"/>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46" name="Google Shape;146;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47" name="Google Shape;147;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48" name="Google Shape;148;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Background-RAG</a:t>
            </a:r>
            <a:endParaRPr dirty="0"/>
          </a:p>
        </p:txBody>
      </p:sp>
      <p:pic>
        <p:nvPicPr>
          <p:cNvPr id="2" name="圖片 1">
            <a:extLst>
              <a:ext uri="{FF2B5EF4-FFF2-40B4-BE49-F238E27FC236}">
                <a16:creationId xmlns:a16="http://schemas.microsoft.com/office/drawing/2014/main" id="{148B5849-543D-EC77-62DC-E7F1A29A2BA3}"/>
              </a:ext>
            </a:extLst>
          </p:cNvPr>
          <p:cNvPicPr>
            <a:picLocks noChangeAspect="1"/>
          </p:cNvPicPr>
          <p:nvPr/>
        </p:nvPicPr>
        <p:blipFill>
          <a:blip r:embed="rId4"/>
          <a:stretch>
            <a:fillRect/>
          </a:stretch>
        </p:blipFill>
        <p:spPr>
          <a:xfrm>
            <a:off x="559128" y="1325019"/>
            <a:ext cx="11073744" cy="5123952"/>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835196F4-A717-95CE-EF80-B3095635F32B}"/>
            </a:ext>
          </a:extLst>
        </p:cNvPr>
        <p:cNvGrpSpPr/>
        <p:nvPr/>
      </p:nvGrpSpPr>
      <p:grpSpPr>
        <a:xfrm>
          <a:off x="0" y="0"/>
          <a:ext cx="0" cy="0"/>
          <a:chOff x="0" y="0"/>
          <a:chExt cx="0" cy="0"/>
        </a:xfrm>
      </p:grpSpPr>
      <p:pic>
        <p:nvPicPr>
          <p:cNvPr id="2" name="圖片 1">
            <a:extLst>
              <a:ext uri="{FF2B5EF4-FFF2-40B4-BE49-F238E27FC236}">
                <a16:creationId xmlns:a16="http://schemas.microsoft.com/office/drawing/2014/main" id="{AA88EA77-6C8B-365D-9C45-E4385BE4AC5F}"/>
              </a:ext>
            </a:extLst>
          </p:cNvPr>
          <p:cNvPicPr>
            <a:picLocks noChangeAspect="1"/>
          </p:cNvPicPr>
          <p:nvPr/>
        </p:nvPicPr>
        <p:blipFill>
          <a:blip r:embed="rId3"/>
          <a:stretch>
            <a:fillRect/>
          </a:stretch>
        </p:blipFill>
        <p:spPr>
          <a:xfrm>
            <a:off x="2209800" y="1188862"/>
            <a:ext cx="7772400" cy="5396266"/>
          </a:xfrm>
          <a:prstGeom prst="rect">
            <a:avLst/>
          </a:prstGeom>
        </p:spPr>
      </p:pic>
      <p:sp>
        <p:nvSpPr>
          <p:cNvPr id="213" name="Google Shape;213;p14">
            <a:extLst>
              <a:ext uri="{FF2B5EF4-FFF2-40B4-BE49-F238E27FC236}">
                <a16:creationId xmlns:a16="http://schemas.microsoft.com/office/drawing/2014/main" id="{BF92998C-6EEB-6E06-E3C3-4690692FDCC5}"/>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214" name="Google Shape;214;p14">
            <a:extLst>
              <a:ext uri="{FF2B5EF4-FFF2-40B4-BE49-F238E27FC236}">
                <a16:creationId xmlns:a16="http://schemas.microsoft.com/office/drawing/2014/main" id="{44904D82-D07A-B37D-6B9F-76A60680E18E}"/>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軟體系統實驗室</a:t>
            </a:r>
            <a:endParaRPr dirty="0"/>
          </a:p>
        </p:txBody>
      </p:sp>
      <p:sp>
        <p:nvSpPr>
          <p:cNvPr id="215" name="Google Shape;215;p14">
            <a:extLst>
              <a:ext uri="{FF2B5EF4-FFF2-40B4-BE49-F238E27FC236}">
                <a16:creationId xmlns:a16="http://schemas.microsoft.com/office/drawing/2014/main" id="{205DEEE7-2FC3-5BEC-DBB5-CD35D7236C6F}"/>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dirty="0"/>
          </a:p>
        </p:txBody>
      </p:sp>
      <p:sp>
        <p:nvSpPr>
          <p:cNvPr id="216" name="Google Shape;216;p14">
            <a:extLst>
              <a:ext uri="{FF2B5EF4-FFF2-40B4-BE49-F238E27FC236}">
                <a16:creationId xmlns:a16="http://schemas.microsoft.com/office/drawing/2014/main" id="{E2443EDC-2869-BDE4-37B4-939C36CF67E7}"/>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lvl="0"/>
            <a:r>
              <a:rPr lang="en" altLang="zh-TW" dirty="0"/>
              <a:t>RAG-Based MCP Server</a:t>
            </a:r>
            <a:endParaRPr dirty="0">
              <a:solidFill>
                <a:schemeClr val="bg1"/>
              </a:solidFill>
            </a:endParaRPr>
          </a:p>
        </p:txBody>
      </p:sp>
    </p:spTree>
    <p:extLst>
      <p:ext uri="{BB962C8B-B14F-4D97-AF65-F5344CB8AC3E}">
        <p14:creationId xmlns:p14="http://schemas.microsoft.com/office/powerpoint/2010/main" val="3604189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66" name="Google Shape;166;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67" name="Google Shape;167;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68" name="Google Shape;168;p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342900" lvl="0" indent="-342900"/>
            <a:r>
              <a:rPr lang="en" altLang="zh-TW" dirty="0"/>
              <a:t>RAG-Based MCP Server</a:t>
            </a:r>
          </a:p>
        </p:txBody>
      </p:sp>
      <p:pic>
        <p:nvPicPr>
          <p:cNvPr id="3" name="圖片 2">
            <a:extLst>
              <a:ext uri="{FF2B5EF4-FFF2-40B4-BE49-F238E27FC236}">
                <a16:creationId xmlns:a16="http://schemas.microsoft.com/office/drawing/2014/main" id="{92754374-D65B-AA20-9624-D63978A2EEF6}"/>
              </a:ext>
            </a:extLst>
          </p:cNvPr>
          <p:cNvPicPr>
            <a:picLocks noChangeAspect="1"/>
          </p:cNvPicPr>
          <p:nvPr/>
        </p:nvPicPr>
        <p:blipFill>
          <a:blip r:embed="rId3"/>
          <a:stretch>
            <a:fillRect/>
          </a:stretch>
        </p:blipFill>
        <p:spPr>
          <a:xfrm>
            <a:off x="0" y="2226128"/>
            <a:ext cx="12201955" cy="33882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46F24C25-1EA4-ED6A-3681-080C72FB0997}"/>
            </a:ext>
          </a:extLst>
        </p:cNvPr>
        <p:cNvGrpSpPr/>
        <p:nvPr/>
      </p:nvGrpSpPr>
      <p:grpSpPr>
        <a:xfrm>
          <a:off x="0" y="0"/>
          <a:ext cx="0" cy="0"/>
          <a:chOff x="0" y="0"/>
          <a:chExt cx="0" cy="0"/>
        </a:xfrm>
      </p:grpSpPr>
      <p:sp>
        <p:nvSpPr>
          <p:cNvPr id="165" name="Google Shape;165;p9">
            <a:extLst>
              <a:ext uri="{FF2B5EF4-FFF2-40B4-BE49-F238E27FC236}">
                <a16:creationId xmlns:a16="http://schemas.microsoft.com/office/drawing/2014/main" id="{35E4B774-2726-BA10-8132-851C3ED0C192}"/>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66" name="Google Shape;166;p9">
            <a:extLst>
              <a:ext uri="{FF2B5EF4-FFF2-40B4-BE49-F238E27FC236}">
                <a16:creationId xmlns:a16="http://schemas.microsoft.com/office/drawing/2014/main" id="{82FC88E6-1BF2-C45E-45D3-6CFE20FC92F4}"/>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67" name="Google Shape;167;p9">
            <a:extLst>
              <a:ext uri="{FF2B5EF4-FFF2-40B4-BE49-F238E27FC236}">
                <a16:creationId xmlns:a16="http://schemas.microsoft.com/office/drawing/2014/main" id="{12FE6656-75B2-4C3F-57B4-EE0B524125E7}"/>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168" name="Google Shape;168;p9">
            <a:extLst>
              <a:ext uri="{FF2B5EF4-FFF2-40B4-BE49-F238E27FC236}">
                <a16:creationId xmlns:a16="http://schemas.microsoft.com/office/drawing/2014/main" id="{4BB3DFE4-F2C9-9D47-212C-8633761ED592}"/>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342900" lvl="0" indent="-342900"/>
            <a:r>
              <a:rPr lang="en" altLang="zh-TW" dirty="0"/>
              <a:t>RAG-Based MCP Server</a:t>
            </a:r>
          </a:p>
        </p:txBody>
      </p:sp>
      <p:pic>
        <p:nvPicPr>
          <p:cNvPr id="2" name="圖片 1">
            <a:extLst>
              <a:ext uri="{FF2B5EF4-FFF2-40B4-BE49-F238E27FC236}">
                <a16:creationId xmlns:a16="http://schemas.microsoft.com/office/drawing/2014/main" id="{9920F6B1-7732-C82B-A775-D1B2B2D5F7C5}"/>
              </a:ext>
            </a:extLst>
          </p:cNvPr>
          <p:cNvPicPr>
            <a:picLocks noChangeAspect="1"/>
          </p:cNvPicPr>
          <p:nvPr/>
        </p:nvPicPr>
        <p:blipFill>
          <a:blip r:embed="rId3"/>
          <a:stretch>
            <a:fillRect/>
          </a:stretch>
        </p:blipFill>
        <p:spPr>
          <a:xfrm>
            <a:off x="-29305" y="1417638"/>
            <a:ext cx="12250610" cy="4481617"/>
          </a:xfrm>
          <a:prstGeom prst="rect">
            <a:avLst/>
          </a:prstGeom>
        </p:spPr>
      </p:pic>
    </p:spTree>
    <p:extLst>
      <p:ext uri="{BB962C8B-B14F-4D97-AF65-F5344CB8AC3E}">
        <p14:creationId xmlns:p14="http://schemas.microsoft.com/office/powerpoint/2010/main" val="3688549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A7DC659D-C73E-6EE3-7DE2-CA7E32AF048C}"/>
            </a:ext>
          </a:extLst>
        </p:cNvPr>
        <p:cNvGrpSpPr/>
        <p:nvPr/>
      </p:nvGrpSpPr>
      <p:grpSpPr>
        <a:xfrm>
          <a:off x="0" y="0"/>
          <a:ext cx="0" cy="0"/>
          <a:chOff x="0" y="0"/>
          <a:chExt cx="0" cy="0"/>
        </a:xfrm>
      </p:grpSpPr>
      <p:sp>
        <p:nvSpPr>
          <p:cNvPr id="213" name="Google Shape;213;p14">
            <a:extLst>
              <a:ext uri="{FF2B5EF4-FFF2-40B4-BE49-F238E27FC236}">
                <a16:creationId xmlns:a16="http://schemas.microsoft.com/office/drawing/2014/main" id="{447E1629-44C5-18A9-AD82-F554BC6213AE}"/>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214" name="Google Shape;214;p14">
            <a:extLst>
              <a:ext uri="{FF2B5EF4-FFF2-40B4-BE49-F238E27FC236}">
                <a16:creationId xmlns:a16="http://schemas.microsoft.com/office/drawing/2014/main" id="{79B8EE0E-5872-8AB1-B1AC-275F3A5AB851}"/>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215" name="Google Shape;215;p14">
            <a:extLst>
              <a:ext uri="{FF2B5EF4-FFF2-40B4-BE49-F238E27FC236}">
                <a16:creationId xmlns:a16="http://schemas.microsoft.com/office/drawing/2014/main" id="{D0275729-67A6-6FCA-ACF7-34523D793478}"/>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dirty="0"/>
          </a:p>
        </p:txBody>
      </p:sp>
      <p:sp>
        <p:nvSpPr>
          <p:cNvPr id="216" name="Google Shape;216;p14">
            <a:extLst>
              <a:ext uri="{FF2B5EF4-FFF2-40B4-BE49-F238E27FC236}">
                <a16:creationId xmlns:a16="http://schemas.microsoft.com/office/drawing/2014/main" id="{A211A294-6FC6-8266-3906-0C1E6ED96E3E}"/>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lvl="0"/>
            <a:r>
              <a:rPr lang="en" altLang="zh-TW" dirty="0"/>
              <a:t>RAG-Based MCP Server</a:t>
            </a:r>
            <a:endParaRPr dirty="0">
              <a:solidFill>
                <a:schemeClr val="bg1"/>
              </a:solidFill>
            </a:endParaRPr>
          </a:p>
        </p:txBody>
      </p:sp>
      <p:pic>
        <p:nvPicPr>
          <p:cNvPr id="3" name="圖片 2">
            <a:extLst>
              <a:ext uri="{FF2B5EF4-FFF2-40B4-BE49-F238E27FC236}">
                <a16:creationId xmlns:a16="http://schemas.microsoft.com/office/drawing/2014/main" id="{0369CE2E-C631-D728-D263-344C749190C8}"/>
              </a:ext>
            </a:extLst>
          </p:cNvPr>
          <p:cNvPicPr>
            <a:picLocks noChangeAspect="1"/>
          </p:cNvPicPr>
          <p:nvPr/>
        </p:nvPicPr>
        <p:blipFill>
          <a:blip r:embed="rId3"/>
          <a:stretch>
            <a:fillRect/>
          </a:stretch>
        </p:blipFill>
        <p:spPr>
          <a:xfrm>
            <a:off x="1280899" y="1304133"/>
            <a:ext cx="10301501" cy="5165724"/>
          </a:xfrm>
          <a:prstGeom prst="rect">
            <a:avLst/>
          </a:prstGeom>
        </p:spPr>
      </p:pic>
      <p:sp>
        <p:nvSpPr>
          <p:cNvPr id="4" name="矩形 3">
            <a:extLst>
              <a:ext uri="{FF2B5EF4-FFF2-40B4-BE49-F238E27FC236}">
                <a16:creationId xmlns:a16="http://schemas.microsoft.com/office/drawing/2014/main" id="{34AC89A8-364C-B6E5-4295-E82B09432E56}"/>
              </a:ext>
            </a:extLst>
          </p:cNvPr>
          <p:cNvSpPr/>
          <p:nvPr/>
        </p:nvSpPr>
        <p:spPr>
          <a:xfrm>
            <a:off x="1073081" y="1283351"/>
            <a:ext cx="10658256" cy="212486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DD6CB969-5406-69F0-50B3-B81CB68B8E18}"/>
              </a:ext>
            </a:extLst>
          </p:cNvPr>
          <p:cNvSpPr/>
          <p:nvPr/>
        </p:nvSpPr>
        <p:spPr>
          <a:xfrm>
            <a:off x="1073081" y="3449784"/>
            <a:ext cx="10658256" cy="29065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E79B154F-3ED2-F58C-E712-2AD3C4912BDC}"/>
              </a:ext>
            </a:extLst>
          </p:cNvPr>
          <p:cNvSpPr txBox="1"/>
          <p:nvPr/>
        </p:nvSpPr>
        <p:spPr>
          <a:xfrm>
            <a:off x="311727" y="1953491"/>
            <a:ext cx="415637" cy="861774"/>
          </a:xfrm>
          <a:prstGeom prst="rect">
            <a:avLst/>
          </a:prstGeom>
          <a:noFill/>
        </p:spPr>
        <p:txBody>
          <a:bodyPr wrap="square" rtlCol="0">
            <a:spAutoFit/>
          </a:bodyPr>
          <a:lstStyle/>
          <a:p>
            <a:r>
              <a:rPr lang="en-US" altLang="zh-TW" sz="5000" dirty="0">
                <a:solidFill>
                  <a:srgbClr val="FF0000"/>
                </a:solidFill>
              </a:rPr>
              <a:t>1</a:t>
            </a:r>
            <a:endParaRPr lang="zh-TW" altLang="en-US" sz="5000" dirty="0">
              <a:solidFill>
                <a:srgbClr val="FF0000"/>
              </a:solidFill>
            </a:endParaRPr>
          </a:p>
        </p:txBody>
      </p:sp>
      <p:sp>
        <p:nvSpPr>
          <p:cNvPr id="8" name="文字方塊 7">
            <a:extLst>
              <a:ext uri="{FF2B5EF4-FFF2-40B4-BE49-F238E27FC236}">
                <a16:creationId xmlns:a16="http://schemas.microsoft.com/office/drawing/2014/main" id="{AAD0EF5D-CB01-8542-0FED-AAC5D2944709}"/>
              </a:ext>
            </a:extLst>
          </p:cNvPr>
          <p:cNvSpPr txBox="1"/>
          <p:nvPr/>
        </p:nvSpPr>
        <p:spPr>
          <a:xfrm>
            <a:off x="311726" y="4451398"/>
            <a:ext cx="415637" cy="861774"/>
          </a:xfrm>
          <a:prstGeom prst="rect">
            <a:avLst/>
          </a:prstGeom>
          <a:noFill/>
        </p:spPr>
        <p:txBody>
          <a:bodyPr wrap="square" rtlCol="0">
            <a:spAutoFit/>
          </a:bodyPr>
          <a:lstStyle/>
          <a:p>
            <a:r>
              <a:rPr lang="en-US" altLang="zh-TW" sz="5000" dirty="0">
                <a:solidFill>
                  <a:srgbClr val="FF0000"/>
                </a:solidFill>
              </a:rPr>
              <a:t>2</a:t>
            </a:r>
            <a:endParaRPr lang="zh-TW" altLang="en-US" sz="5000" dirty="0">
              <a:solidFill>
                <a:srgbClr val="FF0000"/>
              </a:solidFill>
            </a:endParaRPr>
          </a:p>
        </p:txBody>
      </p:sp>
    </p:spTree>
    <p:extLst>
      <p:ext uri="{BB962C8B-B14F-4D97-AF65-F5344CB8AC3E}">
        <p14:creationId xmlns:p14="http://schemas.microsoft.com/office/powerpoint/2010/main" val="3429228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72CF0BD3-E753-9BD0-3669-FC514DF40AFC}"/>
            </a:ext>
          </a:extLst>
        </p:cNvPr>
        <p:cNvGrpSpPr/>
        <p:nvPr/>
      </p:nvGrpSpPr>
      <p:grpSpPr>
        <a:xfrm>
          <a:off x="0" y="0"/>
          <a:ext cx="0" cy="0"/>
          <a:chOff x="0" y="0"/>
          <a:chExt cx="0" cy="0"/>
        </a:xfrm>
      </p:grpSpPr>
      <p:sp>
        <p:nvSpPr>
          <p:cNvPr id="213" name="Google Shape;213;p14">
            <a:extLst>
              <a:ext uri="{FF2B5EF4-FFF2-40B4-BE49-F238E27FC236}">
                <a16:creationId xmlns:a16="http://schemas.microsoft.com/office/drawing/2014/main" id="{E3192554-5217-7A7F-C4F8-F692D22254DA}"/>
              </a:ext>
            </a:extLst>
          </p:cNvPr>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214" name="Google Shape;214;p14">
            <a:extLst>
              <a:ext uri="{FF2B5EF4-FFF2-40B4-BE49-F238E27FC236}">
                <a16:creationId xmlns:a16="http://schemas.microsoft.com/office/drawing/2014/main" id="{5413AAF6-86B3-1C9E-7A00-EA5F4EEAB3C9}"/>
              </a:ext>
            </a:extLst>
          </p:cNvPr>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215" name="Google Shape;215;p14">
            <a:extLst>
              <a:ext uri="{FF2B5EF4-FFF2-40B4-BE49-F238E27FC236}">
                <a16:creationId xmlns:a16="http://schemas.microsoft.com/office/drawing/2014/main" id="{63645B9E-9AB1-5FB1-880E-25ECEAE4A8B4}"/>
              </a:ext>
            </a:extLst>
          </p:cNvPr>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dirty="0"/>
          </a:p>
        </p:txBody>
      </p:sp>
      <p:sp>
        <p:nvSpPr>
          <p:cNvPr id="216" name="Google Shape;216;p14">
            <a:extLst>
              <a:ext uri="{FF2B5EF4-FFF2-40B4-BE49-F238E27FC236}">
                <a16:creationId xmlns:a16="http://schemas.microsoft.com/office/drawing/2014/main" id="{79EF169A-3107-D2C2-987F-7E0F4A659442}"/>
              </a:ext>
            </a:extLst>
          </p:cNvPr>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lvl="0"/>
            <a:r>
              <a:rPr lang="en" altLang="zh-TW" dirty="0"/>
              <a:t>RAG-Based MCP Server</a:t>
            </a:r>
            <a:endParaRPr dirty="0">
              <a:solidFill>
                <a:schemeClr val="bg1"/>
              </a:solidFill>
            </a:endParaRPr>
          </a:p>
        </p:txBody>
      </p:sp>
      <p:sp>
        <p:nvSpPr>
          <p:cNvPr id="6" name="文字方塊 5">
            <a:extLst>
              <a:ext uri="{FF2B5EF4-FFF2-40B4-BE49-F238E27FC236}">
                <a16:creationId xmlns:a16="http://schemas.microsoft.com/office/drawing/2014/main" id="{42293A7F-C503-0DB4-155E-445A8C4B3105}"/>
              </a:ext>
            </a:extLst>
          </p:cNvPr>
          <p:cNvSpPr txBox="1"/>
          <p:nvPr/>
        </p:nvSpPr>
        <p:spPr>
          <a:xfrm>
            <a:off x="311727" y="1953491"/>
            <a:ext cx="415637" cy="861774"/>
          </a:xfrm>
          <a:prstGeom prst="rect">
            <a:avLst/>
          </a:prstGeom>
          <a:noFill/>
        </p:spPr>
        <p:txBody>
          <a:bodyPr wrap="square" rtlCol="0">
            <a:spAutoFit/>
          </a:bodyPr>
          <a:lstStyle/>
          <a:p>
            <a:endParaRPr lang="zh-TW" altLang="en-US" sz="5000" dirty="0">
              <a:solidFill>
                <a:srgbClr val="FF0000"/>
              </a:solidFill>
            </a:endParaRPr>
          </a:p>
        </p:txBody>
      </p:sp>
      <p:sp>
        <p:nvSpPr>
          <p:cNvPr id="8" name="文字方塊 7">
            <a:extLst>
              <a:ext uri="{FF2B5EF4-FFF2-40B4-BE49-F238E27FC236}">
                <a16:creationId xmlns:a16="http://schemas.microsoft.com/office/drawing/2014/main" id="{07A5156B-3B41-8768-8D5A-5719AC90673C}"/>
              </a:ext>
            </a:extLst>
          </p:cNvPr>
          <p:cNvSpPr txBox="1"/>
          <p:nvPr/>
        </p:nvSpPr>
        <p:spPr>
          <a:xfrm>
            <a:off x="311726" y="4451398"/>
            <a:ext cx="415637" cy="861774"/>
          </a:xfrm>
          <a:prstGeom prst="rect">
            <a:avLst/>
          </a:prstGeom>
          <a:noFill/>
        </p:spPr>
        <p:txBody>
          <a:bodyPr wrap="square" rtlCol="0">
            <a:spAutoFit/>
          </a:bodyPr>
          <a:lstStyle/>
          <a:p>
            <a:endParaRPr lang="zh-TW" altLang="en-US" sz="5000" dirty="0">
              <a:solidFill>
                <a:srgbClr val="FF0000"/>
              </a:solidFill>
            </a:endParaRPr>
          </a:p>
        </p:txBody>
      </p:sp>
      <p:pic>
        <p:nvPicPr>
          <p:cNvPr id="2" name="圖片 1">
            <a:extLst>
              <a:ext uri="{FF2B5EF4-FFF2-40B4-BE49-F238E27FC236}">
                <a16:creationId xmlns:a16="http://schemas.microsoft.com/office/drawing/2014/main" id="{9242341B-2E0C-7ADF-E20C-CB879822DCC6}"/>
              </a:ext>
            </a:extLst>
          </p:cNvPr>
          <p:cNvPicPr>
            <a:picLocks noChangeAspect="1"/>
          </p:cNvPicPr>
          <p:nvPr/>
        </p:nvPicPr>
        <p:blipFill>
          <a:blip r:embed="rId3"/>
          <a:stretch>
            <a:fillRect/>
          </a:stretch>
        </p:blipFill>
        <p:spPr>
          <a:xfrm>
            <a:off x="3454400" y="1237924"/>
            <a:ext cx="5346759" cy="5620076"/>
          </a:xfrm>
          <a:prstGeom prst="rect">
            <a:avLst/>
          </a:prstGeom>
        </p:spPr>
      </p:pic>
    </p:spTree>
    <p:extLst>
      <p:ext uri="{BB962C8B-B14F-4D97-AF65-F5344CB8AC3E}">
        <p14:creationId xmlns:p14="http://schemas.microsoft.com/office/powerpoint/2010/main" val="4205965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196" name="Google Shape;196;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197" name="Google Shape;197;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98" name="Google Shape;198;p1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342900" lvl="0" indent="-342900"/>
            <a:r>
              <a:rPr lang="en-US" altLang="zh-TW" dirty="0"/>
              <a:t>Benefits &amp; Trade-offs</a:t>
            </a:r>
          </a:p>
        </p:txBody>
      </p:sp>
      <p:sp>
        <p:nvSpPr>
          <p:cNvPr id="2" name="文字方塊 1">
            <a:extLst>
              <a:ext uri="{FF2B5EF4-FFF2-40B4-BE49-F238E27FC236}">
                <a16:creationId xmlns:a16="http://schemas.microsoft.com/office/drawing/2014/main" id="{0253836C-3752-82AA-8CB6-294A79567FFB}"/>
              </a:ext>
            </a:extLst>
          </p:cNvPr>
          <p:cNvSpPr txBox="1"/>
          <p:nvPr/>
        </p:nvSpPr>
        <p:spPr>
          <a:xfrm>
            <a:off x="238991" y="1417638"/>
            <a:ext cx="11714018" cy="4401205"/>
          </a:xfrm>
          <a:prstGeom prst="rect">
            <a:avLst/>
          </a:prstGeom>
          <a:noFill/>
        </p:spPr>
        <p:txBody>
          <a:bodyPr wrap="square" rtlCol="0">
            <a:spAutoFit/>
          </a:bodyPr>
          <a:lstStyle/>
          <a:p>
            <a:pPr algn="just"/>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Benefits</a:t>
            </a:r>
          </a:p>
          <a:p>
            <a:pPr lvl="2" algn="just"/>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40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4000" dirty="0">
                <a:latin typeface="Times New Roman" panose="02020603050405020304" pitchFamily="18" charset="0"/>
                <a:cs typeface="Times New Roman" panose="02020603050405020304" pitchFamily="18" charset="0"/>
              </a:rPr>
              <a:t>Universal Accessibility </a:t>
            </a:r>
          </a:p>
          <a:p>
            <a:pPr lvl="2" algn="just"/>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40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4000" dirty="0">
                <a:latin typeface="Times New Roman" panose="02020603050405020304" pitchFamily="18" charset="0"/>
                <a:cs typeface="Times New Roman" panose="02020603050405020304" pitchFamily="18" charset="0"/>
              </a:rPr>
              <a:t>Maintainability</a:t>
            </a:r>
          </a:p>
          <a:p>
            <a:pPr lvl="2" algn="just"/>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40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Less token cost</a:t>
            </a:r>
            <a:endParaRPr lang="en-US" altLang="zh-TW" sz="4000" dirty="0">
              <a:latin typeface="Times New Roman" panose="02020603050405020304" pitchFamily="18" charset="0"/>
              <a:cs typeface="Times New Roman" panose="02020603050405020304" pitchFamily="18" charset="0"/>
            </a:endParaRPr>
          </a:p>
          <a:p>
            <a:pPr algn="just"/>
            <a:r>
              <a:rPr lang="en-US" altLang="zh-TW" sz="4000" dirty="0">
                <a:latin typeface="Times New Roman" panose="02020603050405020304" pitchFamily="18" charset="0"/>
                <a:cs typeface="Times New Roman" panose="02020603050405020304" pitchFamily="18" charset="0"/>
              </a:rPr>
              <a:t>Trade-offs</a:t>
            </a:r>
          </a:p>
          <a:p>
            <a:pPr algn="just"/>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40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4000" dirty="0">
                <a:latin typeface="Times New Roman" panose="02020603050405020304" pitchFamily="18" charset="0"/>
                <a:cs typeface="Times New Roman" panose="02020603050405020304" pitchFamily="18" charset="0"/>
              </a:rPr>
              <a:t>Infrastructure Complexity</a:t>
            </a:r>
            <a:endParaRPr lang="en-US" altLang="zh-TW" sz="4000" dirty="0">
              <a:latin typeface="Times New Roman" panose="02020603050405020304" pitchFamily="18" charset="0"/>
              <a:ea typeface="標楷體" panose="03000509000000000000" pitchFamily="65" charset="-120"/>
              <a:cs typeface="Times New Roman" panose="02020603050405020304" pitchFamily="18" charset="0"/>
            </a:endParaRPr>
          </a:p>
          <a:p>
            <a:pPr algn="just"/>
            <a:r>
              <a:rPr lang="en-US" altLang="zh-TW" sz="4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4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4000" dirty="0">
                <a:latin typeface="Times New Roman" panose="02020603050405020304" pitchFamily="18" charset="0"/>
                <a:cs typeface="Times New Roman" panose="02020603050405020304" pitchFamily="18" charset="0"/>
              </a:rPr>
              <a:t> Dependency on Retrieval Quality</a:t>
            </a:r>
            <a:endParaRPr lang="zh-TW" alt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214" name="Google Shape;214;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軟體系統實驗室</a:t>
            </a:r>
            <a:endParaRPr dirty="0"/>
          </a:p>
        </p:txBody>
      </p:sp>
      <p:sp>
        <p:nvSpPr>
          <p:cNvPr id="215" name="Google Shape;215;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dirty="0"/>
          </a:p>
        </p:txBody>
      </p:sp>
      <p:sp>
        <p:nvSpPr>
          <p:cNvPr id="216" name="Google Shape;216;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tLang="zh-TW" dirty="0">
                <a:solidFill>
                  <a:schemeClr val="bg1"/>
                </a:solidFill>
              </a:rPr>
              <a:t>Conclusion</a:t>
            </a:r>
            <a:endParaRPr dirty="0">
              <a:solidFill>
                <a:schemeClr val="bg1"/>
              </a:solidFill>
            </a:endParaRPr>
          </a:p>
        </p:txBody>
      </p:sp>
      <p:sp>
        <p:nvSpPr>
          <p:cNvPr id="2" name="文字方塊 1">
            <a:extLst>
              <a:ext uri="{FF2B5EF4-FFF2-40B4-BE49-F238E27FC236}">
                <a16:creationId xmlns:a16="http://schemas.microsoft.com/office/drawing/2014/main" id="{0DA1E93A-0594-E250-910E-7CED3372D976}"/>
              </a:ext>
            </a:extLst>
          </p:cNvPr>
          <p:cNvSpPr txBox="1"/>
          <p:nvPr/>
        </p:nvSpPr>
        <p:spPr>
          <a:xfrm>
            <a:off x="183572" y="1435681"/>
            <a:ext cx="11824855" cy="4939814"/>
          </a:xfrm>
          <a:prstGeom prst="rect">
            <a:avLst/>
          </a:prstGeom>
          <a:noFill/>
        </p:spPr>
        <p:txBody>
          <a:bodyPr wrap="square" rtlCol="0">
            <a:spAutoFit/>
          </a:bodyPr>
          <a:lstStyle/>
          <a:p>
            <a:r>
              <a:rPr lang="en" altLang="zh-TW" sz="3500" dirty="0">
                <a:latin typeface="Times New Roman" panose="02020603050405020304" pitchFamily="18" charset="0"/>
                <a:cs typeface="Times New Roman" panose="02020603050405020304" pitchFamily="18" charset="0"/>
              </a:rPr>
              <a:t>	Simply put, this project enables AI agents to actively retrieve </a:t>
            </a:r>
            <a:r>
              <a:rPr lang="en" altLang="zh-TW" sz="3500" b="1" dirty="0">
                <a:solidFill>
                  <a:srgbClr val="FF0000"/>
                </a:solidFill>
                <a:latin typeface="Times New Roman" panose="02020603050405020304" pitchFamily="18" charset="0"/>
                <a:cs typeface="Times New Roman" panose="02020603050405020304" pitchFamily="18" charset="0"/>
              </a:rPr>
              <a:t>necessary context </a:t>
            </a:r>
            <a:r>
              <a:rPr lang="en" altLang="zh-TW" sz="3500" dirty="0">
                <a:latin typeface="Times New Roman" panose="02020603050405020304" pitchFamily="18" charset="0"/>
                <a:cs typeface="Times New Roman" panose="02020603050405020304" pitchFamily="18" charset="0"/>
              </a:rPr>
              <a:t>from the MCP Server.</a:t>
            </a:r>
          </a:p>
          <a:p>
            <a:r>
              <a:rPr lang="en" altLang="zh-TW" sz="3500" dirty="0">
                <a:latin typeface="Times New Roman" panose="02020603050405020304" pitchFamily="18" charset="0"/>
                <a:cs typeface="Times New Roman" panose="02020603050405020304" pitchFamily="18" charset="0"/>
              </a:rPr>
              <a:t>	It </a:t>
            </a:r>
            <a:r>
              <a:rPr lang="en" altLang="zh-TW" sz="3500" b="1" dirty="0">
                <a:solidFill>
                  <a:srgbClr val="FF0000"/>
                </a:solidFill>
                <a:latin typeface="Times New Roman" panose="02020603050405020304" pitchFamily="18" charset="0"/>
                <a:cs typeface="Times New Roman" panose="02020603050405020304" pitchFamily="18" charset="0"/>
              </a:rPr>
              <a:t>eliminates</a:t>
            </a:r>
            <a:r>
              <a:rPr lang="en" altLang="zh-TW" sz="3500" dirty="0">
                <a:latin typeface="Times New Roman" panose="02020603050405020304" pitchFamily="18" charset="0"/>
                <a:cs typeface="Times New Roman" panose="02020603050405020304" pitchFamily="18" charset="0"/>
              </a:rPr>
              <a:t> manual document searching, as the AI fetches missing data automatically. It also functions as a </a:t>
            </a:r>
            <a:r>
              <a:rPr lang="en" altLang="zh-TW" sz="3500" b="1" dirty="0">
                <a:solidFill>
                  <a:srgbClr val="FF0000"/>
                </a:solidFill>
                <a:latin typeface="Times New Roman" panose="02020603050405020304" pitchFamily="18" charset="0"/>
                <a:cs typeface="Times New Roman" panose="02020603050405020304" pitchFamily="18" charset="0"/>
              </a:rPr>
              <a:t>plug-and-play</a:t>
            </a:r>
            <a:r>
              <a:rPr lang="en" altLang="zh-TW" sz="3500" dirty="0">
                <a:latin typeface="Times New Roman" panose="02020603050405020304" pitchFamily="18" charset="0"/>
                <a:cs typeface="Times New Roman" panose="02020603050405020304" pitchFamily="18" charset="0"/>
              </a:rPr>
              <a:t> service for instant knowledge access.</a:t>
            </a:r>
          </a:p>
          <a:p>
            <a:r>
              <a:rPr lang="en" altLang="zh-TW" sz="3500" dirty="0">
                <a:latin typeface="Times New Roman" panose="02020603050405020304" pitchFamily="18" charset="0"/>
                <a:cs typeface="Times New Roman" panose="02020603050405020304" pitchFamily="18" charset="0"/>
              </a:rPr>
              <a:t>	The vision is that by providing only </a:t>
            </a:r>
            <a:r>
              <a:rPr lang="en" altLang="zh-TW" sz="3500" b="1" dirty="0">
                <a:solidFill>
                  <a:srgbClr val="FF0000"/>
                </a:solidFill>
                <a:latin typeface="Times New Roman" panose="02020603050405020304" pitchFamily="18" charset="0"/>
                <a:cs typeface="Times New Roman" panose="02020603050405020304" pitchFamily="18" charset="0"/>
              </a:rPr>
              <a:t>domain specifications</a:t>
            </a:r>
            <a:r>
              <a:rPr lang="en" altLang="zh-TW" sz="3500" dirty="0">
                <a:latin typeface="Times New Roman" panose="02020603050405020304" pitchFamily="18" charset="0"/>
                <a:cs typeface="Times New Roman" panose="02020603050405020304" pitchFamily="18" charset="0"/>
              </a:rPr>
              <a:t> and </a:t>
            </a:r>
            <a:r>
              <a:rPr lang="en" altLang="zh-TW" sz="3500" b="1" dirty="0">
                <a:solidFill>
                  <a:srgbClr val="FF0000"/>
                </a:solidFill>
                <a:latin typeface="Times New Roman" panose="02020603050405020304" pitchFamily="18" charset="0"/>
                <a:cs typeface="Times New Roman" panose="02020603050405020304" pitchFamily="18" charset="0"/>
              </a:rPr>
              <a:t>clear functional requirements</a:t>
            </a:r>
            <a:r>
              <a:rPr lang="en" altLang="zh-TW" sz="3500" dirty="0">
                <a:latin typeface="Times New Roman" panose="02020603050405020304" pitchFamily="18" charset="0"/>
                <a:cs typeface="Times New Roman" panose="02020603050405020304" pitchFamily="18" charset="0"/>
              </a:rPr>
              <a:t>, Claude Code will autonomously generate systems matching </a:t>
            </a:r>
            <a:r>
              <a:rPr lang="en" altLang="zh-TW" sz="3500" dirty="0" err="1">
                <a:latin typeface="Times New Roman" panose="02020603050405020304" pitchFamily="18" charset="0"/>
                <a:cs typeface="Times New Roman" panose="02020603050405020304" pitchFamily="18" charset="0"/>
              </a:rPr>
              <a:t>ezKanban's</a:t>
            </a:r>
            <a:r>
              <a:rPr lang="en" altLang="zh-TW" sz="3500" dirty="0">
                <a:latin typeface="Times New Roman" panose="02020603050405020304" pitchFamily="18" charset="0"/>
                <a:cs typeface="Times New Roman" panose="02020603050405020304" pitchFamily="18" charset="0"/>
              </a:rPr>
              <a:t> quality.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223" name="Google Shape;223;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224" name="Google Shape;224;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25" name="Google Shape;225;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Reference</a:t>
            </a:r>
            <a:endParaRPr/>
          </a:p>
        </p:txBody>
      </p:sp>
      <p:sp>
        <p:nvSpPr>
          <p:cNvPr id="226" name="Google Shape;226;p15"/>
          <p:cNvSpPr txBox="1">
            <a:spLocks noGrp="1"/>
          </p:cNvSpPr>
          <p:nvPr>
            <p:ph type="body" idx="1"/>
          </p:nvPr>
        </p:nvSpPr>
        <p:spPr>
          <a:xfrm>
            <a:off x="737327" y="1557745"/>
            <a:ext cx="10717345" cy="2736304"/>
          </a:xfrm>
          <a:prstGeom prst="rect">
            <a:avLst/>
          </a:prstGeom>
          <a:noFill/>
          <a:ln>
            <a:noFill/>
          </a:ln>
        </p:spPr>
        <p:txBody>
          <a:bodyPr spcFirstLastPara="1" wrap="square" lIns="91425" tIns="45700" rIns="91425" bIns="45700" anchor="t" anchorCtr="0">
            <a:noAutofit/>
          </a:bodyPr>
          <a:lstStyle/>
          <a:p>
            <a:pPr marL="342900" lvl="0" indent="-342900" algn="just" rtl="0">
              <a:spcBef>
                <a:spcPts val="640"/>
              </a:spcBef>
              <a:spcAft>
                <a:spcPts val="0"/>
              </a:spcAft>
              <a:buClr>
                <a:srgbClr val="0F243E"/>
              </a:buClr>
              <a:buSzPts val="3200"/>
              <a:buChar char="•"/>
            </a:pPr>
            <a:r>
              <a:rPr lang="en-US" u="sng" dirty="0">
                <a:solidFill>
                  <a:schemeClr val="hlink"/>
                </a:solidFill>
                <a:hlinkClick r:id="rId3"/>
              </a:rPr>
              <a:t>Model Context Protocol (MCP) an overview</a:t>
            </a:r>
            <a:endParaRPr dirty="0"/>
          </a:p>
          <a:p>
            <a:pPr marL="342900" lvl="0" indent="-342900" algn="just" rtl="0">
              <a:spcBef>
                <a:spcPts val="640"/>
              </a:spcBef>
              <a:spcAft>
                <a:spcPts val="0"/>
              </a:spcAft>
              <a:buClr>
                <a:srgbClr val="0F243E"/>
              </a:buClr>
              <a:buSzPts val="3200"/>
              <a:buChar char="•"/>
            </a:pPr>
            <a:r>
              <a:rPr lang="en-US" u="sng" dirty="0">
                <a:solidFill>
                  <a:schemeClr val="hlink"/>
                </a:solidFill>
                <a:hlinkClick r:id="rId4"/>
              </a:rPr>
              <a:t>Introducing the Model Context Protocol</a:t>
            </a:r>
            <a:endParaRPr dirty="0"/>
          </a:p>
          <a:p>
            <a:pPr marL="342900" lvl="0" indent="-342900" algn="just" rtl="0">
              <a:spcBef>
                <a:spcPts val="640"/>
              </a:spcBef>
              <a:spcAft>
                <a:spcPts val="0"/>
              </a:spcAft>
              <a:buClr>
                <a:srgbClr val="000100"/>
              </a:buClr>
              <a:buSzPts val="3200"/>
              <a:buChar char="•"/>
            </a:pPr>
            <a:r>
              <a:rPr lang="en-US" u="sng" dirty="0">
                <a:solidFill>
                  <a:srgbClr val="000100"/>
                </a:solidFill>
                <a:latin typeface="Helvetica Neue"/>
                <a:ea typeface="Helvetica Neue"/>
                <a:cs typeface="Helvetica Neue"/>
                <a:sym typeface="Helvetica Neue"/>
                <a:hlinkClick r:id="rId5">
                  <a:extLst>
                    <a:ext uri="{A12FA001-AC4F-418D-AE19-62706E023703}">
                      <ahyp:hlinkClr xmlns:ahyp="http://schemas.microsoft.com/office/drawing/2018/hyperlinkcolor" val="tx"/>
                    </a:ext>
                  </a:extLst>
                </a:hlinkClick>
              </a:rPr>
              <a:t>https://github.com/modelcontextprotocol/servers</a:t>
            </a:r>
            <a:endParaRPr dirty="0">
              <a:solidFill>
                <a:srgbClr val="000100"/>
              </a:solidFill>
              <a:latin typeface="Helvetica Neue"/>
              <a:ea typeface="Helvetica Neue"/>
              <a:cs typeface="Helvetica Neue"/>
              <a:sym typeface="Helvetica Neue"/>
            </a:endParaRPr>
          </a:p>
          <a:p>
            <a:pPr marL="342900" lvl="0" indent="-342900" algn="just" rtl="0">
              <a:spcBef>
                <a:spcPts val="640"/>
              </a:spcBef>
              <a:spcAft>
                <a:spcPts val="0"/>
              </a:spcAft>
              <a:buClr>
                <a:srgbClr val="0F243E"/>
              </a:buClr>
              <a:buSzPts val="3200"/>
              <a:buChar char="•"/>
            </a:pPr>
            <a:r>
              <a:rPr lang="en-US" u="sng" dirty="0">
                <a:solidFill>
                  <a:schemeClr val="hlink"/>
                </a:solidFill>
                <a:hlinkClick r:id="rId6"/>
              </a:rPr>
              <a:t>Azure Databricks 上的 RAG (檢索增強生成)</a:t>
            </a:r>
            <a:endParaRPr lang="en-US" u="sng" dirty="0">
              <a:solidFill>
                <a:schemeClr val="hlink"/>
              </a:solidFill>
            </a:endParaRPr>
          </a:p>
          <a:p>
            <a:pPr marL="342900" indent="-342900" algn="just"/>
            <a:r>
              <a:rPr lang="en-US" altLang="zh-TW" dirty="0">
                <a:hlinkClick r:id="rId7"/>
              </a:rPr>
              <a:t>Introducing Contextual Retrieval</a:t>
            </a:r>
            <a:endParaRPr lang="en-US" altLang="zh-TW" dirty="0"/>
          </a:p>
          <a:p>
            <a:pPr marL="342900" indent="-342900" algn="just"/>
            <a:r>
              <a:rPr lang="zh-TW" altLang="en-US" b="1" dirty="0">
                <a:hlinkClick r:id="rId8"/>
              </a:rPr>
              <a:t>文字探勘之前處理與</a:t>
            </a:r>
            <a:r>
              <a:rPr lang="en" altLang="zh-TW" b="1" dirty="0">
                <a:hlinkClick r:id="rId8"/>
              </a:rPr>
              <a:t>TF-IDF</a:t>
            </a:r>
            <a:r>
              <a:rPr lang="zh-TW" altLang="en-US" b="1" dirty="0">
                <a:hlinkClick r:id="rId8"/>
              </a:rPr>
              <a:t>介紹</a:t>
            </a:r>
            <a:endParaRPr lang="en-US" altLang="zh-TW" b="1" dirty="0"/>
          </a:p>
          <a:p>
            <a:pPr marL="342900" indent="-342900" algn="just"/>
            <a:endParaRPr lang="en-US" altLang="zh-TW" dirty="0"/>
          </a:p>
          <a:p>
            <a:pPr marL="0" indent="0" algn="just">
              <a:buNone/>
            </a:pPr>
            <a:endParaRPr lang="en-US" altLang="zh-TW" b="1" u="sng" dirty="0">
              <a:solidFill>
                <a:schemeClr val="hlink"/>
              </a:solidFill>
              <a:hlinkClick r:id="rId9"/>
            </a:endParaRPr>
          </a:p>
          <a:p>
            <a:pPr marL="342900" lvl="0" indent="-342900" algn="just" rtl="0">
              <a:spcBef>
                <a:spcPts val="640"/>
              </a:spcBef>
              <a:spcAft>
                <a:spcPts val="0"/>
              </a:spcAft>
              <a:buClr>
                <a:srgbClr val="0F243E"/>
              </a:buClr>
              <a:buSzPts val="3200"/>
              <a:buChar char="•"/>
            </a:pPr>
            <a:endParaRPr dirty="0"/>
          </a:p>
          <a:p>
            <a:pPr marL="342900" lvl="0" indent="-139700" algn="just" rtl="0">
              <a:spcBef>
                <a:spcPts val="640"/>
              </a:spcBef>
              <a:spcAft>
                <a:spcPts val="0"/>
              </a:spcAft>
              <a:buClr>
                <a:srgbClr val="0F243E"/>
              </a:buClr>
              <a:buSzPts val="3200"/>
              <a:buNone/>
            </a:pPr>
            <a:endParaRPr i="0" dirty="0">
              <a:solidFill>
                <a:srgbClr val="000100"/>
              </a:solidFill>
              <a:latin typeface="Helvetica Neue"/>
              <a:ea typeface="Helvetica Neue"/>
              <a:cs typeface="Helvetica Neue"/>
              <a:sym typeface="Helvetica Neue"/>
            </a:endParaRPr>
          </a:p>
          <a:p>
            <a:pPr marL="342900" lvl="0" indent="-139700" algn="l" rtl="0">
              <a:spcBef>
                <a:spcPts val="1050"/>
              </a:spcBef>
              <a:spcAft>
                <a:spcPts val="0"/>
              </a:spcAft>
              <a:buClr>
                <a:srgbClr val="0F243E"/>
              </a:buClr>
              <a:buSzPts val="3200"/>
              <a:buNone/>
            </a:pPr>
            <a:endParaRPr b="1" i="0" dirty="0">
              <a:solidFill>
                <a:srgbClr val="000100"/>
              </a:solidFill>
              <a:latin typeface="Helvetica Neue"/>
              <a:ea typeface="Helvetica Neue"/>
              <a:cs typeface="Helvetica Neue"/>
              <a:sym typeface="Helvetica Neue"/>
            </a:endParaRPr>
          </a:p>
          <a:p>
            <a:pPr marL="342900" lvl="0" indent="-139700" algn="l" rtl="0">
              <a:spcBef>
                <a:spcPts val="1800"/>
              </a:spcBef>
              <a:spcAft>
                <a:spcPts val="0"/>
              </a:spcAft>
              <a:buClr>
                <a:srgbClr val="0F243E"/>
              </a:buClr>
              <a:buSzPts val="3200"/>
              <a:buNone/>
            </a:pPr>
            <a:endParaRPr b="1" i="0" dirty="0">
              <a:solidFill>
                <a:srgbClr val="000100"/>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1BD3DD2-8BFB-5207-4276-BF511C62BA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5" name="圖片 4">
            <a:extLst>
              <a:ext uri="{FF2B5EF4-FFF2-40B4-BE49-F238E27FC236}">
                <a16:creationId xmlns:a16="http://schemas.microsoft.com/office/drawing/2014/main" id="{410943D2-B456-4496-40D3-5CA844B2B2A4}"/>
              </a:ext>
            </a:extLst>
          </p:cNvPr>
          <p:cNvPicPr>
            <a:picLocks noChangeAspect="1"/>
          </p:cNvPicPr>
          <p:nvPr/>
        </p:nvPicPr>
        <p:blipFill>
          <a:blip r:embed="rId3"/>
          <a:stretch>
            <a:fillRect/>
          </a:stretch>
        </p:blipFill>
        <p:spPr>
          <a:xfrm>
            <a:off x="0" y="1550393"/>
            <a:ext cx="12192000" cy="4712436"/>
          </a:xfrm>
          <a:prstGeom prst="rect">
            <a:avLst/>
          </a:prstGeom>
        </p:spPr>
      </p:pic>
    </p:spTree>
    <p:extLst>
      <p:ext uri="{BB962C8B-B14F-4D97-AF65-F5344CB8AC3E}">
        <p14:creationId xmlns:p14="http://schemas.microsoft.com/office/powerpoint/2010/main" val="3634436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6"/>
          <p:cNvSpPr txBox="1">
            <a:spLocks noGrp="1"/>
          </p:cNvSpPr>
          <p:nvPr>
            <p:ph type="ctrTitle"/>
          </p:nvPr>
        </p:nvSpPr>
        <p:spPr>
          <a:xfrm>
            <a:off x="914400" y="620688"/>
            <a:ext cx="103632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5000"/>
              <a:t>Thanks for listening</a:t>
            </a:r>
            <a:endParaRPr sz="5000"/>
          </a:p>
        </p:txBody>
      </p:sp>
      <p:sp>
        <p:nvSpPr>
          <p:cNvPr id="232" name="Google Shape;232;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2025/11/25</a:t>
            </a:r>
            <a:endParaRPr dirty="0"/>
          </a:p>
        </p:txBody>
      </p:sp>
      <p:sp>
        <p:nvSpPr>
          <p:cNvPr id="233" name="Google Shape;233;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軟體系統實驗室</a:t>
            </a:r>
            <a:endParaRPr/>
          </a:p>
        </p:txBody>
      </p:sp>
      <p:sp>
        <p:nvSpPr>
          <p:cNvPr id="234" name="Google Shape;234;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35" name="Google Shape;235;p16"/>
          <p:cNvSpPr txBox="1"/>
          <p:nvPr/>
        </p:nvSpPr>
        <p:spPr>
          <a:xfrm>
            <a:off x="931161" y="2276872"/>
            <a:ext cx="10363200" cy="14700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000" b="0" u="sng" cap="none">
                <a:solidFill>
                  <a:schemeClr val="lt1"/>
                </a:solidFill>
                <a:latin typeface="Microsoft JhengHei"/>
                <a:ea typeface="Microsoft JhengHei"/>
                <a:cs typeface="Microsoft JhengHei"/>
                <a:sym typeface="Microsoft JhengHei"/>
                <a:hlinkClick r:id="rId3">
                  <a:extLst>
                    <a:ext uri="{A12FA001-AC4F-418D-AE19-62706E023703}">
                      <ahyp:hlinkClr xmlns:ahyp="http://schemas.microsoft.com/office/drawing/2018/hyperlinkcolor" val="tx"/>
                    </a:ext>
                  </a:extLst>
                </a:hlinkClick>
              </a:rPr>
              <a:t>https://github.com/chun-wei0413/mcp-registry</a:t>
            </a:r>
            <a:endParaRPr sz="3000" b="0" cap="none">
              <a:solidFill>
                <a:schemeClr val="lt1"/>
              </a:solidFill>
              <a:latin typeface="Microsoft JhengHei"/>
              <a:ea typeface="Microsoft JhengHei"/>
              <a:cs typeface="Microsoft JhengHei"/>
              <a:sym typeface="Microsoft JhengHei"/>
            </a:endParaRPr>
          </a:p>
        </p:txBody>
      </p:sp>
      <p:pic>
        <p:nvPicPr>
          <p:cNvPr id="236" name="Google Shape;236;p16" descr="耀西- 維基百科，自由的百科全書"/>
          <p:cNvPicPr preferRelativeResize="0"/>
          <p:nvPr/>
        </p:nvPicPr>
        <p:blipFill rotWithShape="1">
          <a:blip r:embed="rId4">
            <a:alphaModFix/>
          </a:blip>
          <a:srcRect/>
          <a:stretch/>
        </p:blipFill>
        <p:spPr>
          <a:xfrm flipH="1">
            <a:off x="9912424" y="2492896"/>
            <a:ext cx="943103" cy="1403338"/>
          </a:xfrm>
          <a:prstGeom prst="rect">
            <a:avLst/>
          </a:prstGeom>
          <a:noFill/>
          <a:ln>
            <a:noFill/>
          </a:ln>
        </p:spPr>
      </p:pic>
    </p:spTree>
  </p:cSld>
  <p:clrMapOvr>
    <a:masterClrMapping/>
  </p:clrMapOvr>
</p:sld>
</file>

<file path=ppt/theme/theme1.xml><?xml version="1.0" encoding="utf-8"?>
<a:theme xmlns:a="http://schemas.openxmlformats.org/drawingml/2006/main" name="blue_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3509</TotalTime>
  <Words>1511</Words>
  <Application>Microsoft Macintosh PowerPoint</Application>
  <PresentationFormat>寬螢幕</PresentationFormat>
  <Paragraphs>175</Paragraphs>
  <Slides>19</Slides>
  <Notes>19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Times New Roman</vt:lpstr>
      <vt:lpstr>微軟正黑體</vt:lpstr>
      <vt:lpstr>Helvetica Neue</vt:lpstr>
      <vt:lpstr>微軟正黑體</vt:lpstr>
      <vt:lpstr>Arial</vt:lpstr>
      <vt:lpstr>Calibri</vt:lpstr>
      <vt:lpstr>blue_w</vt:lpstr>
      <vt:lpstr>Context as a Service : A RAG-Based Context Provisioning MCP Server</vt:lpstr>
      <vt:lpstr>Outline</vt:lpstr>
      <vt:lpstr>The Problem</vt:lpstr>
      <vt:lpstr>The Problem</vt:lpstr>
      <vt:lpstr>The Problem</vt:lpstr>
      <vt:lpstr>The Problem</vt:lpstr>
      <vt:lpstr>Background-MCP</vt:lpstr>
      <vt:lpstr>Background-MCP</vt:lpstr>
      <vt:lpstr>Background-RAG</vt:lpstr>
      <vt:lpstr>RAG-Based MCP Server</vt:lpstr>
      <vt:lpstr>RAG-Based MCP Server</vt:lpstr>
      <vt:lpstr>RAG-Based MCP Server</vt:lpstr>
      <vt:lpstr>RAG-Based MCP Server</vt:lpstr>
      <vt:lpstr>RAG-Based MCP Server</vt:lpstr>
      <vt:lpstr>Benefits &amp; Trade-offs</vt:lpstr>
      <vt:lpstr>Conclusion</vt:lpstr>
      <vt:lpstr>Reference</vt:lpstr>
      <vt:lpstr>PowerPoint 簡報</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李俊威</dc:creator>
  <cp:lastModifiedBy>李俊威</cp:lastModifiedBy>
  <cp:revision>154</cp:revision>
  <dcterms:created xsi:type="dcterms:W3CDTF">2024-11-04T15:08:33Z</dcterms:created>
  <dcterms:modified xsi:type="dcterms:W3CDTF">2025-11-25T02:18:07Z</dcterms:modified>
</cp:coreProperties>
</file>