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73152"/>
            <a:ext cx="2286000" cy="5070348"/>
          </a:xfrm>
          <a:prstGeom prst="rect">
            <a:avLst/>
          </a:prstGeom>
          <a:solidFill>
            <a:srgbClr val="242B4A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1097280"/>
            <a:ext cx="1097280" cy="109728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046720" y="2560320"/>
            <a:ext cx="731520" cy="731520"/>
          </a:xfrm>
          <a:prstGeom prst="ellipse">
            <a:avLst/>
          </a:prstGeom>
          <a:solidFill>
            <a:srgbClr val="5EEAD4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1440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從提示工程到技能封裝</a:t>
            </a:r>
            <a:endParaRPr lang="en-US" sz="14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探索 Claude Skills</a:t>
            </a:r>
            <a:endParaRPr lang="en-US" sz="14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的架構與應用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演講者：Frank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2026/03/24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國立台北科技大學　資訊工程系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指導教授：鄭有進、謝金雲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0698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什麼是 Skill？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344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定義、結構與核心設計原則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80136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8196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+ MCP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0939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知識層與連接層的協作關係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55117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5694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規劃與設計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8437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使用案例、YAML Frontmatter、指令撰寫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0098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3192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測試與迭代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593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成功標準、測試方法、Skill-Creator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05079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06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發布與設計模式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43434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發布方式、五大模式、問題排除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什麼是 Skill？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1371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515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54864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1887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一組打包成資料夾的指令集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教導 Claude 處理特定任務或工作流程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教 Claude 一次，之後每次對話都能受益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54864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適用場景：可重複的工作流程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5087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從規格生成前端設計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以一致方法進行研究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建立遵循團隊風格的文件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協調多步驟流程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本指南的兩條路徑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38328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4747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獨立 Skill 開發者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聚焦 Fundamentals + Planning (Cat. 1-2)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338328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383280"/>
            <a:ext cx="54864" cy="1005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4747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MCP 整合開發者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聚焦 Skills + MCP 段落 (Cat. 3)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漸進式揭露（Progressive Disclosure）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1371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097280"/>
            <a:ext cx="3657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109728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188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Layer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80160" y="1417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YAML Frontmatter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645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永遠載入，判斷何時使用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965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224028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2240280"/>
            <a:ext cx="54864" cy="8686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Layer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" y="2560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SKILL.md 主體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788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相關時載入，完整指令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3108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383280"/>
            <a:ext cx="45720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383280"/>
            <a:ext cx="54864" cy="86868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474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</a:rPr>
              <a:t>Layer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703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references/ 連結檔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3931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按需載入，深度參考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12080" y="1097280"/>
            <a:ext cx="33832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212080" y="1097280"/>
            <a:ext cx="54864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12344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核心效益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最小化 Token 使用量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同時保持專業能力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只在需要時載入需要的資訊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12080" y="3200400"/>
            <a:ext cx="33832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12080" y="3200400"/>
            <a:ext cx="54864" cy="1280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5394960" y="32918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其他設計原則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可組合性：多個 Skill 可同時協同運作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可攜性：Claude.ai / Code / API 運作一致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+ MCP：廚房比喻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1371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51560"/>
            <a:ext cx="3749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54864" cy="201168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887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188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MCP = 專業廚房（連接層）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16459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連接 Claude 到服務（Notion, Linear...）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提供即時資料存取和工具調用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回答：Claude 能做什麼？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3749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5156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1887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188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Skills = 食譜（知識層）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83480" y="16459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教導 Claude 如何使用服務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捕捉工作流程和最佳實踐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回答：Claude 該怎麼做？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3337560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3337560"/>
            <a:ext cx="54864" cy="1417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3"/>
          <p:cNvSpPr/>
          <p:nvPr/>
        </p:nvSpPr>
        <p:spPr>
          <a:xfrm>
            <a:off x="86868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沒有 Skills 時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868680" y="37490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使用者不知道下一步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每次對話從零開始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結果不一致，用戶歸哎於連接器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54880" y="3337560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754880" y="3337560"/>
            <a:ext cx="54864" cy="1417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7"/>
          <p:cNvSpPr/>
          <p:nvPr/>
        </p:nvSpPr>
        <p:spPr>
          <a:xfrm>
            <a:off x="498348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有 Skills 時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983480" y="37490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預建工作流程自動啟動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一致且可靠的工具使用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降低整合的學習曲線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1：文件與資產建立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1371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51560"/>
            <a:ext cx="78638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54864" cy="1280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143000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建立一致、高品質的輸出（文件、簡報、程式碼）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範例：frontend-design skill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「Create distinctive, production-grade frontend interfaces with high design quality.」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關鍵技巧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874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97180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風格指南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429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嵌入品牌標準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97480" y="2971800"/>
            <a:ext cx="1874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97480" y="2971800"/>
            <a:ext cx="54864" cy="1188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288036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範本結構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80360" y="3429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確保輸出一致性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971800"/>
            <a:ext cx="1874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971800"/>
            <a:ext cx="54864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品質檢查清單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429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完成前確認品質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12280" y="2971800"/>
            <a:ext cx="1874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12280" y="2971800"/>
            <a:ext cx="54864" cy="1188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無需外部工具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95160" y="3429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使用 Claude 內建能力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2 &amp; 3：工作流程自動化 &amp; MCP 增強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1371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51560"/>
            <a:ext cx="38404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54864" cy="21031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Cat 2：工作流程自動化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5087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多步驟流程，需要一致方法論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範例：skill-creator skill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技巧：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驗證關卡的逐步工作流程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迭代精煉循環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8404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54864" cy="21031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Cat 3：MCP 增強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5087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為 MCP 工具加上工作流程引導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範例：sentry-code-review skill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技巧：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多 MCP 協調、領域知識嵌入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錯誤處理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78638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429000"/>
            <a:ext cx="54864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使用案例範本（Sprint Planning）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3840480"/>
            <a:ext cx="109728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840480"/>
            <a:ext cx="10972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Trigger: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「help me plan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this sprint」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965960" y="40690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48840" y="3840480"/>
            <a:ext cx="1097280" cy="8229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2148840" y="3840480"/>
            <a:ext cx="10972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Step 1: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取得專案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狀態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46120" y="40690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29000" y="3840480"/>
            <a:ext cx="1097280" cy="8229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3840480"/>
            <a:ext cx="10972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Step 2: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分析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產能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26280" y="40690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840480"/>
            <a:ext cx="1097280" cy="8229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3840480"/>
            <a:ext cx="10972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Step 3: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建議優先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順序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06440" y="40690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89320" y="3840480"/>
            <a:ext cx="1097280" cy="8229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5989320" y="3840480"/>
            <a:ext cx="10972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Step 4: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建立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任務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086600" y="40690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269480" y="3840480"/>
            <a:ext cx="109728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7269480" y="3840480"/>
            <a:ext cx="10972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Result: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完整的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Sprint 計畫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的檔案結構與命名規則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1371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51560"/>
            <a:ext cx="41148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54864" cy="2560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資料夾結構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5087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your-skill-name/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SKILL.md       (必要)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scripts/       (選用)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references/    (選用)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assets/        (選用)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1051560"/>
            <a:ext cx="35661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1051560"/>
            <a:ext cx="54864" cy="2560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525780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關鍵規則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7800" y="150876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SKILL.md 大小寫敏感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只接受 SKILL.md 這個拼法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資料夾用 kebab-case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notion-project-setup  ✅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Notion Project Setup  ❌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notion_project_setup  ❌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不放 README.md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文件放 SKILL.md 或 references/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886200"/>
            <a:ext cx="54864" cy="8686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023360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80160" y="4023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安全限制：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 禁止 XML 標籤 (&lt; &gt;) / 名稱不可含 「claude」或「anthropic」（保留字）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280160" y="43434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原因：Frontmatter 出現在 Claude 的 system prompt 中，惡意內容可能注入指令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YAML Frontmatter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1371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5156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最小必要格式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5544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your-skill-name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What it does.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 when user asks 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[specific phrases].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1051560"/>
            <a:ext cx="35661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1051560"/>
            <a:ext cx="54864" cy="2011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25780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選用欄位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7800" y="15087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  MIT, Apache-2.0 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compatibility: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  環境需求（1-500 字元）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allowed-tools: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  限制工具存取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  author, version, mcp-server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7863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337560"/>
            <a:ext cx="54864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429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欄位要求摘要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3749040"/>
          <a:ext cx="7406640" cy="822960"/>
        </p:xfrm>
        <a:graphic>
          <a:graphicData uri="http://schemas.openxmlformats.org/drawingml/2006/table">
            <a:tbl>
              <a:tblPr/>
              <a:tblGrid>
                <a:gridCol w="1371600"/>
                <a:gridCol w="6035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欄位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規則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kebab-case，無空格或大寫，應與資料夾名稱一致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description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必須包含「做什麼」+「何時用」，上限 1024 字元，禁 XML 標籤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Description：Skill 成敗的關鍵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1371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51560"/>
            <a:ext cx="78638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143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✅ 好的 Description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具體說明「做什麼」 + 包含「何時使用」的觸發詞 + 提及相關檔案類型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「Manages Linear workflows including sprint planning. Use when user mentions sprint, Linear tasks, or project planning.」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78638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651760"/>
            <a:ext cx="54864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743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 壞的 Description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3108960"/>
          <a:ext cx="7406640" cy="1097280"/>
        </p:xfrm>
        <a:graphic>
          <a:graphicData uri="http://schemas.openxmlformats.org/drawingml/2006/table">
            <a:tbl>
              <a:tblPr/>
              <a:tblGrid>
                <a:gridCol w="1645920"/>
                <a:gridCol w="3017520"/>
                <a:gridCol w="2743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問題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範例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原因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太模糊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「Helps with projects」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Claude 幾乎不會觸發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缺觸發條件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「Creates documentation systems」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沒說何時該用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太技術化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「Implements entity model...」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用戶不會這樣說話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核心原則：使用者怎麼說，description 就怎麼寫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撰寫 SKILL.md 指令的最佳實踐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1371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51560"/>
            <a:ext cx="78638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124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具體且可操作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11247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112471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python scripts/validate.py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--input {filename}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0" y="11247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112471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 the data before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proceeding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286000"/>
            <a:ext cx="78638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286000"/>
            <a:ext cx="54864" cy="10515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359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善用漸進式揭露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23591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235915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核心指令放 SKILL.md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詳細文件移 references/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0" y="23591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35915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所有內容擠在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 裡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520440"/>
            <a:ext cx="78638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520440"/>
            <a:ext cx="54864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593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包含錯誤處理與範例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35935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3593592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連線失敗時：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確認服器狀態...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0" y="35935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359359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（沒有錯誤處理）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420624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429768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進階技巧：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用腳本做確定性驗證，而非語言指令。程式碼是確定性的，語言解讀不是。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定義成功標準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1371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51560"/>
            <a:ext cx="3840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54864" cy="2194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 量化指標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90%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相關查詢觸發率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057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X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2880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工具呼叫內完成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560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2880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失敗的 API 呼叫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3840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51560"/>
            <a:ext cx="54864" cy="2194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質化指標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83480" y="15544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用戶不需提示下一步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工作流程無需修正即完成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各工作階段結果一致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新用戶能否首次就完成？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78638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52044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效能對比範例（文件提供的參考基準）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3931920"/>
          <a:ext cx="74066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88920"/>
                <a:gridCol w="278892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Without Skill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With Skill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來回對話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 次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 個澄清問題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失敗 API 呼叫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 次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 次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Token 消耗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測試的三個面向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1371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51560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54864" cy="2468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1. 觸發測試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Skill 是否在正確時機載入？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21031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659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✅ 明確任務觸發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✅ 改述請求也觸發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❌ 無關主題不觸發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051560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051560"/>
            <a:ext cx="54864" cy="24688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2. 功能測試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輸出正確？API 成功？錯誤處理？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0" y="1874520"/>
            <a:ext cx="21031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19659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驗證輸出結果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確認 API 呼叫成功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測試邊界情況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1051560"/>
            <a:ext cx="26060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051560"/>
            <a:ext cx="54864" cy="2468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3. 效能比較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證明 Skill 確實改善了結果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92240" y="1874520"/>
            <a:ext cx="21031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19659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對比訊息來回次數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比較失敗呼叫數量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比較 Token 消耗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794760"/>
            <a:ext cx="7863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794760"/>
            <a:ext cx="54864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3886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測試方法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42062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手動測試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4389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Claude.ai 上直接跑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20440" y="42062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腳本測試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20440" y="4389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Claude Code 自動化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72200" y="42062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程式化測試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2200" y="4389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Skills API 評估套件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Skill-Creator 與迭代改進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1371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5156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Skill-Creator 工具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5087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從自然語言描述生成 Skill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產生正確格式的 SKILL.md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審查並建議改善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使用：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「Use skill-creator to help me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a skill for [用途]」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54864" cy="2011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迭代信號與對策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觸發不足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1554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加更多觸發詞/技術用語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觸發過度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加負面觸發條件/縮小範圍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執行不一致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改善指令精確度/錯誤處理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337560"/>
            <a:ext cx="78638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37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Skills 是活文件，透過測試和使用者回饋不斷迭代改善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023360"/>
            <a:ext cx="54864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11480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Pro Tip：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先針對單一困難任務不斷迭代直到成功，再把成功的方法萃取成 Skill，而不是一開始就做廣泛測試。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發布與分享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1371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5156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54864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</a:rPr>
              <a:t>個人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下載資料夾 → 壓縮 → 上傳 Claude.ai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或放入 Claude Code 目錄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05156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051560"/>
            <a:ext cx="54864" cy="1828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組織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1554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管理員在工作區部署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自動更新、集中管理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05156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051560"/>
            <a:ext cx="54864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API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15544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/v1/skills 端點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Messages API 整合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Agent SDK 支援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154680"/>
            <a:ext cx="786384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15468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2461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開放標準：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如同 MCP，Skill 可跨工具和平台使用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02336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114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定位原則：聚焦成果而非功能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3434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✅ 「幾秒內建立完整工作區，取代 30 分鐘手動設定」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❌ 「包含 YAML frontmatter 和 Markdown 指令的資料夾」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設計模式框架：Problem-first vs. Tool-first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1371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51560"/>
            <a:ext cx="78638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14300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Home Depot 比喻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（類似台灣的特力屋）你可能帶著問題進去，「我要修廚房櫃樜」；或者拿起一把新電鑽，問怎麼用它。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38404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377440"/>
            <a:ext cx="54864" cy="2103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Problem-first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8346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用戶描述想要的結果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</a:rPr>
              <a:t>「幫我建立一個專案工作區」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Skill 負責編排正確的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MCP 呼叫順序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377440"/>
            <a:ext cx="38404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377440"/>
            <a:ext cx="54864" cy="21031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Tool-first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83480" y="28346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用戶已有 MCP 存取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97316"/>
                </a:solidFill>
              </a:rPr>
              <a:t>「我連接了 Notion MCP」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Skill 教導 Claude 最佳的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工作流程和實踐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1 &amp; 2：循序式工作流程 &amp; 多 MCP 協調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1371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5156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Pattern 1：循序式工作流程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463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特定順序的多步驟流程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783080"/>
            <a:ext cx="228600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783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17320" y="1783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建帳號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97280" y="2103120"/>
            <a:ext cx="228600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1031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17320" y="2103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設定付款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97280" y="2423160"/>
            <a:ext cx="228600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2423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17320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建訂閱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97280" y="2743200"/>
            <a:ext cx="228600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2743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17320" y="2743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發歡迎信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05156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51560"/>
            <a:ext cx="54864" cy="2011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Pattern 2：多 MCP 協調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1463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跨多個服務的流程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12080" y="1783080"/>
            <a:ext cx="228600" cy="2286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1783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32120" y="17830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Figma MCP → 匯出設計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212080" y="2103120"/>
            <a:ext cx="228600" cy="2286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0" y="21031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32120" y="21031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Drive MCP → 儲存資產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12080" y="2423160"/>
            <a:ext cx="228600" cy="2286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2423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32120" y="24231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Linear MCP → 建立任務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12080" y="2743200"/>
            <a:ext cx="228600" cy="2286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5" name="Text 33"/>
          <p:cNvSpPr/>
          <p:nvPr/>
        </p:nvSpPr>
        <p:spPr>
          <a:xfrm>
            <a:off x="5212080" y="2743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32120" y="27432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Slack MCP → 發送通知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" y="333756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0080" y="333756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868680" y="34290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Pattern 1 關鍵技巧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68680" y="37033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明確的步驟順序與相依性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每階段驗證 + 失敗時回滾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333756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337560"/>
            <a:ext cx="54864" cy="1188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3" name="Text 41"/>
          <p:cNvSpPr/>
          <p:nvPr/>
        </p:nvSpPr>
        <p:spPr>
          <a:xfrm>
            <a:off x="4983480" y="34290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Pattern 2 關鍵技巧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83480" y="37033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清楚的階段分離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MCP 之間的資料傳遞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3-5：迭代精煉 / 上下文感知 / 領域智慧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1371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5156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54864" cy="3474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88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Pattern 3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迭代精煉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輸出品質因反複修改而改善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331720"/>
            <a:ext cx="21031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範例：報告生成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關鍵技巧：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017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明確品質標準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知道何時停止迭代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0" y="105156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0" y="1051560"/>
            <a:ext cx="54864" cy="3474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1188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Pattern 4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上下文感知選擇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相同目標，依情境選不同工具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0" y="2331720"/>
            <a:ext cx="21031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範例：檔案儲存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2743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關鍵技巧：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0" y="3017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清楚的決策樹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透明的選擇說明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1051560"/>
            <a:ext cx="26060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1051560"/>
            <a:ext cx="54864" cy="3474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1188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Pattern 5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領域專業智慧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嵌入超越工具存取的專業知識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92240" y="2331720"/>
            <a:ext cx="21031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2423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範例：付款合規檢查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743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關鍵技巧：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3017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領域專業嵌入邏輯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合規優先於執行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常見問題排除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1371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515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54864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上傳失敗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SKILL.md 拼寫不對（大小寫敏感）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YAML 缺少 --- 分隔符號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名稱沒用 kebab-case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54864" cy="1645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43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觸發問題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不足 → 加觸發詞到 description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過度 → 加負面觸發、縮小範圍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除錯：問 Claude 「When would you use [skill]?」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926080"/>
            <a:ext cx="54864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指令未遵循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3375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太冗長 → 精簡、條列式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關鍵指令被埋 → 放最上方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語言模糊 → 用腳本驗證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926080"/>
            <a:ext cx="54864" cy="1645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效能問題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3375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SKILL.md &lt; 5,000 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詳細文件移 references/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避免同時啟用 &gt;20 個 Skill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Checklist &amp; 資源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1371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5156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05156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430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開始前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辨識 2-3 使用案例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規劃資料夾結構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05156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1760" y="1051560"/>
            <a:ext cx="54864" cy="20116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1430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開發中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15087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kebab-case 命名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SKILL.md + 正確 YAML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指令清楚可操作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51560"/>
            <a:ext cx="54864" cy="2011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1430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上傳前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5087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觸發 + 功能測試通過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壓縮為 .zip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105156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75120" y="1051560"/>
            <a:ext cx="54864" cy="2011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11430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上傳後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0" y="15087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真實對話測試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監控觸發、收集回饋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持續迭代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337560"/>
            <a:ext cx="7863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337560"/>
            <a:ext cx="54864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429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資源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374904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skill-creator：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內建工具，快速生成和審查 Skill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github.com/anthropics/skills：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公開範例倉庫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支援：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Claude Developers Discord / GitHub Issues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結論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4864" cy="32004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</a:rPr>
              <a:t>Skill 將「一次性的提示工程」封裝成「可重複使用的知識資產」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54864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三層漸進式揭露：平衡 Token 效率與專業深度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54864" cy="32004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</a:rPr>
              <a:t>MCP + Skills = 連接能力 + 工作流程知識 → 完整的 AI 解決方案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880360"/>
            <a:ext cx="54864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Description 是成敗關鍵 — 決定 Skill 何時被觸發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429000"/>
            <a:ext cx="54864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持續迭代：Skill 是活文件，透過測試與回饋不斷改善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從今天開始：用 skill-creator 花 15-30 分鐘建立你的第一個 Skill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914400"/>
            <a:ext cx="1371600" cy="137160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286000"/>
            <a:ext cx="914400" cy="914400"/>
          </a:xfrm>
          <a:prstGeom prst="ellipse">
            <a:avLst/>
          </a:prstGeom>
          <a:solidFill>
            <a:srgbClr val="5EEAD4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Thanks for Listening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</a:rPr>
              <a:t>有什麼問題歡迎提問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1828800" cy="36576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Prompt Engineering to Skill Packaging: Exploring Claude Skills Architecture</dc:title>
  <dc:subject>PptxGenJS Presentation</dc:subject>
  <dc:creator>Frank</dc:creator>
  <cp:lastModifiedBy>Frank</cp:lastModifiedBy>
  <cp:revision>1</cp:revision>
  <dcterms:created xsi:type="dcterms:W3CDTF">2026-03-19T08:02:20Z</dcterms:created>
  <dcterms:modified xsi:type="dcterms:W3CDTF">2026-03-19T08:02:20Z</dcterms:modified>
</cp:coreProperties>
</file>