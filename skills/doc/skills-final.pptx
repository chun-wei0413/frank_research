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2" r:id="rId4"/>
    <p:sldId id="277" r:id="rId5"/>
    <p:sldId id="275" r:id="rId6"/>
    <p:sldId id="276" r:id="rId7"/>
    <p:sldId id="290" r:id="rId8"/>
    <p:sldId id="289" r:id="rId9"/>
    <p:sldId id="278" r:id="rId10"/>
    <p:sldId id="274" r:id="rId11"/>
    <p:sldId id="279" r:id="rId12"/>
    <p:sldId id="286" r:id="rId13"/>
    <p:sldId id="287" r:id="rId14"/>
    <p:sldId id="288" r:id="rId15"/>
    <p:sldId id="281" r:id="rId16"/>
    <p:sldId id="283" r:id="rId17"/>
    <p:sldId id="282" r:id="rId18"/>
    <p:sldId id="284" r:id="rId19"/>
    <p:sldId id="285" r:id="rId20"/>
    <p:sldId id="270" r:id="rId21"/>
    <p:sldId id="271" r:id="rId22"/>
  </p:sldIdLst>
  <p:sldSz cx="12192000" cy="6858000"/>
  <p:notesSz cx="7099300" cy="10234613"/>
  <p:embeddedFontLst>
    <p:embeddedFont>
      <p:font typeface="Helvetica Neue" panose="02020500000000000000" charset="0"/>
      <p:regular r:id="rId24"/>
      <p:bold r:id="rId25"/>
      <p:italic r:id="rId26"/>
      <p:boldItalic r:id="rId27"/>
    </p:embeddedFont>
    <p:embeddedFont>
      <p:font typeface="微軟正黑體" panose="020B0604030504040204" pitchFamily="34" charset="-120"/>
      <p:regular r:id="rId28"/>
      <p:bold r:id="rId29"/>
    </p:embeddedFont>
    <p:embeddedFont>
      <p:font typeface="標楷體" panose="03000509000000000000" pitchFamily="65" charset="-12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VYWe9aou/H3Yj/jOOLoPiCa0o6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B2BCC7-BA44-2B2A-85DF-CDA8C59980A1}" name="喻翔 胡" initials="喻胡" userId="bce98f34b5dff7b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64736" autoAdjust="0"/>
  </p:normalViewPr>
  <p:slideViewPr>
    <p:cSldViewPr snapToGrid="0">
      <p:cViewPr varScale="1">
        <p:scale>
          <a:sx n="107" d="100"/>
          <a:sy n="107" d="100"/>
        </p:scale>
        <p:origin x="2382" y="102"/>
      </p:cViewPr>
      <p:guideLst/>
    </p:cSldViewPr>
  </p:slideViewPr>
  <p:outlineViewPr>
    <p:cViewPr>
      <p:scale>
        <a:sx n="33" d="100"/>
        <a:sy n="33" d="100"/>
      </p:scale>
      <p:origin x="0" y="-235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BD1D04D-4432-CEBC-F394-B69E342D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3AF8815-53B8-3162-F86C-2CEC43805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4623A1B-81B5-1F22-6109-BF6563FA3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marL="25400" indent="0">
              <a:buNone/>
              <a:defRPr/>
            </a:pPr>
            <a:r>
              <a:rPr lang="en-US" altLang="zh-TW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Skills </a:t>
            </a:r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是一種打包好的「專業技能包」，可以把 </a:t>
            </a:r>
            <a:r>
              <a:rPr lang="en-US" altLang="zh-TW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TW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Agent </a:t>
            </a:r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從一個什麼好像都略懂的通才，變成某個領域的專家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</a:br>
            <a:r>
              <a:rPr lang="zh-TW" altLang="en-US" dirty="0">
                <a:ea typeface="標楷體" panose="03000509000000000000" pitchFamily="65" charset="-120"/>
              </a:rPr>
              <a:t>甚麼是</a:t>
            </a:r>
            <a:r>
              <a:rPr lang="en-US" altLang="zh-TW" dirty="0">
                <a:ea typeface="標楷體" panose="03000509000000000000" pitchFamily="65" charset="-120"/>
              </a:rPr>
              <a:t>Skill?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	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一組打包成資料夾的指令集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，指導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 Claude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處理特定任務或工作流程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，它可以客製化解決你的特定需求。</a:t>
            </a:r>
            <a:endParaRPr lang="en-US" altLang="zh-TW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 marL="25400" indent="0">
              <a:buNone/>
              <a:defRPr/>
            </a:pPr>
            <a:r>
              <a:rPr lang="zh-TW" altLang="en-US" dirty="0">
                <a:ea typeface="標楷體" panose="03000509000000000000" pitchFamily="65" charset="-120"/>
              </a:rPr>
              <a:t>甚麼是</a:t>
            </a:r>
            <a:r>
              <a:rPr lang="en-US" altLang="zh-TW" dirty="0">
                <a:ea typeface="標楷體" panose="03000509000000000000" pitchFamily="65" charset="-120"/>
              </a:rPr>
              <a:t>Skill?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	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一種封裝知識的技術，它讓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AI Agent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成為解決特定需求的領域專家。</a:t>
            </a:r>
            <a:endParaRPr lang="en-US" altLang="zh-TW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29D6E66-AAE3-1553-30E1-E632B81B22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203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74A8477-B88F-FDCC-A701-5F7099BC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5F890DD-D630-59CD-6348-BA79915B0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F804911-9090-EC13-1D99-50FB59B68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en-US" altLang="zh-TW" dirty="0"/>
              <a:t>• SKILL.md (required): Instructions in Markdown with YAML frontmatter </a:t>
            </a:r>
          </a:p>
          <a:p>
            <a:r>
              <a:rPr lang="en-US" altLang="zh-TW" dirty="0"/>
              <a:t>• scripts/ (optional): Executable code (Python, Bash, etc.) </a:t>
            </a:r>
          </a:p>
          <a:p>
            <a:r>
              <a:rPr lang="en-US" altLang="zh-TW" dirty="0"/>
              <a:t>• references/ (optional): Documentation loaded as needed</a:t>
            </a:r>
          </a:p>
          <a:p>
            <a:r>
              <a:rPr lang="en-US" altLang="zh-TW" dirty="0"/>
              <a:t> • assets/ (optional): Templates, fonts, icons used in output</a:t>
            </a:r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E037D7F-981A-C0FE-851C-990DD00DAC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2319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CBAA923-2991-3631-A206-62B71C7D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77BAB6F-E781-ADE0-07DF-18B337A8B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0CE8B97-41E2-BA7A-9C02-1F11C643A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0C0490C-BB48-353C-0397-58290622D3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055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BF3DCC4-8088-85CF-75E5-D7888251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C1EF4B3-009E-DE3E-513D-6FB775943A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7C7A5D3-70A0-58AB-A1A0-3CE902D64A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最重要的設計原則是「漸進式揭露」，英文叫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Progressive Disclosure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。</a:t>
            </a: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大家可以看到投影片上有一個三層的圖示。第一層是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YAML Frontmatter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，這部分永遠會被載入到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Claude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的系統提示中，它提供了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Claude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判斷「什麼時候該使用這個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」的資訊。</a:t>
            </a:r>
            <a:endParaRPr lang="en-US" altLang="zh-TW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第二層是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SKILL.md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的主體內容，只有在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Claude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判斷這個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跟當前任務相關時才會載入，裡面包含完整的指令和引導。</a:t>
            </a:r>
            <a:endParaRPr lang="en-US" altLang="zh-TW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第三層是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references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目錄裡的連結檔案，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Claude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會在需要時才去探索和讀取。</a:t>
            </a: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這個設計的核心效益是：最小化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Token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使用量，同時保持專業能力。只在需要時載入需要的資訊。</a:t>
            </a: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另外還有兩個設計原則：可組合性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多個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可以同時協同運作；以及可攜性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同一個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在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Claude.ai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Claude Code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和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API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上的運作完全一致。</a:t>
            </a:r>
          </a:p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4177A61-4FB0-6425-A8B5-A07C2DE472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75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65EEB3A-AE83-E6EF-7FEF-97E71BCA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E08B3A8-267C-B5AD-F681-2BC48F0F5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E2CE153-7F3C-06F6-4451-010A6C463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DFE1FA7-5C29-4A4F-7918-DA11B507E9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7527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8F64D72-C30B-6A8A-F57E-C43225E9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1B1FD69-3F14-A795-83D8-094630684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53A1DFE-2497-0C78-A5FE-320E4612B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956C94E-CB45-0932-F854-6026DC0337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5908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1AB4463-E742-60C1-BE79-056A16CE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DB261C4-6C7E-54B1-2E35-BEDF9601B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F56124A-2E0A-153B-978C-242911D45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90840F9-EAA4-E34E-E492-068F631306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5051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FC71CAE-1A5C-FFAB-0BF7-3F1E9EEA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B47EB58-4055-8407-CCFF-BDD7739A0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E27E2EA-2253-5F45-7335-18BC7247B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en-US" altLang="zh-TW" dirty="0"/>
              <a:t>Category 1 </a:t>
            </a:r>
            <a:r>
              <a:rPr lang="zh-TW" altLang="en-US" dirty="0"/>
              <a:t>是為了創造一致、高品質的輸出 。</a:t>
            </a:r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3A93D0F-1150-9731-6CBD-A305F39664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9895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053855B-6178-234D-B969-57DF775B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2C78820-642F-4AE9-2003-15CAE1E00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216A5FC-A31C-6A62-D4BB-720A59DE2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26C62A5-5AEC-FA1F-ECAD-EC28F6F9B3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870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E43878A-DFBA-4C09-0CD2-B69608F9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EBEF184-266F-51AC-9B39-A38B01A25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C3B2027-DBFF-29A4-8C51-881C38F6A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假設這個</a:t>
            </a:r>
            <a:r>
              <a:rPr lang="en-US" altLang="zh-TW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</a:t>
            </a:r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的任務是做家事</a:t>
            </a:r>
            <a:endParaRPr lang="en-US" altLang="zh-TW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altLang="zh-TW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驗證閘門的工程價值 </a:t>
            </a:r>
            <a:r>
              <a:rPr lang="en-US" altLang="zh-TW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(The Power of Validation Gates)</a:t>
            </a:r>
            <a:endParaRPr lang="zh-TW" altLang="en-US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目標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：確保複雜任務不會因為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的隨機性而跳過關鍵步驟 。</a:t>
            </a:r>
          </a:p>
          <a:p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功能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：這是一個「攔截點」，強迫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檢查目前的產出是否符合特定的 </a:t>
            </a:r>
            <a:r>
              <a:rPr lang="en-US" altLang="zh-TW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Checklist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。</a:t>
            </a:r>
          </a:p>
          <a:p>
            <a:r>
              <a:rPr lang="zh-TW" alt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例子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：如果「衣服是否洗乾淨」的結果為「否」，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就會禁止進入下一個「洗碗」步驟 。</a:t>
            </a:r>
          </a:p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8E99BD1-91CE-B0E5-54AD-F552A63E2D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3373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DCC3818-BC9B-0A9D-0B75-CC106244D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ECC27EC-CEAB-F643-C866-B38A05449D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7C9B3E3-107A-F59E-45DB-BDBEE7DFF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針對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API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調用進行錯誤處理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當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ai agent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呼叫</a:t>
            </a:r>
            <a:r>
              <a:rPr lang="en-US" altLang="zh-TW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mcp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server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沒有反應或是回傳值有誤時，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agent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要如何處理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Retry or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直接停止執行回報給使用者</a:t>
            </a: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7E07C94-238C-8CAD-C2BA-73D99CA584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7711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6BE552E-3068-A440-96A6-6C817FAFD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AC6E74C-C85D-9B16-A7BF-0ECEB5E21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27D518C-41D1-647D-F2D4-F345518F1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什麼是 </a:t>
            </a:r>
            <a:r>
              <a:rPr lang="en-US" altLang="zh-TW" b="1" dirty="0"/>
              <a:t>ETL</a:t>
            </a:r>
            <a:r>
              <a:rPr lang="zh-TW" altLang="en-US" b="1" dirty="0"/>
              <a:t>？</a:t>
            </a:r>
          </a:p>
          <a:p>
            <a:r>
              <a:rPr lang="en-US" altLang="zh-TW" dirty="0"/>
              <a:t>ETL </a:t>
            </a:r>
            <a:r>
              <a:rPr lang="zh-TW" altLang="en-US" dirty="0"/>
              <a:t>是資料工程的標準流程：</a:t>
            </a:r>
            <a:r>
              <a:rPr lang="en-US" altLang="zh-TW" b="1" dirty="0"/>
              <a:t>Extract (</a:t>
            </a:r>
            <a:r>
              <a:rPr lang="zh-TW" altLang="en-US" b="1" dirty="0"/>
              <a:t>擷取</a:t>
            </a:r>
            <a:r>
              <a:rPr lang="en-US" altLang="zh-TW" b="1" dirty="0"/>
              <a:t>)</a:t>
            </a:r>
            <a:r>
              <a:rPr lang="zh-TW" altLang="en-US" dirty="0"/>
              <a:t> 多源資料、</a:t>
            </a:r>
            <a:r>
              <a:rPr lang="en-US" altLang="zh-TW" b="1" dirty="0"/>
              <a:t>Transform (</a:t>
            </a:r>
            <a:r>
              <a:rPr lang="zh-TW" altLang="en-US" b="1" dirty="0"/>
              <a:t>轉換</a:t>
            </a:r>
            <a:r>
              <a:rPr lang="en-US" altLang="zh-TW" b="1" dirty="0"/>
              <a:t>)</a:t>
            </a:r>
            <a:r>
              <a:rPr lang="zh-TW" altLang="en-US" dirty="0"/>
              <a:t> 格式與清洗、</a:t>
            </a:r>
            <a:r>
              <a:rPr lang="en-US" altLang="zh-TW" b="1" dirty="0"/>
              <a:t>Load (</a:t>
            </a:r>
            <a:r>
              <a:rPr lang="zh-TW" altLang="en-US" b="1" dirty="0"/>
              <a:t>載入</a:t>
            </a:r>
            <a:r>
              <a:rPr lang="en-US" altLang="zh-TW" b="1" dirty="0"/>
              <a:t>)</a:t>
            </a:r>
            <a:r>
              <a:rPr lang="zh-TW" altLang="en-US" dirty="0"/>
              <a:t> 至目標資料庫。</a:t>
            </a:r>
          </a:p>
          <a:p>
            <a:r>
              <a:rPr lang="en-US" altLang="zh-TW" b="1" dirty="0"/>
              <a:t>2. </a:t>
            </a:r>
            <a:r>
              <a:rPr lang="zh-TW" altLang="en-US" b="1" dirty="0"/>
              <a:t>為什麼不直接用傳統 </a:t>
            </a:r>
            <a:r>
              <a:rPr lang="en-US" altLang="zh-TW" b="1" dirty="0"/>
              <a:t>ETL </a:t>
            </a:r>
            <a:r>
              <a:rPr lang="zh-TW" altLang="en-US" b="1" dirty="0"/>
              <a:t>工具？</a:t>
            </a:r>
          </a:p>
          <a:p>
            <a:r>
              <a:rPr lang="zh-TW" altLang="en-US" dirty="0"/>
              <a:t>傳統工具（如 </a:t>
            </a:r>
            <a:r>
              <a:rPr lang="en-US" altLang="zh-TW" dirty="0"/>
              <a:t>Python </a:t>
            </a:r>
            <a:r>
              <a:rPr lang="zh-TW" altLang="en-US" dirty="0"/>
              <a:t>腳本）是「死」的：</a:t>
            </a:r>
          </a:p>
          <a:p>
            <a:r>
              <a:rPr lang="zh-TW" altLang="en-US" b="1" dirty="0"/>
              <a:t>脆弱性</a:t>
            </a:r>
            <a:r>
              <a:rPr lang="zh-TW" altLang="en-US" dirty="0"/>
              <a:t>：資料格式一變就崩潰。</a:t>
            </a:r>
          </a:p>
          <a:p>
            <a:r>
              <a:rPr lang="zh-TW" altLang="en-US" b="1" dirty="0"/>
              <a:t>開發成本</a:t>
            </a:r>
            <a:r>
              <a:rPr lang="zh-TW" altLang="en-US" dirty="0"/>
              <a:t>：必須手寫複雜的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if-else</a:t>
            </a:r>
            <a:r>
              <a:rPr lang="zh-TW" altLang="en-US" dirty="0"/>
              <a:t> 和錯誤處理程式碼。</a:t>
            </a:r>
          </a:p>
          <a:p>
            <a:r>
              <a:rPr lang="en-US" altLang="zh-TW" b="1" dirty="0"/>
              <a:t>3. </a:t>
            </a:r>
            <a:r>
              <a:rPr lang="zh-TW" altLang="en-US" b="1" dirty="0"/>
              <a:t>為什麼用 </a:t>
            </a:r>
            <a:r>
              <a:rPr lang="en-US" altLang="zh-TW" b="1" dirty="0"/>
              <a:t>Skill </a:t>
            </a:r>
            <a:r>
              <a:rPr lang="zh-TW" altLang="en-US" b="1" dirty="0"/>
              <a:t>實作？ </a:t>
            </a:r>
            <a:r>
              <a:rPr lang="en-US" altLang="zh-TW" b="1" dirty="0"/>
              <a:t>(Category 3 </a:t>
            </a:r>
            <a:r>
              <a:rPr lang="zh-TW" altLang="en-US" b="1" dirty="0"/>
              <a:t>的價值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將 </a:t>
            </a:r>
            <a:r>
              <a:rPr lang="en-US" altLang="zh-TW" dirty="0"/>
              <a:t>Claude </a:t>
            </a:r>
            <a:r>
              <a:rPr lang="zh-TW" altLang="en-US" dirty="0"/>
              <a:t>變成一個**「有大腦的資料工程師」**：</a:t>
            </a:r>
          </a:p>
          <a:p>
            <a:r>
              <a:rPr lang="zh-TW" altLang="en-US" b="1" dirty="0"/>
              <a:t>協調 </a:t>
            </a:r>
            <a:r>
              <a:rPr lang="en-US" altLang="zh-TW" b="1" dirty="0"/>
              <a:t>(Orchestration)</a:t>
            </a:r>
            <a:r>
              <a:rPr lang="zh-TW" altLang="en-US" dirty="0"/>
              <a:t>：自動按照邏輯順序呼叫 </a:t>
            </a:r>
            <a:r>
              <a:rPr lang="en-US" altLang="zh-TW" dirty="0"/>
              <a:t>Postgres</a:t>
            </a:r>
            <a:r>
              <a:rPr lang="zh-TW" altLang="en-US" dirty="0"/>
              <a:t>、</a:t>
            </a:r>
            <a:r>
              <a:rPr lang="en-US" altLang="zh-TW" dirty="0"/>
              <a:t>MySQL </a:t>
            </a:r>
            <a:r>
              <a:rPr lang="zh-TW" altLang="en-US" dirty="0"/>
              <a:t>和 </a:t>
            </a:r>
            <a:r>
              <a:rPr lang="en-US" altLang="zh-TW" dirty="0"/>
              <a:t>MongoDB </a:t>
            </a:r>
            <a:r>
              <a:rPr lang="zh-TW" altLang="en-US" dirty="0"/>
              <a:t>的 </a:t>
            </a:r>
            <a:r>
              <a:rPr lang="en-US" altLang="zh-TW" dirty="0"/>
              <a:t>MCP Server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專業知識 </a:t>
            </a:r>
            <a:r>
              <a:rPr lang="en-US" altLang="zh-TW" b="1" dirty="0"/>
              <a:t>(Expertise)</a:t>
            </a:r>
            <a:r>
              <a:rPr lang="zh-TW" altLang="en-US" dirty="0"/>
              <a:t>：</a:t>
            </a:r>
            <a:r>
              <a:rPr lang="en-US" altLang="zh-TW" dirty="0"/>
              <a:t>Skill </a:t>
            </a:r>
            <a:r>
              <a:rPr lang="zh-TW" altLang="en-US" dirty="0"/>
              <a:t>內建轉換邏輯（如：自動去識別化、格式映射），它能「理解」數據而不只是搬運。</a:t>
            </a:r>
          </a:p>
          <a:p>
            <a:r>
              <a:rPr lang="zh-TW" altLang="en-US" b="1" dirty="0"/>
              <a:t>錯誤處理 </a:t>
            </a:r>
            <a:r>
              <a:rPr lang="en-US" altLang="zh-TW" b="1" dirty="0"/>
              <a:t>(Error Handling)</a:t>
            </a:r>
            <a:r>
              <a:rPr lang="zh-TW" altLang="en-US" dirty="0"/>
              <a:t>：當 </a:t>
            </a:r>
            <a:r>
              <a:rPr lang="en-US" altLang="zh-TW" dirty="0"/>
              <a:t>API </a:t>
            </a:r>
            <a:r>
              <a:rPr lang="zh-TW" altLang="en-US" dirty="0"/>
              <a:t>沒反應或資料有誤時，它能根據指令</a:t>
            </a:r>
            <a:r>
              <a:rPr lang="zh-TW" altLang="en-US" b="1" dirty="0"/>
              <a:t>自動重試</a:t>
            </a:r>
            <a:r>
              <a:rPr lang="zh-TW" altLang="en-US" dirty="0"/>
              <a:t>或</a:t>
            </a:r>
            <a:r>
              <a:rPr lang="zh-TW" altLang="en-US" b="1" dirty="0"/>
              <a:t>詢問使用者</a:t>
            </a:r>
            <a:r>
              <a:rPr lang="zh-TW" altLang="en-US" dirty="0"/>
              <a:t>，具備系統自癒能力。</a:t>
            </a:r>
          </a:p>
          <a:p>
            <a:endParaRPr lang="en-US" altLang="zh-TW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812E00C-B1F9-30AD-9062-FF6E76920F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4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3774E56-7CDA-84A1-EECF-854CB2A1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0743085-C1FC-1A25-9507-EEBE98E32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E607B0E-00F8-47E1-CC3B-E7F35256A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fontAlgn="ctr"/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建立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後，必須觀察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Claude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實際執行的狀況，並透過修改 </a:t>
            </a:r>
          </a:p>
          <a:p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SKILL.md (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特別是前方的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YAML Description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描述與後方的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Instructions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指令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來進行「迭代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(Iteration)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」。</a:t>
            </a: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文中把你需要觀察的「回饋訊號」精準分成了三種常見的「病症與解法」</a:t>
            </a:r>
          </a:p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9136AF7-7ACA-0078-DE77-9516DDD567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4182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57BC049-A3D2-1932-9E16-1A845428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189644F-C4F9-1477-00D1-75672E746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099B914-D3D2-C08D-C1B6-AB75008D9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A4B3090-6B61-6EC4-B3C1-FBA690935F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65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957B45C-A4D0-6C71-D728-D8A2A83B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33A5098-B723-0B2E-9C74-968CD1EB6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550F702-0BEC-3C7D-7EE5-DC3E05D8A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E158F78-5262-EC09-253E-11C8ED62B7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0505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A15B565-1F39-C387-397A-1C30C953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E261024-49ED-DCA7-0B9A-CA0D88C3E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2D25713-98EE-36B8-8785-F0FC52D9D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0CD4C54-F1DB-4A44-2D26-2FEF8FCC3B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5375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9F5DC2E-862D-F5A5-ED7A-6E3261A2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BD642DF-BE72-979A-5353-0C3DFCF89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B2B22B6-B4BD-09DC-AC5A-5A6CC59AC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今天我們看到，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本質上是把「一次性的提示工程」封裝成「可重複使用的知識資產」。你不再需要每次對話都從頭解釋，而是把專業知識和工作流程打包一次，之後持續受益。</a:t>
            </a: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架構上，三層漸進式揭露巧妙地平衡了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Token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效率和專業深度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只在需要時載入需要的資訊。</a:t>
            </a: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從生態系的角度來看，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MCP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提供連接能力，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Skills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提供工作流程知識，兩者結合才是完整的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解決方案。這也是為什麼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Anthropic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把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Skills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發布為開放標準的原因。</a:t>
            </a:r>
          </a:p>
          <a:p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實務上有兩個關鍵要記住：第一，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Description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是成敗的關鍵，它決定了你的 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何時被觸發，寫不好就等於白做。第二，</a:t>
            </a:r>
            <a:r>
              <a:rPr lang="en-US" altLang="zh-TW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Skill </a:t>
            </a:r>
            <a:r>
              <a:rPr lang="zh-TW" alt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是活文件，要透過測試和使用者回饋不斷迭代改善。</a:t>
            </a:r>
          </a:p>
          <a:p>
            <a:endParaRPr lang="zh-TW" alt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CBD4601-CDD0-775D-3397-2EA4D3AC87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24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1523968" y="128586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523968" y="307181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  <a:defRPr>
                <a:solidFill>
                  <a:srgbClr val="F2F2F2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Char char="•"/>
              <a:defRPr>
                <a:solidFill>
                  <a:srgbClr val="0F243E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Char char="–"/>
              <a:defRPr>
                <a:solidFill>
                  <a:srgbClr val="0F243E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Char char="•"/>
              <a:defRPr>
                <a:solidFill>
                  <a:srgbClr val="0F243E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Char char="–"/>
              <a:defRPr>
                <a:solidFill>
                  <a:srgbClr val="0F243E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Char char="»"/>
              <a:defRPr>
                <a:solidFill>
                  <a:srgbClr val="0F243E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None/>
              <a:defRPr sz="2000">
                <a:solidFill>
                  <a:srgbClr val="0F243E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10253F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10253F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10253F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10253F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0253F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10253F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10253F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10253F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10253F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10253F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10253F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10253F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10253F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10253F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10253F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10253F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10253F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10253F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1025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10253F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sources.anthropic.com/hubfs/The-Complete-Guide-to-Building-Skill-for-Claude.pdf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tform.claude.com/docs/zh-TW/agents-and-tools/agent-skills/overview" TargetMode="External"/><Relationship Id="rId5" Type="http://schemas.openxmlformats.org/officeDocument/2006/relationships/hyperlink" Target="https://github.com/anthropics/skills" TargetMode="External"/><Relationship Id="rId4" Type="http://schemas.openxmlformats.org/officeDocument/2006/relationships/hyperlink" Target="https://aws.amazon.com/tw/what-is/etl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371935" y="995968"/>
            <a:ext cx="11305256" cy="165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Claude Skills —— 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打造個人化專家之原理與實踐</a:t>
            </a:r>
            <a:endParaRPr lang="en-US" altLang="zh-TW" sz="4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2667000" y="3071813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lang="en-US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演講者：Frank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2026/03/24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667001" y="4500564"/>
            <a:ext cx="6715125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2F2F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國立台北科技大學</a:t>
            </a:r>
            <a:r>
              <a:rPr lang="en-US" sz="2400" b="0" i="0" u="none" strike="noStrike" cap="none" dirty="0">
                <a:solidFill>
                  <a:srgbClr val="F2F2F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　</a:t>
            </a:r>
            <a:r>
              <a:rPr lang="en-US" sz="2400" b="0" i="0" u="none" strike="noStrike" cap="none" dirty="0" err="1">
                <a:solidFill>
                  <a:srgbClr val="F2F2F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資訊工程系</a:t>
            </a:r>
            <a:endParaRPr sz="2400" b="0" i="0" u="none" strike="noStrike" cap="none" dirty="0">
              <a:solidFill>
                <a:srgbClr val="F2F2F2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2F2F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指導教授：鄭有進、謝金雲</a:t>
            </a:r>
            <a:endParaRPr sz="2400" b="0" i="0" u="none" strike="noStrike" cap="none" dirty="0">
              <a:solidFill>
                <a:srgbClr val="F2F2F2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內容版面配置區 8">
            <a:extLst>
              <a:ext uri="{FF2B5EF4-FFF2-40B4-BE49-F238E27FC236}">
                <a16:creationId xmlns:a16="http://schemas.microsoft.com/office/drawing/2014/main" id="{750A0516-0BDA-3B03-8BB6-38FD36399997}"/>
              </a:ext>
            </a:extLst>
          </p:cNvPr>
          <p:cNvSpPr txBox="1">
            <a:spLocks/>
          </p:cNvSpPr>
          <p:nvPr/>
        </p:nvSpPr>
        <p:spPr>
          <a:xfrm>
            <a:off x="609600" y="141763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  <a:defRPr/>
            </a:pPr>
            <a:endParaRPr lang="en-US" altLang="zh-TW" sz="3600" dirty="0">
              <a:ea typeface="標楷體" panose="03000509000000000000" pitchFamily="65" charset="-120"/>
            </a:endParaRPr>
          </a:p>
          <a:p>
            <a:pPr>
              <a:buFont typeface="Arial" charset="0"/>
              <a:buChar char="•"/>
              <a:defRPr/>
            </a:pPr>
            <a:r>
              <a:rPr lang="en-US" altLang="zh-TW" sz="3600" dirty="0">
                <a:ea typeface="標楷體" panose="03000509000000000000" pitchFamily="65" charset="-120"/>
              </a:rPr>
              <a:t>Introduction</a:t>
            </a:r>
          </a:p>
          <a:p>
            <a:pPr>
              <a:buFont typeface="Arial" charset="0"/>
              <a:buChar char="•"/>
              <a:defRPr/>
            </a:pPr>
            <a:r>
              <a:rPr lang="en-US" altLang="zh-TW" sz="3600" dirty="0">
                <a:ea typeface="標楷體" panose="03000509000000000000" pitchFamily="65" charset="-120"/>
              </a:rPr>
              <a:t>Fundamentals—</a:t>
            </a:r>
            <a:r>
              <a:rPr lang="zh-TW" altLang="en-US" sz="3600" dirty="0">
                <a:ea typeface="標楷體" panose="03000509000000000000" pitchFamily="65" charset="-120"/>
              </a:rPr>
              <a:t>基本原理與結構</a:t>
            </a:r>
            <a:endParaRPr lang="en-US" altLang="zh-TW" sz="3600" dirty="0">
              <a:ea typeface="標楷體" panose="03000509000000000000" pitchFamily="65" charset="-120"/>
            </a:endParaRPr>
          </a:p>
          <a:p>
            <a:pPr>
              <a:buFont typeface="Arial" charset="0"/>
              <a:buChar char="•"/>
              <a:defRPr/>
            </a:pPr>
            <a:r>
              <a:rPr lang="en-US" altLang="zh-TW" sz="3600" dirty="0">
                <a:ea typeface="標楷體" panose="03000509000000000000" pitchFamily="65" charset="-120"/>
              </a:rPr>
              <a:t>Common </a:t>
            </a:r>
            <a:r>
              <a:rPr lang="en-US" altLang="zh-TW" sz="3600" dirty="0" err="1">
                <a:ea typeface="標楷體" panose="03000509000000000000" pitchFamily="65" charset="-120"/>
              </a:rPr>
              <a:t>UseCase</a:t>
            </a:r>
            <a:r>
              <a:rPr lang="en-US" altLang="zh-TW" sz="3600" dirty="0">
                <a:ea typeface="標楷體" panose="03000509000000000000" pitchFamily="65" charset="-120"/>
              </a:rPr>
              <a:t> —</a:t>
            </a:r>
            <a:r>
              <a:rPr lang="zh-TW" altLang="en-US" sz="3600" dirty="0">
                <a:ea typeface="標楷體" panose="03000509000000000000" pitchFamily="65" charset="-120"/>
              </a:rPr>
              <a:t>適合用來解決哪些類型的問題？</a:t>
            </a:r>
            <a:endParaRPr lang="en-US" altLang="zh-TW" sz="3600" dirty="0">
              <a:ea typeface="標楷體" panose="03000509000000000000" pitchFamily="65" charset="-120"/>
            </a:endParaRPr>
          </a:p>
          <a:p>
            <a:pPr>
              <a:buFont typeface="Arial" charset="0"/>
              <a:buChar char="•"/>
              <a:defRPr/>
            </a:pPr>
            <a:r>
              <a:rPr lang="en-US" altLang="zh-TW" sz="3600" dirty="0">
                <a:ea typeface="標楷體" panose="03000509000000000000" pitchFamily="65" charset="-120"/>
              </a:rPr>
              <a:t>Iteration —</a:t>
            </a:r>
            <a:r>
              <a:rPr lang="zh-TW" altLang="en-US" sz="3600" dirty="0">
                <a:ea typeface="標楷體" panose="03000509000000000000" pitchFamily="65" charset="-120"/>
              </a:rPr>
              <a:t>如何知道何時需要修正</a:t>
            </a:r>
            <a:r>
              <a:rPr lang="en-US" altLang="zh-TW" sz="3600" dirty="0">
                <a:ea typeface="標楷體" panose="03000509000000000000" pitchFamily="65" charset="-120"/>
              </a:rPr>
              <a:t>Skill</a:t>
            </a:r>
          </a:p>
          <a:p>
            <a:pPr>
              <a:buFont typeface="Arial" charset="0"/>
              <a:buChar char="•"/>
              <a:defRPr/>
            </a:pPr>
            <a:r>
              <a:rPr lang="en-US" altLang="zh-TW" sz="3600" dirty="0">
                <a:ea typeface="標楷體" panose="03000509000000000000" pitchFamily="65" charset="-120"/>
              </a:rPr>
              <a:t>Conclusion</a:t>
            </a:r>
          </a:p>
          <a:p>
            <a:pPr>
              <a:buFont typeface="Arial" charset="0"/>
              <a:buChar char="•"/>
              <a:defRPr/>
            </a:pPr>
            <a:endParaRPr lang="zh-TW" altLang="en-US" dirty="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058F477-F81F-6B4D-40E0-532E0FD87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2F6A2F60-7FDE-3C09-ECAA-CC746D1B47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304085C-E733-8A6D-CBC4-EDD7FB3546B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814DE2E-35F9-5BD0-9C20-3A6C091B981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FC48D1A-F587-4EFF-ABEA-3BA6EA75B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內容版面配置區 8">
            <a:extLst>
              <a:ext uri="{FF2B5EF4-FFF2-40B4-BE49-F238E27FC236}">
                <a16:creationId xmlns:a16="http://schemas.microsoft.com/office/drawing/2014/main" id="{F52C5284-90CF-653D-FF83-60B92CFE3B74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  <a:defRPr/>
            </a:pPr>
            <a:r>
              <a:rPr lang="zh-TW" altLang="en-US" dirty="0">
                <a:ea typeface="標楷體" panose="03000509000000000000" pitchFamily="65" charset="-120"/>
              </a:rPr>
              <a:t>甚麼是</a:t>
            </a:r>
            <a:r>
              <a:rPr lang="en-US" altLang="zh-TW" dirty="0">
                <a:ea typeface="標楷體" panose="03000509000000000000" pitchFamily="65" charset="-120"/>
              </a:rPr>
              <a:t>Skill?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	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一種封裝知識的技術，指導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AI Agent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處理特定任務或工作流程，使其成為解決特定需求的領域專家。</a:t>
            </a:r>
            <a:endParaRPr lang="en-US" altLang="zh-TW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 marL="25400" indent="0">
              <a:buNone/>
              <a:defRPr/>
            </a:pPr>
            <a:endParaRPr lang="en-US" altLang="zh-TW" dirty="0">
              <a:ea typeface="標楷體" panose="03000509000000000000" pitchFamily="65" charset="-120"/>
            </a:endParaRPr>
          </a:p>
          <a:p>
            <a:pPr marL="25400" indent="0">
              <a:buNone/>
              <a:defRPr/>
            </a:pPr>
            <a:r>
              <a:rPr lang="en-US" altLang="zh-TW" dirty="0">
                <a:ea typeface="標楷體" panose="03000509000000000000" pitchFamily="65" charset="-120"/>
              </a:rPr>
              <a:t>“skills let you teach Claude once and benefit every time.”</a:t>
            </a:r>
            <a:endParaRPr lang="en-US" altLang="zh-TW" sz="36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487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92567C0-4E8D-4687-36CB-74FCE77F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51D3E070-05C3-403F-F949-0C901E057A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3CA4FB9-BA4D-9ED9-FF3D-6B0DB422135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A2441B9-11FD-F131-CCFE-DA1C54C29BA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585EE7E-6CAF-53F7-DB72-89C142C9F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785AE4-BEEF-FD45-32E1-71F33C50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85" y="1600199"/>
            <a:ext cx="10594429" cy="36576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A0CA56A-C63F-3B1B-8484-1CDB348D4F66}"/>
              </a:ext>
            </a:extLst>
          </p:cNvPr>
          <p:cNvSpPr/>
          <p:nvPr/>
        </p:nvSpPr>
        <p:spPr>
          <a:xfrm>
            <a:off x="914399" y="4222378"/>
            <a:ext cx="2357719" cy="824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34806F-0006-2D1A-C543-44F17344427E}"/>
              </a:ext>
            </a:extLst>
          </p:cNvPr>
          <p:cNvSpPr/>
          <p:nvPr/>
        </p:nvSpPr>
        <p:spPr>
          <a:xfrm>
            <a:off x="3454400" y="4222378"/>
            <a:ext cx="7823201" cy="824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9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012A00D-B84A-4D19-3744-C8E4755C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342A0FA7-CFD3-ACE1-29D6-AAD3CCF416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080A9C2-CC12-E854-C5C4-E155546973A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E24051BE-A5E0-1444-2932-558CB6B51C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0566565-5E70-B99D-3D7A-06C0319C2B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F7F7B72-9666-BA5F-9114-7902D238D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66" y="1887377"/>
            <a:ext cx="9974067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89BD14C-A4CD-9E5B-1623-B7A615A8B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451BE932-9F7F-A968-E863-4BF37219CF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A741222-D37E-D4E1-D0A0-6168103EF09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C84892C-C52C-7566-F4A6-8ED4AC0552E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11835E8-9C6C-DBF3-15D3-30B3B8872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A27982F-772E-DBDE-4F90-23CEAAD7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443" y="2720545"/>
            <a:ext cx="6011114" cy="308653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5DEE244-0FEB-C57A-7BD5-A5109402C6E5}"/>
              </a:ext>
            </a:extLst>
          </p:cNvPr>
          <p:cNvSpPr txBox="1"/>
          <p:nvPr/>
        </p:nvSpPr>
        <p:spPr>
          <a:xfrm>
            <a:off x="609600" y="1418295"/>
            <a:ext cx="115555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Progressive Disclosure: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它​是​一​種​「只​在​需要​時才​提供​資訊」​的​機制。​這​就​像​是​在​​廚​房裡，​廚師​不​會​一​開始​就​把​幾百本​食譜​全部​攤開​在​桌上，​而​是​先​看​菜單​標題，​等​到​要​煮​那​道​菜時，​才​去​翻開​詳細​的​步驟。​</a:t>
            </a:r>
          </a:p>
        </p:txBody>
      </p:sp>
    </p:spTree>
    <p:extLst>
      <p:ext uri="{BB962C8B-B14F-4D97-AF65-F5344CB8AC3E}">
        <p14:creationId xmlns:p14="http://schemas.microsoft.com/office/powerpoint/2010/main" val="291256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18B61D4-A018-1069-E6EE-F5885E8A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23678788-646D-F1CB-0BBA-0737859315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1E557C8-531D-7E44-129B-55EBC71FE7B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79482F73-34D9-7690-4BFA-E9EF1BC4C77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EBE6929-E55A-6DF2-DABC-0A6D3CCAA2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61DA1D6-0E7C-73AB-5BE5-26439B82D797}"/>
              </a:ext>
            </a:extLst>
          </p:cNvPr>
          <p:cNvSpPr txBox="1"/>
          <p:nvPr/>
        </p:nvSpPr>
        <p:spPr>
          <a:xfrm>
            <a:off x="318246" y="1417638"/>
            <a:ext cx="115555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YAML frontmatter: The most important part</a:t>
            </a: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YAML frontmatter is how Claude decides whether to load your skill. Get this right.</a:t>
            </a: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331E61-503B-313D-EDC4-B80CE6670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87" y="3330079"/>
            <a:ext cx="6339716" cy="161336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9FA0304-E054-F639-DA35-6DBB57A7A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068" y="2206076"/>
            <a:ext cx="2581635" cy="152421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9C42BFD-434F-F438-1737-C97BCC1FA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068" y="3820726"/>
            <a:ext cx="3429479" cy="2762636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F9EC9EF-6FC3-5B55-94E2-099575E2F92A}"/>
              </a:ext>
            </a:extLst>
          </p:cNvPr>
          <p:cNvCxnSpPr>
            <a:cxnSpLocks/>
          </p:cNvCxnSpPr>
          <p:nvPr/>
        </p:nvCxnSpPr>
        <p:spPr>
          <a:xfrm flipV="1">
            <a:off x="3173506" y="3048000"/>
            <a:ext cx="4034118" cy="837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8247D35-1C49-D723-42E5-C93478F7AEAB}"/>
              </a:ext>
            </a:extLst>
          </p:cNvPr>
          <p:cNvCxnSpPr/>
          <p:nvPr/>
        </p:nvCxnSpPr>
        <p:spPr>
          <a:xfrm>
            <a:off x="6284259" y="4312024"/>
            <a:ext cx="905435" cy="268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65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32DCAF7-4575-CEB3-520A-D3BAD2EC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57E7AF9A-DD62-D697-B6B7-DABF45AD10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A557A37-29EC-91F6-32CD-A1BC4AB9AED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5193EBCC-AE01-E435-C57C-6CA84CA29CD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8012401-0DB2-E0D0-C697-1A6AF5E5B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C6F7EE-2FD4-73C0-249A-2D80DE7EE744}"/>
              </a:ext>
            </a:extLst>
          </p:cNvPr>
          <p:cNvSpPr txBox="1"/>
          <p:nvPr/>
        </p:nvSpPr>
        <p:spPr>
          <a:xfrm>
            <a:off x="609600" y="1418295"/>
            <a:ext cx="115555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File structure</a:t>
            </a: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3FD0FB9-175D-AA99-879D-70D38AE02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445" y="2071498"/>
            <a:ext cx="7611505" cy="374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6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630410B-FA5B-EDB1-4629-DE090363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1AAC78C0-7CFF-EAFA-5793-CD0E843816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E30E5BD-4812-62C6-8B73-35E9B21A16F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77049F73-A69A-4A60-6F2B-9F131B5BDB6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2FEEE41-2602-56C8-CE43-17E58A604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Common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UseCase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578BD61B-D49D-429B-DC3C-81781E89BE9A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  <a:defRPr/>
            </a:pPr>
            <a:r>
              <a:rPr lang="en-US" altLang="zh-TW" dirty="0">
                <a:ea typeface="標楷體" panose="03000509000000000000" pitchFamily="65" charset="-120"/>
              </a:rPr>
              <a:t>Category1: Document &amp; Asset Creation</a:t>
            </a:r>
          </a:p>
          <a:p>
            <a:pPr marL="25400" indent="0">
              <a:buNone/>
              <a:defRPr/>
            </a:pPr>
            <a:endParaRPr lang="en-US" altLang="zh-TW" dirty="0">
              <a:ea typeface="標楷體" panose="03000509000000000000" pitchFamily="65" charset="-120"/>
            </a:endParaRPr>
          </a:p>
          <a:p>
            <a:r>
              <a:rPr lang="zh-TW" altLang="en-US" b="1" dirty="0">
                <a:ea typeface="標楷體" panose="03000509000000000000" pitchFamily="65" charset="-120"/>
              </a:rPr>
              <a:t>目標</a:t>
            </a:r>
            <a:r>
              <a:rPr lang="zh-TW" altLang="en-US" dirty="0">
                <a:ea typeface="標楷體" panose="03000509000000000000" pitchFamily="65" charset="-120"/>
              </a:rPr>
              <a:t>：產生一致、高品質的輸出（包含文字、文件或程式碼）。</a:t>
            </a:r>
          </a:p>
          <a:p>
            <a:r>
              <a:rPr lang="zh-TW" altLang="en-US" b="1" dirty="0">
                <a:ea typeface="標楷體" panose="03000509000000000000" pitchFamily="65" charset="-120"/>
              </a:rPr>
              <a:t>關鍵技巧</a:t>
            </a:r>
            <a:r>
              <a:rPr lang="zh-TW" altLang="en-US" dirty="0">
                <a:ea typeface="標楷體" panose="03000509000000000000" pitchFamily="65" charset="-120"/>
              </a:rPr>
              <a:t>：嵌入風格指南（</a:t>
            </a:r>
            <a:r>
              <a:rPr lang="en-US" altLang="zh-TW" dirty="0">
                <a:ea typeface="標楷體" panose="03000509000000000000" pitchFamily="65" charset="-120"/>
              </a:rPr>
              <a:t>Style Guide</a:t>
            </a:r>
            <a:r>
              <a:rPr lang="zh-TW" altLang="en-US" dirty="0">
                <a:ea typeface="標楷體" panose="03000509000000000000" pitchFamily="65" charset="-120"/>
              </a:rPr>
              <a:t>）確保一致性、使用範本規範輸出格式。</a:t>
            </a:r>
          </a:p>
          <a:p>
            <a:r>
              <a:rPr lang="zh-TW" altLang="en-US" b="1" dirty="0">
                <a:ea typeface="標楷體" panose="03000509000000000000" pitchFamily="65" charset="-120"/>
              </a:rPr>
              <a:t>工具依賴性</a:t>
            </a:r>
            <a:r>
              <a:rPr lang="zh-TW" altLang="en-US" dirty="0">
                <a:ea typeface="標楷體" panose="03000509000000000000" pitchFamily="65" charset="-120"/>
              </a:rPr>
              <a:t>：通常</a:t>
            </a:r>
            <a:r>
              <a:rPr lang="zh-TW" altLang="en-US" b="1" dirty="0">
                <a:ea typeface="標楷體" panose="03000509000000000000" pitchFamily="65" charset="-120"/>
              </a:rPr>
              <a:t>不需要外部工具 </a:t>
            </a:r>
            <a:r>
              <a:rPr lang="en-US" altLang="zh-TW" b="1" dirty="0">
                <a:ea typeface="標楷體" panose="03000509000000000000" pitchFamily="65" charset="-120"/>
              </a:rPr>
              <a:t>(MCP)</a:t>
            </a:r>
            <a:r>
              <a:rPr lang="zh-TW" altLang="en-US" dirty="0">
                <a:ea typeface="標楷體" panose="03000509000000000000" pitchFamily="65" charset="-120"/>
              </a:rPr>
              <a:t>，完全仰賴 </a:t>
            </a:r>
            <a:r>
              <a:rPr lang="en-US" altLang="zh-TW" dirty="0">
                <a:ea typeface="標楷體" panose="03000509000000000000" pitchFamily="65" charset="-120"/>
              </a:rPr>
              <a:t>Claude </a:t>
            </a:r>
            <a:r>
              <a:rPr lang="zh-TW" altLang="en-US" dirty="0">
                <a:ea typeface="標楷體" panose="03000509000000000000" pitchFamily="65" charset="-120"/>
              </a:rPr>
              <a:t>內建的認知與生成能力。</a:t>
            </a:r>
          </a:p>
          <a:p>
            <a:pPr marL="25400" indent="0">
              <a:buNone/>
              <a:defRPr/>
            </a:pP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03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AE80049-1707-06C5-213E-D93DA334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ED722555-D2CF-5A6A-CC0B-A05A22AE1A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F4895DA-8AFC-82F3-F130-62D73482F06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AE457D0-2A56-E3E3-A8E2-526949371D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59C2EDC7-DD00-D1FD-EC94-9A42B1A7AC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Common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UseCase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5DC425D-77C1-93F0-07C9-9DDEB71B4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17638"/>
            <a:ext cx="11015713" cy="493871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9A204A5-8391-FB87-1F87-6CF64CACF63D}"/>
              </a:ext>
            </a:extLst>
          </p:cNvPr>
          <p:cNvSpPr/>
          <p:nvPr/>
        </p:nvSpPr>
        <p:spPr>
          <a:xfrm>
            <a:off x="1210235" y="2160494"/>
            <a:ext cx="10219765" cy="2985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34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1035089-A22E-1110-97B3-D5718039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880E4470-4A11-9DF3-BBDD-9CBCFD3F30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BA1DAF5-3161-C3F3-1B89-57294AB613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A57FA6E-9CCB-4382-32D0-B8A8CDB4500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7D25056-EDA4-FF60-C0AB-1E212B3AF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Common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UseCase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B18C19EF-2DCB-D023-AFFC-6D353758BE8D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  <a:defRPr/>
            </a:pPr>
            <a:r>
              <a:rPr lang="en-US" altLang="zh-TW" dirty="0">
                <a:ea typeface="標楷體" panose="03000509000000000000" pitchFamily="65" charset="-120"/>
              </a:rPr>
              <a:t>Category2:Workflow Automation</a:t>
            </a:r>
          </a:p>
          <a:p>
            <a:pPr marL="25400" indent="0">
              <a:buNone/>
              <a:defRPr/>
            </a:pPr>
            <a:endParaRPr lang="en-US" altLang="zh-TW" dirty="0">
              <a:ea typeface="標楷體" panose="03000509000000000000" pitchFamily="65" charset="-120"/>
            </a:endParaRPr>
          </a:p>
          <a:p>
            <a:r>
              <a:rPr lang="zh-TW" altLang="en-US" b="1" dirty="0">
                <a:ea typeface="標楷體" panose="03000509000000000000" pitchFamily="65" charset="-120"/>
              </a:rPr>
              <a:t>目標</a:t>
            </a:r>
            <a:r>
              <a:rPr lang="zh-TW" altLang="en-US" dirty="0">
                <a:ea typeface="標楷體" panose="03000509000000000000" pitchFamily="65" charset="-120"/>
              </a:rPr>
              <a:t>：針對需要多步驟、嚴謹邏輯的任務，提供一套帶有驗證機制的流程 。</a:t>
            </a:r>
            <a:endParaRPr lang="en-US" altLang="zh-TW" dirty="0">
              <a:ea typeface="標楷體" panose="03000509000000000000" pitchFamily="65" charset="-120"/>
            </a:endParaRPr>
          </a:p>
          <a:p>
            <a:r>
              <a:rPr lang="zh-TW" altLang="en-US" b="1" dirty="0">
                <a:ea typeface="標楷體" panose="03000509000000000000" pitchFamily="65" charset="-120"/>
              </a:rPr>
              <a:t>關鍵技巧</a:t>
            </a:r>
            <a:r>
              <a:rPr lang="zh-TW" altLang="en-US" dirty="0">
                <a:ea typeface="標楷體" panose="03000509000000000000" pitchFamily="65" charset="-120"/>
              </a:rPr>
              <a:t>：建立帶有驗證門檻 </a:t>
            </a:r>
            <a:r>
              <a:rPr lang="en-US" altLang="zh-TW" dirty="0">
                <a:ea typeface="標楷體" panose="03000509000000000000" pitchFamily="65" charset="-120"/>
              </a:rPr>
              <a:t>(Validation Gates) </a:t>
            </a:r>
            <a:r>
              <a:rPr lang="zh-TW" altLang="en-US" dirty="0">
                <a:ea typeface="標楷體" panose="03000509000000000000" pitchFamily="65" charset="-120"/>
              </a:rPr>
              <a:t>的步驟化流程、內建審核與改進建議。</a:t>
            </a:r>
            <a:endParaRPr lang="en-US" altLang="zh-TW" dirty="0">
              <a:ea typeface="標楷體" panose="03000509000000000000" pitchFamily="65" charset="-120"/>
            </a:endParaRPr>
          </a:p>
          <a:p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9128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8591AA8-42F7-EE19-158B-583ADC6F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C8C74238-2B1D-5B84-2DDD-DD95410F89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FFFBE43-DBD6-5CC4-C4CF-98553D934F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E285D8D-084D-9C8A-CEBD-5F17812945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DD3FB4B-38AD-8E66-25CF-2B5983E37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Common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UseCase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10BAEA1-CAE7-7C71-DA52-9C66190C6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735" y="1354199"/>
            <a:ext cx="9244529" cy="536727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E1500EC-4D63-91C7-C6E5-B646EDE712DD}"/>
              </a:ext>
            </a:extLst>
          </p:cNvPr>
          <p:cNvSpPr/>
          <p:nvPr/>
        </p:nvSpPr>
        <p:spPr>
          <a:xfrm>
            <a:off x="2474257" y="2913531"/>
            <a:ext cx="2357719" cy="735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042B335-9722-48BC-3615-8406EF1E27B1}"/>
              </a:ext>
            </a:extLst>
          </p:cNvPr>
          <p:cNvSpPr txBox="1"/>
          <p:nvPr/>
        </p:nvSpPr>
        <p:spPr>
          <a:xfrm>
            <a:off x="4102449" y="3648635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Validation gates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17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41F57A8-E0AC-0225-61B2-A58664C2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FFACB902-DFE1-DC64-A97F-BC58699AD9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866542B-FFDF-1328-F632-8D505FD7AAB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EAF42C81-B73A-8DF5-28A8-550F78D787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2168E83-C8F8-15FE-F528-4D828E2873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Common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UseCase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2C71886C-5223-E12D-B550-463FC76C9A65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  <a:defRPr/>
            </a:pPr>
            <a:r>
              <a:rPr lang="en-US" altLang="zh-TW" dirty="0">
                <a:ea typeface="標楷體" panose="03000509000000000000" pitchFamily="65" charset="-120"/>
              </a:rPr>
              <a:t>Category3:MCP Enhancement</a:t>
            </a:r>
          </a:p>
          <a:p>
            <a:pPr marL="25400" indent="0">
              <a:buNone/>
              <a:defRPr/>
            </a:pPr>
            <a:endParaRPr lang="en-US" altLang="zh-TW" dirty="0">
              <a:ea typeface="標楷體" panose="03000509000000000000" pitchFamily="65" charset="-120"/>
            </a:endParaRPr>
          </a:p>
          <a:p>
            <a:r>
              <a:rPr lang="zh-TW" altLang="en-US" b="1" dirty="0">
                <a:ea typeface="標楷體" panose="03000509000000000000" pitchFamily="65" charset="-120"/>
              </a:rPr>
              <a:t>目標</a:t>
            </a:r>
            <a:r>
              <a:rPr lang="zh-TW" altLang="en-US" dirty="0">
                <a:ea typeface="標楷體" panose="03000509000000000000" pitchFamily="65" charset="-120"/>
              </a:rPr>
              <a:t>：指導 </a:t>
            </a:r>
            <a:r>
              <a:rPr lang="en-US" altLang="zh-TW" dirty="0">
                <a:ea typeface="標楷體" panose="03000509000000000000" pitchFamily="65" charset="-120"/>
              </a:rPr>
              <a:t>Claude </a:t>
            </a:r>
            <a:r>
              <a:rPr lang="zh-TW" altLang="en-US" dirty="0">
                <a:ea typeface="標楷體" panose="03000509000000000000" pitchFamily="65" charset="-120"/>
              </a:rPr>
              <a:t>如何正確、高效地操作外部系統 </a:t>
            </a:r>
            <a:r>
              <a:rPr lang="en-US" altLang="zh-TW" dirty="0">
                <a:ea typeface="標楷體" panose="03000509000000000000" pitchFamily="65" charset="-120"/>
              </a:rPr>
              <a:t>(MCP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Server)</a:t>
            </a:r>
            <a:r>
              <a:rPr lang="zh-TW" altLang="en-US" dirty="0">
                <a:ea typeface="標楷體" panose="03000509000000000000" pitchFamily="65" charset="-120"/>
              </a:rPr>
              <a:t>。</a:t>
            </a:r>
            <a:endParaRPr lang="en-US" altLang="zh-TW" dirty="0">
              <a:ea typeface="標楷體" panose="03000509000000000000" pitchFamily="65" charset="-120"/>
            </a:endParaRPr>
          </a:p>
          <a:p>
            <a:r>
              <a:rPr lang="zh-TW" altLang="en-US" b="1" dirty="0">
                <a:ea typeface="標楷體" panose="03000509000000000000" pitchFamily="65" charset="-120"/>
              </a:rPr>
              <a:t>關鍵技巧</a:t>
            </a:r>
            <a:r>
              <a:rPr lang="zh-TW" altLang="en-US" dirty="0">
                <a:ea typeface="標楷體" panose="03000509000000000000" pitchFamily="65" charset="-120"/>
              </a:rPr>
              <a:t>：協調多個 </a:t>
            </a:r>
            <a:r>
              <a:rPr lang="en-US" altLang="zh-TW" dirty="0">
                <a:ea typeface="標楷體" panose="03000509000000000000" pitchFamily="65" charset="-120"/>
              </a:rPr>
              <a:t>MCP </a:t>
            </a:r>
            <a:r>
              <a:rPr lang="zh-TW" altLang="en-US" dirty="0">
                <a:ea typeface="標楷體" panose="03000509000000000000" pitchFamily="65" charset="-120"/>
              </a:rPr>
              <a:t>、嵌入領域專業知識 </a:t>
            </a:r>
            <a:r>
              <a:rPr lang="en-US" altLang="zh-TW" dirty="0">
                <a:ea typeface="標楷體" panose="03000509000000000000" pitchFamily="65" charset="-120"/>
              </a:rPr>
              <a:t>(Domain Expertise)</a:t>
            </a:r>
            <a:r>
              <a:rPr lang="zh-TW" altLang="en-US" dirty="0">
                <a:ea typeface="標楷體" panose="03000509000000000000" pitchFamily="65" charset="-120"/>
              </a:rPr>
              <a:t>，以及針對 </a:t>
            </a:r>
            <a:r>
              <a:rPr lang="en-US" altLang="zh-TW" dirty="0">
                <a:ea typeface="標楷體" panose="03000509000000000000" pitchFamily="65" charset="-120"/>
              </a:rPr>
              <a:t>API </a:t>
            </a:r>
            <a:r>
              <a:rPr lang="zh-TW" altLang="en-US" dirty="0">
                <a:ea typeface="標楷體" panose="03000509000000000000" pitchFamily="65" charset="-120"/>
              </a:rPr>
              <a:t>調用進行錯誤處理 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25400" indent="0">
              <a:buNone/>
            </a:pP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9747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49A9659-C424-1BC0-FE7A-C25EEF9E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F19B52FA-E695-95A5-A997-2FFF42BD51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193BE36-AE9D-4A06-3488-2BB7CFF0239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17419F5-EDB5-8D52-9688-CE0FB202DA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D1D5825-2861-9DD9-10B9-A9AE8425EE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Common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UseCase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E57D7F1-E0EA-3E82-C82F-3C169C3C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10" y="1417638"/>
            <a:ext cx="11579686" cy="492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26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715EC07-FF5C-EA4F-289D-6B611653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2B9E202A-A053-39A7-A469-AD12C0663A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D528FEE-1988-41A7-DA20-BF0146C89A6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5D75E46-30C2-520A-ED91-B0332A4EC6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C8D8486-0AF1-BDA9-10AF-BEA19673DD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Iteration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164122D1-5967-6A78-F23C-CF63A1F3CEA8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 algn="just">
              <a:buNone/>
              <a:defRPr/>
            </a:pP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Iteration based on feedback</a:t>
            </a:r>
          </a:p>
          <a:p>
            <a:pPr marL="25400" indent="0" algn="just">
              <a:buNone/>
              <a:defRPr/>
            </a:pP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	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「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 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不是寫完就丟的資料，而是會隨時間進化的活文件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(Living documents)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」，所以建立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之後，必須觀察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Claude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實際執行狀況，透過修改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內部文件來進行迭代。</a:t>
            </a:r>
            <a:endParaRPr lang="en-US" altLang="zh-TW" sz="28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 marL="25400" indent="0">
              <a:buNone/>
              <a:defRPr/>
            </a:pPr>
            <a:endParaRPr lang="en-US" altLang="zh-TW" sz="28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 marL="25400" indent="0">
              <a:buNone/>
              <a:defRPr/>
            </a:pP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促使開發者迭代開發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的原因通常有三種</a:t>
            </a:r>
            <a:endParaRPr lang="en-US" altLang="zh-TW" sz="28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 marL="25400" indent="0">
              <a:buNone/>
              <a:defRPr/>
            </a:pP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1. </a:t>
            </a:r>
            <a:r>
              <a:rPr lang="en-US" altLang="zh-TW" sz="2800" dirty="0" err="1">
                <a:solidFill>
                  <a:schemeClr val="tx1"/>
                </a:solidFill>
                <a:ea typeface="標楷體" panose="03000509000000000000" pitchFamily="65" charset="-120"/>
              </a:rPr>
              <a:t>Undertriggering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 signals</a:t>
            </a:r>
          </a:p>
          <a:p>
            <a:pPr marL="25400" indent="0">
              <a:buNone/>
              <a:defRPr/>
            </a:pP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2. </a:t>
            </a:r>
            <a:r>
              <a:rPr lang="en-US" altLang="zh-TW" sz="2800" dirty="0" err="1">
                <a:solidFill>
                  <a:schemeClr val="tx1"/>
                </a:solidFill>
                <a:ea typeface="標楷體" panose="03000509000000000000" pitchFamily="65" charset="-120"/>
              </a:rPr>
              <a:t>Overtriggering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 signals</a:t>
            </a:r>
          </a:p>
          <a:p>
            <a:pPr marL="25400" indent="0">
              <a:buNone/>
              <a:defRPr/>
            </a:pP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3. Execution issues</a:t>
            </a:r>
          </a:p>
        </p:txBody>
      </p:sp>
    </p:spTree>
    <p:extLst>
      <p:ext uri="{BB962C8B-B14F-4D97-AF65-F5344CB8AC3E}">
        <p14:creationId xmlns:p14="http://schemas.microsoft.com/office/powerpoint/2010/main" val="1924192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1563531-A352-AF09-D81B-E64E159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51D25910-D4BF-F5C2-A1B9-FD677F9902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20D54A0-10B8-D031-F500-30C818A3E35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73ABF887-319C-632F-68F6-6837B85CDC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ED2E36D5-3663-A5B7-7DF1-A753D58C61E5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</a:pPr>
            <a:r>
              <a:rPr lang="en-US" altLang="zh-TW" sz="2800" dirty="0" err="1">
                <a:solidFill>
                  <a:schemeClr val="tx1"/>
                </a:solidFill>
                <a:ea typeface="標楷體" panose="03000509000000000000" pitchFamily="65" charset="-120"/>
              </a:rPr>
              <a:t>Undertriggering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觸發不足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)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「該做事時卻沒反應」</a:t>
            </a:r>
            <a:endParaRPr lang="en-US" altLang="zh-TW" sz="28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 marL="25400" indent="0">
              <a:buNone/>
            </a:pPr>
            <a:endParaRPr lang="zh-TW" altLang="en-US" sz="28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r>
              <a:rPr lang="zh-TW" altLang="en-US" sz="2800" b="1" dirty="0">
                <a:solidFill>
                  <a:schemeClr val="tx1"/>
                </a:solidFill>
                <a:ea typeface="標楷體" panose="03000509000000000000" pitchFamily="65" charset="-120"/>
              </a:rPr>
              <a:t>出錯訊號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：希望啟動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，但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Claude 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卻沒有載入它，用一般對話敷衍你；或者發現團隊成員必須總是要「手動啟用」這個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。</a:t>
            </a:r>
          </a:p>
          <a:p>
            <a:r>
              <a:rPr lang="en-US" altLang="zh-TW" sz="2800" b="1" dirty="0">
                <a:solidFill>
                  <a:schemeClr val="tx1"/>
                </a:solidFill>
                <a:ea typeface="標楷體" panose="03000509000000000000" pitchFamily="65" charset="-120"/>
              </a:rPr>
              <a:t>Solution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：這代表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YAML description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 寫得太模糊了。需要補充更多細節與技術名詞。</a:t>
            </a:r>
          </a:p>
          <a:p>
            <a:pPr lvl="1"/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以 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Git Commit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舉例：如果你只寫 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description: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幫忙 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Commit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。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Claude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可能聽不懂。你要迭代改成：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description: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適用於當使用者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Staged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所有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files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，並要求寫 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Commit Message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或總結變更時。</a:t>
            </a:r>
          </a:p>
          <a:p>
            <a:pPr marL="25400" indent="0">
              <a:buNone/>
              <a:defRPr/>
            </a:pPr>
            <a:endParaRPr lang="en-US" altLang="zh-TW" sz="2200" dirty="0">
              <a:solidFill>
                <a:schemeClr val="tx1"/>
              </a:solidFill>
              <a:ea typeface="標楷體" panose="03000509000000000000" pitchFamily="65" charset="-120"/>
            </a:endParaRPr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33E267E5-E908-C4CC-4187-81708F718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Iteration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22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C649A55-F67B-4B94-F304-6D6E8C88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F4A97110-D54B-40EC-7C8A-D3B4B6A8CD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D534FB1-BBE1-D885-3B8C-9BC3B750899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636534E-2C50-828E-6FFB-39EFAEDD78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D66CB72E-D09D-973E-084F-FFE61269DAD9}"/>
              </a:ext>
            </a:extLst>
          </p:cNvPr>
          <p:cNvSpPr txBox="1">
            <a:spLocks/>
          </p:cNvSpPr>
          <p:nvPr/>
        </p:nvSpPr>
        <p:spPr>
          <a:xfrm>
            <a:off x="609600" y="141763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</a:pPr>
            <a:r>
              <a:rPr lang="en-US" altLang="zh-TW" sz="2800" dirty="0" err="1">
                <a:solidFill>
                  <a:schemeClr val="tx1"/>
                </a:solidFill>
                <a:ea typeface="標楷體" panose="03000509000000000000" pitchFamily="65" charset="-120"/>
              </a:rPr>
              <a:t>Overtriggering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過度觸發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)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「不該做事時卻亂插手」</a:t>
            </a:r>
          </a:p>
          <a:p>
            <a:r>
              <a:rPr lang="zh-TW" altLang="en-US" sz="2800" b="1" dirty="0">
                <a:solidFill>
                  <a:schemeClr val="tx1"/>
                </a:solidFill>
                <a:ea typeface="標楷體" panose="03000509000000000000" pitchFamily="65" charset="-120"/>
              </a:rPr>
              <a:t>出錯訊號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：即使使用者問了完全無關的問題，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 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卻跳出來載入不相關的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。</a:t>
            </a:r>
          </a:p>
          <a:p>
            <a:r>
              <a:rPr lang="en-US" altLang="zh-TW" sz="2800" b="1" dirty="0">
                <a:solidFill>
                  <a:schemeClr val="tx1"/>
                </a:solidFill>
                <a:ea typeface="標楷體" panose="03000509000000000000" pitchFamily="65" charset="-120"/>
              </a:rPr>
              <a:t>Solution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：可以增加「負面觸發條件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(Negative triggers)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」，明確劃定不該管的邊界。</a:t>
            </a:r>
          </a:p>
          <a:p>
            <a:pPr lvl="1"/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以 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Git Commit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舉例：如果你發現只要提到「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Commit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」兩個字它就啟動，你可以迭代改寫加上這句：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Do NOT use this skill when user is just asking for code explanation or refactoring.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5" name="Google Shape;100;p2">
            <a:extLst>
              <a:ext uri="{FF2B5EF4-FFF2-40B4-BE49-F238E27FC236}">
                <a16:creationId xmlns:a16="http://schemas.microsoft.com/office/drawing/2014/main" id="{8DC9970A-AE2C-C591-6EB6-C8654F0DB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Iteration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354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7DB55F3-69BB-4767-A6E7-493E3AA6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9F5B993F-E50E-CEAA-ED4A-F09298EE65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1000B80-321C-F8FA-07B1-DF4CD0712DF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4BEA68D4-58FD-28E3-C83B-75AB6ED3A1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9599F3D5-A7F9-3E34-BC60-B777A03B081F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None/>
              <a:defRPr/>
            </a:pP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Execution issues</a:t>
            </a:r>
          </a:p>
          <a:p>
            <a:r>
              <a:rPr lang="zh-TW" altLang="en-US" sz="2800" b="1" dirty="0">
                <a:solidFill>
                  <a:schemeClr val="tx1"/>
                </a:solidFill>
                <a:ea typeface="標楷體" panose="03000509000000000000" pitchFamily="65" charset="-120"/>
              </a:rPr>
              <a:t>出錯訊號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：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 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雖然在對的時間觸發了，但是產出的結果時好時壞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(Inconsistent results)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、呼叫的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API 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常常失敗，或者使用者還是得常常手動去糾正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AI 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的錯字與排版。</a:t>
            </a:r>
            <a:endParaRPr lang="en-US" altLang="zh-TW" sz="28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r>
              <a:rPr lang="en-US" altLang="zh-TW" sz="2800" b="1" dirty="0">
                <a:solidFill>
                  <a:schemeClr val="tx1"/>
                </a:solidFill>
                <a:ea typeface="標楷體" panose="03000509000000000000" pitchFamily="65" charset="-120"/>
              </a:rPr>
              <a:t>Solution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：這時要修改的是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Skill body or Link files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。可以把語句寫得更強烈、提供防呆條件，或加入錯誤處理 </a:t>
            </a:r>
            <a:r>
              <a:rPr lang="en-US" altLang="zh-TW" sz="2800" dirty="0">
                <a:solidFill>
                  <a:schemeClr val="tx1"/>
                </a:solidFill>
                <a:ea typeface="標楷體" panose="03000509000000000000" pitchFamily="65" charset="-120"/>
              </a:rPr>
              <a:t>(Error handling)</a:t>
            </a:r>
            <a:r>
              <a:rPr lang="zh-TW" altLang="en-US" sz="2800" dirty="0">
                <a:solidFill>
                  <a:schemeClr val="tx1"/>
                </a:solidFill>
                <a:ea typeface="標楷體" panose="03000509000000000000" pitchFamily="65" charset="-120"/>
              </a:rPr>
              <a:t>。</a:t>
            </a:r>
          </a:p>
          <a:p>
            <a:pPr lvl="1"/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以 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Git Commit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舉例：如果 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Claude 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偶爾還是會偷偷把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[Feature Addition]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 寫成自己臨時定義的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[New Feature]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。就需要修改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Skill body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把 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“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只能使用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skill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內部定義的六種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commit rule”</a:t>
            </a:r>
          </a:p>
          <a:p>
            <a:endParaRPr lang="en-US" altLang="zh-TW" sz="2200" dirty="0">
              <a:solidFill>
                <a:schemeClr val="tx1"/>
              </a:solidFill>
              <a:ea typeface="標楷體" panose="03000509000000000000" pitchFamily="65" charset="-120"/>
            </a:endParaRPr>
          </a:p>
        </p:txBody>
      </p:sp>
      <p:sp>
        <p:nvSpPr>
          <p:cNvPr id="5" name="Google Shape;100;p2">
            <a:extLst>
              <a:ext uri="{FF2B5EF4-FFF2-40B4-BE49-F238E27FC236}">
                <a16:creationId xmlns:a16="http://schemas.microsoft.com/office/drawing/2014/main" id="{82D4AC8F-581E-382E-E728-BB4DA9BAB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Iteration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6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FF098D4-52B1-8A29-7CE7-446756D86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25553B20-7B19-1807-0A81-065CD4B313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 dirty="0">
              <a:solidFill>
                <a:srgbClr val="1025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274AB9E-AFEA-F4A7-92E3-72BDD237F80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TW" dirty="0"/>
              <a:t>2025/11/25</a:t>
            </a: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064DA08-72EA-63B7-30B6-37D99BBA4CD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軟體系統實驗室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0C56775-F76C-49E2-B101-BAFCDA8A3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內容版面配置區 8">
            <a:extLst>
              <a:ext uri="{FF2B5EF4-FFF2-40B4-BE49-F238E27FC236}">
                <a16:creationId xmlns:a16="http://schemas.microsoft.com/office/drawing/2014/main" id="{498A54CC-CF10-63D4-9A1D-841EABDE78D1}"/>
              </a:ext>
            </a:extLst>
          </p:cNvPr>
          <p:cNvSpPr txBox="1">
            <a:spLocks/>
          </p:cNvSpPr>
          <p:nvPr/>
        </p:nvSpPr>
        <p:spPr>
          <a:xfrm>
            <a:off x="609600" y="150076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243E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Skill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將「一次性的提示工程」封裝成「可重複使用的知識資產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」</a:t>
            </a:r>
          </a:p>
          <a:p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三層漸進式揭露：JIT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機制減少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Token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消耗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與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把專業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深度</a:t>
            </a:r>
            <a:r>
              <a:rPr lang="zh-TW" altLang="en-US" dirty="0">
                <a:solidFill>
                  <a:schemeClr val="tx1"/>
                </a:solidFill>
                <a:ea typeface="標楷體" panose="03000509000000000000" pitchFamily="65" charset="-120"/>
              </a:rPr>
              <a:t>抽象化</a:t>
            </a:r>
            <a:endParaRPr lang="en-US" altLang="zh-TW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MCP + Skills =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連接能力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 +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工作流程知識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 →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完整的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 AI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解決方案</a:t>
            </a:r>
            <a:endParaRPr lang="en-US" altLang="zh-TW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Description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是成敗關鍵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 —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決定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 Skill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何時被觸發</a:t>
            </a:r>
            <a:endParaRPr lang="en-US" altLang="zh-TW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持續迭代：Skill</a:t>
            </a:r>
            <a:r>
              <a:rPr lang="en-US" altLang="zh-TW" dirty="0">
                <a:solidFill>
                  <a:schemeClr val="tx1"/>
                </a:solidFill>
                <a:ea typeface="標楷體" panose="03000509000000000000" pitchFamily="65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ea typeface="標楷體" panose="03000509000000000000" pitchFamily="65" charset="-120"/>
              </a:rPr>
              <a:t>是活文件，透過測試與回饋不斷改善</a:t>
            </a:r>
            <a:endParaRPr lang="en-US" altLang="zh-TW" dirty="0">
              <a:solidFill>
                <a:schemeClr val="tx1"/>
              </a:solidFill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9506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2025/11/25</a:t>
            </a:r>
            <a:endParaRPr dirty="0"/>
          </a:p>
        </p:txBody>
      </p:sp>
      <p:sp>
        <p:nvSpPr>
          <p:cNvPr id="223" name="Google Shape;223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軟體系統實驗室</a:t>
            </a:r>
            <a:endParaRPr/>
          </a:p>
        </p:txBody>
      </p:sp>
      <p:sp>
        <p:nvSpPr>
          <p:cNvPr id="224" name="Google Shape;224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Google Shape;226;p15"/>
          <p:cNvSpPr txBox="1">
            <a:spLocks noGrp="1"/>
          </p:cNvSpPr>
          <p:nvPr>
            <p:ph type="body" idx="1"/>
          </p:nvPr>
        </p:nvSpPr>
        <p:spPr>
          <a:xfrm>
            <a:off x="737327" y="1557745"/>
            <a:ext cx="10717345" cy="273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>
                <a:ea typeface="標楷體" panose="03000509000000000000" pitchFamily="65" charset="-120"/>
                <a:hlinkClick r:id="rId3"/>
              </a:rPr>
              <a:t>The Complete Guide to Building Skills for Claude</a:t>
            </a:r>
          </a:p>
          <a:p>
            <a:r>
              <a:rPr lang="zh-TW" altLang="en-US" dirty="0">
                <a:ea typeface="標楷體" panose="03000509000000000000" pitchFamily="65" charset="-120"/>
                <a:hlinkClick r:id="rId4"/>
              </a:rPr>
              <a:t>什麼是 </a:t>
            </a:r>
            <a:r>
              <a:rPr lang="en-US" altLang="zh-TW" dirty="0">
                <a:ea typeface="標楷體" panose="03000509000000000000" pitchFamily="65" charset="-120"/>
                <a:hlinkClick r:id="rId4"/>
              </a:rPr>
              <a:t>ETL</a:t>
            </a:r>
            <a:r>
              <a:rPr lang="zh-TW" altLang="en-US" dirty="0">
                <a:ea typeface="標楷體" panose="03000509000000000000" pitchFamily="65" charset="-120"/>
                <a:hlinkClick r:id="rId4"/>
              </a:rPr>
              <a:t>？</a:t>
            </a:r>
            <a:endParaRPr lang="zh-TW" altLang="en-US" dirty="0">
              <a:ea typeface="標楷體" panose="03000509000000000000" pitchFamily="65" charset="-120"/>
            </a:endParaRPr>
          </a:p>
          <a:p>
            <a:r>
              <a:rPr lang="en-US" altLang="zh-TW" dirty="0">
                <a:ea typeface="標楷體" panose="03000509000000000000" pitchFamily="65" charset="-120"/>
                <a:hlinkClick r:id="rId5"/>
              </a:rPr>
              <a:t>https://github.com/anthropics/skills</a:t>
            </a:r>
            <a:endParaRPr lang="en-US" altLang="zh-TW" u="sng" dirty="0">
              <a:solidFill>
                <a:schemeClr val="hlink"/>
              </a:solidFill>
              <a:ea typeface="標楷體" panose="03000509000000000000" pitchFamily="65" charset="-120"/>
            </a:endParaRPr>
          </a:p>
          <a:p>
            <a:r>
              <a:rPr lang="en-US" altLang="zh-TW" dirty="0">
                <a:ea typeface="標楷體" panose="03000509000000000000" pitchFamily="65" charset="-120"/>
                <a:hlinkClick r:id="rId6"/>
              </a:rPr>
              <a:t>Claude API Docs -- Agent Skills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Char char="•"/>
            </a:pPr>
            <a:endParaRPr lang="zh-TW" altLang="en-US" dirty="0"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rgbClr val="0F243E"/>
              </a:buClr>
              <a:buSzPts val="3200"/>
              <a:buNone/>
            </a:pPr>
            <a:endParaRPr lang="zh-TW" altLang="en-US" i="0" dirty="0">
              <a:solidFill>
                <a:srgbClr val="0001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139700" algn="l" rtl="0">
              <a:spcBef>
                <a:spcPts val="1050"/>
              </a:spcBef>
              <a:spcAft>
                <a:spcPts val="0"/>
              </a:spcAft>
              <a:buClr>
                <a:srgbClr val="0F243E"/>
              </a:buClr>
              <a:buSzPts val="3200"/>
              <a:buNone/>
            </a:pPr>
            <a:endParaRPr lang="zh-TW" altLang="en-US" b="1" i="0" dirty="0">
              <a:solidFill>
                <a:srgbClr val="0001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139700" algn="l" rtl="0">
              <a:spcBef>
                <a:spcPts val="1800"/>
              </a:spcBef>
              <a:spcAft>
                <a:spcPts val="0"/>
              </a:spcAft>
              <a:buClr>
                <a:srgbClr val="0F243E"/>
              </a:buClr>
              <a:buSzPts val="3200"/>
              <a:buNone/>
            </a:pPr>
            <a:endParaRPr lang="zh-TW" altLang="en-US" b="1" i="0" dirty="0">
              <a:solidFill>
                <a:srgbClr val="0001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ctrTitle"/>
          </p:nvPr>
        </p:nvSpPr>
        <p:spPr>
          <a:xfrm>
            <a:off x="914400" y="62068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Google Shape;232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2025/11/25</a:t>
            </a:r>
            <a:endParaRPr dirty="0"/>
          </a:p>
        </p:txBody>
      </p:sp>
      <p:sp>
        <p:nvSpPr>
          <p:cNvPr id="233" name="Google Shape;233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軟體系統實驗室</a:t>
            </a:r>
            <a:endParaRPr/>
          </a:p>
        </p:txBody>
      </p:sp>
      <p:sp>
        <p:nvSpPr>
          <p:cNvPr id="234" name="Google Shape;234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36" name="Google Shape;236;p16" descr="耀西- 維基百科，自由的百科全書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9912424" y="2492896"/>
            <a:ext cx="943103" cy="1403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_w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6236</TotalTime>
  <Words>1869</Words>
  <Application>Microsoft Office PowerPoint</Application>
  <PresentationFormat>寬螢幕</PresentationFormat>
  <Paragraphs>204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Helvetica Neue</vt:lpstr>
      <vt:lpstr>微軟正黑體</vt:lpstr>
      <vt:lpstr>Times New Roman</vt:lpstr>
      <vt:lpstr>Calibri</vt:lpstr>
      <vt:lpstr>Arial</vt:lpstr>
      <vt:lpstr>標楷體</vt:lpstr>
      <vt:lpstr>blue_w</vt:lpstr>
      <vt:lpstr>Claude Skills —— 打造個人化專家之原理與實踐</vt:lpstr>
      <vt:lpstr>Outline</vt:lpstr>
      <vt:lpstr>Introduction</vt:lpstr>
      <vt:lpstr>Fundamentals</vt:lpstr>
      <vt:lpstr>Fundamentals</vt:lpstr>
      <vt:lpstr>Fundamentals</vt:lpstr>
      <vt:lpstr>Fundamentals</vt:lpstr>
      <vt:lpstr>Fundamentals</vt:lpstr>
      <vt:lpstr>Common UseCase</vt:lpstr>
      <vt:lpstr>Common UseCase</vt:lpstr>
      <vt:lpstr>Common UseCase</vt:lpstr>
      <vt:lpstr>Common UseCase</vt:lpstr>
      <vt:lpstr>Common UseCase</vt:lpstr>
      <vt:lpstr>Common UseCase</vt:lpstr>
      <vt:lpstr>Iteration</vt:lpstr>
      <vt:lpstr>Iteration</vt:lpstr>
      <vt:lpstr>Iteration</vt:lpstr>
      <vt:lpstr>Iteration</vt:lpstr>
      <vt:lpstr>Conclusion</vt:lpstr>
      <vt:lpstr>Reference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李俊威</dc:creator>
  <cp:lastModifiedBy>Frank Li</cp:lastModifiedBy>
  <cp:revision>207</cp:revision>
  <dcterms:created xsi:type="dcterms:W3CDTF">2024-11-04T15:08:33Z</dcterms:created>
  <dcterms:modified xsi:type="dcterms:W3CDTF">2026-03-23T11:10:11Z</dcterms:modified>
</cp:coreProperties>
</file>