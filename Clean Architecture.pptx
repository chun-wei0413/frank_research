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1D_CC7B2D18.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23_BCABFA6C.xml" ContentType="application/vnd.ms-powerpoint.comments+xml"/>
  <Override PartName="/ppt/notesSlides/notesSlide10.xml" ContentType="application/vnd.openxmlformats-officedocument.presentationml.notesSlide+xml"/>
  <Override PartName="/ppt/comments/modernComment_121_A2A87D99.xml" ContentType="application/vnd.ms-powerpoint.comments+xml"/>
  <Override PartName="/ppt/notesSlides/notesSlide11.xml" ContentType="application/vnd.openxmlformats-officedocument.presentationml.notesSlide+xml"/>
  <Override PartName="/ppt/comments/modernComment_122_C2744EBE.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25_67351454.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2B_AD512D0B.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2D_78BF3A6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29"/>
  </p:notesMasterIdLst>
  <p:handoutMasterIdLst>
    <p:handoutMasterId r:id="rId30"/>
  </p:handoutMasterIdLst>
  <p:sldIdLst>
    <p:sldId id="256" r:id="rId2"/>
    <p:sldId id="257" r:id="rId3"/>
    <p:sldId id="284" r:id="rId4"/>
    <p:sldId id="285" r:id="rId5"/>
    <p:sldId id="287" r:id="rId6"/>
    <p:sldId id="309" r:id="rId7"/>
    <p:sldId id="286" r:id="rId8"/>
    <p:sldId id="288" r:id="rId9"/>
    <p:sldId id="291" r:id="rId10"/>
    <p:sldId id="289" r:id="rId11"/>
    <p:sldId id="290" r:id="rId12"/>
    <p:sldId id="292" r:id="rId13"/>
    <p:sldId id="293" r:id="rId14"/>
    <p:sldId id="296" r:id="rId15"/>
    <p:sldId id="297" r:id="rId16"/>
    <p:sldId id="299" r:id="rId17"/>
    <p:sldId id="302" r:id="rId18"/>
    <p:sldId id="300" r:id="rId19"/>
    <p:sldId id="304" r:id="rId20"/>
    <p:sldId id="303" r:id="rId21"/>
    <p:sldId id="305" r:id="rId22"/>
    <p:sldId id="306" r:id="rId23"/>
    <p:sldId id="301" r:id="rId24"/>
    <p:sldId id="282" r:id="rId25"/>
    <p:sldId id="283" r:id="rId26"/>
    <p:sldId id="307" r:id="rId27"/>
    <p:sldId id="308" r:id="rId28"/>
  </p:sldIdLst>
  <p:sldSz cx="12192000" cy="6858000"/>
  <p:notesSz cx="7099300" cy="10234613"/>
  <p:defaultTex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B2BCC7-BA44-2B2A-85DF-CDA8C59980A1}" name="喻翔 胡" initials="喻胡" userId="bce98f34b5dff7b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65747" autoAdjust="0"/>
  </p:normalViewPr>
  <p:slideViewPr>
    <p:cSldViewPr>
      <p:cViewPr varScale="1">
        <p:scale>
          <a:sx n="108" d="100"/>
          <a:sy n="108" d="100"/>
        </p:scale>
        <p:origin x="2676" y="114"/>
      </p:cViewPr>
      <p:guideLst/>
    </p:cSldViewPr>
  </p:slideViewPr>
  <p:outlineViewPr>
    <p:cViewPr>
      <p:scale>
        <a:sx n="33" d="100"/>
        <a:sy n="33" d="100"/>
      </p:scale>
      <p:origin x="0" y="-702"/>
    </p:cViewPr>
  </p:outlineViewPr>
  <p:notesTextViewPr>
    <p:cViewPr>
      <p:scale>
        <a:sx n="3" d="2"/>
        <a:sy n="3" d="2"/>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7.xml"/></Relationships>
</file>

<file path=ppt/comments/modernComment_11D_CC7B2D18.xml><?xml version="1.0" encoding="utf-8"?>
<p188:cmLst xmlns:a="http://schemas.openxmlformats.org/drawingml/2006/main" xmlns:r="http://schemas.openxmlformats.org/officeDocument/2006/relationships" xmlns:p188="http://schemas.microsoft.com/office/powerpoint/2018/8/main">
  <p188:cm id="{DF9E3276-F0E8-224C-B4F2-8F9FDB126816}" authorId="{0EB2BCC7-BA44-2B2A-85DF-CDA8C59980A1}" status="resolved" created="2025-01-21T15:12:44.347" complete="100000">
    <ac:deMkLst xmlns:ac="http://schemas.microsoft.com/office/drawing/2013/main/command">
      <pc:docMk xmlns:pc="http://schemas.microsoft.com/office/powerpoint/2013/main/command"/>
      <pc:sldMk xmlns:pc="http://schemas.microsoft.com/office/powerpoint/2013/main/command" cId="3430624536" sldId="285"/>
      <ac:picMk id="8" creationId="{A6DFA432-5D66-06ED-43C4-AFDFF8B4E747}"/>
    </ac:deMkLst>
    <p188:txBody>
      <a:bodyPr/>
      <a:lstStyle/>
      <a:p>
        <a:r>
          <a:rPr lang="en-TW"/>
          <a:t>這圖是你自己畫的嗎？如果有參考別人，這裡最好加個 reference</a:t>
        </a:r>
      </a:p>
    </p188:txBody>
  </p188:cm>
  <p188:cm id="{3190DD1C-131C-344E-B366-6FE30D9CE4C7}" authorId="{0EB2BCC7-BA44-2B2A-85DF-CDA8C59980A1}" status="resolved" created="2025-01-21T15:13:36.391" complete="100000">
    <ac:deMkLst xmlns:ac="http://schemas.microsoft.com/office/drawing/2013/main/command">
      <pc:docMk xmlns:pc="http://schemas.microsoft.com/office/powerpoint/2013/main/command"/>
      <pc:sldMk xmlns:pc="http://schemas.microsoft.com/office/powerpoint/2013/main/command" cId="3430624536" sldId="285"/>
      <ac:picMk id="8" creationId="{A6DFA432-5D66-06ED-43C4-AFDFF8B4E747}"/>
    </ac:deMkLst>
    <p188:txBody>
      <a:bodyPr/>
      <a:lstStyle/>
      <a:p>
        <a:r>
          <a:rPr lang="en-TW"/>
          <a:t>另外，這圖片的 color code 也可以稍微思考一下
看起來 B應該才是我們的理想，但卻用紅色。在紅藍兩個顏色相比的時候，紅色多少給人一種比較差的感覺</a:t>
        </a:r>
      </a:p>
    </p188:txBody>
  </p188:cm>
</p188:cmLst>
</file>

<file path=ppt/comments/modernComment_12B_AD512D0B.xml><?xml version="1.0" encoding="utf-8"?>
<p188:cmLst xmlns:a="http://schemas.openxmlformats.org/drawingml/2006/main" xmlns:r="http://schemas.openxmlformats.org/officeDocument/2006/relationships" xmlns:p188="http://schemas.microsoft.com/office/powerpoint/2018/8/main">
  <p188:cm id="{90A0B844-663A-0544-B940-7D7AA563BE5A}" authorId="{0EB2BCC7-BA44-2B2A-85DF-CDA8C59980A1}" created="2025-01-21T15:39:46.767">
    <ac:txMkLst xmlns:ac="http://schemas.microsoft.com/office/drawing/2013/main/command">
      <pc:docMk xmlns:pc="http://schemas.microsoft.com/office/powerpoint/2013/main/command"/>
      <pc:sldMk xmlns:pc="http://schemas.microsoft.com/office/powerpoint/2013/main/command" cId="2907778315" sldId="299"/>
      <ac:spMk id="2" creationId="{0ED280CA-AF07-8CD5-15EF-CE3BBB2D07AC}"/>
      <ac:txMk cp="0" len="15">
        <ac:context len="19" hash="2313443014"/>
      </ac:txMk>
    </ac:txMkLst>
    <p188:pos x="8051800" y="529695"/>
    <p188:txBody>
      <a:bodyPr/>
      <a:lstStyle/>
      <a:p>
        <a:r>
          <a:rPr lang="en-TW"/>
          <a:t>只看圖我不太確定你要怎麼講，不過先跟你講清楚一個觀念，以防你混淆：
CA 的 Dependency Rule 不是 Dependency Inversion Principle。
而是為了遵守 Dependency Rule，可以使用 Dependency Inversion Principle 的方式來做到。</a:t>
        </a:r>
      </a:p>
    </p188:txBody>
  </p188:cm>
</p188:cmLst>
</file>

<file path=ppt/comments/modernComment_12D_78BF3A68.xml><?xml version="1.0" encoding="utf-8"?>
<p188:cmLst xmlns:a="http://schemas.openxmlformats.org/drawingml/2006/main" xmlns:r="http://schemas.openxmlformats.org/officeDocument/2006/relationships" xmlns:p188="http://schemas.microsoft.com/office/powerpoint/2018/8/main">
  <p188:cm id="{4854EDC3-DABC-1140-B880-19FA02160359}" authorId="{0EB2BCC7-BA44-2B2A-85DF-CDA8C59980A1}" created="2025-01-21T15:45:23.449">
    <ac:txMkLst xmlns:ac="http://schemas.microsoft.com/office/drawing/2013/main/command">
      <pc:docMk xmlns:pc="http://schemas.microsoft.com/office/powerpoint/2013/main/command"/>
      <pc:sldMk xmlns:pc="http://schemas.microsoft.com/office/powerpoint/2013/main/command" cId="2025798248" sldId="301"/>
      <ac:graphicFrameMk id="7" creationId="{581B207D-268C-6F08-DA6E-105FDDA36201}"/>
      <ac:tblMk/>
      <ac:tcMk rowId="1073657445" colId="3298532631"/>
      <ac:txMk cp="31">
        <ac:context len="32" hash="3785084769"/>
      </ac:txMk>
    </ac:txMkLst>
    <p188:pos x="3464024" y="1327388"/>
    <p188:txBody>
      <a:bodyPr/>
      <a:lstStyle/>
      <a:p>
        <a:r>
          <a:rPr lang="en-TW"/>
          <a:t>你的Flexible 跟 Maintainable 跟 Extensible 會不會是同一點？
還是有什麼具體的區別嗎？如果有的話，報告的時候要能夠講出他們具體的區別</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E3A398AF-8FD9-AF4E-8611-68F187653C03}" authorId="{0EB2BCC7-BA44-2B2A-85DF-CDA8C59980A1}" status="resolved" created="2025-01-21T15:08:15.742" complete="100000">
    <ac:txMkLst xmlns:ac="http://schemas.microsoft.com/office/drawing/2013/main/command">
      <pc:docMk xmlns:pc="http://schemas.microsoft.com/office/powerpoint/2013/main/command"/>
      <pc:sldMk xmlns:pc="http://schemas.microsoft.com/office/powerpoint/2013/main/command" cId="0" sldId="256"/>
      <ac:spMk id="6" creationId="{C7B8B7A0-6627-2E4D-B940-F09CEFD8AD1B}"/>
      <ac:txMk cp="27">
        <ac:context len="28" hash="1201055580"/>
      </ac:txMk>
    </ac:txMkLst>
    <p188:pos x="3810917" y="809566"/>
    <p188:txBody>
      <a:bodyPr/>
      <a:lstStyle/>
      <a:p>
        <a:r>
          <a:rPr lang="en-TW"/>
          <a:t>你們當初指導教授應該是給謝金雲老師簽名的，沒有 Teddy才對？</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A7589ED2-F8D4-9C45-897E-066000246581}" authorId="{0EB2BCC7-BA44-2B2A-85DF-CDA8C59980A1}" status="resolved" created="2025-01-21T15:10:04.549" complete="100000">
    <ac:txMkLst xmlns:ac="http://schemas.microsoft.com/office/drawing/2013/main/command">
      <pc:docMk xmlns:pc="http://schemas.microsoft.com/office/powerpoint/2013/main/command"/>
      <pc:sldMk xmlns:pc="http://schemas.microsoft.com/office/powerpoint/2013/main/command" cId="0" sldId="257"/>
      <ac:spMk id="9" creationId="{EC445DD7-88C1-394B-A476-56FA5A102AE1}"/>
      <ac:txMk cp="31" len="44">
        <ac:context len="96" hash="200377258"/>
      </ac:txMk>
    </ac:txMkLst>
    <p188:pos x="4821716" y="925520"/>
    <p188:txBody>
      <a:bodyPr/>
      <a:lstStyle/>
      <a:p>
        <a:r>
          <a:rPr lang="en-TW"/>
          <a:t>Principle 這個詞實在太偉大了
你看 Clean Architecture 書中也只是用 Dependency “Rule” 而已。
Rule 只是一條規則，有點像法律這樣
Principle 是原則，你可以想像有點類似到憲法這種等級了。</a:t>
        </a:r>
      </a:p>
    </p188:txBody>
  </p188:cm>
</p188:cmLst>
</file>

<file path=ppt/comments/modernComment_121_A2A87D99.xml><?xml version="1.0" encoding="utf-8"?>
<p188:cmLst xmlns:a="http://schemas.openxmlformats.org/drawingml/2006/main" xmlns:r="http://schemas.openxmlformats.org/officeDocument/2006/relationships" xmlns:p188="http://schemas.microsoft.com/office/powerpoint/2018/8/main">
  <p188:cm id="{1116AC13-BC4B-814F-8C8E-E48D5E6F71FF}" authorId="{0EB2BCC7-BA44-2B2A-85DF-CDA8C59980A1}" status="resolved" created="2025-01-21T15:19:08.799" complete="100000">
    <ac:txMkLst xmlns:ac="http://schemas.microsoft.com/office/drawing/2013/main/command">
      <pc:docMk xmlns:pc="http://schemas.microsoft.com/office/powerpoint/2013/main/command"/>
      <pc:sldMk xmlns:pc="http://schemas.microsoft.com/office/powerpoint/2013/main/command" cId="2728951193" sldId="289"/>
      <ac:spMk id="3" creationId="{98A62BEC-E887-05EE-4B5E-7AB5538CDDA6}"/>
      <ac:txMk cp="13">
        <ac:context len="330" hash="2413673429"/>
      </ac:txMk>
    </ac:txMkLst>
    <p188:pos x="8195084" y="707339"/>
    <p188:txBody>
      <a:bodyPr/>
      <a:lstStyle/>
      <a:p>
        <a:r>
          <a:rPr lang="en-TW"/>
          <a:t>你文字中沒有提到，你說明時需要能夠說明 application business rule 跟 enterprise business rule 有什麼區別
</a:t>
        </a:r>
      </a:p>
    </p188:txBody>
  </p188:cm>
</p188:cmLst>
</file>

<file path=ppt/comments/modernComment_122_C2744EBE.xml><?xml version="1.0" encoding="utf-8"?>
<p188:cmLst xmlns:a="http://schemas.openxmlformats.org/drawingml/2006/main" xmlns:r="http://schemas.openxmlformats.org/officeDocument/2006/relationships" xmlns:p188="http://schemas.microsoft.com/office/powerpoint/2018/8/main">
  <p188:cm id="{326B19F1-7395-4243-BC90-165CE2961433}" authorId="{0EB2BCC7-BA44-2B2A-85DF-CDA8C59980A1}" status="resolved" created="2025-01-21T15:21:04.036" complete="100000">
    <ac:deMkLst xmlns:ac="http://schemas.microsoft.com/office/drawing/2013/main/command">
      <pc:docMk xmlns:pc="http://schemas.microsoft.com/office/powerpoint/2013/main/command"/>
      <pc:sldMk xmlns:pc="http://schemas.microsoft.com/office/powerpoint/2013/main/command" cId="3262402238" sldId="290"/>
      <ac:picMk id="9" creationId="{A93A9EE6-6FC0-D532-3378-78CEF5BD5908}"/>
    </ac:deMkLst>
    <p188:txBody>
      <a:bodyPr/>
      <a:lstStyle/>
      <a:p>
        <a:r>
          <a:rPr lang="en-TW"/>
          <a:t>為什麼是挑這個 Use Case？
這感覺重要性是在第三第四第五層以後的一個 use case，聽眾在讀你這個 use case 的時候需要先理解很多 context，才能看懂這段 code 是在幹麻。
在這個同時還要理解你所謂的 Layered Principle</a:t>
        </a:r>
      </a:p>
    </p188:txBody>
  </p188:cm>
  <p188:cm id="{7DE0E086-B5B2-904F-9443-E78766DACEB2}" authorId="{0EB2BCC7-BA44-2B2A-85DF-CDA8C59980A1}" status="resolved" created="2025-01-21T15:22:09.319" complete="100000">
    <ac:deMkLst xmlns:ac="http://schemas.microsoft.com/office/drawing/2013/main/command">
      <pc:docMk xmlns:pc="http://schemas.microsoft.com/office/powerpoint/2013/main/command"/>
      <pc:sldMk xmlns:pc="http://schemas.microsoft.com/office/powerpoint/2013/main/command" cId="3262402238" sldId="290"/>
      <ac:picMk id="9" creationId="{A93A9EE6-6FC0-D532-3378-78CEF5BD5908}"/>
    </ac:deMkLst>
    <p188:txBody>
      <a:bodyPr/>
      <a:lstStyle/>
      <a:p>
        <a:r>
          <a:rPr lang="en-TW"/>
          <a:t>另外，字實在太小了
你不需要跟 ezKanban 完全一樣，把所有的細節都呈現出來
盡量用最簡單的例子，讓人一看就能懂是在幹嘛的東西
然後用最簡短的內容，清楚地呈現給聽眾</a:t>
        </a:r>
      </a:p>
    </p188:txBody>
  </p188:cm>
</p188:cmLst>
</file>

<file path=ppt/comments/modernComment_123_BCABFA6C.xml><?xml version="1.0" encoding="utf-8"?>
<p188:cmLst xmlns:a="http://schemas.openxmlformats.org/drawingml/2006/main" xmlns:r="http://schemas.openxmlformats.org/officeDocument/2006/relationships" xmlns:p188="http://schemas.microsoft.com/office/powerpoint/2018/8/main">
  <p188:cm id="{548A9CDC-87E9-364F-9D1A-16E7471A1A44}" authorId="{0EB2BCC7-BA44-2B2A-85DF-CDA8C59980A1}" status="resolved" created="2025-01-21T15:17:45.608" complete="100000">
    <ac:deMkLst xmlns:ac="http://schemas.microsoft.com/office/drawing/2013/main/command">
      <pc:docMk xmlns:pc="http://schemas.microsoft.com/office/powerpoint/2013/main/command"/>
      <pc:sldMk xmlns:pc="http://schemas.microsoft.com/office/powerpoint/2013/main/command" cId="3165387372" sldId="291"/>
      <ac:picMk id="8" creationId="{E59D1D9C-8FCB-5DED-4C4E-CA4A4FF8ECD3}"/>
    </ac:deMkLst>
    <p188:txBody>
      <a:bodyPr/>
      <a:lstStyle/>
      <a:p>
        <a:r>
          <a:rPr lang="en-TW"/>
          <a:t>太小了，這沒人看得到，你應該自己重新畫過</a:t>
        </a:r>
      </a:p>
    </p188:txBody>
  </p188:cm>
</p188:cmLst>
</file>

<file path=ppt/comments/modernComment_125_67351454.xml><?xml version="1.0" encoding="utf-8"?>
<p188:cmLst xmlns:a="http://schemas.openxmlformats.org/drawingml/2006/main" xmlns:r="http://schemas.openxmlformats.org/officeDocument/2006/relationships" xmlns:p188="http://schemas.microsoft.com/office/powerpoint/2018/8/main">
  <p188:cm id="{FC6D9899-2262-E247-B278-701F7495188C}" authorId="{0EB2BCC7-BA44-2B2A-85DF-CDA8C59980A1}" status="resolved" created="2025-01-21T15:24:05.418" complete="100000">
    <ac:deMkLst xmlns:ac="http://schemas.microsoft.com/office/drawing/2013/main/command">
      <pc:docMk xmlns:pc="http://schemas.microsoft.com/office/powerpoint/2013/main/command"/>
      <pc:sldMk xmlns:pc="http://schemas.microsoft.com/office/powerpoint/2013/main/command" cId="1731531860" sldId="293"/>
      <ac:picMk id="10" creationId="{E17251AA-25E3-CBE2-0332-C56E1F673CD9}"/>
    </ac:deMkLst>
    <p188:txBody>
      <a:bodyPr/>
      <a:lstStyle/>
      <a:p>
        <a:r>
          <a:rPr lang="en-TW"/>
          <a:t>同第10張投影片</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773510F1-8AE8-2943-BE76-1CC3E099172E}"/>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kumimoji="0" sz="1300">
                <a:latin typeface="+mn-lt"/>
                <a:ea typeface="+mn-ea"/>
              </a:defRPr>
            </a:lvl1pPr>
          </a:lstStyle>
          <a:p>
            <a:pPr>
              <a:defRPr/>
            </a:pPr>
            <a:endParaRPr lang="zh-TW" altLang="en-US"/>
          </a:p>
        </p:txBody>
      </p:sp>
      <p:sp>
        <p:nvSpPr>
          <p:cNvPr id="4" name="頁尾版面配置區 3">
            <a:extLst>
              <a:ext uri="{FF2B5EF4-FFF2-40B4-BE49-F238E27FC236}">
                <a16:creationId xmlns:a16="http://schemas.microsoft.com/office/drawing/2014/main" id="{B04CFB7D-18F5-E84C-A05B-9A0B0FE5B1C5}"/>
              </a:ext>
            </a:extLst>
          </p:cNvPr>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kumimoji="0" sz="1300">
                <a:latin typeface="+mn-lt"/>
                <a:ea typeface="+mn-ea"/>
              </a:defRPr>
            </a:lvl1pPr>
          </a:lstStyle>
          <a:p>
            <a:pPr>
              <a:defRPr/>
            </a:pPr>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1E759A3-0E5A-3743-85D7-197A568D4A79}"/>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ea typeface="新細明體" charset="-120"/>
              </a:defRPr>
            </a:lvl1pPr>
          </a:lstStyle>
          <a:p>
            <a:pPr>
              <a:defRPr/>
            </a:pPr>
            <a:endParaRPr lang="zh-TW" altLang="en-US"/>
          </a:p>
        </p:txBody>
      </p:sp>
      <p:sp>
        <p:nvSpPr>
          <p:cNvPr id="3" name="日期版面配置區 2">
            <a:extLst>
              <a:ext uri="{FF2B5EF4-FFF2-40B4-BE49-F238E27FC236}">
                <a16:creationId xmlns:a16="http://schemas.microsoft.com/office/drawing/2014/main" id="{7BF9B35B-3E7C-C046-B431-B878F2FB5E40}"/>
              </a:ext>
            </a:extLst>
          </p:cNvPr>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ea typeface="新細明體" charset="-120"/>
              </a:defRPr>
            </a:lvl1pPr>
          </a:lstStyle>
          <a:p>
            <a:pPr>
              <a:defRPr/>
            </a:pPr>
            <a:fld id="{813B3F78-9AD1-7E42-BBA8-A48702909C03}" type="datetimeFigureOut">
              <a:rPr lang="zh-TW" altLang="en-US"/>
              <a:pPr>
                <a:defRPr/>
              </a:pPr>
              <a:t>2025/2/18</a:t>
            </a:fld>
            <a:endParaRPr lang="zh-TW" altLang="en-US"/>
          </a:p>
        </p:txBody>
      </p:sp>
      <p:sp>
        <p:nvSpPr>
          <p:cNvPr id="4" name="投影片圖像版面配置區 3">
            <a:extLst>
              <a:ext uri="{FF2B5EF4-FFF2-40B4-BE49-F238E27FC236}">
                <a16:creationId xmlns:a16="http://schemas.microsoft.com/office/drawing/2014/main" id="{53632CAF-4F0B-834F-A6D4-B7662DC514E1}"/>
              </a:ext>
            </a:extLst>
          </p:cNvPr>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pPr lvl="0"/>
            <a:endParaRPr lang="zh-TW" altLang="en-US" noProof="0"/>
          </a:p>
        </p:txBody>
      </p:sp>
      <p:sp>
        <p:nvSpPr>
          <p:cNvPr id="5" name="備忘稿版面配置區 4">
            <a:extLst>
              <a:ext uri="{FF2B5EF4-FFF2-40B4-BE49-F238E27FC236}">
                <a16:creationId xmlns:a16="http://schemas.microsoft.com/office/drawing/2014/main" id="{0C5B9BBA-B26F-AC4E-AEB9-999CA2B8A956}"/>
              </a:ext>
            </a:extLst>
          </p:cNvPr>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a:extLst>
              <a:ext uri="{FF2B5EF4-FFF2-40B4-BE49-F238E27FC236}">
                <a16:creationId xmlns:a16="http://schemas.microsoft.com/office/drawing/2014/main" id="{EFAB9033-8F48-4C42-B89C-AAB2F45C086A}"/>
              </a:ext>
            </a:extLst>
          </p:cNvPr>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ea typeface="新細明體" charset="-120"/>
              </a:defRPr>
            </a:lvl1pPr>
          </a:lstStyle>
          <a:p>
            <a:pPr>
              <a:defRPr/>
            </a:pPr>
            <a:endParaRPr lang="zh-TW" altLang="en-US"/>
          </a:p>
        </p:txBody>
      </p:sp>
      <p:sp>
        <p:nvSpPr>
          <p:cNvPr id="7" name="投影片編號版面配置區 6">
            <a:extLst>
              <a:ext uri="{FF2B5EF4-FFF2-40B4-BE49-F238E27FC236}">
                <a16:creationId xmlns:a16="http://schemas.microsoft.com/office/drawing/2014/main" id="{D64BCDAF-0B06-0B43-856C-A71F5361F0FD}"/>
              </a:ext>
            </a:extLst>
          </p:cNvPr>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73967E60-74AC-7544-A9E1-2DF949A6356E}" type="slidenum">
              <a:rPr lang="zh-TW" altLang="en-US"/>
              <a:pPr/>
              <a:t>‹#›</a:t>
            </a:fld>
            <a:endParaRPr lang="zh-TW"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Clean Architecture</a:t>
            </a:r>
            <a:r>
              <a:rPr lang="en-US" altLang="zh-TW" dirty="0"/>
              <a:t> </a:t>
            </a:r>
            <a:r>
              <a:rPr lang="zh-TW" altLang="en-US" dirty="0"/>
              <a:t>是由 </a:t>
            </a:r>
            <a:r>
              <a:rPr lang="en-US" altLang="zh-TW" dirty="0"/>
              <a:t>Robert C. Martin</a:t>
            </a:r>
            <a:r>
              <a:rPr lang="zh-TW" altLang="en-US" dirty="0"/>
              <a:t>（又稱 </a:t>
            </a:r>
            <a:r>
              <a:rPr lang="en-US" altLang="zh-TW" dirty="0"/>
              <a:t>Uncle Bob</a:t>
            </a:r>
            <a:r>
              <a:rPr lang="zh-TW" altLang="en-US" dirty="0"/>
              <a:t>）提出的一種軟體架構設計方式。</a:t>
            </a:r>
            <a:endParaRPr lang="en-US" altLang="zh-TW" dirty="0"/>
          </a:p>
          <a:p>
            <a:r>
              <a:rPr lang="zh-TW" altLang="en-US" dirty="0"/>
              <a:t>也是</a:t>
            </a:r>
            <a:r>
              <a:rPr lang="en-US" altLang="zh-TW" dirty="0" err="1"/>
              <a:t>ezkanban</a:t>
            </a:r>
            <a:r>
              <a:rPr lang="zh-TW" altLang="en-US" dirty="0"/>
              <a:t>在做分層架構套用的設計。</a:t>
            </a:r>
            <a:endParaRPr lang="en-US" altLang="zh-TW" dirty="0"/>
          </a:p>
          <a:p>
            <a:endParaRPr lang="en-US" altLang="zh-TW" dirty="0"/>
          </a:p>
          <a:p>
            <a:endParaRPr lang="en-US" altLang="zh-TW" dirty="0"/>
          </a:p>
          <a:p>
            <a:endParaRPr lang="en-US" altLang="zh-TW" dirty="0"/>
          </a:p>
          <a:p>
            <a:r>
              <a:rPr lang="zh-TW" altLang="en-US" dirty="0"/>
              <a:t>它的目的是要建立可維護性、可測試性與可擴展性的系統。其核心概念在於</a:t>
            </a:r>
            <a:r>
              <a:rPr lang="zh-TW" altLang="en-US" b="1" dirty="0"/>
              <a:t>分離關注點（</a:t>
            </a:r>
            <a:r>
              <a:rPr lang="en-US" altLang="zh-TW" b="1" dirty="0"/>
              <a:t>Separation of Concerns</a:t>
            </a:r>
            <a:r>
              <a:rPr lang="zh-TW" altLang="en-US" b="1" dirty="0"/>
              <a:t>）</a:t>
            </a:r>
            <a:r>
              <a:rPr lang="zh-TW" altLang="en-US" dirty="0"/>
              <a:t>，透過明確的分層結構來確保降低業務邏輯跟外部依賴（像是</a:t>
            </a:r>
            <a:r>
              <a:rPr lang="en-US" altLang="zh-TW" dirty="0"/>
              <a:t>DB</a:t>
            </a:r>
            <a:r>
              <a:rPr lang="zh-TW" altLang="en-US" dirty="0"/>
              <a:t>、</a:t>
            </a:r>
            <a:r>
              <a:rPr lang="en-US" altLang="zh-TW" dirty="0"/>
              <a:t>UI</a:t>
            </a:r>
            <a:r>
              <a:rPr lang="zh-TW" altLang="en-US" dirty="0"/>
              <a:t>或框架）之間的耦合性。那等一下會一一介紹這些概念。</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a:t>
            </a:fld>
            <a:endParaRPr lang="zh-TW" altLang="en-US"/>
          </a:p>
        </p:txBody>
      </p:sp>
    </p:spTree>
    <p:extLst>
      <p:ext uri="{BB962C8B-B14F-4D97-AF65-F5344CB8AC3E}">
        <p14:creationId xmlns:p14="http://schemas.microsoft.com/office/powerpoint/2010/main" val="103243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一開始會介紹軟體架構的定義</a:t>
            </a:r>
            <a:r>
              <a:rPr lang="en-US" altLang="zh-TW" dirty="0"/>
              <a:t>?</a:t>
            </a:r>
          </a:p>
          <a:p>
            <a:r>
              <a:rPr lang="zh-TW" altLang="en-US" dirty="0"/>
              <a:t>然後</a:t>
            </a:r>
            <a:r>
              <a:rPr lang="en-US" altLang="zh-TW" dirty="0"/>
              <a:t>Clean Architecture</a:t>
            </a:r>
            <a:r>
              <a:rPr lang="zh-TW" altLang="en-US" dirty="0"/>
              <a:t>大致上能用分層原則、相依性原則、跨層原則這三個原則來理解。</a:t>
            </a:r>
            <a:endParaRPr lang="en-US" altLang="zh-TW" dirty="0"/>
          </a:p>
          <a:p>
            <a:r>
              <a:rPr lang="zh-TW" altLang="en-US" dirty="0"/>
              <a:t>最後我會分析它的好處和壞處。</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2</a:t>
            </a:fld>
            <a:endParaRPr lang="zh-TW" altLang="en-US"/>
          </a:p>
        </p:txBody>
      </p:sp>
    </p:spTree>
    <p:extLst>
      <p:ext uri="{BB962C8B-B14F-4D97-AF65-F5344CB8AC3E}">
        <p14:creationId xmlns:p14="http://schemas.microsoft.com/office/powerpoint/2010/main" val="382225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Uncle bob</a:t>
            </a:r>
            <a:r>
              <a:rPr lang="zh-TW" altLang="en-US" dirty="0"/>
              <a:t>的</a:t>
            </a:r>
            <a:r>
              <a:rPr lang="en-US" altLang="zh-TW" dirty="0"/>
              <a:t>CA</a:t>
            </a:r>
            <a:r>
              <a:rPr lang="zh-TW" altLang="en-US" dirty="0"/>
              <a:t>這本書提到軟體系統的架構是建置系統者賦予系統的</a:t>
            </a:r>
            <a:r>
              <a:rPr lang="en-US" altLang="zh-TW" dirty="0"/>
              <a:t>Shape(</a:t>
            </a:r>
            <a:r>
              <a:rPr lang="zh-TW" altLang="en-US" dirty="0"/>
              <a:t>形狀</a:t>
            </a:r>
            <a:r>
              <a:rPr lang="en-US" altLang="zh-TW" dirty="0"/>
              <a:t>)</a:t>
            </a:r>
            <a:r>
              <a:rPr lang="zh-TW" altLang="en-US" dirty="0"/>
              <a:t>，這個</a:t>
            </a:r>
            <a:r>
              <a:rPr lang="en-US" altLang="zh-TW" dirty="0"/>
              <a:t>Shape</a:t>
            </a:r>
            <a:r>
              <a:rPr lang="zh-TW" altLang="en-US" dirty="0"/>
              <a:t>的形式是將該系統劃分為元件跟這些元件的布置方式跟這些元件之間的溝通方式。</a:t>
            </a:r>
            <a:endParaRPr lang="en-US" altLang="zh-TW" dirty="0"/>
          </a:p>
          <a:p>
            <a:endParaRPr lang="en-US" altLang="zh-TW" dirty="0"/>
          </a:p>
          <a:p>
            <a:r>
              <a:rPr lang="zh-TW" altLang="en-US" dirty="0"/>
              <a:t>他也提到</a:t>
            </a:r>
            <a:r>
              <a:rPr lang="en-US" altLang="zh-TW" dirty="0"/>
              <a:t>Shape</a:t>
            </a:r>
            <a:r>
              <a:rPr lang="zh-TW" altLang="en-US" dirty="0"/>
              <a:t>的目的是為了使軟體系統的開發、部署、運作、維護更便利。</a:t>
            </a:r>
            <a:endParaRPr lang="en-US" altLang="zh-TW" dirty="0"/>
          </a:p>
          <a:p>
            <a:endParaRPr lang="en-US" altLang="zh-TW" dirty="0"/>
          </a:p>
          <a:p>
            <a:r>
              <a:rPr lang="zh-TW" altLang="en-US" dirty="0"/>
              <a:t>開發</a:t>
            </a:r>
            <a:r>
              <a:rPr lang="en-US" altLang="zh-TW" dirty="0"/>
              <a:t>:</a:t>
            </a:r>
            <a:r>
              <a:rPr lang="zh-TW" altLang="en-US" dirty="0"/>
              <a:t> 因為一個難以開發的軟體系統不可能有一個又長又健康的生命週期，所以一個好的軟體架構應該使這個系統易於開發</a:t>
            </a:r>
            <a:r>
              <a:rPr lang="en-US" altLang="zh-TW" dirty="0"/>
              <a:t>(</a:t>
            </a:r>
            <a:r>
              <a:rPr lang="zh-TW" altLang="en-US" dirty="0"/>
              <a:t>對於開發團隊而言</a:t>
            </a:r>
            <a:r>
              <a:rPr lang="en-US" altLang="zh-TW" dirty="0"/>
              <a:t>)</a:t>
            </a:r>
            <a:r>
              <a:rPr lang="zh-TW" altLang="en-US" dirty="0"/>
              <a:t>。</a:t>
            </a:r>
            <a:endParaRPr lang="en-US" altLang="zh-TW" dirty="0"/>
          </a:p>
          <a:p>
            <a:r>
              <a:rPr lang="zh-TW" altLang="en-US" dirty="0"/>
              <a:t>部屬</a:t>
            </a:r>
            <a:r>
              <a:rPr lang="en-US" altLang="zh-TW" dirty="0"/>
              <a:t>:</a:t>
            </a:r>
            <a:r>
              <a:rPr lang="zh-TW" altLang="en-US" dirty="0"/>
              <a:t> 我們都知道軟體系統必須是可部署的，而且部署成本越高系統就越不實用。那我認為如果在開發初期很少考慮到部署策略可能會導致設計出易於開發但很難部署的架構。</a:t>
            </a:r>
            <a:r>
              <a:rPr lang="en-US" altLang="zh-TW" dirty="0"/>
              <a:t>Microservice</a:t>
            </a:r>
            <a:r>
              <a:rPr lang="zh-TW" altLang="en-US" dirty="0"/>
              <a:t>就是寫一個服務就包成一個</a:t>
            </a:r>
            <a:r>
              <a:rPr lang="en-US" altLang="zh-TW" dirty="0"/>
              <a:t>container</a:t>
            </a:r>
            <a:r>
              <a:rPr lang="zh-TW" altLang="en-US" dirty="0"/>
              <a:t>這樣很好開發，但要管理跟佈署這些</a:t>
            </a:r>
            <a:r>
              <a:rPr lang="en-US" altLang="zh-TW" dirty="0"/>
              <a:t>container</a:t>
            </a:r>
            <a:r>
              <a:rPr lang="zh-TW" altLang="en-US" dirty="0"/>
              <a:t>卻很複雜。</a:t>
            </a:r>
            <a:endParaRPr lang="en-US" altLang="zh-TW" dirty="0"/>
          </a:p>
          <a:p>
            <a:r>
              <a:rPr lang="zh-TW" altLang="en-US" dirty="0"/>
              <a:t>運行</a:t>
            </a:r>
            <a:r>
              <a:rPr lang="en-US" altLang="zh-TW" dirty="0"/>
              <a:t>:CA</a:t>
            </a:r>
            <a:r>
              <a:rPr lang="zh-TW" altLang="en-US" dirty="0"/>
              <a:t>裡面提到說大部分軟體架構的運行問題都可以透過投入更多的硬體資源解決。</a:t>
            </a:r>
            <a:endParaRPr lang="en-US" altLang="zh-TW" dirty="0"/>
          </a:p>
          <a:p>
            <a:r>
              <a:rPr lang="zh-TW" altLang="en-US" dirty="0"/>
              <a:t>維護</a:t>
            </a:r>
            <a:r>
              <a:rPr lang="en-US" altLang="zh-TW" dirty="0"/>
              <a:t>:</a:t>
            </a:r>
            <a:r>
              <a:rPr lang="zh-TW" altLang="en-US" dirty="0"/>
              <a:t> 我覺得一個沒有考慮到維護性的軟體架構會讓維護的成本很高，因為如果每次修</a:t>
            </a:r>
            <a:r>
              <a:rPr lang="en-US" altLang="zh-TW" dirty="0"/>
              <a:t>bug</a:t>
            </a:r>
            <a:r>
              <a:rPr lang="zh-TW" altLang="en-US" dirty="0"/>
              <a:t>或新增</a:t>
            </a:r>
            <a:r>
              <a:rPr lang="en-US" altLang="zh-TW" dirty="0"/>
              <a:t>feature</a:t>
            </a:r>
            <a:r>
              <a:rPr lang="zh-TW" altLang="en-US" dirty="0"/>
              <a:t>時都會牽一髮而動全身</a:t>
            </a:r>
            <a:r>
              <a:rPr lang="en-US" altLang="zh-TW" dirty="0"/>
              <a:t>(</a:t>
            </a:r>
            <a:r>
              <a:rPr lang="zh-TW" altLang="en-US" dirty="0"/>
              <a:t>整個系統</a:t>
            </a:r>
            <a:r>
              <a:rPr lang="en-US" altLang="zh-TW" dirty="0"/>
              <a:t>)</a:t>
            </a:r>
            <a:r>
              <a:rPr lang="zh-TW" altLang="en-US" dirty="0"/>
              <a:t>，那到最後會變成一坨軟體怪物。</a:t>
            </a:r>
            <a:endParaRPr lang="en-US" altLang="zh-TW"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3</a:t>
            </a:fld>
            <a:endParaRPr lang="zh-TW" altLang="en-US"/>
          </a:p>
        </p:txBody>
      </p:sp>
    </p:spTree>
    <p:extLst>
      <p:ext uri="{BB962C8B-B14F-4D97-AF65-F5344CB8AC3E}">
        <p14:creationId xmlns:p14="http://schemas.microsoft.com/office/powerpoint/2010/main" val="225496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TW" altLang="en-US" b="1" i="0" dirty="0">
                <a:solidFill>
                  <a:srgbClr val="646464"/>
                </a:solidFill>
                <a:effectLst/>
                <a:latin typeface="Arial" panose="020B0604020202020204" pitchFamily="34" charset="0"/>
              </a:rPr>
              <a:t>簡單來說軟體架構的目標可以分成以下兩點：</a:t>
            </a:r>
            <a:endParaRPr lang="zh-TW" altLang="en-US" b="0" i="0" dirty="0">
              <a:solidFill>
                <a:srgbClr val="646464"/>
              </a:solidFill>
              <a:effectLst/>
              <a:latin typeface="Arial" panose="020B0604020202020204" pitchFamily="34" charset="0"/>
            </a:endParaRPr>
          </a:p>
          <a:p>
            <a:pPr algn="l">
              <a:buFont typeface="Arial" panose="020B0604020202020204" pitchFamily="34" charset="0"/>
              <a:buNone/>
            </a:pPr>
            <a:r>
              <a:rPr lang="zh-TW" altLang="en-US" b="1" i="0" dirty="0">
                <a:solidFill>
                  <a:srgbClr val="646464"/>
                </a:solidFill>
                <a:effectLst/>
                <a:latin typeface="Arial" panose="020B0604020202020204" pitchFamily="34" charset="0"/>
              </a:rPr>
              <a:t>最小化軟體生命周期的總成本</a:t>
            </a:r>
            <a:endParaRPr lang="zh-TW" altLang="en-US" b="0" i="0" dirty="0">
              <a:solidFill>
                <a:srgbClr val="646464"/>
              </a:solidFill>
              <a:effectLst/>
              <a:latin typeface="Arial" panose="020B0604020202020204" pitchFamily="34" charset="0"/>
            </a:endParaRPr>
          </a:p>
          <a:p>
            <a:pPr algn="l">
              <a:buFont typeface="Arial" panose="020B0604020202020204" pitchFamily="34" charset="0"/>
              <a:buNone/>
            </a:pPr>
            <a:r>
              <a:rPr lang="zh-TW" altLang="en-US" b="1" i="0" dirty="0">
                <a:solidFill>
                  <a:srgbClr val="646464"/>
                </a:solidFill>
                <a:effectLst/>
                <a:latin typeface="Arial" panose="020B0604020202020204" pitchFamily="34" charset="0"/>
              </a:rPr>
              <a:t>最大化程式設計師的生產力</a:t>
            </a:r>
            <a:endParaRPr lang="zh-TW" altLang="en-US" b="0" i="0" dirty="0">
              <a:solidFill>
                <a:srgbClr val="646464"/>
              </a:solidFill>
              <a:effectLst/>
              <a:latin typeface="Arial" panose="020B0604020202020204" pitchFamily="34" charset="0"/>
            </a:endParaRPr>
          </a:p>
          <a:p>
            <a:endParaRPr lang="en-US" altLang="zh-TW" dirty="0"/>
          </a:p>
          <a:p>
            <a:r>
              <a:rPr lang="zh-TW" altLang="en-US" dirty="0"/>
              <a:t>這張圖想表達的是我們的軟體架構不應該是</a:t>
            </a:r>
            <a:r>
              <a:rPr lang="en-US" altLang="zh-TW" dirty="0"/>
              <a:t>A(</a:t>
            </a:r>
            <a:r>
              <a:rPr lang="zh-TW" altLang="en-US" dirty="0"/>
              <a:t>隨著時間增長軟體的</a:t>
            </a:r>
            <a:r>
              <a:rPr lang="en-US" altLang="zh-TW" dirty="0"/>
              <a:t>change cost</a:t>
            </a:r>
            <a:r>
              <a:rPr lang="zh-TW" altLang="en-US" dirty="0"/>
              <a:t>也成指數性增長</a:t>
            </a:r>
            <a:r>
              <a:rPr lang="en-US" altLang="zh-TW" dirty="0"/>
              <a:t>)</a:t>
            </a:r>
          </a:p>
          <a:p>
            <a:r>
              <a:rPr lang="zh-TW" altLang="en-US" dirty="0"/>
              <a:t>應該是</a:t>
            </a:r>
            <a:r>
              <a:rPr lang="en-US" altLang="zh-TW" dirty="0"/>
              <a:t>B</a:t>
            </a:r>
            <a:r>
              <a:rPr lang="zh-TW" altLang="en-US" dirty="0"/>
              <a:t>也就是</a:t>
            </a:r>
            <a:r>
              <a:rPr lang="en-US" altLang="zh-TW" dirty="0"/>
              <a:t>Change Cost</a:t>
            </a:r>
            <a:r>
              <a:rPr lang="zh-TW" altLang="en-US" dirty="0"/>
              <a:t>和時間無關，</a:t>
            </a:r>
            <a:r>
              <a:rPr lang="en-US" altLang="zh-TW" dirty="0"/>
              <a:t>Change Cost</a:t>
            </a:r>
            <a:r>
              <a:rPr lang="zh-TW" altLang="en-US" dirty="0"/>
              <a:t>應該是單純和要</a:t>
            </a:r>
            <a:r>
              <a:rPr lang="en-US" altLang="zh-TW" dirty="0"/>
              <a:t>Change</a:t>
            </a:r>
            <a:r>
              <a:rPr lang="zh-TW" altLang="en-US" dirty="0"/>
              <a:t>的</a:t>
            </a:r>
            <a:r>
              <a:rPr lang="en-US" altLang="zh-TW" dirty="0"/>
              <a:t>scope</a:t>
            </a:r>
            <a:r>
              <a:rPr lang="zh-TW" altLang="en-US" dirty="0"/>
              <a:t>有關。</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4</a:t>
            </a:fld>
            <a:endParaRPr lang="zh-TW" altLang="en-US"/>
          </a:p>
        </p:txBody>
      </p:sp>
    </p:spTree>
    <p:extLst>
      <p:ext uri="{BB962C8B-B14F-4D97-AF65-F5344CB8AC3E}">
        <p14:creationId xmlns:p14="http://schemas.microsoft.com/office/powerpoint/2010/main" val="65917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lnSpcReduction="10000"/>
          </a:bodyPr>
          <a:lstStyle/>
          <a:p>
            <a:r>
              <a:rPr lang="zh-TW" altLang="en-US" dirty="0"/>
              <a:t>這個是傳統的分層架構</a:t>
            </a:r>
            <a:br>
              <a:rPr lang="en-US" altLang="zh-TW" dirty="0"/>
            </a:br>
            <a:r>
              <a:rPr lang="zh-TW" altLang="en-US" b="1" dirty="0"/>
              <a:t>表示層（</a:t>
            </a:r>
            <a:r>
              <a:rPr lang="en-US" altLang="zh-TW" b="1" dirty="0"/>
              <a:t>Presentation Layer</a:t>
            </a:r>
            <a:r>
              <a:rPr lang="zh-TW" altLang="en-US" b="1" dirty="0"/>
              <a:t>）</a:t>
            </a:r>
            <a:r>
              <a:rPr lang="en-US" altLang="zh-TW" dirty="0"/>
              <a:t> → </a:t>
            </a:r>
            <a:r>
              <a:rPr lang="zh-TW" altLang="en-US" dirty="0"/>
              <a:t>負責 </a:t>
            </a:r>
            <a:r>
              <a:rPr lang="en-US" altLang="zh-TW" dirty="0"/>
              <a:t>UI </a:t>
            </a:r>
            <a:r>
              <a:rPr lang="zh-TW" altLang="en-US" dirty="0"/>
              <a:t>或 </a:t>
            </a:r>
            <a:r>
              <a:rPr lang="en-US" altLang="zh-TW" dirty="0"/>
              <a:t>API </a:t>
            </a:r>
            <a:r>
              <a:rPr lang="zh-TW" altLang="en-US" dirty="0"/>
              <a:t>回應，例如 </a:t>
            </a:r>
            <a:r>
              <a:rPr lang="en-US" altLang="zh-TW" dirty="0"/>
              <a:t>Controller</a:t>
            </a:r>
            <a:r>
              <a:rPr lang="zh-TW" altLang="en-US" dirty="0"/>
              <a:t>、前端頁面。</a:t>
            </a:r>
            <a:endParaRPr lang="en-US" altLang="zh-TW" dirty="0"/>
          </a:p>
          <a:p>
            <a:r>
              <a:rPr lang="zh-TW" altLang="en-US" b="1" dirty="0"/>
              <a:t>應用層（</a:t>
            </a:r>
            <a:r>
              <a:rPr lang="en-US" altLang="zh-TW" b="1" dirty="0"/>
              <a:t>Application Layer</a:t>
            </a:r>
            <a:r>
              <a:rPr lang="zh-TW" altLang="en-US" b="1" dirty="0"/>
              <a:t>）</a:t>
            </a:r>
            <a:r>
              <a:rPr lang="en-US" altLang="zh-TW" dirty="0"/>
              <a:t> → </a:t>
            </a:r>
            <a:r>
              <a:rPr lang="zh-TW" altLang="en-US" dirty="0"/>
              <a:t>負責業務流程，通常是 </a:t>
            </a:r>
            <a:r>
              <a:rPr lang="en-US" altLang="zh-TW" dirty="0"/>
              <a:t>Service</a:t>
            </a:r>
            <a:r>
              <a:rPr lang="zh-TW" altLang="en-US" dirty="0"/>
              <a:t>。</a:t>
            </a:r>
            <a:endParaRPr lang="en-US" altLang="zh-TW" dirty="0"/>
          </a:p>
          <a:p>
            <a:r>
              <a:rPr lang="zh-TW" altLang="en-US" b="1" dirty="0"/>
              <a:t>領域層（</a:t>
            </a:r>
            <a:r>
              <a:rPr lang="en-US" altLang="zh-TW" b="1" dirty="0"/>
              <a:t>Domain Layer</a:t>
            </a:r>
            <a:r>
              <a:rPr lang="zh-TW" altLang="en-US" b="1" dirty="0"/>
              <a:t>）</a:t>
            </a:r>
            <a:r>
              <a:rPr lang="en-US" altLang="zh-TW" dirty="0"/>
              <a:t> → </a:t>
            </a:r>
            <a:r>
              <a:rPr lang="zh-TW" altLang="en-US" dirty="0"/>
              <a:t>負責核心邏輯，例如商業規則、演算法。</a:t>
            </a:r>
            <a:endParaRPr lang="en-US" altLang="zh-TW" dirty="0"/>
          </a:p>
          <a:p>
            <a:r>
              <a:rPr lang="zh-TW" altLang="en-US" b="1" dirty="0"/>
              <a:t>持久層（</a:t>
            </a:r>
            <a:r>
              <a:rPr lang="en-US" altLang="zh-TW" b="1" dirty="0"/>
              <a:t>Persistence Layer</a:t>
            </a:r>
            <a:r>
              <a:rPr lang="zh-TW" altLang="en-US" b="1" dirty="0"/>
              <a:t>）</a:t>
            </a:r>
            <a:r>
              <a:rPr lang="en-US" altLang="zh-TW" dirty="0"/>
              <a:t> →</a:t>
            </a:r>
            <a:r>
              <a:rPr lang="zh-TW" altLang="en-US" dirty="0"/>
              <a:t>負責跟資料存取有關，像是</a:t>
            </a:r>
            <a:r>
              <a:rPr lang="en-US" altLang="zh-TW" dirty="0" err="1"/>
              <a:t>db</a:t>
            </a:r>
            <a:r>
              <a:rPr lang="zh-TW" altLang="en-US" dirty="0"/>
              <a:t>。</a:t>
            </a:r>
            <a:endParaRPr lang="en-US" altLang="zh-TW" dirty="0"/>
          </a:p>
          <a:p>
            <a:endParaRPr lang="en-US" altLang="zh-TW" dirty="0"/>
          </a:p>
          <a:p>
            <a:r>
              <a:rPr lang="zh-TW" altLang="en-US" dirty="0"/>
              <a:t>這個架構的問題在於它的主要依賴方向是由上到下。</a:t>
            </a:r>
            <a:endParaRPr lang="en-US" altLang="zh-TW" dirty="0"/>
          </a:p>
          <a:p>
            <a:r>
              <a:rPr lang="zh-TW" altLang="en-US" b="1" dirty="0"/>
              <a:t>所以高層的</a:t>
            </a:r>
            <a:r>
              <a:rPr lang="en-US" altLang="zh-TW" b="1" dirty="0"/>
              <a:t>Domain Layer</a:t>
            </a:r>
            <a:r>
              <a:rPr lang="zh-TW" altLang="en-US" b="1" dirty="0"/>
              <a:t>就會依賴低層的</a:t>
            </a:r>
            <a:r>
              <a:rPr lang="en-US" altLang="zh-TW" b="1" dirty="0"/>
              <a:t>Persistence Layer</a:t>
            </a:r>
            <a:r>
              <a:rPr lang="zh-TW" altLang="en-US" dirty="0"/>
              <a:t>。</a:t>
            </a:r>
            <a:endParaRPr lang="en-US" altLang="zh-TW" dirty="0"/>
          </a:p>
          <a:p>
            <a:endParaRPr lang="zh-TW" altLang="en-US" dirty="0"/>
          </a:p>
          <a:p>
            <a:r>
              <a:rPr lang="en-US" altLang="zh-TW" b="1" dirty="0"/>
              <a:t>Domain Layer</a:t>
            </a:r>
            <a:r>
              <a:rPr lang="zh-TW" altLang="en-US" dirty="0"/>
              <a:t> 負責的是核心的業務規則，應該是 </a:t>
            </a:r>
            <a:r>
              <a:rPr lang="zh-TW" altLang="en-US" b="1" dirty="0"/>
              <a:t>最通用（</a:t>
            </a:r>
            <a:r>
              <a:rPr lang="en-US" altLang="zh-TW" b="1" dirty="0"/>
              <a:t>General</a:t>
            </a:r>
            <a:r>
              <a:rPr lang="zh-TW" altLang="en-US" b="1" dirty="0"/>
              <a:t>）且最穩定</a:t>
            </a:r>
            <a:r>
              <a:rPr lang="zh-TW" altLang="en-US" dirty="0"/>
              <a:t> 的。</a:t>
            </a:r>
            <a:endParaRPr lang="en-US" altLang="zh-TW" dirty="0"/>
          </a:p>
          <a:p>
            <a:r>
              <a:rPr lang="en-US" altLang="zh-TW" dirty="0"/>
              <a:t>Generic</a:t>
            </a:r>
            <a:r>
              <a:rPr lang="zh-TW" altLang="en-US" dirty="0"/>
              <a:t>的意思是只要是開發這個領域的系統都要遵守的規則。</a:t>
            </a:r>
            <a:endParaRPr lang="en-US" altLang="zh-TW" dirty="0"/>
          </a:p>
          <a:p>
            <a:r>
              <a:rPr lang="zh-TW" altLang="en-US" dirty="0"/>
              <a:t>像是如果在銀行系統這個領域對於餘額不能為負這件事一定是每個銀行系統都要遵守的。</a:t>
            </a:r>
            <a:endParaRPr lang="en-US" altLang="zh-TW" dirty="0"/>
          </a:p>
          <a:p>
            <a:endParaRPr lang="en-US" altLang="zh-TW" dirty="0"/>
          </a:p>
          <a:p>
            <a:r>
              <a:rPr lang="zh-TW" altLang="en-US" b="1" dirty="0"/>
              <a:t>但</a:t>
            </a:r>
            <a:r>
              <a:rPr lang="en-US" altLang="zh-TW" b="1" dirty="0"/>
              <a:t>Persistence Layer</a:t>
            </a:r>
            <a:r>
              <a:rPr lang="zh-TW" altLang="en-US" dirty="0"/>
              <a:t>依賴的技術（像是 </a:t>
            </a:r>
            <a:r>
              <a:rPr lang="en-US" altLang="zh-TW" b="1" dirty="0"/>
              <a:t>Postgres</a:t>
            </a:r>
            <a:r>
              <a:rPr lang="zh-TW" altLang="en-US" b="1" dirty="0"/>
              <a:t>、</a:t>
            </a:r>
            <a:r>
              <a:rPr lang="en-US" altLang="zh-TW" b="1" dirty="0"/>
              <a:t>MongoDB</a:t>
            </a:r>
            <a:r>
              <a:rPr lang="zh-TW" altLang="en-US" b="1" dirty="0"/>
              <a:t>、</a:t>
            </a:r>
            <a:r>
              <a:rPr lang="en-US" altLang="zh-TW" b="1" dirty="0"/>
              <a:t>Kafka</a:t>
            </a:r>
            <a:r>
              <a:rPr lang="zh-TW" altLang="en-US" dirty="0"/>
              <a:t>）可能會因為需求或趨勢而改動。例如：</a:t>
            </a:r>
          </a:p>
          <a:p>
            <a:pPr>
              <a:buFont typeface="Arial" panose="020B0604020202020204" pitchFamily="34" charset="0"/>
              <a:buChar char="•"/>
            </a:pPr>
            <a:r>
              <a:rPr lang="en-US" altLang="zh-TW" b="1" dirty="0"/>
              <a:t>Postgres </a:t>
            </a:r>
            <a:r>
              <a:rPr lang="zh-TW" altLang="en-US" b="1" dirty="0"/>
              <a:t>可能會被 </a:t>
            </a:r>
            <a:r>
              <a:rPr lang="en-US" altLang="zh-TW" b="1" dirty="0"/>
              <a:t>MongoDB </a:t>
            </a:r>
            <a:r>
              <a:rPr lang="zh-TW" altLang="en-US" b="1" dirty="0"/>
              <a:t>取代</a:t>
            </a:r>
            <a:endParaRPr lang="zh-TW" altLang="en-US" dirty="0"/>
          </a:p>
          <a:p>
            <a:pPr>
              <a:buFont typeface="Arial" panose="020B0604020202020204" pitchFamily="34" charset="0"/>
              <a:buChar char="•"/>
            </a:pPr>
            <a:r>
              <a:rPr lang="en-US" altLang="zh-TW" b="1" dirty="0"/>
              <a:t>Kafka </a:t>
            </a:r>
            <a:r>
              <a:rPr lang="zh-TW" altLang="en-US" b="1" dirty="0"/>
              <a:t>若沒有公司維護，可能會換成其他</a:t>
            </a:r>
            <a:r>
              <a:rPr lang="en-US" altLang="zh-TW" b="1" dirty="0"/>
              <a:t>message queue</a:t>
            </a:r>
            <a:r>
              <a:rPr lang="zh-TW" altLang="en-US" b="1" dirty="0"/>
              <a:t>系統</a:t>
            </a:r>
            <a:r>
              <a:rPr lang="zh-TW" altLang="en-US" dirty="0"/>
              <a:t>。</a:t>
            </a:r>
          </a:p>
          <a:p>
            <a:r>
              <a:rPr lang="zh-TW" altLang="en-US" dirty="0"/>
              <a:t>所以如果 </a:t>
            </a:r>
            <a:r>
              <a:rPr lang="en-US" altLang="zh-TW" b="1" dirty="0"/>
              <a:t>Domain Layer </a:t>
            </a:r>
            <a:r>
              <a:rPr lang="zh-TW" altLang="en-US" b="1" dirty="0"/>
              <a:t>去依賴 </a:t>
            </a:r>
            <a:r>
              <a:rPr lang="en-US" altLang="zh-TW" b="1" dirty="0"/>
              <a:t>Persistence Layer</a:t>
            </a:r>
            <a:r>
              <a:rPr lang="zh-TW" altLang="en-US" dirty="0"/>
              <a:t>，那當我們更換資料庫或 </a:t>
            </a:r>
            <a:r>
              <a:rPr lang="en-US" altLang="zh-TW" dirty="0"/>
              <a:t>message queue</a:t>
            </a:r>
            <a:r>
              <a:rPr lang="zh-TW" altLang="en-US" dirty="0"/>
              <a:t>或</a:t>
            </a:r>
            <a:r>
              <a:rPr lang="en-US" altLang="zh-TW" dirty="0"/>
              <a:t>ORM </a:t>
            </a:r>
            <a:r>
              <a:rPr lang="zh-TW" altLang="en-US" dirty="0"/>
              <a:t>框架</a:t>
            </a:r>
            <a:r>
              <a:rPr lang="en-US" altLang="zh-TW" dirty="0"/>
              <a:t>(hibernate</a:t>
            </a:r>
            <a:r>
              <a:rPr lang="zh-TW" altLang="en-US" dirty="0"/>
              <a:t>之類的</a:t>
            </a:r>
            <a:r>
              <a:rPr lang="en-US" altLang="zh-TW" dirty="0"/>
              <a:t>)</a:t>
            </a:r>
            <a:r>
              <a:rPr lang="zh-TW" altLang="en-US" dirty="0"/>
              <a:t>時，就需要修改核心的業務邏輯，這會影響系統的穩定性跟可維護性。</a:t>
            </a:r>
          </a:p>
          <a:p>
            <a:endParaRPr lang="en-US" altLang="zh-TW" b="1"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5</a:t>
            </a:fld>
            <a:endParaRPr lang="zh-TW" altLang="en-US"/>
          </a:p>
        </p:txBody>
      </p:sp>
    </p:spTree>
    <p:extLst>
      <p:ext uri="{BB962C8B-B14F-4D97-AF65-F5344CB8AC3E}">
        <p14:creationId xmlns:p14="http://schemas.microsoft.com/office/powerpoint/2010/main" val="165426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363B1-B205-5C28-F48C-281FBC209C2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F2264C7-1744-54D0-71D7-0B8814A2D93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14EC703-DE55-2BFF-5051-8FB50C11DDA6}"/>
              </a:ext>
            </a:extLst>
          </p:cNvPr>
          <p:cNvSpPr>
            <a:spLocks noGrp="1"/>
          </p:cNvSpPr>
          <p:nvPr>
            <p:ph type="body" idx="1"/>
          </p:nvPr>
        </p:nvSpPr>
        <p:spPr/>
        <p:txBody>
          <a:bodyPr>
            <a:normAutofit lnSpcReduction="10000"/>
          </a:bodyPr>
          <a:lstStyle/>
          <a:p>
            <a:r>
              <a:rPr lang="en-US" altLang="zh-TW" dirty="0"/>
              <a:t>JPA</a:t>
            </a:r>
            <a:r>
              <a:rPr lang="zh-TW" altLang="en-US" dirty="0"/>
              <a:t>（</a:t>
            </a:r>
            <a:r>
              <a:rPr lang="en-US" altLang="zh-TW" dirty="0"/>
              <a:t>Java Persistence API</a:t>
            </a:r>
            <a:r>
              <a:rPr lang="zh-TW" altLang="en-US" dirty="0"/>
              <a:t>）是一種 </a:t>
            </a:r>
            <a:r>
              <a:rPr lang="en-US" altLang="zh-TW" b="1" dirty="0"/>
              <a:t>ORM</a:t>
            </a:r>
            <a:r>
              <a:rPr lang="zh-TW" altLang="en-US" b="1" dirty="0"/>
              <a:t>（物件關聯對應）規範</a:t>
            </a:r>
            <a:r>
              <a:rPr lang="zh-TW" altLang="en-US" dirty="0"/>
              <a:t>，用來讓 </a:t>
            </a:r>
            <a:r>
              <a:rPr lang="en-US" altLang="zh-TW" dirty="0"/>
              <a:t>Java </a:t>
            </a:r>
            <a:r>
              <a:rPr lang="zh-TW" altLang="en-US" dirty="0"/>
              <a:t>物件與資料庫之間進行映射，並</a:t>
            </a:r>
            <a:r>
              <a:rPr lang="zh-TW" altLang="en-US"/>
              <a:t>透過 </a:t>
            </a:r>
            <a:r>
              <a:rPr lang="zh-TW" altLang="en-US" b="1"/>
              <a:t>註解</a:t>
            </a:r>
            <a:r>
              <a:rPr lang="zh-TW" altLang="en-US"/>
              <a:t>來</a:t>
            </a:r>
            <a:r>
              <a:rPr lang="zh-TW" altLang="en-US" dirty="0"/>
              <a:t>操作資料庫，而不需要直接寫 </a:t>
            </a:r>
            <a:r>
              <a:rPr lang="en-US" altLang="zh-TW" dirty="0"/>
              <a:t>SQL</a:t>
            </a:r>
            <a:r>
              <a:rPr lang="zh-TW" altLang="en-US" dirty="0"/>
              <a:t>。</a:t>
            </a:r>
            <a:br>
              <a:rPr lang="en-US" altLang="zh-TW" dirty="0"/>
            </a:br>
            <a:r>
              <a:rPr lang="en-US" altLang="zh-TW" dirty="0"/>
              <a:t>@EntityJPA</a:t>
            </a:r>
            <a:r>
              <a:rPr lang="zh-TW" altLang="en-US" dirty="0"/>
              <a:t>定義該類為 </a:t>
            </a:r>
            <a:r>
              <a:rPr lang="en-US" altLang="zh-TW" dirty="0"/>
              <a:t>JPA </a:t>
            </a:r>
            <a:r>
              <a:rPr lang="zh-TW" altLang="en-US" b="1" dirty="0"/>
              <a:t>實體</a:t>
            </a:r>
            <a:r>
              <a:rPr lang="zh-TW" altLang="en-US" dirty="0"/>
              <a:t>（對應資料庫表）。</a:t>
            </a:r>
            <a:endParaRPr lang="en-US" altLang="zh-TW" dirty="0"/>
          </a:p>
          <a:p>
            <a:r>
              <a:rPr lang="en-US" altLang="zh-TW" dirty="0"/>
              <a:t>@Table(name = “[device]”)JPA</a:t>
            </a:r>
            <a:r>
              <a:rPr lang="zh-TW" altLang="en-US" dirty="0"/>
              <a:t>指定該實體對應的資料表</a:t>
            </a:r>
            <a:r>
              <a:rPr lang="en-US" altLang="zh-TW" dirty="0"/>
              <a:t>table</a:t>
            </a:r>
            <a:r>
              <a:rPr lang="zh-TW" altLang="en-US" dirty="0"/>
              <a:t>名稱（避免 </a:t>
            </a:r>
            <a:r>
              <a:rPr lang="en-US" altLang="zh-TW" dirty="0"/>
              <a:t>SQL </a:t>
            </a:r>
            <a:r>
              <a:rPr lang="zh-TW" altLang="en-US" dirty="0"/>
              <a:t>保留字衝突 </a:t>
            </a:r>
            <a:r>
              <a:rPr lang="en-US" altLang="zh-TW" dirty="0"/>
              <a:t>ex. SELECT, TABLE, ORDER, USER, DEVICE</a:t>
            </a:r>
            <a:r>
              <a:rPr lang="zh-TW" altLang="en-US" dirty="0"/>
              <a:t>）。</a:t>
            </a:r>
            <a:endParaRPr lang="en-US" altLang="zh-TW" dirty="0"/>
          </a:p>
          <a:p>
            <a:r>
              <a:rPr lang="en-US" altLang="zh-TW" dirty="0"/>
              <a:t>@GetterLombok</a:t>
            </a:r>
            <a:r>
              <a:rPr lang="zh-TW" altLang="en-US" dirty="0"/>
              <a:t>自動生成 </a:t>
            </a:r>
            <a:r>
              <a:rPr lang="en-US" altLang="zh-TW" b="1" dirty="0"/>
              <a:t>getter</a:t>
            </a:r>
            <a:r>
              <a:rPr lang="en-US" altLang="zh-TW" dirty="0"/>
              <a:t> </a:t>
            </a:r>
            <a:r>
              <a:rPr lang="zh-TW" altLang="en-US" dirty="0"/>
              <a:t>方法。</a:t>
            </a:r>
            <a:endParaRPr lang="en-US" altLang="zh-TW" dirty="0"/>
          </a:p>
          <a:p>
            <a:r>
              <a:rPr lang="en-US" altLang="zh-TW" dirty="0"/>
              <a:t>@SetterLombok</a:t>
            </a:r>
            <a:r>
              <a:rPr lang="zh-TW" altLang="en-US" dirty="0"/>
              <a:t>自動生成 </a:t>
            </a:r>
            <a:r>
              <a:rPr lang="en-US" altLang="zh-TW" b="1" dirty="0"/>
              <a:t>setter</a:t>
            </a:r>
            <a:r>
              <a:rPr lang="en-US" altLang="zh-TW" dirty="0"/>
              <a:t> </a:t>
            </a:r>
            <a:r>
              <a:rPr lang="zh-TW" altLang="en-US" dirty="0"/>
              <a:t>方法。</a:t>
            </a:r>
            <a:endParaRPr lang="en-US" altLang="zh-TW" dirty="0"/>
          </a:p>
          <a:p>
            <a:r>
              <a:rPr lang="en-US" altLang="zh-TW" dirty="0"/>
              <a:t>@AllArgsConstructorLombok</a:t>
            </a:r>
            <a:r>
              <a:rPr lang="zh-TW" altLang="en-US" dirty="0"/>
              <a:t>自動生成 </a:t>
            </a:r>
            <a:r>
              <a:rPr lang="zh-TW" altLang="en-US" b="1" dirty="0"/>
              <a:t>全參數建構子</a:t>
            </a:r>
            <a:r>
              <a:rPr lang="zh-TW" altLang="en-US" dirty="0"/>
              <a:t>。</a:t>
            </a:r>
            <a:endParaRPr lang="en-US" altLang="zh-TW" dirty="0"/>
          </a:p>
          <a:p>
            <a:r>
              <a:rPr lang="en-US" altLang="zh-TW" dirty="0"/>
              <a:t>@NoArgsConstructorLombok</a:t>
            </a:r>
            <a:r>
              <a:rPr lang="zh-TW" altLang="en-US" dirty="0"/>
              <a:t>自動生成 </a:t>
            </a:r>
            <a:r>
              <a:rPr lang="zh-TW" altLang="en-US" b="1" dirty="0"/>
              <a:t>無參數建構子</a:t>
            </a:r>
            <a:r>
              <a:rPr lang="zh-TW" altLang="en-US" dirty="0"/>
              <a:t>（</a:t>
            </a:r>
            <a:r>
              <a:rPr lang="en-US" altLang="zh-TW" dirty="0"/>
              <a:t>JPA </a:t>
            </a:r>
            <a:r>
              <a:rPr lang="zh-TW" altLang="en-US" dirty="0"/>
              <a:t>需要）。</a:t>
            </a:r>
            <a:endParaRPr lang="en-US" altLang="zh-TW" dirty="0"/>
          </a:p>
          <a:p>
            <a:r>
              <a:rPr lang="en-US" altLang="zh-TW" dirty="0"/>
              <a:t>@ToString</a:t>
            </a:r>
            <a:r>
              <a:rPr lang="zh-TW" altLang="en-US" dirty="0"/>
              <a:t> </a:t>
            </a:r>
            <a:r>
              <a:rPr lang="en-US" altLang="zh-TW" dirty="0"/>
              <a:t>Lombok</a:t>
            </a:r>
            <a:r>
              <a:rPr lang="zh-TW" altLang="en-US" dirty="0"/>
              <a:t>自動生成比較直覺的</a:t>
            </a:r>
            <a:r>
              <a:rPr lang="en-US" altLang="zh-TW" dirty="0" err="1"/>
              <a:t>toString</a:t>
            </a:r>
            <a:r>
              <a:rPr lang="en-US" altLang="zh-TW" dirty="0"/>
              <a:t>()</a:t>
            </a:r>
            <a:r>
              <a:rPr lang="zh-TW" altLang="en-US" dirty="0"/>
              <a:t>的實作去</a:t>
            </a:r>
            <a:r>
              <a:rPr lang="en-US" altLang="zh-TW" dirty="0"/>
              <a:t>override</a:t>
            </a:r>
            <a:r>
              <a:rPr lang="zh-TW" altLang="en-US" dirty="0"/>
              <a:t> </a:t>
            </a:r>
            <a:r>
              <a:rPr lang="en-US" altLang="zh-TW" dirty="0"/>
              <a:t>Object</a:t>
            </a:r>
            <a:r>
              <a:rPr lang="zh-TW" altLang="en-US" dirty="0"/>
              <a:t>的</a:t>
            </a:r>
            <a:r>
              <a:rPr lang="en-US" altLang="zh-TW" dirty="0" err="1"/>
              <a:t>ToString</a:t>
            </a:r>
            <a:r>
              <a:rPr lang="zh-TW" altLang="en-US" dirty="0"/>
              <a:t>。</a:t>
            </a:r>
            <a:endParaRPr lang="en-US" altLang="zh-TW" dirty="0"/>
          </a:p>
          <a:p>
            <a:r>
              <a:rPr lang="en-US" altLang="zh-TW" dirty="0"/>
              <a:t>@Schema(description = “…”, example = “…”)Swagger</a:t>
            </a:r>
            <a:r>
              <a:rPr lang="zh-TW" altLang="en-US" dirty="0"/>
              <a:t>記錄 </a:t>
            </a:r>
            <a:r>
              <a:rPr lang="en-US" altLang="zh-TW" dirty="0"/>
              <a:t>API </a:t>
            </a:r>
            <a:r>
              <a:rPr lang="zh-TW" altLang="en-US" dirty="0"/>
              <a:t>文件中的屬性描述與範例。</a:t>
            </a:r>
            <a:br>
              <a:rPr lang="en-US" altLang="zh-TW" dirty="0"/>
            </a:br>
            <a:r>
              <a:rPr lang="zh-TW" altLang="en-US" dirty="0"/>
              <a:t>這些標註主要是：</a:t>
            </a:r>
          </a:p>
          <a:p>
            <a:pPr>
              <a:buFont typeface="Arial" panose="020B0604020202020204" pitchFamily="34" charset="0"/>
              <a:buChar char="•"/>
            </a:pPr>
            <a:r>
              <a:rPr lang="en-US" altLang="zh-TW" b="1" dirty="0"/>
              <a:t>JPA</a:t>
            </a:r>
            <a:r>
              <a:rPr lang="zh-TW" altLang="en-US" dirty="0"/>
              <a:t>（負責 </a:t>
            </a:r>
            <a:r>
              <a:rPr lang="en-US" altLang="zh-TW" dirty="0"/>
              <a:t>ORM </a:t>
            </a:r>
            <a:r>
              <a:rPr lang="zh-TW" altLang="en-US" dirty="0"/>
              <a:t>資料庫映射）</a:t>
            </a:r>
          </a:p>
          <a:p>
            <a:pPr>
              <a:buFont typeface="Arial" panose="020B0604020202020204" pitchFamily="34" charset="0"/>
              <a:buChar char="•"/>
            </a:pPr>
            <a:r>
              <a:rPr lang="en-US" altLang="zh-TW" b="1" dirty="0"/>
              <a:t>Lombok</a:t>
            </a:r>
            <a:r>
              <a:rPr lang="zh-TW" altLang="en-US" dirty="0"/>
              <a:t>（減少樣板程式碼）</a:t>
            </a:r>
          </a:p>
          <a:p>
            <a:pPr>
              <a:buFont typeface="Arial" panose="020B0604020202020204" pitchFamily="34" charset="0"/>
              <a:buChar char="•"/>
            </a:pPr>
            <a:r>
              <a:rPr lang="en-US" altLang="zh-TW" b="1" dirty="0"/>
              <a:t>Swagger</a:t>
            </a:r>
            <a:r>
              <a:rPr lang="zh-TW" altLang="en-US" dirty="0"/>
              <a:t>（</a:t>
            </a:r>
            <a:r>
              <a:rPr lang="en-US" altLang="zh-TW" dirty="0"/>
              <a:t>API </a:t>
            </a:r>
            <a:r>
              <a:rPr lang="zh-TW" altLang="en-US" dirty="0"/>
              <a:t>文件描述）。對，</a:t>
            </a:r>
            <a:r>
              <a:rPr lang="en-US" altLang="zh-TW" b="1" dirty="0"/>
              <a:t>Swagger</a:t>
            </a:r>
            <a:r>
              <a:rPr lang="zh-TW" altLang="en-US" dirty="0"/>
              <a:t>（現在的正式名稱是 </a:t>
            </a:r>
            <a:r>
              <a:rPr lang="en-US" altLang="zh-TW" b="1" dirty="0" err="1"/>
              <a:t>OpenAPI</a:t>
            </a:r>
            <a:r>
              <a:rPr lang="zh-TW" altLang="en-US" dirty="0"/>
              <a:t>）是一種 </a:t>
            </a:r>
            <a:r>
              <a:rPr lang="en-US" altLang="zh-TW" b="1" dirty="0"/>
              <a:t>API </a:t>
            </a:r>
            <a:r>
              <a:rPr lang="zh-TW" altLang="en-US" b="1" dirty="0"/>
              <a:t>文件自動生成工具</a:t>
            </a:r>
            <a:r>
              <a:rPr lang="zh-TW" altLang="en-US" dirty="0"/>
              <a:t>，它透過在程式碼中加上註解，來自動產生 </a:t>
            </a:r>
            <a:r>
              <a:rPr lang="zh-TW" altLang="en-US" b="1" dirty="0"/>
              <a:t>互動式 </a:t>
            </a:r>
            <a:r>
              <a:rPr lang="en-US" altLang="zh-TW" b="1" dirty="0"/>
              <a:t>API </a:t>
            </a:r>
            <a:r>
              <a:rPr lang="zh-TW" altLang="en-US" b="1" dirty="0"/>
              <a:t>文件</a:t>
            </a:r>
            <a:r>
              <a:rPr lang="zh-TW" altLang="en-US" dirty="0"/>
              <a:t>，並顯示在 </a:t>
            </a:r>
            <a:r>
              <a:rPr lang="en-US" altLang="zh-TW" dirty="0"/>
              <a:t>HTML </a:t>
            </a:r>
            <a:r>
              <a:rPr lang="zh-TW" altLang="en-US" dirty="0"/>
              <a:t>頁面上，讓開發者可以直覺地測試和了解 </a:t>
            </a:r>
            <a:r>
              <a:rPr lang="en-US" altLang="zh-TW" dirty="0"/>
              <a:t>API</a:t>
            </a:r>
            <a:r>
              <a:rPr lang="zh-TW" altLang="en-US" dirty="0"/>
              <a:t>。</a:t>
            </a:r>
          </a:p>
          <a:p>
            <a:endParaRPr lang="en-US" altLang="zh-TW" b="1" dirty="0"/>
          </a:p>
        </p:txBody>
      </p:sp>
      <p:sp>
        <p:nvSpPr>
          <p:cNvPr id="4" name="投影片編號版面配置區 3">
            <a:extLst>
              <a:ext uri="{FF2B5EF4-FFF2-40B4-BE49-F238E27FC236}">
                <a16:creationId xmlns:a16="http://schemas.microsoft.com/office/drawing/2014/main" id="{26E2F6BF-A1D0-0851-39D2-BC7F8C2A1843}"/>
              </a:ext>
            </a:extLst>
          </p:cNvPr>
          <p:cNvSpPr>
            <a:spLocks noGrp="1"/>
          </p:cNvSpPr>
          <p:nvPr>
            <p:ph type="sldNum" sz="quarter" idx="5"/>
          </p:nvPr>
        </p:nvSpPr>
        <p:spPr/>
        <p:txBody>
          <a:bodyPr/>
          <a:lstStyle/>
          <a:p>
            <a:fld id="{73967E60-74AC-7544-A9E1-2DF949A6356E}" type="slidenum">
              <a:rPr lang="zh-TW" altLang="en-US" smtClean="0"/>
              <a:pPr/>
              <a:t>6</a:t>
            </a:fld>
            <a:endParaRPr lang="zh-TW" altLang="en-US"/>
          </a:p>
        </p:txBody>
      </p:sp>
    </p:spTree>
    <p:extLst>
      <p:ext uri="{BB962C8B-B14F-4D97-AF65-F5344CB8AC3E}">
        <p14:creationId xmlns:p14="http://schemas.microsoft.com/office/powerpoint/2010/main" val="2020498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這張圖其實就是表達離</a:t>
            </a:r>
            <a:r>
              <a:rPr lang="en-US" altLang="zh-TW" dirty="0"/>
              <a:t>io</a:t>
            </a:r>
            <a:r>
              <a:rPr lang="zh-TW" altLang="en-US" dirty="0"/>
              <a:t>層越遠的</a:t>
            </a:r>
            <a:r>
              <a:rPr lang="en-US" altLang="zh-TW" dirty="0"/>
              <a:t>Component</a:t>
            </a:r>
            <a:r>
              <a:rPr lang="zh-TW" altLang="en-US" dirty="0"/>
              <a:t>它的</a:t>
            </a:r>
            <a:r>
              <a:rPr lang="en-US" altLang="zh-TW" dirty="0"/>
              <a:t>level</a:t>
            </a:r>
            <a:r>
              <a:rPr lang="zh-TW" altLang="en-US" dirty="0"/>
              <a:t>越高</a:t>
            </a:r>
            <a:r>
              <a:rPr lang="en-US" altLang="zh-TW" dirty="0"/>
              <a:t>;</a:t>
            </a:r>
            <a:r>
              <a:rPr lang="zh-TW" altLang="en-US" dirty="0"/>
              <a:t>越近</a:t>
            </a:r>
            <a:r>
              <a:rPr lang="en-US" altLang="zh-TW" dirty="0"/>
              <a:t>level</a:t>
            </a:r>
            <a:r>
              <a:rPr lang="zh-TW" altLang="en-US" dirty="0"/>
              <a:t>就越低。</a:t>
            </a:r>
            <a:endParaRPr lang="en-US" altLang="zh-TW" dirty="0"/>
          </a:p>
          <a:p>
            <a:endParaRPr lang="en-US" altLang="zh-TW" dirty="0"/>
          </a:p>
          <a:p>
            <a:r>
              <a:rPr lang="en-US" altLang="zh-TW" dirty="0"/>
              <a:t>CA</a:t>
            </a:r>
            <a:r>
              <a:rPr lang="zh-TW" altLang="en-US" dirty="0"/>
              <a:t>總共分成四層，他們有各自的職責，最高</a:t>
            </a:r>
            <a:r>
              <a:rPr lang="en-US" altLang="zh-TW" dirty="0"/>
              <a:t>level</a:t>
            </a:r>
            <a:r>
              <a:rPr lang="zh-TW" altLang="en-US" dirty="0"/>
              <a:t>的</a:t>
            </a:r>
            <a:r>
              <a:rPr lang="en-US" altLang="zh-TW" dirty="0"/>
              <a:t>Entity</a:t>
            </a:r>
            <a:r>
              <a:rPr lang="zh-TW" altLang="en-US" dirty="0"/>
              <a:t>跟剛剛的</a:t>
            </a:r>
            <a:r>
              <a:rPr lang="en-US" altLang="zh-TW" dirty="0"/>
              <a:t>Domain Layer</a:t>
            </a:r>
            <a:r>
              <a:rPr lang="zh-TW" altLang="en-US" dirty="0"/>
              <a:t>一樣要是最少改動且最</a:t>
            </a:r>
            <a:r>
              <a:rPr lang="en-US" altLang="zh-TW" dirty="0"/>
              <a:t>general</a:t>
            </a:r>
            <a:r>
              <a:rPr lang="zh-TW" altLang="en-US" dirty="0"/>
              <a:t>。而最低</a:t>
            </a:r>
            <a:r>
              <a:rPr lang="en-US" altLang="zh-TW" dirty="0"/>
              <a:t>level</a:t>
            </a:r>
            <a:r>
              <a:rPr lang="zh-TW" altLang="en-US" dirty="0"/>
              <a:t>的層級要是最特定</a:t>
            </a:r>
            <a:r>
              <a:rPr lang="en-US" altLang="zh-TW" dirty="0"/>
              <a:t>(</a:t>
            </a:r>
            <a:r>
              <a:rPr lang="zh-TW" altLang="en-US" dirty="0"/>
              <a:t>就是這層的元件會和特定框架和</a:t>
            </a:r>
            <a:r>
              <a:rPr lang="en-US" altLang="zh-TW" dirty="0"/>
              <a:t>DB</a:t>
            </a:r>
            <a:r>
              <a:rPr lang="zh-TW" altLang="en-US" dirty="0"/>
              <a:t>耦合</a:t>
            </a:r>
            <a:r>
              <a:rPr lang="en-US" altLang="zh-TW" dirty="0"/>
              <a:t>)</a:t>
            </a:r>
            <a:r>
              <a:rPr lang="zh-TW" altLang="en-US" dirty="0"/>
              <a:t>還有它會是最常改動的一層</a:t>
            </a:r>
            <a:r>
              <a:rPr lang="en-US" altLang="zh-TW" dirty="0"/>
              <a:t>(</a:t>
            </a:r>
            <a:r>
              <a:rPr lang="zh-TW" altLang="en-US" dirty="0"/>
              <a:t>就專案需求更換</a:t>
            </a:r>
            <a:r>
              <a:rPr lang="en-US" altLang="zh-TW" dirty="0"/>
              <a:t>)</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7</a:t>
            </a:fld>
            <a:endParaRPr lang="zh-TW" altLang="en-US"/>
          </a:p>
        </p:txBody>
      </p:sp>
    </p:spTree>
    <p:extLst>
      <p:ext uri="{BB962C8B-B14F-4D97-AF65-F5344CB8AC3E}">
        <p14:creationId xmlns:p14="http://schemas.microsoft.com/office/powerpoint/2010/main" val="1946198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fontScale="70000" lnSpcReduction="20000"/>
          </a:bodyPr>
          <a:lstStyle/>
          <a:p>
            <a:r>
              <a:rPr lang="en-US" altLang="zh-TW" sz="1800" b="1" dirty="0">
                <a:solidFill>
                  <a:srgbClr val="FF0000"/>
                </a:solidFill>
              </a:rPr>
              <a:t>Business Rule</a:t>
            </a:r>
            <a:r>
              <a:rPr lang="zh-TW" altLang="en-US" sz="1800" dirty="0">
                <a:solidFill>
                  <a:srgbClr val="FF0000"/>
                </a:solidFill>
              </a:rPr>
              <a:t> </a:t>
            </a:r>
            <a:r>
              <a:rPr lang="zh-TW" altLang="en-US" sz="1800" dirty="0"/>
              <a:t>指的是能夠讓企業賺錢或省錢的規則或程序，無論這些規則是否透過程式實現，它們都影響企業的運作。</a:t>
            </a:r>
            <a:endParaRPr lang="en-US" altLang="zh-TW" sz="1800" dirty="0"/>
          </a:p>
          <a:p>
            <a:endParaRPr lang="en-US" altLang="zh-TW" sz="1800" dirty="0"/>
          </a:p>
          <a:p>
            <a:r>
              <a:rPr lang="en-US" altLang="zh-TW" sz="1800" b="1" dirty="0"/>
              <a:t>Critical Business Rules </a:t>
            </a:r>
            <a:r>
              <a:rPr lang="zh-TW" altLang="en-US" sz="1800" b="1" dirty="0"/>
              <a:t>是業務運作中重要的規則，這些規則如果被違反，可能會影響業務流程或導致錯誤。像是在</a:t>
            </a:r>
            <a:r>
              <a:rPr lang="en-US" altLang="zh-TW" sz="1800" b="1" dirty="0"/>
              <a:t>Kanban </a:t>
            </a:r>
            <a:r>
              <a:rPr lang="zh-TW" altLang="en-US" sz="1800" b="1" dirty="0"/>
              <a:t>系統中，每個 </a:t>
            </a:r>
            <a:r>
              <a:rPr lang="en-US" altLang="zh-TW" sz="1800" b="1" dirty="0"/>
              <a:t>Lane</a:t>
            </a:r>
            <a:r>
              <a:rPr lang="zh-TW" altLang="en-US" sz="1800" b="1" dirty="0"/>
              <a:t>的 </a:t>
            </a:r>
            <a:r>
              <a:rPr lang="en-US" altLang="zh-TW" sz="1800" b="1" dirty="0"/>
              <a:t>WIP</a:t>
            </a:r>
            <a:r>
              <a:rPr lang="zh-TW" altLang="en-US" sz="1800" b="1" dirty="0"/>
              <a:t>不能是負數，不然會沒辦法管理每個工作的工作量然後影響整個團隊的效率。</a:t>
            </a:r>
            <a:endParaRPr lang="en-US" altLang="zh-TW" sz="1800" b="1" dirty="0"/>
          </a:p>
          <a:p>
            <a:endParaRPr lang="zh-TW" altLang="en-US" sz="1800" dirty="0"/>
          </a:p>
          <a:p>
            <a:r>
              <a:rPr lang="en-US" altLang="zh-TW" sz="1800" b="1" dirty="0"/>
              <a:t>Critical Business Data</a:t>
            </a:r>
            <a:r>
              <a:rPr lang="zh-TW" altLang="en-US" sz="1800" dirty="0"/>
              <a:t> 指的是即便沒有自動化系統，這些資料依然存在且對業務運作重要。像是每個 </a:t>
            </a:r>
            <a:r>
              <a:rPr lang="en-US" altLang="zh-TW" sz="1800" dirty="0"/>
              <a:t>Lane </a:t>
            </a:r>
            <a:r>
              <a:rPr lang="zh-TW" altLang="en-US" sz="1800" dirty="0"/>
              <a:t>都需要有 </a:t>
            </a:r>
            <a:r>
              <a:rPr lang="en-US" altLang="zh-TW" sz="1800" dirty="0"/>
              <a:t>WIP Limit</a:t>
            </a:r>
            <a:r>
              <a:rPr lang="zh-TW" altLang="en-US" sz="1800" dirty="0"/>
              <a:t>這個資料，就算是紙本的</a:t>
            </a:r>
            <a:r>
              <a:rPr lang="en-US" altLang="zh-TW" sz="1800" dirty="0"/>
              <a:t>kanban</a:t>
            </a:r>
            <a:r>
              <a:rPr lang="zh-TW" altLang="en-US" sz="1800" dirty="0"/>
              <a:t>，也需要確保每個階段不會超載</a:t>
            </a:r>
            <a:r>
              <a:rPr lang="en-US" altLang="zh-TW" sz="1800" dirty="0"/>
              <a:t>(</a:t>
            </a:r>
            <a:r>
              <a:rPr lang="zh-TW" altLang="en-US" sz="1800" dirty="0"/>
              <a:t>維持工作的流暢度</a:t>
            </a:r>
            <a:r>
              <a:rPr lang="en-US" altLang="zh-TW" sz="1800" dirty="0"/>
              <a:t>)</a:t>
            </a:r>
            <a:r>
              <a:rPr lang="zh-TW" altLang="en-US" sz="1800" dirty="0"/>
              <a:t>。</a:t>
            </a:r>
            <a:endParaRPr lang="en-US" altLang="zh-TW" sz="1800" dirty="0"/>
          </a:p>
          <a:p>
            <a:endParaRPr lang="en-US" altLang="zh-TW" sz="1800" dirty="0"/>
          </a:p>
          <a:p>
            <a:r>
              <a:rPr lang="en-US" altLang="zh-TW" sz="1800" b="1" dirty="0"/>
              <a:t>Entities</a:t>
            </a:r>
            <a:r>
              <a:rPr lang="en-US" altLang="zh-TW" sz="1800" dirty="0"/>
              <a:t> </a:t>
            </a:r>
            <a:r>
              <a:rPr lang="zh-TW" altLang="en-US" sz="1800" dirty="0"/>
              <a:t>是封裝 </a:t>
            </a:r>
            <a:r>
              <a:rPr lang="en-US" altLang="zh-TW" sz="1800" b="1" dirty="0"/>
              <a:t>Critical Business Rules</a:t>
            </a:r>
            <a:r>
              <a:rPr lang="en-US" altLang="zh-TW" sz="1800" dirty="0"/>
              <a:t> </a:t>
            </a:r>
            <a:r>
              <a:rPr lang="zh-TW" altLang="en-US" sz="1800" dirty="0"/>
              <a:t>和 </a:t>
            </a:r>
            <a:r>
              <a:rPr lang="en-US" altLang="zh-TW" sz="1800" b="1" dirty="0"/>
              <a:t>Critical Business Data</a:t>
            </a:r>
            <a:r>
              <a:rPr lang="en-US" altLang="zh-TW" sz="1800" dirty="0"/>
              <a:t> </a:t>
            </a:r>
            <a:r>
              <a:rPr lang="zh-TW" altLang="en-US" sz="1800" dirty="0"/>
              <a:t>的物件，它們應該獨立於資料庫、第三方工具和 </a:t>
            </a:r>
            <a:r>
              <a:rPr lang="en-US" altLang="zh-TW" sz="1800" dirty="0"/>
              <a:t>UI</a:t>
            </a:r>
            <a:r>
              <a:rPr lang="zh-TW" altLang="en-US" sz="1800" dirty="0"/>
              <a:t>，才能確保業務邏輯夠乾淨。</a:t>
            </a:r>
            <a:endParaRPr lang="en-US" altLang="zh-TW" sz="1800" dirty="0"/>
          </a:p>
          <a:p>
            <a:r>
              <a:rPr lang="zh-TW" altLang="en-US" sz="1800" dirty="0"/>
              <a:t>這些 </a:t>
            </a:r>
            <a:r>
              <a:rPr lang="en-US" altLang="zh-TW" sz="1800" b="1" dirty="0"/>
              <a:t>Entities</a:t>
            </a:r>
            <a:r>
              <a:rPr lang="zh-TW" altLang="en-US" sz="1800" dirty="0"/>
              <a:t> 可以在企業內的多個應用中使用</a:t>
            </a:r>
            <a:r>
              <a:rPr lang="en-US" altLang="zh-TW" sz="1800" dirty="0"/>
              <a:t>(</a:t>
            </a:r>
            <a:r>
              <a:rPr lang="zh-TW" altLang="en-US" sz="1800" dirty="0"/>
              <a:t>也就是夠</a:t>
            </a:r>
            <a:r>
              <a:rPr lang="en-US" altLang="zh-TW" sz="1800" dirty="0"/>
              <a:t>General)</a:t>
            </a:r>
            <a:r>
              <a:rPr lang="zh-TW" altLang="en-US" sz="1800" dirty="0"/>
              <a:t>，確保不同系統對</a:t>
            </a:r>
            <a:r>
              <a:rPr lang="en-US" altLang="zh-TW" sz="1800" dirty="0"/>
              <a:t>Critical business rule</a:t>
            </a:r>
            <a:r>
              <a:rPr lang="zh-TW" altLang="en-US" sz="1800" dirty="0"/>
              <a:t>的解釋和執行方式保持一致。舉例來說，若 </a:t>
            </a:r>
            <a:r>
              <a:rPr lang="en-US" altLang="zh-TW" sz="1800" b="1" dirty="0"/>
              <a:t>Kanban </a:t>
            </a:r>
            <a:r>
              <a:rPr lang="zh-TW" altLang="en-US" sz="1800" b="1" dirty="0"/>
              <a:t>應用 </a:t>
            </a:r>
            <a:r>
              <a:rPr lang="en-US" altLang="zh-TW" sz="1800" b="1" dirty="0"/>
              <a:t>A</a:t>
            </a:r>
            <a:r>
              <a:rPr lang="zh-TW" altLang="en-US" sz="1800" dirty="0"/>
              <a:t> 和 </a:t>
            </a:r>
            <a:r>
              <a:rPr lang="en-US" altLang="zh-TW" sz="1800" b="1" dirty="0"/>
              <a:t>Kanban </a:t>
            </a:r>
            <a:r>
              <a:rPr lang="zh-TW" altLang="en-US" sz="1800" b="1" dirty="0"/>
              <a:t>應用 </a:t>
            </a:r>
            <a:r>
              <a:rPr lang="en-US" altLang="zh-TW" sz="1800" b="1" dirty="0"/>
              <a:t>B</a:t>
            </a:r>
            <a:r>
              <a:rPr lang="zh-TW" altLang="en-US" sz="1800" dirty="0"/>
              <a:t> 都需要 </a:t>
            </a:r>
            <a:r>
              <a:rPr lang="en-US" altLang="zh-TW" sz="1800" dirty="0"/>
              <a:t>WIP Limit</a:t>
            </a:r>
            <a:r>
              <a:rPr lang="zh-TW" altLang="en-US" sz="1800" dirty="0"/>
              <a:t>的規則，這個規則應該被封裝在 </a:t>
            </a:r>
            <a:r>
              <a:rPr lang="en-US" altLang="zh-TW" sz="1800" dirty="0"/>
              <a:t>Lane </a:t>
            </a:r>
            <a:r>
              <a:rPr lang="zh-TW" altLang="en-US" sz="1800" dirty="0"/>
              <a:t>這個 </a:t>
            </a:r>
            <a:r>
              <a:rPr lang="en-US" altLang="zh-TW" sz="1800" b="1" dirty="0"/>
              <a:t>Entity</a:t>
            </a:r>
            <a:r>
              <a:rPr lang="zh-TW" altLang="en-US" sz="1800" dirty="0"/>
              <a:t> 中，讓不同應用都能重複使用這些</a:t>
            </a:r>
            <a:r>
              <a:rPr lang="en-US" altLang="zh-TW" sz="1800" dirty="0"/>
              <a:t>critical rule</a:t>
            </a:r>
            <a:r>
              <a:rPr lang="zh-TW" altLang="en-US" sz="1800" dirty="0"/>
              <a:t>，而不是在不同應用裡面各自實作。</a:t>
            </a:r>
            <a:endParaRPr lang="en-US" altLang="zh-TW" sz="1800" dirty="0"/>
          </a:p>
          <a:p>
            <a:endParaRPr lang="en-US" altLang="zh-TW" sz="1800" dirty="0"/>
          </a:p>
          <a:p>
            <a:r>
              <a:rPr lang="en-US" altLang="zh-TW" sz="2800" b="0" i="0" dirty="0">
                <a:solidFill>
                  <a:srgbClr val="646464"/>
                </a:solidFill>
                <a:effectLst/>
                <a:latin typeface="Arial" panose="020B0604020202020204" pitchFamily="34" charset="0"/>
              </a:rPr>
              <a:t>Entities</a:t>
            </a:r>
            <a:r>
              <a:rPr lang="zh-TW" altLang="en-US" sz="2800" b="0" i="0" dirty="0">
                <a:solidFill>
                  <a:srgbClr val="646464"/>
                </a:solidFill>
                <a:effectLst/>
                <a:latin typeface="Arial" panose="020B0604020202020204" pitchFamily="34" charset="0"/>
              </a:rPr>
              <a:t>這一層存放著</a:t>
            </a:r>
            <a:r>
              <a:rPr lang="zh-TW" altLang="en-US" sz="2800" b="1" i="0" dirty="0">
                <a:solidFill>
                  <a:srgbClr val="646464"/>
                </a:solidFill>
                <a:effectLst/>
                <a:latin typeface="Arial" panose="020B0604020202020204" pitchFamily="34" charset="0"/>
              </a:rPr>
              <a:t>核心商業邏輯</a:t>
            </a:r>
            <a:r>
              <a:rPr lang="zh-TW" altLang="en-US" sz="2800" b="0" i="0" dirty="0">
                <a:solidFill>
                  <a:srgbClr val="646464"/>
                </a:solidFill>
                <a:effectLst/>
                <a:latin typeface="Arial" panose="020B0604020202020204" pitchFamily="34" charset="0"/>
              </a:rPr>
              <a:t>，也就是在這個領域中，不同應用程式都用得到的物件。</a:t>
            </a:r>
            <a:endParaRPr lang="zh-TW" altLang="en-US" sz="1800" dirty="0"/>
          </a:p>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8</a:t>
            </a:fld>
            <a:endParaRPr lang="zh-TW" altLang="en-US"/>
          </a:p>
        </p:txBody>
      </p:sp>
    </p:spTree>
    <p:extLst>
      <p:ext uri="{BB962C8B-B14F-4D97-AF65-F5344CB8AC3E}">
        <p14:creationId xmlns:p14="http://schemas.microsoft.com/office/powerpoint/2010/main" val="39043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a:t>
            </a:r>
            <a:r>
              <a:rPr lang="en-US" altLang="zh-TW" dirty="0"/>
              <a:t>Entity</a:t>
            </a:r>
            <a:r>
              <a:rPr lang="zh-TW" altLang="en-US" dirty="0"/>
              <a:t>層就是放</a:t>
            </a:r>
            <a:r>
              <a:rPr lang="en-US" altLang="zh-TW" dirty="0"/>
              <a:t>Domain model</a:t>
            </a:r>
            <a:r>
              <a:rPr lang="zh-TW" altLang="en-US" dirty="0"/>
              <a:t>的地方，這裡是</a:t>
            </a:r>
            <a:r>
              <a:rPr lang="en-US" altLang="zh-TW" dirty="0" err="1"/>
              <a:t>ezKanban</a:t>
            </a:r>
            <a:r>
              <a:rPr lang="zh-TW" altLang="en-US" dirty="0"/>
              <a:t>有關</a:t>
            </a:r>
            <a:r>
              <a:rPr lang="en-US" altLang="zh-TW" dirty="0"/>
              <a:t>Board</a:t>
            </a:r>
            <a:r>
              <a:rPr lang="zh-TW" altLang="en-US" dirty="0"/>
              <a:t>的</a:t>
            </a:r>
            <a:r>
              <a:rPr lang="en-US" altLang="zh-TW" dirty="0"/>
              <a:t>Domain Model</a:t>
            </a:r>
            <a:r>
              <a:rPr lang="zh-TW" altLang="en-US" dirty="0"/>
              <a:t>。</a:t>
            </a:r>
            <a:endParaRPr lang="en-US" altLang="zh-TW"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9</a:t>
            </a:fld>
            <a:endParaRPr lang="zh-TW" altLang="en-US"/>
          </a:p>
        </p:txBody>
      </p:sp>
    </p:spTree>
    <p:extLst>
      <p:ext uri="{BB962C8B-B14F-4D97-AF65-F5344CB8AC3E}">
        <p14:creationId xmlns:p14="http://schemas.microsoft.com/office/powerpoint/2010/main" val="3821805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dirty="0">
                <a:solidFill>
                  <a:srgbClr val="FF0000"/>
                </a:solidFill>
                <a:effectLst/>
                <a:latin typeface="PT Sans" panose="020B0503020203020204" pitchFamily="34" charset="0"/>
              </a:rPr>
              <a:t>application specific business rules</a:t>
            </a:r>
            <a:r>
              <a:rPr lang="zh-TW" altLang="en-US" dirty="0"/>
              <a:t>意思是只適用於某個特定應用的業務規則，</a:t>
            </a:r>
            <a:endParaRPr lang="en-US" altLang="zh-TW" dirty="0"/>
          </a:p>
          <a:p>
            <a:r>
              <a:rPr lang="zh-TW" altLang="en-US" dirty="0"/>
              <a:t>像是在</a:t>
            </a:r>
            <a:r>
              <a:rPr lang="en-US" altLang="zh-TW" dirty="0" err="1"/>
              <a:t>ezkanban</a:t>
            </a:r>
            <a:r>
              <a:rPr lang="zh-TW" altLang="en-US" dirty="0"/>
              <a:t>的</a:t>
            </a:r>
            <a:r>
              <a:rPr lang="en-US" altLang="zh-TW" dirty="0" err="1"/>
              <a:t>SetWipLimitUseCase</a:t>
            </a:r>
            <a:r>
              <a:rPr lang="zh-TW" altLang="en-US" dirty="0"/>
              <a:t>例子中，它就單純只是</a:t>
            </a:r>
            <a:r>
              <a:rPr lang="en-US" altLang="zh-TW" dirty="0" err="1"/>
              <a:t>setWipLimit</a:t>
            </a:r>
            <a:r>
              <a:rPr lang="zh-TW" altLang="en-US" dirty="0"/>
              <a:t>，但是其他實作</a:t>
            </a:r>
            <a:r>
              <a:rPr lang="en-US" altLang="zh-TW" dirty="0"/>
              <a:t>kanban</a:t>
            </a:r>
            <a:r>
              <a:rPr lang="zh-TW" altLang="en-US" dirty="0"/>
              <a:t>的系統可以在他們的</a:t>
            </a:r>
            <a:r>
              <a:rPr lang="en-US" altLang="zh-TW" dirty="0" err="1"/>
              <a:t>SetWipLimitUseCase</a:t>
            </a:r>
            <a:r>
              <a:rPr lang="zh-TW" altLang="en-US" dirty="0"/>
              <a:t>的邏輯加入只有</a:t>
            </a:r>
            <a:r>
              <a:rPr lang="en-US" altLang="zh-TW" dirty="0"/>
              <a:t>board</a:t>
            </a:r>
            <a:r>
              <a:rPr lang="zh-TW" altLang="en-US" dirty="0"/>
              <a:t>的管理者才能設定每個</a:t>
            </a:r>
            <a:r>
              <a:rPr lang="en-US" altLang="zh-TW" dirty="0"/>
              <a:t>Lane</a:t>
            </a:r>
            <a:r>
              <a:rPr lang="zh-TW" altLang="en-US" dirty="0"/>
              <a:t>的</a:t>
            </a:r>
            <a:r>
              <a:rPr lang="en-US" altLang="zh-TW" dirty="0" err="1"/>
              <a:t>wipLimit</a:t>
            </a:r>
            <a:r>
              <a:rPr lang="zh-TW" altLang="en-US" dirty="0"/>
              <a:t>之類的，這些規則只會在特定的</a:t>
            </a:r>
            <a:r>
              <a:rPr lang="en-US" altLang="zh-TW" dirty="0"/>
              <a:t>application</a:t>
            </a:r>
            <a:r>
              <a:rPr lang="zh-TW" altLang="en-US" dirty="0"/>
              <a:t>適用。</a:t>
            </a:r>
            <a:endParaRPr lang="en-US" altLang="zh-TW" dirty="0"/>
          </a:p>
          <a:p>
            <a:endParaRPr lang="en-US" altLang="zh-TW" dirty="0"/>
          </a:p>
          <a:p>
            <a:r>
              <a:rPr lang="zh-TW" altLang="en-US" dirty="0"/>
              <a:t>那</a:t>
            </a:r>
            <a:r>
              <a:rPr lang="en-US" altLang="zh-TW" dirty="0" err="1"/>
              <a:t>UseCase</a:t>
            </a:r>
            <a:r>
              <a:rPr lang="zh-TW" altLang="en-US" dirty="0"/>
              <a:t>也會協調</a:t>
            </a:r>
            <a:r>
              <a:rPr lang="en-US" altLang="zh-TW" dirty="0"/>
              <a:t>Entity</a:t>
            </a:r>
            <a:r>
              <a:rPr lang="zh-TW" altLang="en-US" dirty="0"/>
              <a:t>的</a:t>
            </a:r>
            <a:r>
              <a:rPr lang="en-US" altLang="zh-TW" dirty="0"/>
              <a:t>data flow</a:t>
            </a:r>
            <a:r>
              <a:rPr lang="zh-TW" altLang="en-US" dirty="0"/>
              <a:t>的進出和執行</a:t>
            </a:r>
            <a:r>
              <a:rPr lang="en-US" altLang="zh-TW" dirty="0"/>
              <a:t>Entity</a:t>
            </a:r>
            <a:r>
              <a:rPr lang="zh-TW" altLang="en-US" dirty="0"/>
              <a:t>的</a:t>
            </a:r>
            <a:r>
              <a:rPr lang="en-US" altLang="zh-TW" dirty="0"/>
              <a:t>Critical Business Rules(</a:t>
            </a:r>
            <a:r>
              <a:rPr lang="zh-TW" altLang="en-US" dirty="0"/>
              <a:t>後面有例子</a:t>
            </a:r>
            <a:r>
              <a:rPr lang="en-US" altLang="zh-TW" dirty="0"/>
              <a:t>)</a:t>
            </a:r>
            <a:r>
              <a:rPr lang="zh-TW" altLang="en-US" dirty="0"/>
              <a:t>。</a:t>
            </a:r>
            <a:endParaRPr lang="en-US" altLang="zh-TW" dirty="0"/>
          </a:p>
          <a:p>
            <a:endParaRPr lang="en-US" altLang="zh-TW" dirty="0"/>
          </a:p>
          <a:p>
            <a:r>
              <a:rPr lang="zh-TW" altLang="en-US" b="0" i="0" dirty="0">
                <a:solidFill>
                  <a:srgbClr val="646464"/>
                </a:solidFill>
                <a:effectLst/>
                <a:latin typeface="Arial" panose="020B0604020202020204" pitchFamily="34" charset="0"/>
              </a:rPr>
              <a:t>所以</a:t>
            </a:r>
            <a:r>
              <a:rPr lang="en-US" altLang="zh-TW" b="0" i="0" dirty="0">
                <a:solidFill>
                  <a:srgbClr val="646464"/>
                </a:solidFill>
                <a:effectLst/>
                <a:latin typeface="Arial" panose="020B0604020202020204" pitchFamily="34" charset="0"/>
              </a:rPr>
              <a:t>Use Cases</a:t>
            </a:r>
            <a:r>
              <a:rPr lang="zh-TW" altLang="en-US" b="0" i="0" dirty="0">
                <a:solidFill>
                  <a:srgbClr val="646464"/>
                </a:solidFill>
                <a:effectLst/>
                <a:latin typeface="Arial" panose="020B0604020202020204" pitchFamily="34" charset="0"/>
              </a:rPr>
              <a:t>就是代表應用程式邏輯，也就是應用程式的功能。</a:t>
            </a:r>
            <a:endParaRPr lang="en-US" altLang="zh-TW" b="0" i="0" dirty="0">
              <a:solidFill>
                <a:srgbClr val="646464"/>
              </a:solidFill>
              <a:effectLst/>
              <a:latin typeface="Arial" panose="020B0604020202020204" pitchFamily="34" charset="0"/>
            </a:endParaRPr>
          </a:p>
          <a:p>
            <a:endParaRPr lang="en-US" altLang="zh-TW" b="0" i="0" dirty="0">
              <a:solidFill>
                <a:srgbClr val="646464"/>
              </a:solidFill>
              <a:effectLst/>
              <a:latin typeface="Arial" panose="020B0604020202020204" pitchFamily="34" charset="0"/>
            </a:endParaRP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10</a:t>
            </a:fld>
            <a:endParaRPr lang="zh-TW" altLang="en-US"/>
          </a:p>
        </p:txBody>
      </p:sp>
    </p:spTree>
    <p:extLst>
      <p:ext uri="{BB962C8B-B14F-4D97-AF65-F5344CB8AC3E}">
        <p14:creationId xmlns:p14="http://schemas.microsoft.com/office/powerpoint/2010/main" val="767287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Use Case</a:t>
            </a:r>
            <a:r>
              <a:rPr lang="zh-TW" altLang="en-US" dirty="0"/>
              <a:t>負責協調資料進出，以</a:t>
            </a:r>
            <a:r>
              <a:rPr lang="en-US" altLang="zh-TW" dirty="0" err="1"/>
              <a:t>SetWipLimitUseCase</a:t>
            </a:r>
            <a:r>
              <a:rPr lang="zh-TW" altLang="en-US" dirty="0"/>
              <a:t>為例就是利用呼叫</a:t>
            </a:r>
            <a:r>
              <a:rPr lang="en-US" altLang="zh-TW" dirty="0" err="1"/>
              <a:t>workflowRepository</a:t>
            </a:r>
            <a:r>
              <a:rPr lang="zh-TW" altLang="en-US" dirty="0"/>
              <a:t>的</a:t>
            </a:r>
            <a:r>
              <a:rPr lang="en-US" altLang="zh-TW" dirty="0" err="1"/>
              <a:t>findById</a:t>
            </a:r>
            <a:r>
              <a:rPr lang="zh-TW" altLang="en-US" dirty="0"/>
              <a:t>和</a:t>
            </a:r>
            <a:r>
              <a:rPr lang="en-US" altLang="zh-TW" dirty="0"/>
              <a:t>save</a:t>
            </a:r>
            <a:r>
              <a:rPr lang="zh-TW" altLang="en-US" dirty="0"/>
              <a:t>來調用</a:t>
            </a:r>
            <a:r>
              <a:rPr lang="en-US" altLang="zh-TW" dirty="0"/>
              <a:t>Entity</a:t>
            </a:r>
            <a:r>
              <a:rPr lang="zh-TW" altLang="en-US" dirty="0"/>
              <a:t>處理業務邏輯。</a:t>
            </a:r>
            <a:endParaRPr lang="en-US" altLang="zh-TW" dirty="0"/>
          </a:p>
          <a:p>
            <a:r>
              <a:rPr lang="zh-TW" altLang="en-US" dirty="0"/>
              <a:t>且透過 </a:t>
            </a:r>
            <a:r>
              <a:rPr lang="en-US" altLang="zh-TW" dirty="0"/>
              <a:t>Entities </a:t>
            </a:r>
            <a:r>
              <a:rPr lang="zh-TW" altLang="en-US" dirty="0"/>
              <a:t>執行關鍵業務規則，這個例子是</a:t>
            </a:r>
            <a:r>
              <a:rPr lang="en-US" altLang="zh-TW" dirty="0" err="1"/>
              <a:t>useCase</a:t>
            </a:r>
            <a:r>
              <a:rPr lang="zh-TW" altLang="en-US" dirty="0"/>
              <a:t>去呼叫</a:t>
            </a:r>
            <a:r>
              <a:rPr lang="en-US" altLang="zh-TW" dirty="0"/>
              <a:t>workflow. </a:t>
            </a:r>
            <a:r>
              <a:rPr lang="en-US" altLang="zh-TW" dirty="0" err="1"/>
              <a:t>setLaneWipLimit</a:t>
            </a:r>
            <a:r>
              <a:rPr lang="zh-TW" altLang="en-US" dirty="0"/>
              <a:t>。</a:t>
            </a:r>
            <a:endParaRPr lang="en-US" altLang="zh-TW" dirty="0"/>
          </a:p>
          <a:p>
            <a:r>
              <a:rPr lang="zh-TW" altLang="en-US" dirty="0"/>
              <a:t>從這個例子可以知道</a:t>
            </a:r>
            <a:r>
              <a:rPr lang="en-US" altLang="zh-TW" b="1" dirty="0"/>
              <a:t>Use Case </a:t>
            </a:r>
            <a:r>
              <a:rPr lang="zh-TW" altLang="en-US" b="1" dirty="0"/>
              <a:t>的職責是「協調」資料流和操作</a:t>
            </a:r>
            <a:r>
              <a:rPr lang="en-US" altLang="zh-TW" b="1" dirty="0"/>
              <a:t>Entity</a:t>
            </a:r>
            <a:r>
              <a:rPr lang="zh-TW" altLang="en-US" b="1" dirty="0"/>
              <a:t>，而 </a:t>
            </a:r>
            <a:r>
              <a:rPr lang="en-US" altLang="zh-TW" b="1" dirty="0"/>
              <a:t>Entity </a:t>
            </a:r>
            <a:r>
              <a:rPr lang="zh-TW" altLang="en-US" b="1" dirty="0"/>
              <a:t>的職責是「封裝關鍵業務規則」</a:t>
            </a:r>
            <a:r>
              <a:rPr lang="zh-TW" altLang="en-US" dirty="0"/>
              <a:t>。</a:t>
            </a:r>
            <a:br>
              <a:rPr lang="zh-TW" altLang="en-US" dirty="0"/>
            </a:br>
            <a:r>
              <a:rPr lang="zh-TW" altLang="en-US" dirty="0"/>
              <a:t>所以：</a:t>
            </a:r>
          </a:p>
          <a:p>
            <a:pPr>
              <a:buFont typeface="Arial" panose="020B0604020202020204" pitchFamily="34" charset="0"/>
              <a:buChar char="•"/>
            </a:pPr>
            <a:r>
              <a:rPr lang="en-US" altLang="zh-TW" b="1" dirty="0"/>
              <a:t>Use Case </a:t>
            </a:r>
            <a:r>
              <a:rPr lang="zh-TW" altLang="en-US" b="1" dirty="0"/>
              <a:t>會決定何時該</a:t>
            </a:r>
            <a:r>
              <a:rPr lang="en-US" altLang="zh-TW" b="1" dirty="0" err="1"/>
              <a:t>setWipLimit</a:t>
            </a:r>
            <a:r>
              <a:rPr lang="zh-TW" altLang="en-US" b="1" dirty="0"/>
              <a:t>（業務流程）</a:t>
            </a:r>
            <a:r>
              <a:rPr lang="zh-TW" altLang="en-US" dirty="0"/>
              <a:t>。</a:t>
            </a:r>
          </a:p>
          <a:p>
            <a:pPr>
              <a:buFont typeface="Arial" panose="020B0604020202020204" pitchFamily="34" charset="0"/>
              <a:buChar char="•"/>
            </a:pPr>
            <a:r>
              <a:rPr lang="en-US" altLang="zh-TW" b="1" dirty="0"/>
              <a:t>Workflow </a:t>
            </a:r>
            <a:r>
              <a:rPr lang="zh-TW" altLang="en-US" b="1" dirty="0"/>
              <a:t>本身則負責檢查</a:t>
            </a:r>
            <a:r>
              <a:rPr lang="en-US" altLang="zh-TW" b="1" dirty="0" err="1"/>
              <a:t>setWipLimit</a:t>
            </a:r>
            <a:r>
              <a:rPr lang="zh-TW" altLang="en-US" b="1" dirty="0"/>
              <a:t>是否合法（業務規則）</a:t>
            </a:r>
            <a:r>
              <a:rPr lang="zh-TW" altLang="en-US" dirty="0"/>
              <a:t>。</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11</a:t>
            </a:fld>
            <a:endParaRPr lang="zh-TW" altLang="en-US"/>
          </a:p>
        </p:txBody>
      </p:sp>
    </p:spTree>
    <p:extLst>
      <p:ext uri="{BB962C8B-B14F-4D97-AF65-F5344CB8AC3E}">
        <p14:creationId xmlns:p14="http://schemas.microsoft.com/office/powerpoint/2010/main" val="172482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646464"/>
                </a:solidFill>
                <a:effectLst/>
                <a:latin typeface="Arial" panose="020B0604020202020204" pitchFamily="34" charset="0"/>
              </a:rPr>
              <a:t>意思就是外部資料跟呼叫介面透過這一層轉呼叫</a:t>
            </a:r>
            <a:r>
              <a:rPr lang="en-US" altLang="zh-TW" b="0" i="0" dirty="0">
                <a:solidFill>
                  <a:srgbClr val="646464"/>
                </a:solidFill>
                <a:effectLst/>
                <a:latin typeface="Arial" panose="020B0604020202020204" pitchFamily="34" charset="0"/>
              </a:rPr>
              <a:t>Use Cases</a:t>
            </a:r>
            <a:r>
              <a:rPr lang="zh-TW" altLang="en-US" b="0" i="0" dirty="0">
                <a:solidFill>
                  <a:srgbClr val="646464"/>
                </a:solidFill>
                <a:effectLst/>
                <a:latin typeface="Arial" panose="020B0604020202020204" pitchFamily="34" charset="0"/>
              </a:rPr>
              <a:t>，這樣</a:t>
            </a:r>
            <a:r>
              <a:rPr lang="en-US" altLang="zh-TW" b="0" i="0" dirty="0">
                <a:solidFill>
                  <a:srgbClr val="646464"/>
                </a:solidFill>
                <a:effectLst/>
                <a:latin typeface="Arial" panose="020B0604020202020204" pitchFamily="34" charset="0"/>
              </a:rPr>
              <a:t>Use Cases</a:t>
            </a:r>
            <a:r>
              <a:rPr lang="zh-TW" altLang="en-US" b="0" i="0" dirty="0">
                <a:solidFill>
                  <a:srgbClr val="646464"/>
                </a:solidFill>
                <a:effectLst/>
                <a:latin typeface="Arial" panose="020B0604020202020204" pitchFamily="34" charset="0"/>
              </a:rPr>
              <a:t>就可以與</a:t>
            </a:r>
            <a:r>
              <a:rPr lang="en-US" altLang="zh-TW" b="0" i="0" dirty="0">
                <a:solidFill>
                  <a:srgbClr val="646464"/>
                </a:solidFill>
                <a:effectLst/>
                <a:latin typeface="Arial" panose="020B0604020202020204" pitchFamily="34" charset="0"/>
              </a:rPr>
              <a:t>I/O</a:t>
            </a:r>
            <a:r>
              <a:rPr lang="zh-TW" altLang="en-US" b="0" i="0" dirty="0">
                <a:solidFill>
                  <a:srgbClr val="646464"/>
                </a:solidFill>
                <a:effectLst/>
                <a:latin typeface="Arial" panose="020B0604020202020204" pitchFamily="34" charset="0"/>
              </a:rPr>
              <a:t>或是應用程式框架無關。</a:t>
            </a:r>
            <a:endParaRPr lang="en-US" altLang="zh-TW" b="0" i="0" dirty="0">
              <a:solidFill>
                <a:srgbClr val="646464"/>
              </a:solidFill>
              <a:effectLst/>
              <a:latin typeface="Arial" panose="020B0604020202020204" pitchFamily="34" charset="0"/>
            </a:endParaRPr>
          </a:p>
          <a:p>
            <a:r>
              <a:rPr lang="zh-TW" altLang="en-US" b="0" i="0" dirty="0">
                <a:solidFill>
                  <a:srgbClr val="646464"/>
                </a:solidFill>
                <a:effectLst/>
                <a:latin typeface="Arial" panose="020B0604020202020204" pitchFamily="34" charset="0"/>
              </a:rPr>
              <a:t>就是外部工具、框架跟內部</a:t>
            </a:r>
            <a:r>
              <a:rPr lang="en-US" altLang="zh-TW" b="0" i="0" dirty="0" err="1">
                <a:solidFill>
                  <a:srgbClr val="646464"/>
                </a:solidFill>
                <a:effectLst/>
                <a:latin typeface="Arial" panose="020B0604020202020204" pitchFamily="34" charset="0"/>
              </a:rPr>
              <a:t>UseCase</a:t>
            </a:r>
            <a:r>
              <a:rPr lang="zh-TW" altLang="en-US" b="0" i="0" dirty="0">
                <a:solidFill>
                  <a:srgbClr val="646464"/>
                </a:solidFill>
                <a:effectLst/>
                <a:latin typeface="Arial" panose="020B0604020202020204" pitchFamily="34" charset="0"/>
              </a:rPr>
              <a:t>之間的一個中介層。</a:t>
            </a:r>
            <a:endParaRPr lang="en-US" altLang="zh-TW" b="0" i="0" dirty="0">
              <a:solidFill>
                <a:srgbClr val="646464"/>
              </a:solidFill>
              <a:effectLst/>
              <a:latin typeface="Arial" panose="020B0604020202020204" pitchFamily="34" charset="0"/>
            </a:endParaRP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12</a:t>
            </a:fld>
            <a:endParaRPr lang="zh-TW" altLang="en-US"/>
          </a:p>
        </p:txBody>
      </p:sp>
    </p:spTree>
    <p:extLst>
      <p:ext uri="{BB962C8B-B14F-4D97-AF65-F5344CB8AC3E}">
        <p14:creationId xmlns:p14="http://schemas.microsoft.com/office/powerpoint/2010/main" val="2035092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這裡就是我們的</a:t>
            </a:r>
            <a:r>
              <a:rPr lang="en-US" altLang="zh-TW" dirty="0"/>
              <a:t>controller</a:t>
            </a:r>
            <a:r>
              <a:rPr lang="zh-TW" altLang="en-US" dirty="0"/>
              <a:t>的範例，我們可以看到這個範例使用到</a:t>
            </a:r>
            <a:r>
              <a:rPr lang="en-US" altLang="zh-TW" dirty="0" err="1"/>
              <a:t>RestController</a:t>
            </a:r>
            <a:r>
              <a:rPr lang="en-US" altLang="zh-TW" dirty="0"/>
              <a:t>(</a:t>
            </a:r>
            <a:r>
              <a:rPr lang="zh-TW" altLang="en-US" dirty="0"/>
              <a:t>也就是</a:t>
            </a:r>
            <a:r>
              <a:rPr lang="en-US" altLang="zh-TW" dirty="0" err="1"/>
              <a:t>SpringFramework</a:t>
            </a:r>
            <a:r>
              <a:rPr lang="zh-TW" altLang="en-US" dirty="0"/>
              <a:t>提供接收</a:t>
            </a:r>
            <a:r>
              <a:rPr lang="en-US" altLang="zh-TW" dirty="0"/>
              <a:t>restful request</a:t>
            </a:r>
            <a:r>
              <a:rPr lang="zh-TW" altLang="en-US" dirty="0"/>
              <a:t>的</a:t>
            </a:r>
            <a:r>
              <a:rPr lang="en-US" altLang="zh-TW" dirty="0" err="1"/>
              <a:t>api</a:t>
            </a:r>
            <a:r>
              <a:rPr lang="en-US" altLang="zh-TW" dirty="0"/>
              <a:t>)</a:t>
            </a:r>
            <a:r>
              <a:rPr lang="zh-TW" altLang="en-US" dirty="0"/>
              <a:t>還有</a:t>
            </a:r>
            <a:r>
              <a:rPr lang="en-US" altLang="zh-TW" dirty="0" err="1"/>
              <a:t>Autowired</a:t>
            </a:r>
            <a:r>
              <a:rPr lang="en-US" altLang="zh-TW" dirty="0"/>
              <a:t>(</a:t>
            </a:r>
            <a:r>
              <a:rPr lang="zh-TW" altLang="en-US" dirty="0"/>
              <a:t>透過</a:t>
            </a:r>
            <a:r>
              <a:rPr lang="en-US" altLang="zh-TW" dirty="0"/>
              <a:t>spring</a:t>
            </a:r>
            <a:r>
              <a:rPr lang="zh-TW" altLang="en-US"/>
              <a:t>幫我們注入物件</a:t>
            </a:r>
            <a:r>
              <a:rPr lang="zh-TW" altLang="en-US" dirty="0"/>
              <a:t>的</a:t>
            </a:r>
            <a:r>
              <a:rPr lang="en-US" altLang="zh-TW" dirty="0" err="1"/>
              <a:t>api</a:t>
            </a:r>
            <a:r>
              <a:rPr lang="en-US" altLang="zh-TW" dirty="0"/>
              <a:t>)</a:t>
            </a:r>
          </a:p>
          <a:p>
            <a:r>
              <a:rPr lang="zh-TW" altLang="en-US" dirty="0"/>
              <a:t>，這一層在</a:t>
            </a:r>
            <a:r>
              <a:rPr lang="en-US" altLang="zh-TW" dirty="0"/>
              <a:t>CA</a:t>
            </a:r>
            <a:r>
              <a:rPr lang="zh-TW" altLang="en-US" dirty="0"/>
              <a:t>的解釋裡面其實不能跟框架耦合，但是我們認為</a:t>
            </a:r>
            <a:r>
              <a:rPr lang="en-US" altLang="zh-TW" dirty="0"/>
              <a:t>Controller</a:t>
            </a:r>
            <a:r>
              <a:rPr lang="zh-TW" altLang="en-US" dirty="0"/>
              <a:t>如果為了不要跟框架耦合而再往外抽離一層有點多餘，因為我們只需要確保我們</a:t>
            </a:r>
            <a:endParaRPr lang="en-US" altLang="zh-TW" dirty="0"/>
          </a:p>
          <a:p>
            <a:r>
              <a:rPr lang="zh-TW" altLang="en-US" dirty="0"/>
              <a:t>的蛋黃區</a:t>
            </a:r>
            <a:r>
              <a:rPr lang="en-US" altLang="zh-TW" dirty="0"/>
              <a:t>(Entity</a:t>
            </a:r>
            <a:r>
              <a:rPr lang="zh-TW" altLang="en-US" dirty="0"/>
              <a:t>層</a:t>
            </a:r>
            <a:r>
              <a:rPr lang="en-US" altLang="zh-TW" dirty="0"/>
              <a:t>)</a:t>
            </a:r>
            <a:r>
              <a:rPr lang="zh-TW" altLang="en-US" dirty="0"/>
              <a:t>還有蛋白區</a:t>
            </a:r>
            <a:r>
              <a:rPr lang="en-US" altLang="zh-TW" dirty="0"/>
              <a:t>(</a:t>
            </a:r>
            <a:r>
              <a:rPr lang="en-US" altLang="zh-TW" dirty="0" err="1"/>
              <a:t>UseCase</a:t>
            </a:r>
            <a:r>
              <a:rPr lang="zh-TW" altLang="en-US" dirty="0"/>
              <a:t>層</a:t>
            </a:r>
            <a:r>
              <a:rPr lang="en-US" altLang="zh-TW" dirty="0"/>
              <a:t>)</a:t>
            </a:r>
            <a:r>
              <a:rPr lang="zh-TW" altLang="en-US" dirty="0"/>
              <a:t>夠乾淨就好。</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13</a:t>
            </a:fld>
            <a:endParaRPr lang="zh-TW" altLang="en-US"/>
          </a:p>
        </p:txBody>
      </p:sp>
    </p:spTree>
    <p:extLst>
      <p:ext uri="{BB962C8B-B14F-4D97-AF65-F5344CB8AC3E}">
        <p14:creationId xmlns:p14="http://schemas.microsoft.com/office/powerpoint/2010/main" val="2517672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這一層通常包含應用程式框架</a:t>
            </a:r>
            <a:r>
              <a:rPr lang="en-US" altLang="zh-TW" dirty="0"/>
              <a:t>(ex. spring framework)</a:t>
            </a:r>
            <a:r>
              <a:rPr lang="zh-TW" altLang="en-US" dirty="0"/>
              <a:t>和</a:t>
            </a:r>
            <a:r>
              <a:rPr lang="en-US" altLang="zh-TW" dirty="0" err="1"/>
              <a:t>db</a:t>
            </a:r>
            <a:r>
              <a:rPr lang="zh-TW" altLang="en-US" dirty="0"/>
              <a:t>之類的工具，這一層的程式通常不會有甚麼複雜的商業邏輯因為它的目的是把外部工具與</a:t>
            </a:r>
            <a:r>
              <a:rPr lang="en-US" altLang="zh-TW" dirty="0"/>
              <a:t>interface adapter</a:t>
            </a:r>
            <a:r>
              <a:rPr lang="zh-TW" altLang="en-US" dirty="0"/>
              <a:t>和</a:t>
            </a:r>
            <a:r>
              <a:rPr lang="en-US" altLang="zh-TW" dirty="0"/>
              <a:t>use case</a:t>
            </a:r>
            <a:r>
              <a:rPr lang="zh-TW" altLang="en-US" dirty="0"/>
              <a:t>串起來。</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14</a:t>
            </a:fld>
            <a:endParaRPr lang="zh-TW" altLang="en-US"/>
          </a:p>
        </p:txBody>
      </p:sp>
    </p:spTree>
    <p:extLst>
      <p:ext uri="{BB962C8B-B14F-4D97-AF65-F5344CB8AC3E}">
        <p14:creationId xmlns:p14="http://schemas.microsoft.com/office/powerpoint/2010/main" val="2647185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可以看到這個</a:t>
            </a:r>
            <a:r>
              <a:rPr lang="en-US" altLang="zh-TW" dirty="0"/>
              <a:t>class</a:t>
            </a:r>
            <a:r>
              <a:rPr lang="zh-TW" altLang="en-US" dirty="0"/>
              <a:t>直接和</a:t>
            </a:r>
            <a:r>
              <a:rPr lang="en-US" altLang="zh-TW" dirty="0" err="1"/>
              <a:t>eventStore</a:t>
            </a:r>
            <a:r>
              <a:rPr lang="zh-TW" altLang="en-US" dirty="0"/>
              <a:t>提供的</a:t>
            </a:r>
            <a:r>
              <a:rPr lang="en-US" altLang="zh-TW" dirty="0" err="1"/>
              <a:t>api</a:t>
            </a:r>
            <a:r>
              <a:rPr lang="zh-TW" altLang="en-US" dirty="0"/>
              <a:t>耦合，那它是負責和</a:t>
            </a:r>
            <a:r>
              <a:rPr lang="en-US" altLang="zh-TW" dirty="0" err="1"/>
              <a:t>esdb</a:t>
            </a:r>
            <a:r>
              <a:rPr lang="zh-TW" altLang="en-US" dirty="0"/>
              <a:t>連線和提供</a:t>
            </a:r>
            <a:r>
              <a:rPr lang="en-US" altLang="zh-TW" dirty="0"/>
              <a:t>client</a:t>
            </a:r>
            <a:r>
              <a:rPr lang="zh-TW" altLang="en-US" dirty="0"/>
              <a:t>物件讓我們能夠操作</a:t>
            </a:r>
            <a:r>
              <a:rPr lang="en-US" altLang="zh-TW" dirty="0" err="1"/>
              <a:t>esdb</a:t>
            </a:r>
            <a:r>
              <a:rPr lang="zh-TW" altLang="en-US" dirty="0"/>
              <a:t>，它也展現我們最外層的物件如何去將外部</a:t>
            </a:r>
            <a:r>
              <a:rPr lang="en-US" altLang="zh-TW" dirty="0" err="1"/>
              <a:t>esdb</a:t>
            </a:r>
            <a:r>
              <a:rPr lang="zh-TW" altLang="en-US" dirty="0"/>
              <a:t>整合到應用程式裡。</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15</a:t>
            </a:fld>
            <a:endParaRPr lang="zh-TW" altLang="en-US"/>
          </a:p>
        </p:txBody>
      </p:sp>
    </p:spTree>
    <p:extLst>
      <p:ext uri="{BB962C8B-B14F-4D97-AF65-F5344CB8AC3E}">
        <p14:creationId xmlns:p14="http://schemas.microsoft.com/office/powerpoint/2010/main" val="302144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點</a:t>
            </a:r>
            <a:r>
              <a:rPr lang="en-US" altLang="zh-TW" b="0" i="0" dirty="0">
                <a:solidFill>
                  <a:srgbClr val="646464"/>
                </a:solidFill>
                <a:effectLst/>
                <a:latin typeface="Arial" panose="020B0604020202020204" pitchFamily="34" charset="0"/>
              </a:rPr>
              <a:t>CA Link</a:t>
            </a:r>
            <a:r>
              <a:rPr lang="zh-TW" altLang="en-US" b="0" i="0" dirty="0">
                <a:solidFill>
                  <a:srgbClr val="646464"/>
                </a:solidFill>
                <a:effectLst/>
                <a:latin typeface="Arial" panose="020B0604020202020204" pitchFamily="34" charset="0"/>
              </a:rPr>
              <a:t>看圖</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較高層級的元件不能知道或相依任何低層級的元件。也就是說，低層的函數、類別或變數，都不能出現在高層級的元件之中，所以相依性就是由低層往高層一個方向。</a:t>
            </a:r>
            <a:endParaRPr lang="en-US" altLang="zh-TW" b="0" i="0" dirty="0">
              <a:solidFill>
                <a:srgbClr val="646464"/>
              </a:solidFill>
              <a:effectLst/>
              <a:latin typeface="Arial" panose="020B0604020202020204" pitchFamily="34" charset="0"/>
            </a:endParaRPr>
          </a:p>
          <a:p>
            <a:endParaRPr lang="en-US" altLang="zh-TW" dirty="0"/>
          </a:p>
          <a:p>
            <a:r>
              <a:rPr lang="zh-TW" altLang="en-US" dirty="0"/>
              <a:t>為了遵守這個</a:t>
            </a:r>
            <a:r>
              <a:rPr lang="en-US" altLang="zh-TW" dirty="0"/>
              <a:t>rule</a:t>
            </a:r>
            <a:r>
              <a:rPr lang="zh-TW" altLang="en-US" dirty="0"/>
              <a:t>我們可以用</a:t>
            </a:r>
            <a:r>
              <a:rPr lang="en-US" altLang="zh-TW" dirty="0"/>
              <a:t>DIP</a:t>
            </a:r>
            <a:r>
              <a:rPr lang="zh-TW" altLang="en-US" dirty="0"/>
              <a:t>的方式來實作，因為</a:t>
            </a:r>
            <a:r>
              <a:rPr lang="en-US" altLang="zh-TW" dirty="0"/>
              <a:t>DIP</a:t>
            </a:r>
            <a:r>
              <a:rPr lang="zh-TW" altLang="en-US" dirty="0"/>
              <a:t>的原則告訴我們</a:t>
            </a:r>
            <a:r>
              <a:rPr lang="en-US" altLang="zh-TW" dirty="0"/>
              <a:t>high level</a:t>
            </a:r>
            <a:r>
              <a:rPr lang="zh-TW" altLang="en-US" dirty="0"/>
              <a:t>的物件不能</a:t>
            </a:r>
            <a:r>
              <a:rPr lang="en-US" altLang="zh-TW" dirty="0"/>
              <a:t>depend on low level</a:t>
            </a:r>
            <a:r>
              <a:rPr lang="zh-TW" altLang="en-US" dirty="0"/>
              <a:t>的物件，且他們都要</a:t>
            </a:r>
            <a:r>
              <a:rPr lang="en-US" altLang="zh-TW" dirty="0"/>
              <a:t>depend abstractions.</a:t>
            </a:r>
          </a:p>
          <a:p>
            <a:r>
              <a:rPr lang="zh-TW" altLang="en-US" dirty="0"/>
              <a:t>所以</a:t>
            </a:r>
            <a:r>
              <a:rPr lang="en-US" altLang="zh-TW" dirty="0"/>
              <a:t>DIP</a:t>
            </a:r>
            <a:r>
              <a:rPr lang="zh-TW" altLang="en-US" dirty="0"/>
              <a:t>可以幫助我們管理物件依賴的方向，下面的圖是老師在</a:t>
            </a:r>
            <a:r>
              <a:rPr lang="en-US" altLang="zh-TW" dirty="0"/>
              <a:t>POSD</a:t>
            </a:r>
            <a:r>
              <a:rPr lang="zh-TW" altLang="en-US" dirty="0"/>
              <a:t>講過的</a:t>
            </a:r>
            <a:r>
              <a:rPr lang="en-US" altLang="zh-TW" dirty="0"/>
              <a:t>DIP</a:t>
            </a:r>
            <a:r>
              <a:rPr lang="zh-TW" altLang="en-US" dirty="0"/>
              <a:t>的範例。</a:t>
            </a:r>
            <a:endParaRPr lang="en-US" altLang="zh-TW" dirty="0"/>
          </a:p>
          <a:p>
            <a:endParaRPr lang="en-US" altLang="zh-TW" dirty="0"/>
          </a:p>
          <a:p>
            <a:r>
              <a:rPr lang="zh-TW" altLang="en-US" dirty="0"/>
              <a:t>在這個例子裡左邊的</a:t>
            </a:r>
            <a:r>
              <a:rPr lang="en-US" altLang="zh-TW" dirty="0"/>
              <a:t>policy layer</a:t>
            </a:r>
            <a:r>
              <a:rPr lang="zh-TW" altLang="en-US" dirty="0"/>
              <a:t>它在</a:t>
            </a:r>
            <a:r>
              <a:rPr lang="en-US" altLang="zh-TW" dirty="0"/>
              <a:t>paper</a:t>
            </a:r>
            <a:r>
              <a:rPr lang="zh-TW" altLang="en-US" dirty="0"/>
              <a:t>的定義是最</a:t>
            </a:r>
            <a:r>
              <a:rPr lang="en-US" altLang="zh-TW" dirty="0"/>
              <a:t>high level</a:t>
            </a:r>
            <a:r>
              <a:rPr lang="zh-TW" altLang="en-US" dirty="0"/>
              <a:t>且最不容易更動的原件，但它卻直接依賴</a:t>
            </a:r>
            <a:r>
              <a:rPr lang="en-US" altLang="zh-TW" dirty="0"/>
              <a:t>mechanism</a:t>
            </a:r>
            <a:r>
              <a:rPr lang="zh-TW" altLang="en-US" dirty="0"/>
              <a:t>這個比它容易更動的原件</a:t>
            </a:r>
            <a:endParaRPr lang="en-US" altLang="zh-TW" dirty="0"/>
          </a:p>
          <a:p>
            <a:r>
              <a:rPr lang="zh-TW" altLang="en-US" dirty="0"/>
              <a:t>所以右邊使用</a:t>
            </a:r>
            <a:r>
              <a:rPr lang="en-US" altLang="zh-TW" dirty="0"/>
              <a:t>java interface</a:t>
            </a:r>
            <a:r>
              <a:rPr lang="zh-TW" altLang="en-US" dirty="0"/>
              <a:t>的方式讓</a:t>
            </a:r>
            <a:r>
              <a:rPr lang="en-US" altLang="zh-TW" dirty="0"/>
              <a:t>policy layer</a:t>
            </a:r>
            <a:r>
              <a:rPr lang="zh-TW" altLang="en-US" dirty="0"/>
              <a:t>去依賴同一個</a:t>
            </a:r>
            <a:r>
              <a:rPr lang="en-US" altLang="zh-TW" dirty="0"/>
              <a:t>level</a:t>
            </a:r>
            <a:r>
              <a:rPr lang="zh-TW" altLang="en-US" dirty="0"/>
              <a:t>也就是</a:t>
            </a:r>
            <a:r>
              <a:rPr lang="en-US" altLang="zh-TW" dirty="0"/>
              <a:t>mechanism</a:t>
            </a:r>
            <a:r>
              <a:rPr lang="zh-TW" altLang="en-US" dirty="0"/>
              <a:t>的</a:t>
            </a:r>
            <a:r>
              <a:rPr lang="en-US" altLang="zh-TW" dirty="0"/>
              <a:t>interface</a:t>
            </a:r>
            <a:r>
              <a:rPr lang="zh-TW" altLang="en-US" dirty="0"/>
              <a:t>，再讓</a:t>
            </a:r>
            <a:r>
              <a:rPr lang="en-US" altLang="zh-TW" dirty="0"/>
              <a:t>mechanism layer(concrete class)</a:t>
            </a:r>
            <a:r>
              <a:rPr lang="zh-TW" altLang="en-US" dirty="0"/>
              <a:t>去</a:t>
            </a:r>
            <a:r>
              <a:rPr lang="en-US" altLang="zh-TW" dirty="0"/>
              <a:t>implement</a:t>
            </a:r>
            <a:r>
              <a:rPr lang="zh-TW" altLang="en-US" dirty="0"/>
              <a:t> </a:t>
            </a:r>
            <a:r>
              <a:rPr lang="en-US" altLang="zh-TW" dirty="0"/>
              <a:t>interface</a:t>
            </a:r>
            <a:r>
              <a:rPr lang="zh-TW" altLang="en-US" dirty="0"/>
              <a:t>。</a:t>
            </a:r>
            <a:endParaRPr lang="en-US" altLang="zh-TW"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16</a:t>
            </a:fld>
            <a:endParaRPr lang="zh-TW" altLang="en-US"/>
          </a:p>
        </p:txBody>
      </p:sp>
    </p:spTree>
    <p:extLst>
      <p:ext uri="{BB962C8B-B14F-4D97-AF65-F5344CB8AC3E}">
        <p14:creationId xmlns:p14="http://schemas.microsoft.com/office/powerpoint/2010/main" val="1185950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這個例子可以看到層跟層之間的相依方向都是由外向內</a:t>
            </a:r>
            <a:r>
              <a:rPr lang="en-US" altLang="zh-TW" dirty="0"/>
              <a:t>(</a:t>
            </a:r>
            <a:r>
              <a:rPr lang="zh-TW" altLang="en-US" dirty="0"/>
              <a:t>低到高層</a:t>
            </a:r>
            <a:r>
              <a:rPr lang="en-US" altLang="zh-TW" dirty="0"/>
              <a:t>)</a:t>
            </a:r>
            <a:r>
              <a:rPr lang="zh-TW" altLang="en-US" dirty="0"/>
              <a:t>的，</a:t>
            </a:r>
            <a:r>
              <a:rPr lang="en-US" altLang="zh-TW" dirty="0"/>
              <a:t>client</a:t>
            </a:r>
            <a:r>
              <a:rPr lang="zh-TW" altLang="en-US" dirty="0"/>
              <a:t>透過</a:t>
            </a:r>
            <a:r>
              <a:rPr lang="en-US" altLang="zh-TW" dirty="0"/>
              <a:t>restful </a:t>
            </a:r>
            <a:r>
              <a:rPr lang="en-US" altLang="zh-TW" dirty="0" err="1"/>
              <a:t>api</a:t>
            </a:r>
            <a:r>
              <a:rPr lang="en-US" altLang="zh-TW" dirty="0"/>
              <a:t> request</a:t>
            </a:r>
            <a:r>
              <a:rPr lang="zh-TW" altLang="en-US" dirty="0"/>
              <a:t>呼叫</a:t>
            </a:r>
            <a:r>
              <a:rPr lang="en-US" altLang="zh-TW" dirty="0" err="1"/>
              <a:t>createBoardController</a:t>
            </a:r>
            <a:r>
              <a:rPr lang="zh-TW" altLang="en-US" dirty="0"/>
              <a:t>，</a:t>
            </a:r>
            <a:r>
              <a:rPr lang="en-US" altLang="zh-TW" dirty="0"/>
              <a:t>Controller</a:t>
            </a:r>
            <a:r>
              <a:rPr lang="zh-TW" altLang="en-US" dirty="0"/>
              <a:t>會再呼叫</a:t>
            </a:r>
            <a:r>
              <a:rPr lang="en-US" altLang="zh-TW" dirty="0" err="1"/>
              <a:t>CreateBoardUseCase</a:t>
            </a:r>
            <a:r>
              <a:rPr lang="zh-TW" altLang="en-US" dirty="0"/>
              <a:t>去處理業務邏輯，</a:t>
            </a:r>
            <a:r>
              <a:rPr lang="en-US" altLang="zh-TW" dirty="0" err="1"/>
              <a:t>CreateBoardService</a:t>
            </a:r>
            <a:r>
              <a:rPr lang="zh-TW" altLang="en-US" dirty="0"/>
              <a:t>會去操作</a:t>
            </a:r>
            <a:r>
              <a:rPr lang="en-US" altLang="zh-TW" dirty="0"/>
              <a:t>Entity</a:t>
            </a:r>
            <a:r>
              <a:rPr lang="zh-TW" altLang="en-US" dirty="0"/>
              <a:t>的</a:t>
            </a:r>
            <a:r>
              <a:rPr lang="en-US" altLang="zh-TW" dirty="0"/>
              <a:t>Team</a:t>
            </a:r>
            <a:r>
              <a:rPr lang="zh-TW" altLang="en-US" dirty="0"/>
              <a:t>，再來</a:t>
            </a:r>
            <a:r>
              <a:rPr lang="en-US" altLang="zh-TW" dirty="0"/>
              <a:t>Service</a:t>
            </a:r>
            <a:r>
              <a:rPr lang="zh-TW" altLang="en-US" dirty="0"/>
              <a:t>會呼叫</a:t>
            </a:r>
            <a:r>
              <a:rPr lang="en-US" altLang="zh-TW" dirty="0"/>
              <a:t>Repository</a:t>
            </a:r>
            <a:r>
              <a:rPr lang="zh-TW" altLang="en-US" dirty="0"/>
              <a:t>儲存</a:t>
            </a:r>
            <a:r>
              <a:rPr lang="en-US" altLang="zh-TW" dirty="0"/>
              <a:t>Team</a:t>
            </a:r>
            <a:r>
              <a:rPr lang="zh-TW" altLang="en-US" dirty="0"/>
              <a:t>，</a:t>
            </a:r>
            <a:r>
              <a:rPr lang="en-US" altLang="zh-TW" dirty="0" err="1"/>
              <a:t>RepositoryPeer</a:t>
            </a:r>
            <a:r>
              <a:rPr lang="zh-TW" altLang="en-US" dirty="0"/>
              <a:t>的部分是為了讓外層也就是</a:t>
            </a:r>
            <a:r>
              <a:rPr lang="en-US" altLang="zh-TW" dirty="0"/>
              <a:t>Adapter</a:t>
            </a:r>
            <a:r>
              <a:rPr lang="zh-TW" altLang="en-US" dirty="0"/>
              <a:t>層不會去認識</a:t>
            </a:r>
            <a:r>
              <a:rPr lang="en-US" altLang="zh-TW" dirty="0"/>
              <a:t>Entity(</a:t>
            </a:r>
            <a:r>
              <a:rPr lang="zh-TW" altLang="en-US" dirty="0"/>
              <a:t>此概念後面會提到</a:t>
            </a:r>
            <a:r>
              <a:rPr lang="en-US" altLang="zh-TW" dirty="0"/>
              <a:t>)</a:t>
            </a:r>
            <a:r>
              <a:rPr lang="zh-TW" altLang="en-US" dirty="0"/>
              <a:t>的物件而使用的間接層，而</a:t>
            </a:r>
            <a:r>
              <a:rPr lang="en-US" altLang="zh-TW" dirty="0" err="1"/>
              <a:t>PeerAdapter</a:t>
            </a:r>
            <a:r>
              <a:rPr lang="zh-TW" altLang="en-US" dirty="0"/>
              <a:t>會去呼叫</a:t>
            </a:r>
            <a:r>
              <a:rPr lang="en-US" altLang="zh-TW" dirty="0" err="1"/>
              <a:t>EventStore</a:t>
            </a:r>
            <a:r>
              <a:rPr lang="zh-TW" altLang="en-US" dirty="0"/>
              <a:t>和</a:t>
            </a:r>
            <a:r>
              <a:rPr lang="en-US" altLang="zh-TW" dirty="0" err="1"/>
              <a:t>OutboxStore</a:t>
            </a:r>
            <a:r>
              <a:rPr lang="zh-TW" altLang="en-US" dirty="0"/>
              <a:t>，最後再利用第四層的物件和外部工具溝通。</a:t>
            </a:r>
            <a:endParaRPr lang="en-US" altLang="zh-TW" dirty="0"/>
          </a:p>
          <a:p>
            <a:endParaRPr lang="en-US" altLang="zh-TW" dirty="0"/>
          </a:p>
          <a:p>
            <a:r>
              <a:rPr lang="en-US" altLang="zh-TW" dirty="0"/>
              <a:t>Outbox</a:t>
            </a:r>
            <a:r>
              <a:rPr lang="zh-TW" altLang="en-US" dirty="0"/>
              <a:t>是一種</a:t>
            </a:r>
            <a:r>
              <a:rPr lang="en-US" altLang="zh-TW" dirty="0"/>
              <a:t>microservice</a:t>
            </a:r>
            <a:r>
              <a:rPr lang="zh-TW" altLang="en-US" dirty="0"/>
              <a:t>的</a:t>
            </a:r>
            <a:r>
              <a:rPr lang="en-US" altLang="zh-TW" dirty="0"/>
              <a:t>pattern</a:t>
            </a:r>
            <a:r>
              <a:rPr lang="zh-TW" altLang="en-US" dirty="0"/>
              <a:t>，因為</a:t>
            </a:r>
            <a:r>
              <a:rPr lang="en-US" altLang="zh-TW" dirty="0"/>
              <a:t>microservice</a:t>
            </a:r>
            <a:r>
              <a:rPr lang="zh-TW" altLang="en-US" dirty="0"/>
              <a:t>通常會使用</a:t>
            </a:r>
            <a:r>
              <a:rPr lang="en-US" altLang="zh-TW" dirty="0"/>
              <a:t>message queue</a:t>
            </a:r>
            <a:r>
              <a:rPr lang="zh-TW" altLang="en-US" dirty="0"/>
              <a:t>當作服務之間溝通的橋樑，所以在對某個</a:t>
            </a:r>
            <a:r>
              <a:rPr lang="en-US" altLang="zh-TW" dirty="0"/>
              <a:t>service</a:t>
            </a:r>
            <a:r>
              <a:rPr lang="zh-TW" altLang="en-US" dirty="0"/>
              <a:t>操作後需要把資料存到</a:t>
            </a:r>
            <a:r>
              <a:rPr lang="en-US" altLang="zh-TW" dirty="0"/>
              <a:t>FB</a:t>
            </a:r>
            <a:r>
              <a:rPr lang="zh-TW" altLang="en-US" dirty="0"/>
              <a:t>再透過</a:t>
            </a:r>
            <a:r>
              <a:rPr lang="en-US" altLang="zh-TW" dirty="0"/>
              <a:t>massage broker</a:t>
            </a:r>
            <a:r>
              <a:rPr lang="zh-TW" altLang="en-US" dirty="0"/>
              <a:t>呼叫要溝通的</a:t>
            </a:r>
            <a:r>
              <a:rPr lang="en-US" altLang="zh-TW" dirty="0"/>
              <a:t>service</a:t>
            </a:r>
          </a:p>
          <a:p>
            <a:r>
              <a:rPr lang="en-US" altLang="zh-TW" dirty="0"/>
              <a:t>Ex.</a:t>
            </a:r>
            <a:r>
              <a:rPr lang="zh-TW" altLang="en-US" b="0" i="0" dirty="0">
                <a:solidFill>
                  <a:srgbClr val="242424"/>
                </a:solidFill>
                <a:effectLst/>
                <a:latin typeface="source-serif-pro"/>
              </a:rPr>
              <a:t>用戶下定後 </a:t>
            </a:r>
            <a:r>
              <a:rPr lang="en-US" altLang="zh-TW" b="0" i="0" dirty="0">
                <a:solidFill>
                  <a:srgbClr val="242424"/>
                </a:solidFill>
                <a:effectLst/>
                <a:latin typeface="source-serif-pro"/>
              </a:rPr>
              <a:t>Order Service </a:t>
            </a:r>
            <a:r>
              <a:rPr lang="zh-TW" altLang="en-US" b="0" i="0" dirty="0">
                <a:solidFill>
                  <a:srgbClr val="242424"/>
                </a:solidFill>
                <a:effectLst/>
                <a:latin typeface="source-serif-pro"/>
              </a:rPr>
              <a:t>建立新的訂單然後存入 </a:t>
            </a:r>
            <a:r>
              <a:rPr lang="en-US" altLang="zh-TW" b="0" i="0" dirty="0">
                <a:solidFill>
                  <a:srgbClr val="242424"/>
                </a:solidFill>
                <a:effectLst/>
                <a:latin typeface="source-serif-pro"/>
              </a:rPr>
              <a:t>DB </a:t>
            </a:r>
            <a:r>
              <a:rPr lang="zh-TW" altLang="en-US" b="0" i="0" dirty="0">
                <a:solidFill>
                  <a:srgbClr val="242424"/>
                </a:solidFill>
                <a:effectLst/>
                <a:latin typeface="source-serif-pro"/>
              </a:rPr>
              <a:t>並傳送訂單建立的 </a:t>
            </a:r>
            <a:r>
              <a:rPr lang="en-US" altLang="zh-TW" b="0" i="0" dirty="0">
                <a:solidFill>
                  <a:srgbClr val="242424"/>
                </a:solidFill>
                <a:effectLst/>
                <a:latin typeface="source-serif-pro"/>
              </a:rPr>
              <a:t>Event</a:t>
            </a:r>
            <a:endParaRPr lang="en-US" altLang="zh-TW" dirty="0"/>
          </a:p>
          <a:p>
            <a:r>
              <a:rPr lang="zh-TW" altLang="en-US" dirty="0"/>
              <a:t>，但這有個問題就是</a:t>
            </a:r>
            <a:r>
              <a:rPr lang="zh-TW" altLang="en-US" b="0" i="0" dirty="0">
                <a:solidFill>
                  <a:srgbClr val="242424"/>
                </a:solidFill>
                <a:effectLst/>
                <a:latin typeface="source-serif-pro"/>
              </a:rPr>
              <a:t>訊息送到了 </a:t>
            </a:r>
            <a:r>
              <a:rPr lang="en-US" altLang="zh-TW" b="0" i="0" dirty="0">
                <a:solidFill>
                  <a:srgbClr val="242424"/>
                </a:solidFill>
                <a:effectLst/>
                <a:latin typeface="source-serif-pro"/>
              </a:rPr>
              <a:t>Kafka </a:t>
            </a:r>
            <a:r>
              <a:rPr lang="zh-TW" altLang="en-US" b="0" i="0" dirty="0">
                <a:solidFill>
                  <a:srgbClr val="242424"/>
                </a:solidFill>
                <a:effectLst/>
                <a:latin typeface="source-serif-pro"/>
              </a:rPr>
              <a:t>但在 </a:t>
            </a:r>
            <a:r>
              <a:rPr lang="en-US" altLang="zh-TW" b="0" i="0" dirty="0">
                <a:solidFill>
                  <a:srgbClr val="242424"/>
                </a:solidFill>
                <a:effectLst/>
                <a:latin typeface="source-serif-pro"/>
              </a:rPr>
              <a:t>Commit </a:t>
            </a:r>
            <a:r>
              <a:rPr lang="zh-TW" altLang="en-US" b="0" i="0" dirty="0">
                <a:solidFill>
                  <a:srgbClr val="242424"/>
                </a:solidFill>
                <a:effectLst/>
                <a:latin typeface="source-serif-pro"/>
              </a:rPr>
              <a:t>的時候發生了問題，變成訊息送出去了但 </a:t>
            </a:r>
            <a:r>
              <a:rPr lang="en-US" altLang="zh-TW" b="0" i="0" dirty="0">
                <a:solidFill>
                  <a:srgbClr val="242424"/>
                </a:solidFill>
                <a:effectLst/>
                <a:latin typeface="source-serif-pro"/>
              </a:rPr>
              <a:t>DB </a:t>
            </a:r>
            <a:r>
              <a:rPr lang="zh-TW" altLang="en-US" b="0" i="0" dirty="0">
                <a:solidFill>
                  <a:srgbClr val="242424"/>
                </a:solidFill>
                <a:effectLst/>
                <a:latin typeface="source-serif-pro"/>
              </a:rPr>
              <a:t>裡卻沒資料。</a:t>
            </a:r>
            <a:endParaRPr lang="en-US" altLang="zh-TW" b="0" i="0" dirty="0">
              <a:solidFill>
                <a:srgbClr val="242424"/>
              </a:solidFill>
              <a:effectLst/>
              <a:latin typeface="source-serif-pro"/>
            </a:endParaRPr>
          </a:p>
          <a:p>
            <a:r>
              <a:rPr lang="zh-TW" altLang="en-US" b="0" i="0" dirty="0">
                <a:solidFill>
                  <a:srgbClr val="242424"/>
                </a:solidFill>
                <a:effectLst/>
                <a:latin typeface="source-serif-pro"/>
              </a:rPr>
              <a:t>那</a:t>
            </a:r>
            <a:r>
              <a:rPr lang="en-US" altLang="zh-TW" b="0" i="0" dirty="0">
                <a:solidFill>
                  <a:srgbClr val="242424"/>
                </a:solidFill>
                <a:effectLst/>
                <a:latin typeface="source-serif-pro"/>
              </a:rPr>
              <a:t>outbox pattern</a:t>
            </a:r>
            <a:r>
              <a:rPr lang="zh-TW" altLang="en-US" b="0" i="0" dirty="0">
                <a:solidFill>
                  <a:srgbClr val="242424"/>
                </a:solidFill>
                <a:effectLst/>
                <a:latin typeface="source-serif-pro"/>
              </a:rPr>
              <a:t>就是在</a:t>
            </a:r>
            <a:r>
              <a:rPr lang="en-US" altLang="zh-TW" b="0" i="0" dirty="0">
                <a:solidFill>
                  <a:srgbClr val="242424"/>
                </a:solidFill>
                <a:effectLst/>
                <a:latin typeface="source-serif-pro"/>
              </a:rPr>
              <a:t>DB</a:t>
            </a:r>
            <a:r>
              <a:rPr lang="zh-TW" altLang="en-US" b="0" i="0" dirty="0">
                <a:solidFill>
                  <a:srgbClr val="242424"/>
                </a:solidFill>
                <a:effectLst/>
                <a:latin typeface="source-serif-pro"/>
              </a:rPr>
              <a:t>建一個叫</a:t>
            </a:r>
            <a:r>
              <a:rPr lang="en-US" altLang="zh-TW" b="0" i="0" dirty="0">
                <a:solidFill>
                  <a:srgbClr val="242424"/>
                </a:solidFill>
                <a:effectLst/>
                <a:latin typeface="source-serif-pro"/>
              </a:rPr>
              <a:t>outbox</a:t>
            </a:r>
            <a:r>
              <a:rPr lang="zh-TW" altLang="en-US" b="0" i="0" dirty="0">
                <a:solidFill>
                  <a:srgbClr val="242424"/>
                </a:solidFill>
                <a:effectLst/>
                <a:latin typeface="source-serif-pro"/>
              </a:rPr>
              <a:t>的</a:t>
            </a:r>
            <a:r>
              <a:rPr lang="en-US" altLang="zh-TW" b="0" i="0" dirty="0">
                <a:solidFill>
                  <a:srgbClr val="242424"/>
                </a:solidFill>
                <a:effectLst/>
                <a:latin typeface="source-serif-pro"/>
              </a:rPr>
              <a:t>table</a:t>
            </a:r>
            <a:r>
              <a:rPr lang="zh-TW" altLang="en-US" b="0" i="0" dirty="0">
                <a:solidFill>
                  <a:srgbClr val="242424"/>
                </a:solidFill>
                <a:effectLst/>
                <a:latin typeface="source-serif-pro"/>
              </a:rPr>
              <a:t>把</a:t>
            </a:r>
            <a:r>
              <a:rPr lang="en-US" altLang="zh-TW" b="0" i="0" dirty="0">
                <a:solidFill>
                  <a:srgbClr val="242424"/>
                </a:solidFill>
                <a:effectLst/>
                <a:latin typeface="source-serif-pro"/>
              </a:rPr>
              <a:t>event</a:t>
            </a:r>
            <a:r>
              <a:rPr lang="zh-TW" altLang="en-US" b="0" i="0" dirty="0">
                <a:solidFill>
                  <a:srgbClr val="242424"/>
                </a:solidFill>
                <a:effectLst/>
                <a:latin typeface="source-serif-pro"/>
              </a:rPr>
              <a:t>跟要存入的</a:t>
            </a:r>
            <a:r>
              <a:rPr lang="en-US" altLang="zh-TW" b="0" i="0" dirty="0" err="1">
                <a:solidFill>
                  <a:srgbClr val="242424"/>
                </a:solidFill>
                <a:effectLst/>
                <a:latin typeface="source-serif-pro"/>
              </a:rPr>
              <a:t>db</a:t>
            </a:r>
            <a:r>
              <a:rPr lang="zh-TW" altLang="en-US" b="0" i="0" dirty="0">
                <a:solidFill>
                  <a:srgbClr val="242424"/>
                </a:solidFill>
                <a:effectLst/>
                <a:latin typeface="source-serif-pro"/>
              </a:rPr>
              <a:t>資料包在同一個</a:t>
            </a:r>
            <a:r>
              <a:rPr lang="en-US" altLang="zh-TW" b="0" i="0" dirty="0">
                <a:solidFill>
                  <a:srgbClr val="242424"/>
                </a:solidFill>
                <a:effectLst/>
                <a:latin typeface="source-serif-pro"/>
              </a:rPr>
              <a:t>transaction</a:t>
            </a:r>
            <a:r>
              <a:rPr lang="zh-TW" altLang="en-US" b="0" i="0" dirty="0">
                <a:solidFill>
                  <a:srgbClr val="242424"/>
                </a:solidFill>
                <a:effectLst/>
                <a:latin typeface="source-serif-pro"/>
              </a:rPr>
              <a:t>。</a:t>
            </a:r>
            <a:endParaRPr lang="en-US" altLang="zh-TW" b="0" i="0" dirty="0">
              <a:solidFill>
                <a:srgbClr val="242424"/>
              </a:solidFill>
              <a:effectLst/>
              <a:latin typeface="source-serif-pro"/>
            </a:endParaRP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17</a:t>
            </a:fld>
            <a:endParaRPr lang="zh-TW" altLang="en-US"/>
          </a:p>
        </p:txBody>
      </p:sp>
    </p:spTree>
    <p:extLst>
      <p:ext uri="{BB962C8B-B14F-4D97-AF65-F5344CB8AC3E}">
        <p14:creationId xmlns:p14="http://schemas.microsoft.com/office/powerpoint/2010/main" val="4172780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t>第三個我們需要考慮到物件跨層時要怎麼辦</a:t>
            </a:r>
            <a:r>
              <a:rPr lang="en-US" altLang="zh-TW" dirty="0"/>
              <a:t>?(</a:t>
            </a:r>
            <a:r>
              <a:rPr lang="zh-TW" altLang="en-US" dirty="0"/>
              <a:t>像是</a:t>
            </a:r>
            <a:r>
              <a:rPr lang="en-US" altLang="zh-TW" dirty="0"/>
              <a:t>Entity</a:t>
            </a:r>
            <a:r>
              <a:rPr lang="zh-TW" altLang="en-US" dirty="0"/>
              <a:t>物件經過</a:t>
            </a:r>
            <a:r>
              <a:rPr lang="en-US" altLang="zh-TW" dirty="0" err="1"/>
              <a:t>UseCase</a:t>
            </a:r>
            <a:r>
              <a:rPr lang="zh-TW" altLang="en-US" dirty="0"/>
              <a:t>傳給</a:t>
            </a:r>
            <a:r>
              <a:rPr lang="en-US" altLang="zh-TW" dirty="0"/>
              <a:t>Controller</a:t>
            </a:r>
            <a:r>
              <a:rPr lang="zh-TW" altLang="en-US" dirty="0"/>
              <a:t>或是</a:t>
            </a:r>
            <a:r>
              <a:rPr lang="en-US" altLang="zh-TW" dirty="0"/>
              <a:t>Controller</a:t>
            </a:r>
            <a:r>
              <a:rPr lang="zh-TW" altLang="en-US" dirty="0"/>
              <a:t>外部的物件傳給</a:t>
            </a:r>
            <a:r>
              <a:rPr lang="en-US" altLang="zh-TW" dirty="0" err="1"/>
              <a:t>UseCase</a:t>
            </a:r>
            <a:r>
              <a:rPr lang="en-US" altLang="zh-TW"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t>這邊用</a:t>
            </a:r>
            <a:r>
              <a:rPr lang="en-US" altLang="zh-TW" dirty="0" err="1">
                <a:solidFill>
                  <a:srgbClr val="BCBEC4"/>
                </a:solidFill>
                <a:effectLst/>
              </a:rPr>
              <a:t>getBoard</a:t>
            </a:r>
            <a:r>
              <a:rPr lang="zh-TW" altLang="en-US" dirty="0">
                <a:solidFill>
                  <a:srgbClr val="BCBEC4"/>
                </a:solidFill>
                <a:effectLst/>
              </a:rPr>
              <a:t>舉例</a:t>
            </a:r>
            <a:r>
              <a:rPr lang="en-US" altLang="zh-TW" dirty="0">
                <a:solidFill>
                  <a:srgbClr val="BCBEC4"/>
                </a:solidFill>
                <a:effectLst/>
              </a:rPr>
              <a:t>:</a:t>
            </a:r>
          </a:p>
          <a:p>
            <a:pPr algn="l">
              <a:buFont typeface="Arial" panose="020B0604020202020204" pitchFamily="34" charset="0"/>
              <a:buChar char="•"/>
            </a:pPr>
            <a:r>
              <a:rPr lang="zh-TW" altLang="en-US" b="1" i="0" dirty="0">
                <a:solidFill>
                  <a:srgbClr val="646464"/>
                </a:solidFill>
                <a:effectLst/>
                <a:latin typeface="Arial" panose="020B0604020202020204" pitchFamily="34" charset="0"/>
              </a:rPr>
              <a:t>內層物件可否跨層往外傳</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其實</a:t>
            </a:r>
            <a:r>
              <a:rPr lang="en-US" altLang="zh-TW" b="0" i="0" dirty="0">
                <a:solidFill>
                  <a:srgbClr val="646464"/>
                </a:solidFill>
                <a:effectLst/>
                <a:latin typeface="Arial" panose="020B0604020202020204" pitchFamily="34" charset="0"/>
              </a:rPr>
              <a:t>CA</a:t>
            </a:r>
            <a:r>
              <a:rPr lang="zh-TW" altLang="en-US" b="0" i="0" dirty="0">
                <a:solidFill>
                  <a:srgbClr val="646464"/>
                </a:solidFill>
                <a:effectLst/>
                <a:latin typeface="Arial" panose="020B0604020202020204" pitchFamily="34" charset="0"/>
              </a:rPr>
              <a:t>這本書沒有明確規範這個問題，簡單來說就是</a:t>
            </a:r>
            <a:r>
              <a:rPr lang="en-US" altLang="zh-TW" b="0" i="0" dirty="0">
                <a:solidFill>
                  <a:srgbClr val="646464"/>
                </a:solidFill>
                <a:effectLst/>
                <a:latin typeface="Arial" panose="020B0604020202020204" pitchFamily="34" charset="0"/>
              </a:rPr>
              <a:t>Entity</a:t>
            </a:r>
            <a:r>
              <a:rPr lang="zh-TW" altLang="en-US" b="0" i="0" dirty="0">
                <a:solidFill>
                  <a:srgbClr val="646464"/>
                </a:solidFill>
                <a:effectLst/>
                <a:latin typeface="Arial" panose="020B0604020202020204" pitchFamily="34" charset="0"/>
              </a:rPr>
              <a:t>層的</a:t>
            </a:r>
            <a:r>
              <a:rPr lang="en-US" altLang="zh-TW" b="0" i="0" dirty="0">
                <a:solidFill>
                  <a:srgbClr val="646464"/>
                </a:solidFill>
                <a:effectLst/>
                <a:latin typeface="Arial" panose="020B0604020202020204" pitchFamily="34" charset="0"/>
              </a:rPr>
              <a:t>Board</a:t>
            </a:r>
            <a:r>
              <a:rPr lang="zh-TW" altLang="en-US" b="0" i="0" dirty="0">
                <a:solidFill>
                  <a:srgbClr val="646464"/>
                </a:solidFill>
                <a:effectLst/>
                <a:latin typeface="Arial" panose="020B0604020202020204" pitchFamily="34" charset="0"/>
              </a:rPr>
              <a:t>物件</a:t>
            </a:r>
            <a:r>
              <a:rPr lang="en-US" altLang="zh-TW" b="0" i="0" dirty="0">
                <a:solidFill>
                  <a:srgbClr val="646464"/>
                </a:solidFill>
                <a:effectLst/>
                <a:latin typeface="Arial" panose="020B0604020202020204" pitchFamily="34" charset="0"/>
              </a:rPr>
              <a:t>(</a:t>
            </a:r>
            <a:r>
              <a:rPr lang="en-US" altLang="zh-TW" b="0" i="0" dirty="0" err="1">
                <a:solidFill>
                  <a:srgbClr val="646464"/>
                </a:solidFill>
                <a:effectLst/>
                <a:latin typeface="Arial" panose="020B0604020202020204" pitchFamily="34" charset="0"/>
              </a:rPr>
              <a:t>readmodel</a:t>
            </a:r>
            <a:r>
              <a:rPr lang="zh-TW" altLang="en-US" b="0" i="0" dirty="0">
                <a:solidFill>
                  <a:srgbClr val="646464"/>
                </a:solidFill>
                <a:effectLst/>
                <a:latin typeface="Arial" panose="020B0604020202020204" pitchFamily="34" charset="0"/>
              </a:rPr>
              <a:t>是用</a:t>
            </a:r>
            <a:r>
              <a:rPr lang="en-US" altLang="zh-TW" b="0" i="0" dirty="0" err="1">
                <a:solidFill>
                  <a:srgbClr val="646464"/>
                </a:solidFill>
                <a:effectLst/>
                <a:latin typeface="Arial" panose="020B0604020202020204" pitchFamily="34" charset="0"/>
              </a:rPr>
              <a:t>BoardDto</a:t>
            </a:r>
            <a:r>
              <a:rPr lang="zh-TW" altLang="en-US" b="0" i="0" dirty="0">
                <a:solidFill>
                  <a:srgbClr val="646464"/>
                </a:solidFill>
                <a:effectLst/>
                <a:latin typeface="Arial" panose="020B0604020202020204" pitchFamily="34" charset="0"/>
              </a:rPr>
              <a:t>但假設用</a:t>
            </a:r>
            <a:r>
              <a:rPr lang="en-US" altLang="zh-TW" b="0" i="0" dirty="0">
                <a:solidFill>
                  <a:srgbClr val="646464"/>
                </a:solidFill>
                <a:effectLst/>
                <a:latin typeface="Arial" panose="020B0604020202020204" pitchFamily="34" charset="0"/>
              </a:rPr>
              <a:t>Board)</a:t>
            </a:r>
            <a:r>
              <a:rPr lang="zh-TW" altLang="en-US" b="0" i="0" dirty="0">
                <a:solidFill>
                  <a:srgbClr val="646464"/>
                </a:solidFill>
                <a:effectLst/>
                <a:latin typeface="Arial" panose="020B0604020202020204" pitchFamily="34" charset="0"/>
              </a:rPr>
              <a:t>可以直接跨層（跨過</a:t>
            </a:r>
            <a:r>
              <a:rPr lang="en-US" altLang="zh-TW" b="0" i="0" dirty="0">
                <a:solidFill>
                  <a:srgbClr val="646464"/>
                </a:solidFill>
                <a:effectLst/>
                <a:latin typeface="Arial" panose="020B0604020202020204" pitchFamily="34" charset="0"/>
              </a:rPr>
              <a:t>Use Case</a:t>
            </a:r>
            <a:r>
              <a:rPr lang="zh-TW" altLang="en-US" b="0" i="0" dirty="0">
                <a:solidFill>
                  <a:srgbClr val="646464"/>
                </a:solidFill>
                <a:effectLst/>
                <a:latin typeface="Arial" panose="020B0604020202020204" pitchFamily="34" charset="0"/>
              </a:rPr>
              <a:t>層）傳給</a:t>
            </a:r>
            <a:r>
              <a:rPr lang="en-US" altLang="zh-TW" b="0" i="0" dirty="0" err="1">
                <a:solidFill>
                  <a:srgbClr val="646464"/>
                </a:solidFill>
                <a:effectLst/>
                <a:latin typeface="Arial" panose="020B0604020202020204" pitchFamily="34" charset="0"/>
              </a:rPr>
              <a:t>GetBoardController</a:t>
            </a:r>
            <a:r>
              <a:rPr lang="zh-TW" altLang="en-US" b="0" i="0" dirty="0">
                <a:solidFill>
                  <a:srgbClr val="646464"/>
                </a:solidFill>
                <a:effectLst/>
                <a:latin typeface="Arial" panose="020B0604020202020204" pitchFamily="34" charset="0"/>
              </a:rPr>
              <a:t>，因為根據相依性原則，這個的情況還是有遵守「外層相依於內層」的規定</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就是外層知道內層物件</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，那等一下會提到</a:t>
            </a:r>
            <a:r>
              <a:rPr lang="en-US" altLang="zh-TW" b="0" i="0" dirty="0" err="1">
                <a:solidFill>
                  <a:srgbClr val="646464"/>
                </a:solidFill>
                <a:effectLst/>
                <a:latin typeface="Arial" panose="020B0604020202020204" pitchFamily="34" charset="0"/>
              </a:rPr>
              <a:t>ezkanban</a:t>
            </a:r>
            <a:r>
              <a:rPr lang="zh-TW" altLang="en-US" b="0" i="0" dirty="0">
                <a:solidFill>
                  <a:srgbClr val="646464"/>
                </a:solidFill>
                <a:effectLst/>
                <a:latin typeface="Arial" panose="020B0604020202020204" pitchFamily="34" charset="0"/>
              </a:rPr>
              <a:t>怎麼處理這個問題。</a:t>
            </a:r>
          </a:p>
          <a:p>
            <a:pPr algn="l">
              <a:buFont typeface="Arial" panose="020B0604020202020204" pitchFamily="34" charset="0"/>
              <a:buChar char="•"/>
            </a:pPr>
            <a:r>
              <a:rPr lang="zh-TW" altLang="en-US" b="1" i="0" dirty="0">
                <a:solidFill>
                  <a:srgbClr val="646464"/>
                </a:solidFill>
                <a:effectLst/>
                <a:latin typeface="Arial" panose="020B0604020202020204" pitchFamily="34" charset="0"/>
              </a:rPr>
              <a:t>外層如何將資料傳給內層</a:t>
            </a:r>
            <a:r>
              <a:rPr lang="zh-TW" altLang="en-US" b="0" i="0" dirty="0">
                <a:solidFill>
                  <a:srgbClr val="646464"/>
                </a:solidFill>
                <a:effectLst/>
                <a:latin typeface="Arial" panose="020B0604020202020204" pitchFamily="34" charset="0"/>
              </a:rPr>
              <a:t>：假設</a:t>
            </a:r>
            <a:r>
              <a:rPr lang="en-US" altLang="zh-TW" b="0" i="0" dirty="0" err="1">
                <a:solidFill>
                  <a:srgbClr val="646464"/>
                </a:solidFill>
                <a:effectLst/>
                <a:latin typeface="Arial" panose="020B0604020202020204" pitchFamily="34" charset="0"/>
              </a:rPr>
              <a:t>GetBoardController</a:t>
            </a:r>
            <a:r>
              <a:rPr lang="zh-TW" altLang="en-US" b="0" i="0" dirty="0">
                <a:solidFill>
                  <a:srgbClr val="646464"/>
                </a:solidFill>
                <a:effectLst/>
                <a:latin typeface="Arial" panose="020B0604020202020204" pitchFamily="34" charset="0"/>
              </a:rPr>
              <a:t>從瀏覽器收到</a:t>
            </a:r>
            <a:r>
              <a:rPr lang="en-US" altLang="zh-TW" b="0" i="0" dirty="0" err="1">
                <a:solidFill>
                  <a:srgbClr val="646464"/>
                </a:solidFill>
                <a:effectLst/>
                <a:latin typeface="Arial" panose="020B0604020202020204" pitchFamily="34" charset="0"/>
              </a:rPr>
              <a:t>getboard</a:t>
            </a:r>
            <a:r>
              <a:rPr lang="zh-TW" altLang="en-US" b="0" i="0" dirty="0">
                <a:solidFill>
                  <a:srgbClr val="646464"/>
                </a:solidFill>
                <a:effectLst/>
                <a:latin typeface="Arial" panose="020B0604020202020204" pitchFamily="34" charset="0"/>
              </a:rPr>
              <a:t>的</a:t>
            </a:r>
            <a:r>
              <a:rPr lang="en-US" altLang="zh-TW" b="0" i="0" dirty="0">
                <a:solidFill>
                  <a:srgbClr val="646464"/>
                </a:solidFill>
                <a:effectLst/>
                <a:latin typeface="Arial" panose="020B0604020202020204" pitchFamily="34" charset="0"/>
              </a:rPr>
              <a:t>request</a:t>
            </a:r>
            <a:r>
              <a:rPr lang="zh-TW" altLang="en-US" b="0" i="0" dirty="0">
                <a:solidFill>
                  <a:srgbClr val="646464"/>
                </a:solidFill>
                <a:effectLst/>
                <a:latin typeface="Arial" panose="020B0604020202020204" pitchFamily="34" charset="0"/>
              </a:rPr>
              <a:t>，並將其內容轉成一個</a:t>
            </a:r>
            <a:r>
              <a:rPr lang="en-US" altLang="zh-TW" b="0" i="0" dirty="0">
                <a:solidFill>
                  <a:srgbClr val="646464"/>
                </a:solidFill>
                <a:effectLst/>
                <a:latin typeface="Arial" panose="020B0604020202020204" pitchFamily="34" charset="0"/>
              </a:rPr>
              <a:t>JSON</a:t>
            </a:r>
            <a:r>
              <a:rPr lang="zh-TW" altLang="en-US" b="0" i="0" dirty="0">
                <a:solidFill>
                  <a:srgbClr val="646464"/>
                </a:solidFill>
                <a:effectLst/>
                <a:latin typeface="Arial" panose="020B0604020202020204" pitchFamily="34" charset="0"/>
              </a:rPr>
              <a:t>物件。如果</a:t>
            </a:r>
            <a:r>
              <a:rPr lang="en-US" altLang="zh-TW" b="0" i="0" dirty="0" err="1">
                <a:solidFill>
                  <a:srgbClr val="646464"/>
                </a:solidFill>
                <a:effectLst/>
                <a:latin typeface="Arial" panose="020B0604020202020204" pitchFamily="34" charset="0"/>
              </a:rPr>
              <a:t>GetBoardController</a:t>
            </a:r>
            <a:r>
              <a:rPr lang="zh-TW" altLang="en-US" b="0" i="0" dirty="0">
                <a:solidFill>
                  <a:srgbClr val="646464"/>
                </a:solidFill>
                <a:effectLst/>
                <a:latin typeface="Arial" panose="020B0604020202020204" pitchFamily="34" charset="0"/>
              </a:rPr>
              <a:t>直接將這個</a:t>
            </a:r>
            <a:r>
              <a:rPr lang="en-US" altLang="zh-TW" b="0" i="0" dirty="0">
                <a:solidFill>
                  <a:srgbClr val="646464"/>
                </a:solidFill>
                <a:effectLst/>
                <a:latin typeface="Arial" panose="020B0604020202020204" pitchFamily="34" charset="0"/>
              </a:rPr>
              <a:t>JSON</a:t>
            </a:r>
            <a:r>
              <a:rPr lang="zh-TW" altLang="en-US" b="0" i="0" dirty="0">
                <a:solidFill>
                  <a:srgbClr val="646464"/>
                </a:solidFill>
                <a:effectLst/>
                <a:latin typeface="Arial" panose="020B0604020202020204" pitchFamily="34" charset="0"/>
              </a:rPr>
              <a:t>物件傳給</a:t>
            </a:r>
            <a:r>
              <a:rPr lang="en-US" altLang="zh-TW" b="0" i="0" dirty="0" err="1">
                <a:solidFill>
                  <a:srgbClr val="646464"/>
                </a:solidFill>
                <a:effectLst/>
                <a:latin typeface="Arial" panose="020B0604020202020204" pitchFamily="34" charset="0"/>
              </a:rPr>
              <a:t>GetBoardUseCase</a:t>
            </a:r>
            <a:r>
              <a:rPr lang="zh-TW" altLang="en-US" b="0" i="0" dirty="0">
                <a:solidFill>
                  <a:srgbClr val="646464"/>
                </a:solidFill>
                <a:effectLst/>
                <a:latin typeface="Arial" panose="020B0604020202020204" pitchFamily="34" charset="0"/>
              </a:rPr>
              <a:t>，則會破壞相依性原則，因為如此一來</a:t>
            </a:r>
            <a:r>
              <a:rPr lang="en-US" altLang="zh-TW" b="0" i="0" dirty="0" err="1">
                <a:solidFill>
                  <a:srgbClr val="646464"/>
                </a:solidFill>
                <a:effectLst/>
                <a:latin typeface="Arial" panose="020B0604020202020204" pitchFamily="34" charset="0"/>
              </a:rPr>
              <a:t>GetBoardUseCase</a:t>
            </a:r>
            <a:r>
              <a:rPr lang="zh-TW" altLang="en-US" b="0" i="0" dirty="0">
                <a:solidFill>
                  <a:srgbClr val="646464"/>
                </a:solidFill>
                <a:effectLst/>
                <a:latin typeface="Arial" panose="020B0604020202020204" pitchFamily="34" charset="0"/>
              </a:rPr>
              <a:t>就相依於屬於應用程式框架的</a:t>
            </a:r>
            <a:r>
              <a:rPr lang="en-US" altLang="zh-TW" b="0" i="0" dirty="0">
                <a:solidFill>
                  <a:srgbClr val="646464"/>
                </a:solidFill>
                <a:effectLst/>
                <a:latin typeface="Arial" panose="020B0604020202020204" pitchFamily="34" charset="0"/>
              </a:rPr>
              <a:t>JSON</a:t>
            </a:r>
            <a:r>
              <a:rPr lang="zh-TW" altLang="en-US" b="0" i="0" dirty="0">
                <a:solidFill>
                  <a:srgbClr val="646464"/>
                </a:solidFill>
                <a:effectLst/>
                <a:latin typeface="Arial" panose="020B0604020202020204" pitchFamily="34" charset="0"/>
              </a:rPr>
              <a:t>物件，也就是</a:t>
            </a:r>
            <a:r>
              <a:rPr lang="en-US" altLang="zh-TW" b="0" i="0" dirty="0" err="1">
                <a:solidFill>
                  <a:srgbClr val="646464"/>
                </a:solidFill>
                <a:effectLst/>
                <a:latin typeface="Arial" panose="020B0604020202020204" pitchFamily="34" charset="0"/>
              </a:rPr>
              <a:t>usecase</a:t>
            </a:r>
            <a:r>
              <a:rPr lang="zh-TW" altLang="en-US" b="0" i="0" dirty="0">
                <a:solidFill>
                  <a:srgbClr val="646464"/>
                </a:solidFill>
                <a:effectLst/>
                <a:latin typeface="Arial" panose="020B0604020202020204" pitchFamily="34" charset="0"/>
              </a:rPr>
              <a:t>這層被框架汙染。</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TW" dirty="0">
              <a:solidFill>
                <a:srgbClr val="BCBEC4"/>
              </a:solidFill>
              <a:effectLst/>
            </a:endParaRP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18</a:t>
            </a:fld>
            <a:endParaRPr lang="zh-TW" altLang="en-US"/>
          </a:p>
        </p:txBody>
      </p:sp>
    </p:spTree>
    <p:extLst>
      <p:ext uri="{BB962C8B-B14F-4D97-AF65-F5344CB8AC3E}">
        <p14:creationId xmlns:p14="http://schemas.microsoft.com/office/powerpoint/2010/main" val="1659870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剛提到物件在層與層之間傳遞時需要符合相依性原則還有由內到外跨層物件怎麼處理，那</a:t>
            </a:r>
            <a:r>
              <a:rPr lang="en-US" altLang="zh-TW" dirty="0"/>
              <a:t>CA</a:t>
            </a:r>
            <a:r>
              <a:rPr lang="zh-TW" altLang="en-US" dirty="0"/>
              <a:t>這本書有提到</a:t>
            </a:r>
            <a:r>
              <a:rPr lang="en-US" altLang="zh-TW" dirty="0" err="1"/>
              <a:t>UseCase</a:t>
            </a:r>
            <a:r>
              <a:rPr lang="zh-TW" altLang="en-US" dirty="0"/>
              <a:t>需要定義雙向介面，也就是</a:t>
            </a:r>
            <a:r>
              <a:rPr lang="en-US" altLang="zh-TW" dirty="0" err="1"/>
              <a:t>UseCase</a:t>
            </a:r>
            <a:r>
              <a:rPr lang="zh-TW" altLang="en-US" dirty="0"/>
              <a:t>的</a:t>
            </a:r>
            <a:r>
              <a:rPr lang="en-US" altLang="zh-TW" dirty="0"/>
              <a:t>input</a:t>
            </a:r>
            <a:r>
              <a:rPr lang="zh-TW" altLang="en-US" dirty="0"/>
              <a:t>與</a:t>
            </a:r>
            <a:r>
              <a:rPr lang="en-US" altLang="zh-TW" dirty="0"/>
              <a:t>output</a:t>
            </a:r>
            <a:r>
              <a:rPr lang="zh-TW" altLang="en-US" dirty="0"/>
              <a:t>介面和參數的資料型態，有了這個雙向介面，</a:t>
            </a:r>
            <a:r>
              <a:rPr lang="en-US" altLang="zh-TW" dirty="0"/>
              <a:t>Controller</a:t>
            </a:r>
            <a:r>
              <a:rPr lang="zh-TW" altLang="en-US" dirty="0"/>
              <a:t>就不會知道傳入和回傳的</a:t>
            </a:r>
            <a:r>
              <a:rPr lang="en-US" altLang="zh-TW" dirty="0"/>
              <a:t>Entity</a:t>
            </a:r>
            <a:r>
              <a:rPr lang="zh-TW" altLang="en-US" dirty="0"/>
              <a:t>物件。</a:t>
            </a:r>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19</a:t>
            </a:fld>
            <a:endParaRPr lang="zh-TW" altLang="en-US"/>
          </a:p>
        </p:txBody>
      </p:sp>
    </p:spTree>
    <p:extLst>
      <p:ext uri="{BB962C8B-B14F-4D97-AF65-F5344CB8AC3E}">
        <p14:creationId xmlns:p14="http://schemas.microsoft.com/office/powerpoint/2010/main" val="3079810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646464"/>
                </a:solidFill>
                <a:effectLst/>
                <a:latin typeface="Arial" panose="020B0604020202020204" pitchFamily="34" charset="0"/>
              </a:rPr>
              <a:t>在</a:t>
            </a:r>
            <a:r>
              <a:rPr lang="en-US" altLang="zh-TW" b="0" i="0" dirty="0" err="1">
                <a:solidFill>
                  <a:srgbClr val="646464"/>
                </a:solidFill>
                <a:effectLst/>
                <a:latin typeface="Arial" panose="020B0604020202020204" pitchFamily="34" charset="0"/>
              </a:rPr>
              <a:t>ezkanban</a:t>
            </a:r>
            <a:r>
              <a:rPr lang="zh-TW" altLang="en-US" b="0" i="0" dirty="0">
                <a:solidFill>
                  <a:srgbClr val="646464"/>
                </a:solidFill>
                <a:effectLst/>
                <a:latin typeface="Arial" panose="020B0604020202020204" pitchFamily="34" charset="0"/>
              </a:rPr>
              <a:t>中的</a:t>
            </a:r>
            <a:r>
              <a:rPr lang="en-US" altLang="zh-TW" b="0" i="0" dirty="0">
                <a:solidFill>
                  <a:srgbClr val="646464"/>
                </a:solidFill>
                <a:effectLst/>
                <a:latin typeface="Arial" panose="020B0604020202020204" pitchFamily="34" charset="0"/>
              </a:rPr>
              <a:t>Use Case</a:t>
            </a:r>
            <a:r>
              <a:rPr lang="zh-TW" altLang="en-US" b="0" i="0" dirty="0">
                <a:solidFill>
                  <a:srgbClr val="646464"/>
                </a:solidFill>
                <a:effectLst/>
                <a:latin typeface="Arial" panose="020B0604020202020204" pitchFamily="34" charset="0"/>
              </a:rPr>
              <a:t>本身提供</a:t>
            </a:r>
            <a:r>
              <a:rPr lang="en-US" altLang="zh-TW" b="0" i="0" dirty="0">
                <a:solidFill>
                  <a:srgbClr val="646464"/>
                </a:solidFill>
                <a:effectLst/>
                <a:latin typeface="Arial" panose="020B0604020202020204" pitchFamily="34" charset="0"/>
              </a:rPr>
              <a:t>Input</a:t>
            </a:r>
            <a:r>
              <a:rPr lang="zh-TW" altLang="en-US" b="0" i="0" dirty="0">
                <a:solidFill>
                  <a:srgbClr val="646464"/>
                </a:solidFill>
                <a:effectLst/>
                <a:latin typeface="Arial" panose="020B0604020202020204" pitchFamily="34" charset="0"/>
              </a:rPr>
              <a:t>介面與資料型別實作，下面這張圖是</a:t>
            </a:r>
            <a:r>
              <a:rPr lang="en-US" altLang="zh-TW" b="0" i="0" dirty="0" err="1">
                <a:solidFill>
                  <a:srgbClr val="646464"/>
                </a:solidFill>
                <a:effectLst/>
                <a:latin typeface="Arial" panose="020B0604020202020204" pitchFamily="34" charset="0"/>
              </a:rPr>
              <a:t>GetBoardController</a:t>
            </a:r>
            <a:r>
              <a:rPr lang="zh-TW" altLang="en-US" b="0" i="0" dirty="0">
                <a:solidFill>
                  <a:srgbClr val="646464"/>
                </a:solidFill>
                <a:effectLst/>
                <a:latin typeface="Arial" panose="020B0604020202020204" pitchFamily="34" charset="0"/>
              </a:rPr>
              <a:t>的一部分程式碼。</a:t>
            </a:r>
            <a:endParaRPr lang="en-US" altLang="zh-TW" b="0" i="0" dirty="0">
              <a:solidFill>
                <a:srgbClr val="646464"/>
              </a:solidFill>
              <a:effectLst/>
              <a:latin typeface="Arial" panose="020B0604020202020204" pitchFamily="34" charset="0"/>
            </a:endParaRPr>
          </a:p>
          <a:p>
            <a:r>
              <a:rPr lang="zh-TW" altLang="en-US" b="0" i="0" dirty="0">
                <a:solidFill>
                  <a:srgbClr val="646464"/>
                </a:solidFill>
                <a:effectLst/>
                <a:latin typeface="Arial" panose="020B0604020202020204" pitchFamily="34" charset="0"/>
              </a:rPr>
              <a:t>外層的</a:t>
            </a:r>
            <a:r>
              <a:rPr lang="en-US" altLang="zh-TW" b="0" i="0" dirty="0">
                <a:solidFill>
                  <a:srgbClr val="646464"/>
                </a:solidFill>
                <a:effectLst/>
                <a:latin typeface="Arial" panose="020B0604020202020204" pitchFamily="34" charset="0"/>
              </a:rPr>
              <a:t>Controller</a:t>
            </a:r>
            <a:r>
              <a:rPr lang="zh-TW" altLang="en-US" b="0" i="0" dirty="0">
                <a:solidFill>
                  <a:srgbClr val="646464"/>
                </a:solidFill>
                <a:effectLst/>
                <a:latin typeface="Arial" panose="020B0604020202020204" pitchFamily="34" charset="0"/>
              </a:rPr>
              <a:t>要將參數傳給</a:t>
            </a:r>
            <a:r>
              <a:rPr lang="en-US" altLang="zh-TW" b="0" i="0" dirty="0">
                <a:solidFill>
                  <a:srgbClr val="646464"/>
                </a:solidFill>
                <a:effectLst/>
                <a:latin typeface="Arial" panose="020B0604020202020204" pitchFamily="34" charset="0"/>
              </a:rPr>
              <a:t>Use Case</a:t>
            </a:r>
            <a:r>
              <a:rPr lang="zh-TW" altLang="en-US" b="0" i="0" dirty="0">
                <a:solidFill>
                  <a:srgbClr val="646464"/>
                </a:solidFill>
                <a:effectLst/>
                <a:latin typeface="Arial" panose="020B0604020202020204" pitchFamily="34" charset="0"/>
              </a:rPr>
              <a:t>時，必須負責把參數型別轉成</a:t>
            </a:r>
            <a:r>
              <a:rPr lang="en-US" altLang="zh-TW" b="0" i="0" dirty="0">
                <a:solidFill>
                  <a:srgbClr val="646464"/>
                </a:solidFill>
                <a:effectLst/>
                <a:latin typeface="Arial" panose="020B0604020202020204" pitchFamily="34" charset="0"/>
              </a:rPr>
              <a:t>Use Case</a:t>
            </a:r>
            <a:r>
              <a:rPr lang="zh-TW" altLang="en-US" b="0" i="0" dirty="0">
                <a:solidFill>
                  <a:srgbClr val="646464"/>
                </a:solidFill>
                <a:effectLst/>
                <a:latin typeface="Arial" panose="020B0604020202020204" pitchFamily="34" charset="0"/>
              </a:rPr>
              <a:t>所定義的</a:t>
            </a:r>
            <a:r>
              <a:rPr lang="en-US" altLang="zh-TW" b="0" i="0" dirty="0">
                <a:solidFill>
                  <a:srgbClr val="646464"/>
                </a:solidFill>
                <a:effectLst/>
                <a:latin typeface="Arial" panose="020B0604020202020204" pitchFamily="34" charset="0"/>
              </a:rPr>
              <a:t>Input</a:t>
            </a:r>
            <a:r>
              <a:rPr lang="zh-TW" altLang="en-US" b="0" i="0" dirty="0">
                <a:solidFill>
                  <a:srgbClr val="646464"/>
                </a:solidFill>
                <a:effectLst/>
                <a:latin typeface="Arial" panose="020B0604020202020204" pitchFamily="34" charset="0"/>
              </a:rPr>
              <a:t>介面</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這邊就是</a:t>
            </a:r>
            <a:r>
              <a:rPr lang="en-US" altLang="zh-TW" b="0" i="0" dirty="0" err="1">
                <a:solidFill>
                  <a:srgbClr val="646464"/>
                </a:solidFill>
                <a:effectLst/>
                <a:latin typeface="Arial" panose="020B0604020202020204" pitchFamily="34" charset="0"/>
              </a:rPr>
              <a:t>GetBoardInput</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，這裡的</a:t>
            </a:r>
            <a:r>
              <a:rPr lang="en-US" altLang="zh-TW" b="0" i="0" dirty="0" err="1">
                <a:solidFill>
                  <a:srgbClr val="646464"/>
                </a:solidFill>
                <a:effectLst/>
                <a:latin typeface="Arial" panose="020B0604020202020204" pitchFamily="34" charset="0"/>
              </a:rPr>
              <a:t>GetBoardInput</a:t>
            </a:r>
            <a:r>
              <a:rPr lang="zh-TW" altLang="en-US" b="0" i="0" dirty="0">
                <a:solidFill>
                  <a:srgbClr val="646464"/>
                </a:solidFill>
                <a:effectLst/>
                <a:latin typeface="Arial" panose="020B0604020202020204" pitchFamily="34" charset="0"/>
              </a:rPr>
              <a:t>其實就是一個</a:t>
            </a:r>
            <a:r>
              <a:rPr lang="en-US" altLang="zh-TW" b="0" i="0" dirty="0">
                <a:solidFill>
                  <a:srgbClr val="646464"/>
                </a:solidFill>
                <a:effectLst/>
                <a:latin typeface="Arial" panose="020B0604020202020204" pitchFamily="34" charset="0"/>
              </a:rPr>
              <a:t>Data Structure</a:t>
            </a:r>
            <a:r>
              <a:rPr lang="zh-TW" altLang="en-US" b="0" i="0" dirty="0">
                <a:solidFill>
                  <a:srgbClr val="646464"/>
                </a:solidFill>
                <a:effectLst/>
                <a:latin typeface="Arial" panose="020B0604020202020204" pitchFamily="34" charset="0"/>
              </a:rPr>
              <a:t>的物件，</a:t>
            </a:r>
            <a:endParaRPr lang="en-US" altLang="zh-TW" b="0" i="0" dirty="0">
              <a:solidFill>
                <a:srgbClr val="646464"/>
              </a:solidFill>
              <a:effectLst/>
              <a:latin typeface="Arial" panose="020B0604020202020204" pitchFamily="34" charset="0"/>
            </a:endParaRPr>
          </a:p>
          <a:p>
            <a:r>
              <a:rPr lang="en-US" altLang="zh-TW" b="0" i="0" dirty="0" err="1">
                <a:solidFill>
                  <a:srgbClr val="646464"/>
                </a:solidFill>
                <a:effectLst/>
                <a:latin typeface="Arial" panose="020B0604020202020204" pitchFamily="34" charset="0"/>
              </a:rPr>
              <a:t>GetBoardController</a:t>
            </a:r>
            <a:r>
              <a:rPr lang="zh-TW" altLang="en-US" b="0" i="0" dirty="0">
                <a:solidFill>
                  <a:srgbClr val="646464"/>
                </a:solidFill>
                <a:effectLst/>
                <a:latin typeface="Arial" panose="020B0604020202020204" pitchFamily="34" charset="0"/>
              </a:rPr>
              <a:t>會把外部拿來的</a:t>
            </a:r>
            <a:r>
              <a:rPr lang="en-US" altLang="zh-TW" b="0" i="0" dirty="0" err="1">
                <a:solidFill>
                  <a:srgbClr val="646464"/>
                </a:solidFill>
                <a:effectLst/>
                <a:latin typeface="Arial" panose="020B0604020202020204" pitchFamily="34" charset="0"/>
              </a:rPr>
              <a:t>json</a:t>
            </a:r>
            <a:r>
              <a:rPr lang="zh-TW" altLang="en-US" b="0" i="0" dirty="0">
                <a:solidFill>
                  <a:srgbClr val="646464"/>
                </a:solidFill>
                <a:effectLst/>
                <a:latin typeface="Arial" panose="020B0604020202020204" pitchFamily="34" charset="0"/>
              </a:rPr>
              <a:t>資料轉成</a:t>
            </a:r>
            <a:r>
              <a:rPr lang="en-US" altLang="zh-TW" b="0" i="0" dirty="0">
                <a:solidFill>
                  <a:srgbClr val="646464"/>
                </a:solidFill>
                <a:effectLst/>
                <a:latin typeface="Arial" panose="020B0604020202020204" pitchFamily="34" charset="0"/>
              </a:rPr>
              <a:t>input</a:t>
            </a:r>
            <a:r>
              <a:rPr lang="zh-TW" altLang="en-US" b="0" i="0" dirty="0">
                <a:solidFill>
                  <a:srgbClr val="646464"/>
                </a:solidFill>
                <a:effectLst/>
                <a:latin typeface="Arial" panose="020B0604020202020204" pitchFamily="34" charset="0"/>
              </a:rPr>
              <a:t>物件丟給</a:t>
            </a:r>
            <a:r>
              <a:rPr lang="en-US" altLang="zh-TW" b="0" i="0" dirty="0" err="1">
                <a:solidFill>
                  <a:srgbClr val="646464"/>
                </a:solidFill>
                <a:effectLst/>
                <a:latin typeface="Arial" panose="020B0604020202020204" pitchFamily="34" charset="0"/>
              </a:rPr>
              <a:t>getBoardUseCase</a:t>
            </a:r>
            <a:r>
              <a:rPr lang="zh-TW" altLang="en-US" b="0" i="0" dirty="0">
                <a:solidFill>
                  <a:srgbClr val="646464"/>
                </a:solidFill>
                <a:effectLst/>
                <a:latin typeface="Arial" panose="020B0604020202020204" pitchFamily="34" charset="0"/>
              </a:rPr>
              <a:t>。</a:t>
            </a:r>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20</a:t>
            </a:fld>
            <a:endParaRPr lang="zh-TW" altLang="en-US"/>
          </a:p>
        </p:txBody>
      </p:sp>
    </p:spTree>
    <p:extLst>
      <p:ext uri="{BB962C8B-B14F-4D97-AF65-F5344CB8AC3E}">
        <p14:creationId xmlns:p14="http://schemas.microsoft.com/office/powerpoint/2010/main" val="1837318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E424B-190D-DDD1-A5EC-CBB34653D5C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8497681-B473-1D15-561E-50619CF04D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5CB0C-081E-0684-4AAA-B8FA6EFAA1B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b="0" i="0" dirty="0">
                <a:solidFill>
                  <a:srgbClr val="646464"/>
                </a:solidFill>
                <a:effectLst/>
                <a:latin typeface="Arial" panose="020B0604020202020204" pitchFamily="34" charset="0"/>
              </a:rPr>
              <a:t>Use Case</a:t>
            </a:r>
            <a:r>
              <a:rPr lang="zh-TW" altLang="en-US" b="0" i="0" dirty="0">
                <a:solidFill>
                  <a:srgbClr val="646464"/>
                </a:solidFill>
                <a:effectLst/>
                <a:latin typeface="Arial" panose="020B0604020202020204" pitchFamily="34" charset="0"/>
              </a:rPr>
              <a:t>的</a:t>
            </a:r>
            <a:r>
              <a:rPr lang="en-US" altLang="zh-TW" b="0" i="0" dirty="0">
                <a:solidFill>
                  <a:srgbClr val="646464"/>
                </a:solidFill>
                <a:effectLst/>
                <a:latin typeface="Arial" panose="020B0604020202020204" pitchFamily="34" charset="0"/>
              </a:rPr>
              <a:t>Output</a:t>
            </a:r>
            <a:r>
              <a:rPr lang="zh-TW" altLang="en-US" b="0" i="0" dirty="0">
                <a:solidFill>
                  <a:srgbClr val="646464"/>
                </a:solidFill>
                <a:effectLst/>
                <a:latin typeface="Arial" panose="020B0604020202020204" pitchFamily="34" charset="0"/>
              </a:rPr>
              <a:t>介面由</a:t>
            </a:r>
            <a:r>
              <a:rPr lang="en-US" altLang="zh-TW" b="0" i="0" dirty="0" err="1">
                <a:solidFill>
                  <a:srgbClr val="646464"/>
                </a:solidFill>
                <a:effectLst/>
                <a:latin typeface="Arial" panose="020B0604020202020204" pitchFamily="34" charset="0"/>
              </a:rPr>
              <a:t>CqrsOutput</a:t>
            </a:r>
            <a:r>
              <a:rPr lang="zh-TW" altLang="en-US" b="0" i="0" dirty="0">
                <a:solidFill>
                  <a:srgbClr val="646464"/>
                </a:solidFill>
                <a:effectLst/>
                <a:latin typeface="Arial" panose="020B0604020202020204" pitchFamily="34" charset="0"/>
              </a:rPr>
              <a:t>這個</a:t>
            </a:r>
            <a:r>
              <a:rPr lang="en-US" altLang="zh-TW" b="0" i="0" dirty="0">
                <a:solidFill>
                  <a:srgbClr val="646464"/>
                </a:solidFill>
                <a:effectLst/>
                <a:latin typeface="Arial" panose="020B0604020202020204" pitchFamily="34" charset="0"/>
              </a:rPr>
              <a:t>concrete class</a:t>
            </a:r>
            <a:r>
              <a:rPr lang="zh-TW" altLang="en-US" b="0" i="0" dirty="0">
                <a:solidFill>
                  <a:srgbClr val="646464"/>
                </a:solidFill>
                <a:effectLst/>
                <a:latin typeface="Arial" panose="020B0604020202020204" pitchFamily="34" charset="0"/>
              </a:rPr>
              <a:t>實作</a:t>
            </a:r>
            <a:r>
              <a:rPr lang="en-US" altLang="zh-TW" b="0" i="0" dirty="0">
                <a:solidFill>
                  <a:srgbClr val="646464"/>
                </a:solidFill>
                <a:effectLst/>
                <a:latin typeface="Arial" panose="020B0604020202020204" pitchFamily="34" charset="0"/>
              </a:rPr>
              <a:t>(</a:t>
            </a:r>
            <a:r>
              <a:rPr lang="en-US" altLang="zh-TW" b="0" i="0" dirty="0" err="1">
                <a:solidFill>
                  <a:srgbClr val="646464"/>
                </a:solidFill>
                <a:effectLst/>
                <a:latin typeface="Arial" panose="020B0604020202020204" pitchFamily="34" charset="0"/>
              </a:rPr>
              <a:t>cqrs</a:t>
            </a:r>
            <a:r>
              <a:rPr lang="zh-TW" altLang="en-US" b="0" i="0" dirty="0">
                <a:solidFill>
                  <a:srgbClr val="646464"/>
                </a:solidFill>
                <a:effectLst/>
                <a:latin typeface="Arial" panose="020B0604020202020204" pitchFamily="34" charset="0"/>
              </a:rPr>
              <a:t>就是之前</a:t>
            </a:r>
            <a:r>
              <a:rPr lang="en-US" altLang="zh-TW" b="0" i="0" dirty="0">
                <a:solidFill>
                  <a:srgbClr val="646464"/>
                </a:solidFill>
                <a:effectLst/>
                <a:latin typeface="Arial" panose="020B0604020202020204" pitchFamily="34" charset="0"/>
              </a:rPr>
              <a:t>Arno</a:t>
            </a:r>
            <a:r>
              <a:rPr lang="zh-TW" altLang="en-US" b="0" i="0" dirty="0">
                <a:solidFill>
                  <a:srgbClr val="646464"/>
                </a:solidFill>
                <a:effectLst/>
                <a:latin typeface="Arial" panose="020B0604020202020204" pitchFamily="34" charset="0"/>
              </a:rPr>
              <a:t>談到的</a:t>
            </a:r>
            <a:r>
              <a:rPr lang="en-US" altLang="zh-TW" b="0" i="0" dirty="0">
                <a:solidFill>
                  <a:srgbClr val="646464"/>
                </a:solidFill>
                <a:effectLst/>
                <a:latin typeface="Arial" panose="020B0604020202020204" pitchFamily="34" charset="0"/>
              </a:rPr>
              <a:t>Command</a:t>
            </a:r>
            <a:r>
              <a:rPr lang="zh-TW" altLang="en-US" b="0" i="0" dirty="0">
                <a:solidFill>
                  <a:srgbClr val="646464"/>
                </a:solidFill>
                <a:effectLst/>
                <a:latin typeface="Arial" panose="020B0604020202020204" pitchFamily="34" charset="0"/>
              </a:rPr>
              <a:t>跟</a:t>
            </a:r>
            <a:r>
              <a:rPr lang="en-US" altLang="zh-TW" b="0" i="0" dirty="0">
                <a:solidFill>
                  <a:srgbClr val="646464"/>
                </a:solidFill>
                <a:effectLst/>
                <a:latin typeface="Arial" panose="020B0604020202020204" pitchFamily="34" charset="0"/>
              </a:rPr>
              <a:t>query</a:t>
            </a:r>
            <a:r>
              <a:rPr lang="zh-TW" altLang="en-US" b="0" i="0" dirty="0">
                <a:solidFill>
                  <a:srgbClr val="646464"/>
                </a:solidFill>
                <a:effectLst/>
                <a:latin typeface="Arial" panose="020B0604020202020204" pitchFamily="34" charset="0"/>
              </a:rPr>
              <a:t>分離的</a:t>
            </a:r>
            <a:r>
              <a:rPr lang="en-US" altLang="zh-TW" b="0" i="0" dirty="0">
                <a:solidFill>
                  <a:srgbClr val="646464"/>
                </a:solidFill>
                <a:effectLst/>
                <a:latin typeface="Arial" panose="020B0604020202020204" pitchFamily="34" charset="0"/>
              </a:rPr>
              <a:t>architectural pattern)</a:t>
            </a:r>
            <a:r>
              <a:rPr lang="zh-TW" altLang="en-US" b="0" i="0" dirty="0">
                <a:solidFill>
                  <a:srgbClr val="646464"/>
                </a:solidFill>
                <a:effectLst/>
                <a:latin typeface="Arial" panose="020B0604020202020204" pitchFamily="34" charset="0"/>
              </a:rPr>
              <a:t>，</a:t>
            </a:r>
            <a:r>
              <a:rPr lang="en-US" altLang="zh-TW" b="0" i="0" dirty="0" err="1">
                <a:solidFill>
                  <a:srgbClr val="646464"/>
                </a:solidFill>
                <a:effectLst/>
                <a:latin typeface="Arial" panose="020B0604020202020204" pitchFamily="34" charset="0"/>
              </a:rPr>
              <a:t>CqrsOutput</a:t>
            </a:r>
            <a:r>
              <a:rPr lang="zh-TW" altLang="en-US" b="0" i="0" dirty="0">
                <a:solidFill>
                  <a:srgbClr val="646464"/>
                </a:solidFill>
                <a:effectLst/>
                <a:latin typeface="Arial" panose="020B0604020202020204" pitchFamily="34" charset="0"/>
              </a:rPr>
              <a:t>有</a:t>
            </a:r>
            <a:r>
              <a:rPr lang="en-US" altLang="zh-TW" b="0" i="0" dirty="0">
                <a:solidFill>
                  <a:srgbClr val="646464"/>
                </a:solidFill>
                <a:effectLst/>
                <a:latin typeface="Arial" panose="020B0604020202020204" pitchFamily="34" charset="0"/>
              </a:rPr>
              <a:t>id(</a:t>
            </a:r>
            <a:r>
              <a:rPr lang="zh-TW" altLang="en-US" b="0" i="0" dirty="0">
                <a:solidFill>
                  <a:srgbClr val="646464"/>
                </a:solidFill>
                <a:effectLst/>
                <a:latin typeface="Arial" panose="020B0604020202020204" pitchFamily="34" charset="0"/>
              </a:rPr>
              <a:t>此例子是</a:t>
            </a:r>
            <a:r>
              <a:rPr lang="en-US" altLang="zh-TW" b="0" i="0" dirty="0" err="1">
                <a:solidFill>
                  <a:srgbClr val="646464"/>
                </a:solidFill>
                <a:effectLst/>
                <a:latin typeface="Arial" panose="020B0604020202020204" pitchFamily="34" charset="0"/>
              </a:rPr>
              <a:t>teamId</a:t>
            </a:r>
            <a:r>
              <a:rPr lang="en-US" altLang="zh-TW" b="0" i="0" dirty="0">
                <a:solidFill>
                  <a:srgbClr val="646464"/>
                </a:solidFill>
                <a:effectLst/>
                <a:latin typeface="Arial" panose="020B0604020202020204" pitchFamily="34" charset="0"/>
              </a:rPr>
              <a:t>)</a:t>
            </a:r>
            <a:r>
              <a:rPr lang="zh-TW" altLang="en-US" b="0" i="0" dirty="0">
                <a:solidFill>
                  <a:srgbClr val="646464"/>
                </a:solidFill>
                <a:effectLst/>
                <a:latin typeface="Arial" panose="020B0604020202020204" pitchFamily="34" charset="0"/>
              </a:rPr>
              <a:t>、</a:t>
            </a:r>
            <a:r>
              <a:rPr lang="en-US" altLang="zh-TW" b="0" i="0" dirty="0">
                <a:solidFill>
                  <a:srgbClr val="646464"/>
                </a:solidFill>
                <a:effectLst/>
                <a:latin typeface="Arial" panose="020B0604020202020204" pitchFamily="34" charset="0"/>
              </a:rPr>
              <a:t>message(</a:t>
            </a:r>
            <a:r>
              <a:rPr lang="zh-TW" altLang="en-US" b="0" i="0" dirty="0">
                <a:solidFill>
                  <a:srgbClr val="646464"/>
                </a:solidFill>
                <a:effectLst/>
                <a:latin typeface="Arial" panose="020B0604020202020204" pitchFamily="34" charset="0"/>
              </a:rPr>
              <a:t>放</a:t>
            </a:r>
            <a:r>
              <a:rPr lang="en-US" altLang="zh-TW" b="0" i="0" dirty="0">
                <a:solidFill>
                  <a:srgbClr val="646464"/>
                </a:solidFill>
                <a:effectLst/>
                <a:latin typeface="Arial" panose="020B0604020202020204" pitchFamily="34" charset="0"/>
              </a:rPr>
              <a:t>exception</a:t>
            </a:r>
            <a:r>
              <a:rPr lang="zh-TW" altLang="en-US" b="0" i="0" dirty="0">
                <a:solidFill>
                  <a:srgbClr val="646464"/>
                </a:solidFill>
                <a:effectLst/>
                <a:latin typeface="Arial" panose="020B0604020202020204" pitchFamily="34" charset="0"/>
              </a:rPr>
              <a:t>的</a:t>
            </a:r>
            <a:r>
              <a:rPr lang="en-US" altLang="zh-TW" b="0" i="0" dirty="0">
                <a:solidFill>
                  <a:srgbClr val="646464"/>
                </a:solidFill>
                <a:effectLst/>
                <a:latin typeface="Arial" panose="020B0604020202020204" pitchFamily="34" charset="0"/>
              </a:rPr>
              <a:t>message)</a:t>
            </a:r>
            <a:r>
              <a:rPr lang="zh-TW" altLang="en-US" b="0" i="0" dirty="0">
                <a:solidFill>
                  <a:srgbClr val="646464"/>
                </a:solidFill>
                <a:effectLst/>
                <a:latin typeface="Arial" panose="020B0604020202020204" pitchFamily="34" charset="0"/>
              </a:rPr>
              <a:t>、</a:t>
            </a:r>
            <a:r>
              <a:rPr lang="en-US" altLang="zh-TW" b="0" i="0" dirty="0" err="1">
                <a:solidFill>
                  <a:srgbClr val="646464"/>
                </a:solidFill>
                <a:effectLst/>
                <a:latin typeface="Arial" panose="020B0604020202020204" pitchFamily="34" charset="0"/>
              </a:rPr>
              <a:t>ExitCode</a:t>
            </a:r>
            <a:r>
              <a:rPr lang="en-US" altLang="zh-TW" b="0" i="0" dirty="0">
                <a:solidFill>
                  <a:srgbClr val="646464"/>
                </a:solidFill>
                <a:effectLst/>
                <a:latin typeface="Arial" panose="020B0604020202020204" pitchFamily="34" charset="0"/>
              </a:rPr>
              <a:t>(SUCCESS</a:t>
            </a:r>
            <a:r>
              <a:rPr lang="zh-TW" altLang="en-US" b="0" i="0" dirty="0">
                <a:solidFill>
                  <a:srgbClr val="646464"/>
                </a:solidFill>
                <a:effectLst/>
                <a:latin typeface="Arial" panose="020B0604020202020204" pitchFamily="34" charset="0"/>
              </a:rPr>
              <a:t>或</a:t>
            </a:r>
            <a:r>
              <a:rPr lang="en-US" altLang="zh-TW" b="0" i="0" dirty="0">
                <a:solidFill>
                  <a:srgbClr val="646464"/>
                </a:solidFill>
                <a:effectLst/>
                <a:latin typeface="Arial" panose="020B0604020202020204" pitchFamily="34" charset="0"/>
              </a:rPr>
              <a:t>FAILURE)</a:t>
            </a:r>
            <a:r>
              <a:rPr lang="zh-TW" altLang="en-US" b="0" i="0" dirty="0">
                <a:solidFill>
                  <a:srgbClr val="646464"/>
                </a:solidFill>
                <a:effectLst/>
                <a:latin typeface="Arial" panose="020B0604020202020204" pitchFamily="34" charset="0"/>
              </a:rPr>
              <a:t>。</a:t>
            </a:r>
            <a:endParaRPr lang="en-US" altLang="zh-TW" dirty="0">
              <a:solidFill>
                <a:srgbClr val="BCBEC4"/>
              </a:solidFill>
              <a:effectLst/>
            </a:endParaRPr>
          </a:p>
        </p:txBody>
      </p:sp>
      <p:sp>
        <p:nvSpPr>
          <p:cNvPr id="4" name="投影片編號版面配置區 3">
            <a:extLst>
              <a:ext uri="{FF2B5EF4-FFF2-40B4-BE49-F238E27FC236}">
                <a16:creationId xmlns:a16="http://schemas.microsoft.com/office/drawing/2014/main" id="{6E200684-2D84-1A5D-5034-3342EF332A45}"/>
              </a:ext>
            </a:extLst>
          </p:cNvPr>
          <p:cNvSpPr>
            <a:spLocks noGrp="1"/>
          </p:cNvSpPr>
          <p:nvPr>
            <p:ph type="sldNum" sz="quarter" idx="5"/>
          </p:nvPr>
        </p:nvSpPr>
        <p:spPr/>
        <p:txBody>
          <a:bodyPr/>
          <a:lstStyle/>
          <a:p>
            <a:fld id="{73967E60-74AC-7544-A9E1-2DF949A6356E}" type="slidenum">
              <a:rPr lang="zh-TW" altLang="en-US" smtClean="0"/>
              <a:pPr/>
              <a:t>21</a:t>
            </a:fld>
            <a:endParaRPr lang="zh-TW" altLang="en-US"/>
          </a:p>
        </p:txBody>
      </p:sp>
    </p:spTree>
    <p:extLst>
      <p:ext uri="{BB962C8B-B14F-4D97-AF65-F5344CB8AC3E}">
        <p14:creationId xmlns:p14="http://schemas.microsoft.com/office/powerpoint/2010/main" val="2565502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2FA98-7CB2-11A7-E861-579E67B433F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A1DBD1D-4671-41C9-55E1-8CDEDCD4DF0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BB7559-B5E1-E69E-5D15-D87078128B1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b="0" i="0" dirty="0">
                <a:solidFill>
                  <a:srgbClr val="646464"/>
                </a:solidFill>
                <a:effectLst/>
                <a:latin typeface="Arial" panose="020B0604020202020204" pitchFamily="34" charset="0"/>
              </a:rPr>
              <a:t>在此範例</a:t>
            </a:r>
            <a:r>
              <a:rPr lang="en-US" altLang="zh-TW" dirty="0" err="1">
                <a:solidFill>
                  <a:srgbClr val="BCBEC4"/>
                </a:solidFill>
                <a:effectLst/>
              </a:rPr>
              <a:t>GetBoardOutput</a:t>
            </a:r>
            <a:r>
              <a:rPr lang="zh-TW" altLang="en-US" dirty="0">
                <a:solidFill>
                  <a:srgbClr val="BCBEC4"/>
                </a:solidFill>
                <a:effectLst/>
              </a:rPr>
              <a:t>會去繼承</a:t>
            </a:r>
            <a:r>
              <a:rPr lang="en-US" altLang="zh-TW" dirty="0" err="1">
                <a:solidFill>
                  <a:srgbClr val="BCBEC4"/>
                </a:solidFill>
                <a:effectLst/>
              </a:rPr>
              <a:t>CqrsOutput</a:t>
            </a:r>
            <a:r>
              <a:rPr lang="zh-TW" altLang="en-US" dirty="0">
                <a:solidFill>
                  <a:srgbClr val="BCBEC4"/>
                </a:solidFill>
                <a:effectLst/>
              </a:rPr>
              <a:t>，它自身也有一個</a:t>
            </a:r>
            <a:r>
              <a:rPr lang="en-US" altLang="zh-TW" dirty="0" err="1">
                <a:solidFill>
                  <a:srgbClr val="BCBEC4"/>
                </a:solidFill>
                <a:effectLst/>
              </a:rPr>
              <a:t>BoardDto</a:t>
            </a:r>
            <a:r>
              <a:rPr lang="zh-TW" altLang="en-US" dirty="0">
                <a:solidFill>
                  <a:srgbClr val="BCBEC4"/>
                </a:solidFill>
                <a:effectLst/>
              </a:rPr>
              <a:t>存</a:t>
            </a:r>
            <a:r>
              <a:rPr lang="en-US" altLang="zh-TW" dirty="0">
                <a:solidFill>
                  <a:srgbClr val="BCBEC4"/>
                </a:solidFill>
                <a:effectLst/>
              </a:rPr>
              <a:t>Team Board</a:t>
            </a:r>
            <a:r>
              <a:rPr lang="zh-TW" altLang="en-US" dirty="0">
                <a:solidFill>
                  <a:srgbClr val="BCBEC4"/>
                </a:solidFill>
                <a:effectLst/>
              </a:rPr>
              <a:t>的一些基本資料</a:t>
            </a:r>
            <a:r>
              <a:rPr lang="en-US" altLang="zh-TW" dirty="0">
                <a:solidFill>
                  <a:srgbClr val="BCBEC4"/>
                </a:solidFill>
                <a:effectLst/>
              </a:rPr>
              <a:t>(id, name, </a:t>
            </a:r>
            <a:r>
              <a:rPr lang="en-US" altLang="zh-TW" dirty="0" err="1">
                <a:solidFill>
                  <a:srgbClr val="BCBEC4"/>
                </a:solidFill>
                <a:effectLst/>
              </a:rPr>
              <a:t>projectId</a:t>
            </a:r>
            <a:r>
              <a:rPr lang="en-US" altLang="zh-TW" dirty="0">
                <a:solidFill>
                  <a:srgbClr val="BCBEC4"/>
                </a:solidFill>
                <a:effectLst/>
              </a:rPr>
              <a:t>, template(Standard or </a:t>
            </a:r>
            <a:r>
              <a:rPr lang="en-US" altLang="zh-TW" dirty="0" err="1">
                <a:solidFill>
                  <a:srgbClr val="BCBEC4"/>
                </a:solidFill>
                <a:effectLst/>
              </a:rPr>
              <a:t>KanbanGame</a:t>
            </a:r>
            <a:r>
              <a:rPr lang="en-US" altLang="zh-TW" dirty="0">
                <a:solidFill>
                  <a:srgbClr val="BCBEC4"/>
                </a:solidFill>
                <a:effectLst/>
              </a:rPr>
              <a:t>))</a:t>
            </a:r>
            <a:r>
              <a:rPr lang="zh-TW" altLang="en-US" dirty="0">
                <a:solidFill>
                  <a:srgbClr val="BCBEC4"/>
                </a:solidFill>
                <a:effectLst/>
              </a:rPr>
              <a:t>。</a:t>
            </a: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solidFill>
                  <a:srgbClr val="BCBEC4"/>
                </a:solidFill>
                <a:effectLst/>
              </a:rPr>
              <a:t>下面是</a:t>
            </a:r>
            <a:r>
              <a:rPr lang="en-US" altLang="zh-TW" dirty="0" err="1">
                <a:solidFill>
                  <a:srgbClr val="BCBEC4"/>
                </a:solidFill>
                <a:effectLst/>
              </a:rPr>
              <a:t>GetBoardUseCase</a:t>
            </a:r>
            <a:r>
              <a:rPr lang="zh-TW" altLang="en-US" dirty="0">
                <a:solidFill>
                  <a:srgbClr val="BCBEC4"/>
                </a:solidFill>
                <a:effectLst/>
              </a:rPr>
              <a:t>的實作，</a:t>
            </a:r>
            <a:r>
              <a:rPr lang="en-US" altLang="zh-TW" dirty="0" err="1">
                <a:solidFill>
                  <a:srgbClr val="BCBEC4"/>
                </a:solidFill>
                <a:effectLst/>
              </a:rPr>
              <a:t>boardProjection</a:t>
            </a:r>
            <a:r>
              <a:rPr lang="en-US" altLang="zh-TW" dirty="0">
                <a:solidFill>
                  <a:srgbClr val="BCBEC4"/>
                </a:solidFill>
                <a:effectLst/>
              </a:rPr>
              <a:t>(</a:t>
            </a:r>
            <a:r>
              <a:rPr lang="zh-TW" altLang="en-US" dirty="0">
                <a:solidFill>
                  <a:srgbClr val="BCBEC4"/>
                </a:solidFill>
                <a:effectLst/>
              </a:rPr>
              <a:t>之前</a:t>
            </a:r>
            <a:r>
              <a:rPr lang="en-US" altLang="zh-TW" dirty="0">
                <a:solidFill>
                  <a:srgbClr val="BCBEC4"/>
                </a:solidFill>
                <a:effectLst/>
              </a:rPr>
              <a:t>Arno</a:t>
            </a:r>
            <a:r>
              <a:rPr lang="zh-TW" altLang="en-US" dirty="0">
                <a:solidFill>
                  <a:srgbClr val="BCBEC4"/>
                </a:solidFill>
                <a:effectLst/>
              </a:rPr>
              <a:t>的</a:t>
            </a:r>
            <a:r>
              <a:rPr lang="en-US" altLang="zh-TW" dirty="0">
                <a:solidFill>
                  <a:srgbClr val="BCBEC4"/>
                </a:solidFill>
                <a:effectLst/>
              </a:rPr>
              <a:t>CQRS</a:t>
            </a:r>
            <a:r>
              <a:rPr lang="zh-TW" altLang="en-US" dirty="0">
                <a:solidFill>
                  <a:srgbClr val="BCBEC4"/>
                </a:solidFill>
                <a:effectLst/>
              </a:rPr>
              <a:t>提過的</a:t>
            </a:r>
            <a:r>
              <a:rPr lang="en-US" altLang="zh-TW" dirty="0">
                <a:solidFill>
                  <a:srgbClr val="BCBEC4"/>
                </a:solidFill>
                <a:effectLst/>
              </a:rPr>
              <a:t>)</a:t>
            </a:r>
            <a:r>
              <a:rPr lang="zh-TW" altLang="en-US" dirty="0">
                <a:solidFill>
                  <a:srgbClr val="BCBEC4"/>
                </a:solidFill>
                <a:effectLst/>
              </a:rPr>
              <a:t>讓我們可以從資料庫拿回</a:t>
            </a:r>
            <a:r>
              <a:rPr lang="en-US" altLang="zh-TW" dirty="0" err="1">
                <a:solidFill>
                  <a:srgbClr val="BCBEC4"/>
                </a:solidFill>
                <a:effectLst/>
              </a:rPr>
              <a:t>readmodel</a:t>
            </a:r>
            <a:r>
              <a:rPr lang="zh-TW" altLang="en-US" dirty="0">
                <a:solidFill>
                  <a:srgbClr val="BCBEC4"/>
                </a:solidFill>
                <a:effectLst/>
              </a:rPr>
              <a:t>，再把拿到的資料</a:t>
            </a:r>
            <a:r>
              <a:rPr lang="en-US" altLang="zh-TW" dirty="0">
                <a:solidFill>
                  <a:srgbClr val="BCBEC4"/>
                </a:solidFill>
                <a:effectLst/>
              </a:rPr>
              <a:t>set</a:t>
            </a:r>
            <a:r>
              <a:rPr lang="zh-TW" altLang="en-US" dirty="0">
                <a:solidFill>
                  <a:srgbClr val="BCBEC4"/>
                </a:solidFill>
                <a:effectLst/>
              </a:rPr>
              <a:t>到</a:t>
            </a:r>
            <a:r>
              <a:rPr lang="en-US" altLang="zh-TW" dirty="0">
                <a:solidFill>
                  <a:srgbClr val="BCBEC4"/>
                </a:solidFill>
                <a:effectLst/>
              </a:rPr>
              <a:t>output</a:t>
            </a:r>
            <a:r>
              <a:rPr lang="zh-TW" altLang="en-US" dirty="0">
                <a:solidFill>
                  <a:srgbClr val="BCBEC4"/>
                </a:solidFill>
                <a:effectLst/>
              </a:rPr>
              <a:t>裡回傳。</a:t>
            </a: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solidFill>
                  <a:srgbClr val="BCBEC4"/>
                </a:solidFill>
                <a:effectLst/>
              </a:rPr>
              <a:t>透過</a:t>
            </a:r>
            <a:r>
              <a:rPr lang="en-US" altLang="zh-TW" dirty="0" err="1">
                <a:solidFill>
                  <a:srgbClr val="BCBEC4"/>
                </a:solidFill>
                <a:effectLst/>
              </a:rPr>
              <a:t>UseCase</a:t>
            </a:r>
            <a:r>
              <a:rPr lang="zh-TW" altLang="en-US" dirty="0">
                <a:solidFill>
                  <a:srgbClr val="BCBEC4"/>
                </a:solidFill>
                <a:effectLst/>
              </a:rPr>
              <a:t>定義的雙向介面我們可以讓內層</a:t>
            </a:r>
            <a:r>
              <a:rPr lang="en-US" altLang="zh-TW" dirty="0">
                <a:solidFill>
                  <a:srgbClr val="BCBEC4"/>
                </a:solidFill>
                <a:effectLst/>
              </a:rPr>
              <a:t>(</a:t>
            </a:r>
            <a:r>
              <a:rPr lang="en-US" altLang="zh-TW" dirty="0" err="1">
                <a:solidFill>
                  <a:srgbClr val="BCBEC4"/>
                </a:solidFill>
                <a:effectLst/>
              </a:rPr>
              <a:t>usecase</a:t>
            </a:r>
            <a:r>
              <a:rPr lang="en-US" altLang="zh-TW" dirty="0">
                <a:solidFill>
                  <a:srgbClr val="BCBEC4"/>
                </a:solidFill>
                <a:effectLst/>
              </a:rPr>
              <a:t>)</a:t>
            </a:r>
            <a:r>
              <a:rPr lang="zh-TW" altLang="en-US" dirty="0">
                <a:solidFill>
                  <a:srgbClr val="BCBEC4"/>
                </a:solidFill>
                <a:effectLst/>
              </a:rPr>
              <a:t>不去依賴外層物件，也不會讓外層</a:t>
            </a:r>
            <a:r>
              <a:rPr lang="en-US" altLang="zh-TW" dirty="0">
                <a:solidFill>
                  <a:srgbClr val="BCBEC4"/>
                </a:solidFill>
                <a:effectLst/>
              </a:rPr>
              <a:t>(controller)</a:t>
            </a:r>
            <a:r>
              <a:rPr lang="zh-TW" altLang="en-US" dirty="0">
                <a:solidFill>
                  <a:srgbClr val="BCBEC4"/>
                </a:solidFill>
                <a:effectLst/>
              </a:rPr>
              <a:t>去認識內層</a:t>
            </a:r>
            <a:r>
              <a:rPr lang="en-US" altLang="zh-TW" dirty="0">
                <a:solidFill>
                  <a:srgbClr val="BCBEC4"/>
                </a:solidFill>
                <a:effectLst/>
              </a:rPr>
              <a:t>(Entity)</a:t>
            </a:r>
            <a:r>
              <a:rPr lang="zh-TW" altLang="en-US" dirty="0">
                <a:solidFill>
                  <a:srgbClr val="BCBEC4"/>
                </a:solidFill>
                <a:effectLst/>
              </a:rPr>
              <a:t>物件，因為我們傳入的是</a:t>
            </a:r>
            <a:r>
              <a:rPr lang="en-US" altLang="zh-TW" dirty="0" err="1">
                <a:solidFill>
                  <a:srgbClr val="BCBEC4"/>
                </a:solidFill>
                <a:effectLst/>
              </a:rPr>
              <a:t>GetBoardInput</a:t>
            </a:r>
            <a:r>
              <a:rPr lang="zh-TW" altLang="en-US" dirty="0">
                <a:solidFill>
                  <a:srgbClr val="BCBEC4"/>
                </a:solidFill>
                <a:effectLst/>
              </a:rPr>
              <a:t>，回傳的是</a:t>
            </a:r>
            <a:r>
              <a:rPr lang="en-US" altLang="zh-TW" dirty="0" err="1">
                <a:solidFill>
                  <a:srgbClr val="BCBEC4"/>
                </a:solidFill>
                <a:effectLst/>
              </a:rPr>
              <a:t>GetBoardOutput</a:t>
            </a:r>
            <a:r>
              <a:rPr lang="zh-TW" altLang="en-US" dirty="0">
                <a:solidFill>
                  <a:srgbClr val="BCBEC4"/>
                </a:solidFill>
                <a:effectLst/>
              </a:rPr>
              <a:t>。</a:t>
            </a: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TW" dirty="0">
              <a:solidFill>
                <a:srgbClr val="BCBEC4"/>
              </a:solidFill>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solidFill>
                  <a:srgbClr val="BCBEC4"/>
                </a:solidFill>
                <a:effectLst/>
              </a:rPr>
              <a:t>補充</a:t>
            </a:r>
            <a:r>
              <a:rPr lang="en-US" altLang="zh-TW" dirty="0">
                <a:solidFill>
                  <a:srgbClr val="BCBEC4"/>
                </a:solidFill>
                <a:effectLst/>
              </a:rPr>
              <a:t>:</a:t>
            </a:r>
            <a:r>
              <a:rPr lang="zh-TW" altLang="en-US" dirty="0">
                <a:solidFill>
                  <a:srgbClr val="BCBEC4"/>
                </a:solidFill>
                <a:effectLst/>
              </a:rPr>
              <a:t>下面這個</a:t>
            </a:r>
            <a:r>
              <a:rPr lang="en-US" altLang="zh-TW" dirty="0">
                <a:solidFill>
                  <a:srgbClr val="BCBEC4"/>
                </a:solidFill>
                <a:effectLst/>
              </a:rPr>
              <a:t>output</a:t>
            </a:r>
            <a:r>
              <a:rPr lang="zh-TW" altLang="en-US" dirty="0">
                <a:solidFill>
                  <a:srgbClr val="BCBEC4"/>
                </a:solidFill>
                <a:effectLst/>
              </a:rPr>
              <a:t>就是</a:t>
            </a:r>
            <a:r>
              <a:rPr lang="en-US" altLang="zh-TW" dirty="0" err="1">
                <a:solidFill>
                  <a:srgbClr val="BCBEC4"/>
                </a:solidFill>
                <a:effectLst/>
              </a:rPr>
              <a:t>GetBoardOutput</a:t>
            </a:r>
            <a:r>
              <a:rPr lang="zh-TW" altLang="en-US" dirty="0">
                <a:solidFill>
                  <a:srgbClr val="BCBEC4"/>
                </a:solidFill>
                <a:effectLst/>
              </a:rPr>
              <a:t>。</a:t>
            </a:r>
            <a:endParaRPr lang="en-US" altLang="zh-TW" dirty="0">
              <a:solidFill>
                <a:srgbClr val="BCBEC4"/>
              </a:solidFill>
              <a:effectLst/>
            </a:endParaRPr>
          </a:p>
        </p:txBody>
      </p:sp>
      <p:sp>
        <p:nvSpPr>
          <p:cNvPr id="4" name="投影片編號版面配置區 3">
            <a:extLst>
              <a:ext uri="{FF2B5EF4-FFF2-40B4-BE49-F238E27FC236}">
                <a16:creationId xmlns:a16="http://schemas.microsoft.com/office/drawing/2014/main" id="{66AF110F-AF27-9F47-7F3B-5F42944CDFCD}"/>
              </a:ext>
            </a:extLst>
          </p:cNvPr>
          <p:cNvSpPr>
            <a:spLocks noGrp="1"/>
          </p:cNvSpPr>
          <p:nvPr>
            <p:ph type="sldNum" sz="quarter" idx="5"/>
          </p:nvPr>
        </p:nvSpPr>
        <p:spPr/>
        <p:txBody>
          <a:bodyPr/>
          <a:lstStyle/>
          <a:p>
            <a:fld id="{73967E60-74AC-7544-A9E1-2DF949A6356E}" type="slidenum">
              <a:rPr lang="zh-TW" altLang="en-US" smtClean="0"/>
              <a:pPr/>
              <a:t>22</a:t>
            </a:fld>
            <a:endParaRPr lang="zh-TW" altLang="en-US"/>
          </a:p>
        </p:txBody>
      </p:sp>
    </p:spTree>
    <p:extLst>
      <p:ext uri="{BB962C8B-B14F-4D97-AF65-F5344CB8AC3E}">
        <p14:creationId xmlns:p14="http://schemas.microsoft.com/office/powerpoint/2010/main" val="2057498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好處是</a:t>
            </a:r>
            <a:endParaRPr lang="en-US" altLang="zh-TW" dirty="0"/>
          </a:p>
          <a:p>
            <a:r>
              <a:rPr lang="en-US" altLang="zh-TW" dirty="0"/>
              <a:t>1. Maintainable:</a:t>
            </a:r>
            <a:r>
              <a:rPr lang="zh-TW" altLang="en-US" dirty="0"/>
              <a:t>因為框架和外部工具都在外層所以在切換它們的時候的很方便</a:t>
            </a:r>
            <a:r>
              <a:rPr lang="en-US" altLang="zh-TW" dirty="0"/>
              <a:t>(</a:t>
            </a:r>
            <a:r>
              <a:rPr lang="zh-TW" altLang="en-US" dirty="0"/>
              <a:t>只會動到第四層</a:t>
            </a:r>
            <a:r>
              <a:rPr lang="en-US" altLang="zh-TW" dirty="0"/>
              <a:t>)</a:t>
            </a:r>
            <a:r>
              <a:rPr lang="zh-TW" altLang="en-US" dirty="0"/>
              <a:t>，且在修</a:t>
            </a:r>
            <a:r>
              <a:rPr lang="en-US" altLang="zh-TW" dirty="0"/>
              <a:t>bug</a:t>
            </a:r>
            <a:r>
              <a:rPr lang="zh-TW" altLang="en-US" dirty="0"/>
              <a:t>或是新增</a:t>
            </a:r>
            <a:r>
              <a:rPr lang="en-US" altLang="zh-TW" dirty="0"/>
              <a:t>feature</a:t>
            </a:r>
            <a:r>
              <a:rPr lang="zh-TW" altLang="en-US" dirty="0"/>
              <a:t>時不會牽一髮而動全身。</a:t>
            </a:r>
            <a:endParaRPr lang="en-US" altLang="zh-TW" dirty="0"/>
          </a:p>
          <a:p>
            <a:r>
              <a:rPr lang="en-US" altLang="zh-TW" dirty="0"/>
              <a:t>2. SRP:</a:t>
            </a:r>
            <a:r>
              <a:rPr lang="zh-TW" altLang="en-US" dirty="0"/>
              <a:t>各層有自己的明確職責，所以在定義物件的層級時比較不會有甚麼模糊地帶。</a:t>
            </a:r>
            <a:endParaRPr lang="en-US" altLang="zh-TW" dirty="0"/>
          </a:p>
          <a:p>
            <a:r>
              <a:rPr lang="en-US" altLang="zh-TW" dirty="0"/>
              <a:t>3. Testable:</a:t>
            </a:r>
            <a:r>
              <a:rPr lang="zh-TW" altLang="en-US" dirty="0"/>
              <a:t>因為明確的分層和外部系統解耦讓開發者可以更容易對核心的業務邏輯寫測試。</a:t>
            </a:r>
            <a:endParaRPr lang="en-US" altLang="zh-TW" dirty="0"/>
          </a:p>
          <a:p>
            <a:r>
              <a:rPr lang="zh-TW" altLang="en-US" dirty="0"/>
              <a:t>壞處是</a:t>
            </a:r>
            <a:endParaRPr lang="en-US" altLang="zh-TW" dirty="0"/>
          </a:p>
          <a:p>
            <a:pPr marL="0" indent="0">
              <a:buNone/>
            </a:pPr>
            <a:r>
              <a:rPr lang="en-US" altLang="zh-TW" dirty="0"/>
              <a:t>1. </a:t>
            </a:r>
            <a:r>
              <a:rPr lang="zh-TW" altLang="en-US" dirty="0"/>
              <a:t>比起傳統的三層架構（表示層、業務層、資料層）相對複雜不適合新手開發者。</a:t>
            </a:r>
            <a:endParaRPr lang="en-US" altLang="zh-TW" dirty="0"/>
          </a:p>
          <a:p>
            <a:pPr marL="0" indent="0">
              <a:buNone/>
            </a:pPr>
            <a:r>
              <a:rPr lang="en-US" altLang="zh-TW" dirty="0"/>
              <a:t>2. </a:t>
            </a:r>
            <a:r>
              <a:rPr lang="zh-TW" altLang="en-US" dirty="0"/>
              <a:t>不是每個系統都能套</a:t>
            </a:r>
            <a:r>
              <a:rPr lang="en-US" altLang="zh-TW" dirty="0"/>
              <a:t>CA</a:t>
            </a:r>
            <a:r>
              <a:rPr lang="zh-TW" altLang="en-US" dirty="0"/>
              <a:t>，如果是很簡單的</a:t>
            </a:r>
            <a:r>
              <a:rPr lang="en-US" altLang="zh-TW" dirty="0"/>
              <a:t>CRUD</a:t>
            </a:r>
            <a:r>
              <a:rPr lang="zh-TW" altLang="en-US" dirty="0"/>
              <a:t>系統不需要。</a:t>
            </a:r>
            <a:endParaRPr lang="en-US" altLang="zh-TW" dirty="0"/>
          </a:p>
          <a:p>
            <a:pPr marL="0" indent="0">
              <a:buNone/>
            </a:pPr>
            <a:r>
              <a:rPr lang="en-US" altLang="zh-TW" dirty="0"/>
              <a:t>3. </a:t>
            </a:r>
            <a:r>
              <a:rPr lang="zh-TW" altLang="en-US" dirty="0"/>
              <a:t>因為頻繁的轉換</a:t>
            </a:r>
            <a:r>
              <a:rPr lang="en-US" altLang="zh-TW" dirty="0"/>
              <a:t>data format</a:t>
            </a:r>
            <a:r>
              <a:rPr lang="zh-TW" altLang="en-US" dirty="0"/>
              <a:t>使系統的</a:t>
            </a:r>
            <a:r>
              <a:rPr lang="en-US" altLang="zh-TW" dirty="0"/>
              <a:t>performance</a:t>
            </a:r>
            <a:r>
              <a:rPr lang="zh-TW" altLang="en-US" dirty="0"/>
              <a:t>較差</a:t>
            </a:r>
            <a:r>
              <a:rPr lang="en-US" altLang="zh-TW" dirty="0"/>
              <a:t>(</a:t>
            </a:r>
            <a:r>
              <a:rPr lang="zh-TW" altLang="en-US" dirty="0"/>
              <a:t>不過我覺得現在硬體很厲害不會是甚麼大問題</a:t>
            </a:r>
            <a:r>
              <a:rPr lang="en-US" altLang="zh-TW" dirty="0"/>
              <a:t>)</a:t>
            </a:r>
            <a:r>
              <a:rPr lang="zh-TW" altLang="en-US" dirty="0"/>
              <a:t>。</a:t>
            </a:r>
            <a:endParaRPr lang="en-US" altLang="zh-TW"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23</a:t>
            </a:fld>
            <a:endParaRPr lang="zh-TW" altLang="en-US"/>
          </a:p>
        </p:txBody>
      </p:sp>
    </p:spTree>
    <p:extLst>
      <p:ext uri="{BB962C8B-B14F-4D97-AF65-F5344CB8AC3E}">
        <p14:creationId xmlns:p14="http://schemas.microsoft.com/office/powerpoint/2010/main" val="37914032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1523968" y="1285861"/>
            <a:ext cx="10363200" cy="1470025"/>
          </a:xfrm>
        </p:spPr>
        <p:txBody>
          <a:bodyPr/>
          <a:lstStyle>
            <a:lvl1pPr algn="l">
              <a:defRPr b="0" cap="none" spc="0">
                <a:ln w="18415" cmpd="sng">
                  <a:solidFill>
                    <a:srgbClr val="FFFFFF"/>
                  </a:solidFill>
                  <a:prstDash val="solid"/>
                </a:ln>
                <a:solidFill>
                  <a:schemeClr val="bg1"/>
                </a:solidFill>
                <a:effectLst>
                  <a:outerShdw blurRad="63500" dir="3600000" algn="tl" rotWithShape="0">
                    <a:srgbClr val="000000">
                      <a:alpha val="70000"/>
                    </a:srgbClr>
                  </a:outerShdw>
                </a:effectLst>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523968" y="3071810"/>
            <a:ext cx="8534400" cy="1752600"/>
          </a:xfrm>
        </p:spPr>
        <p:txBody>
          <a:bodyPr/>
          <a:lstStyle>
            <a:lvl1pPr marL="0" indent="0" algn="l">
              <a:buNone/>
              <a:defRPr>
                <a:solidFill>
                  <a:schemeClr val="bg1">
                    <a:lumMod val="9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4" name="日期版面配置區 3">
            <a:extLst>
              <a:ext uri="{FF2B5EF4-FFF2-40B4-BE49-F238E27FC236}">
                <a16:creationId xmlns:a16="http://schemas.microsoft.com/office/drawing/2014/main" id="{6786EB08-6256-4A4E-9021-4782D6BD6E6A}"/>
              </a:ext>
            </a:extLst>
          </p:cNvPr>
          <p:cNvSpPr>
            <a:spLocks noGrp="1"/>
          </p:cNvSpPr>
          <p:nvPr>
            <p:ph type="dt" sz="half" idx="10"/>
          </p:nvPr>
        </p:nvSpPr>
        <p:spPr/>
        <p:txBody>
          <a:bodyPr/>
          <a:lstStyle>
            <a:lvl1pPr>
              <a:defRPr/>
            </a:lvl1pPr>
          </a:lstStyle>
          <a:p>
            <a:pPr>
              <a:defRPr/>
            </a:pPr>
            <a:fld id="{94C54D8F-BB97-7D40-BDB2-3676B44FD685}"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906179E8-903E-D84C-9018-F2BBCC144D8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1DB79C2A-EC4D-F745-8427-A7526A359C9D}"/>
              </a:ext>
            </a:extLst>
          </p:cNvPr>
          <p:cNvSpPr>
            <a:spLocks noGrp="1"/>
          </p:cNvSpPr>
          <p:nvPr>
            <p:ph type="sldNum" sz="quarter" idx="12"/>
          </p:nvPr>
        </p:nvSpPr>
        <p:spPr/>
        <p:txBody>
          <a:bodyPr/>
          <a:lstStyle>
            <a:lvl1pPr>
              <a:defRPr/>
            </a:lvl1pPr>
          </a:lstStyle>
          <a:p>
            <a:fld id="{8DAA59C6-B4B9-564A-B53A-FBF02A05FB77}" type="slidenum">
              <a:rPr lang="zh-TW" altLang="en-US"/>
              <a:pPr/>
              <a:t>‹#›</a:t>
            </a:fld>
            <a:endParaRPr lang="zh-TW" altLang="en-US"/>
          </a:p>
        </p:txBody>
      </p:sp>
    </p:spTree>
    <p:extLst>
      <p:ext uri="{BB962C8B-B14F-4D97-AF65-F5344CB8AC3E}">
        <p14:creationId xmlns:p14="http://schemas.microsoft.com/office/powerpoint/2010/main" val="222274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bg1"/>
                </a:solidFill>
              </a:defRPr>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a:extLst>
              <a:ext uri="{FF2B5EF4-FFF2-40B4-BE49-F238E27FC236}">
                <a16:creationId xmlns:a16="http://schemas.microsoft.com/office/drawing/2014/main" id="{45548F8C-46EE-4F4A-9409-6FEB08CD059F}"/>
              </a:ext>
            </a:extLst>
          </p:cNvPr>
          <p:cNvSpPr>
            <a:spLocks noGrp="1"/>
          </p:cNvSpPr>
          <p:nvPr>
            <p:ph type="dt" sz="half" idx="10"/>
          </p:nvPr>
        </p:nvSpPr>
        <p:spPr/>
        <p:txBody>
          <a:bodyPr/>
          <a:lstStyle>
            <a:lvl1pPr>
              <a:defRPr/>
            </a:lvl1pPr>
          </a:lstStyle>
          <a:p>
            <a:pPr>
              <a:defRPr/>
            </a:pPr>
            <a:fld id="{DFE053C5-6C4D-8948-A0B7-F6BA541D276A}"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393A62EA-78D6-254F-8955-BDC79FCD5836}"/>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5647FE38-E818-A244-9BB6-E569B310FE40}"/>
              </a:ext>
            </a:extLst>
          </p:cNvPr>
          <p:cNvSpPr>
            <a:spLocks noGrp="1"/>
          </p:cNvSpPr>
          <p:nvPr>
            <p:ph type="sldNum" sz="quarter" idx="12"/>
          </p:nvPr>
        </p:nvSpPr>
        <p:spPr/>
        <p:txBody>
          <a:bodyPr/>
          <a:lstStyle>
            <a:lvl1pPr>
              <a:defRPr/>
            </a:lvl1pPr>
          </a:lstStyle>
          <a:p>
            <a:fld id="{7408114E-E8DD-9044-BC35-9779A826010B}" type="slidenum">
              <a:rPr lang="zh-TW" altLang="en-US"/>
              <a:pPr/>
              <a:t>‹#›</a:t>
            </a:fld>
            <a:endParaRPr lang="zh-TW" altLang="en-US"/>
          </a:p>
        </p:txBody>
      </p:sp>
    </p:spTree>
    <p:extLst>
      <p:ext uri="{BB962C8B-B14F-4D97-AF65-F5344CB8AC3E}">
        <p14:creationId xmlns:p14="http://schemas.microsoft.com/office/powerpoint/2010/main" val="13972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0" cap="all"/>
            </a:lvl1pPr>
          </a:lstStyle>
          <a:p>
            <a:r>
              <a:rPr lang="zh-TW" altLang="en-US"/>
              <a:t>按一下以編輯母片標題樣式</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872FE18-7C6B-0144-B367-02789F67D3F1}"/>
              </a:ext>
            </a:extLst>
          </p:cNvPr>
          <p:cNvSpPr>
            <a:spLocks noGrp="1"/>
          </p:cNvSpPr>
          <p:nvPr>
            <p:ph type="dt" sz="half" idx="10"/>
          </p:nvPr>
        </p:nvSpPr>
        <p:spPr/>
        <p:txBody>
          <a:bodyPr/>
          <a:lstStyle>
            <a:lvl1pPr>
              <a:defRPr/>
            </a:lvl1pPr>
          </a:lstStyle>
          <a:p>
            <a:pPr>
              <a:defRPr/>
            </a:pPr>
            <a:fld id="{D4CCFA25-A1A1-6E4A-B6DB-A5D23E4209C0}"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6B8365DD-17C7-2D4C-8FE8-8FEB5E6CA19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92522C6-ADE6-C245-8EA8-0F38BC38ACAA}"/>
              </a:ext>
            </a:extLst>
          </p:cNvPr>
          <p:cNvSpPr>
            <a:spLocks noGrp="1"/>
          </p:cNvSpPr>
          <p:nvPr>
            <p:ph type="sldNum" sz="quarter" idx="12"/>
          </p:nvPr>
        </p:nvSpPr>
        <p:spPr/>
        <p:txBody>
          <a:bodyPr/>
          <a:lstStyle>
            <a:lvl1pPr>
              <a:defRPr/>
            </a:lvl1pPr>
          </a:lstStyle>
          <a:p>
            <a:fld id="{03B1DD0D-936E-EE40-A44C-CBC2431D0812}" type="slidenum">
              <a:rPr lang="zh-TW" altLang="en-US"/>
              <a:pPr/>
              <a:t>‹#›</a:t>
            </a:fld>
            <a:endParaRPr lang="zh-TW" altLang="en-US"/>
          </a:p>
        </p:txBody>
      </p:sp>
    </p:spTree>
    <p:extLst>
      <p:ext uri="{BB962C8B-B14F-4D97-AF65-F5344CB8AC3E}">
        <p14:creationId xmlns:p14="http://schemas.microsoft.com/office/powerpoint/2010/main" val="367117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a:extLst>
              <a:ext uri="{FF2B5EF4-FFF2-40B4-BE49-F238E27FC236}">
                <a16:creationId xmlns:a16="http://schemas.microsoft.com/office/drawing/2014/main" id="{DCE94036-239E-DC44-962B-3195286ABAF5}"/>
              </a:ext>
            </a:extLst>
          </p:cNvPr>
          <p:cNvSpPr>
            <a:spLocks noGrp="1"/>
          </p:cNvSpPr>
          <p:nvPr>
            <p:ph type="dt" sz="half" idx="10"/>
          </p:nvPr>
        </p:nvSpPr>
        <p:spPr/>
        <p:txBody>
          <a:bodyPr/>
          <a:lstStyle>
            <a:lvl1pPr>
              <a:defRPr/>
            </a:lvl1pPr>
          </a:lstStyle>
          <a:p>
            <a:pPr>
              <a:defRPr/>
            </a:pPr>
            <a:fld id="{C34F742B-D7CF-ED4A-8E92-BB72B3477EDA}" type="datetime1">
              <a:rPr lang="zh-TW" altLang="en-US"/>
              <a:pPr>
                <a:defRPr/>
              </a:pPr>
              <a:t>2025/2/18</a:t>
            </a:fld>
            <a:endParaRPr lang="zh-TW" altLang="en-US"/>
          </a:p>
        </p:txBody>
      </p:sp>
      <p:sp>
        <p:nvSpPr>
          <p:cNvPr id="6" name="頁尾版面配置區 4">
            <a:extLst>
              <a:ext uri="{FF2B5EF4-FFF2-40B4-BE49-F238E27FC236}">
                <a16:creationId xmlns:a16="http://schemas.microsoft.com/office/drawing/2014/main" id="{4C11FDE5-261B-E646-9E6B-1B934665DE7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230567DF-5C55-874A-9A29-994170111E8B}"/>
              </a:ext>
            </a:extLst>
          </p:cNvPr>
          <p:cNvSpPr>
            <a:spLocks noGrp="1"/>
          </p:cNvSpPr>
          <p:nvPr>
            <p:ph type="sldNum" sz="quarter" idx="12"/>
          </p:nvPr>
        </p:nvSpPr>
        <p:spPr/>
        <p:txBody>
          <a:bodyPr/>
          <a:lstStyle>
            <a:lvl1pPr>
              <a:defRPr/>
            </a:lvl1pPr>
          </a:lstStyle>
          <a:p>
            <a:fld id="{1AF76522-9632-F54C-A224-CA4B5D733566}" type="slidenum">
              <a:rPr lang="zh-TW" altLang="en-US"/>
              <a:pPr/>
              <a:t>‹#›</a:t>
            </a:fld>
            <a:endParaRPr lang="zh-TW" altLang="en-US"/>
          </a:p>
        </p:txBody>
      </p:sp>
    </p:spTree>
    <p:extLst>
      <p:ext uri="{BB962C8B-B14F-4D97-AF65-F5344CB8AC3E}">
        <p14:creationId xmlns:p14="http://schemas.microsoft.com/office/powerpoint/2010/main" val="177119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a:extLst>
              <a:ext uri="{FF2B5EF4-FFF2-40B4-BE49-F238E27FC236}">
                <a16:creationId xmlns:a16="http://schemas.microsoft.com/office/drawing/2014/main" id="{07B2D94B-5010-7D4B-92D5-88A19B75B741}"/>
              </a:ext>
            </a:extLst>
          </p:cNvPr>
          <p:cNvSpPr>
            <a:spLocks noGrp="1"/>
          </p:cNvSpPr>
          <p:nvPr>
            <p:ph type="dt" sz="half" idx="10"/>
          </p:nvPr>
        </p:nvSpPr>
        <p:spPr/>
        <p:txBody>
          <a:bodyPr/>
          <a:lstStyle>
            <a:lvl1pPr>
              <a:defRPr/>
            </a:lvl1pPr>
          </a:lstStyle>
          <a:p>
            <a:pPr>
              <a:defRPr/>
            </a:pPr>
            <a:fld id="{CAB70403-D632-DF46-9E91-7B75E81182C0}" type="datetime1">
              <a:rPr lang="zh-TW" altLang="en-US"/>
              <a:pPr>
                <a:defRPr/>
              </a:pPr>
              <a:t>2025/2/18</a:t>
            </a:fld>
            <a:endParaRPr lang="zh-TW" altLang="en-US"/>
          </a:p>
        </p:txBody>
      </p:sp>
      <p:sp>
        <p:nvSpPr>
          <p:cNvPr id="8" name="頁尾版面配置區 4">
            <a:extLst>
              <a:ext uri="{FF2B5EF4-FFF2-40B4-BE49-F238E27FC236}">
                <a16:creationId xmlns:a16="http://schemas.microsoft.com/office/drawing/2014/main" id="{1D2C3C2D-F1CB-1947-9D57-85BDB6F6A58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9" name="投影片編號版面配置區 5">
            <a:extLst>
              <a:ext uri="{FF2B5EF4-FFF2-40B4-BE49-F238E27FC236}">
                <a16:creationId xmlns:a16="http://schemas.microsoft.com/office/drawing/2014/main" id="{671207E0-3A26-2D45-9077-130B7F1E71ED}"/>
              </a:ext>
            </a:extLst>
          </p:cNvPr>
          <p:cNvSpPr>
            <a:spLocks noGrp="1"/>
          </p:cNvSpPr>
          <p:nvPr>
            <p:ph type="sldNum" sz="quarter" idx="12"/>
          </p:nvPr>
        </p:nvSpPr>
        <p:spPr/>
        <p:txBody>
          <a:bodyPr/>
          <a:lstStyle>
            <a:lvl1pPr>
              <a:defRPr/>
            </a:lvl1pPr>
          </a:lstStyle>
          <a:p>
            <a:fld id="{C88EF28A-A00B-164C-8258-F5A62DAE54CD}" type="slidenum">
              <a:rPr lang="zh-TW" altLang="en-US"/>
              <a:pPr/>
              <a:t>‹#›</a:t>
            </a:fld>
            <a:endParaRPr lang="zh-TW" altLang="en-US"/>
          </a:p>
        </p:txBody>
      </p:sp>
    </p:spTree>
    <p:extLst>
      <p:ext uri="{BB962C8B-B14F-4D97-AF65-F5344CB8AC3E}">
        <p14:creationId xmlns:p14="http://schemas.microsoft.com/office/powerpoint/2010/main" val="363673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3">
            <a:extLst>
              <a:ext uri="{FF2B5EF4-FFF2-40B4-BE49-F238E27FC236}">
                <a16:creationId xmlns:a16="http://schemas.microsoft.com/office/drawing/2014/main" id="{8E3937A3-9726-7C47-A636-BAFA0E1847A9}"/>
              </a:ext>
            </a:extLst>
          </p:cNvPr>
          <p:cNvSpPr>
            <a:spLocks noGrp="1"/>
          </p:cNvSpPr>
          <p:nvPr>
            <p:ph type="dt" sz="half" idx="10"/>
          </p:nvPr>
        </p:nvSpPr>
        <p:spPr/>
        <p:txBody>
          <a:bodyPr/>
          <a:lstStyle>
            <a:lvl1pPr>
              <a:defRPr/>
            </a:lvl1pPr>
          </a:lstStyle>
          <a:p>
            <a:pPr>
              <a:defRPr/>
            </a:pPr>
            <a:fld id="{D4207772-2337-D346-925D-889AC70BF3B0}" type="datetime1">
              <a:rPr lang="zh-TW" altLang="en-US"/>
              <a:pPr>
                <a:defRPr/>
              </a:pPr>
              <a:t>2025/2/18</a:t>
            </a:fld>
            <a:endParaRPr lang="zh-TW" altLang="en-US"/>
          </a:p>
        </p:txBody>
      </p:sp>
      <p:sp>
        <p:nvSpPr>
          <p:cNvPr id="4" name="頁尾版面配置區 4">
            <a:extLst>
              <a:ext uri="{FF2B5EF4-FFF2-40B4-BE49-F238E27FC236}">
                <a16:creationId xmlns:a16="http://schemas.microsoft.com/office/drawing/2014/main" id="{B9079D60-3595-8A4D-BE79-236774F1AB3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5" name="投影片編號版面配置區 5">
            <a:extLst>
              <a:ext uri="{FF2B5EF4-FFF2-40B4-BE49-F238E27FC236}">
                <a16:creationId xmlns:a16="http://schemas.microsoft.com/office/drawing/2014/main" id="{41939247-32AE-AB4A-8985-23446EE2A92B}"/>
              </a:ext>
            </a:extLst>
          </p:cNvPr>
          <p:cNvSpPr>
            <a:spLocks noGrp="1"/>
          </p:cNvSpPr>
          <p:nvPr>
            <p:ph type="sldNum" sz="quarter" idx="12"/>
          </p:nvPr>
        </p:nvSpPr>
        <p:spPr/>
        <p:txBody>
          <a:bodyPr/>
          <a:lstStyle>
            <a:lvl1pPr>
              <a:defRPr/>
            </a:lvl1pPr>
          </a:lstStyle>
          <a:p>
            <a:fld id="{CFC49D30-CAF4-414B-97A1-37ED46EB9A5F}" type="slidenum">
              <a:rPr lang="zh-TW" altLang="en-US"/>
              <a:pPr/>
              <a:t>‹#›</a:t>
            </a:fld>
            <a:endParaRPr lang="zh-TW" altLang="en-US"/>
          </a:p>
        </p:txBody>
      </p:sp>
    </p:spTree>
    <p:extLst>
      <p:ext uri="{BB962C8B-B14F-4D97-AF65-F5344CB8AC3E}">
        <p14:creationId xmlns:p14="http://schemas.microsoft.com/office/powerpoint/2010/main" val="184459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a:extLst>
              <a:ext uri="{FF2B5EF4-FFF2-40B4-BE49-F238E27FC236}">
                <a16:creationId xmlns:a16="http://schemas.microsoft.com/office/drawing/2014/main" id="{8D9E443E-4F0B-5E43-8061-E17531D9CA85}"/>
              </a:ext>
            </a:extLst>
          </p:cNvPr>
          <p:cNvSpPr>
            <a:spLocks noGrp="1"/>
          </p:cNvSpPr>
          <p:nvPr>
            <p:ph type="dt" sz="half" idx="10"/>
          </p:nvPr>
        </p:nvSpPr>
        <p:spPr/>
        <p:txBody>
          <a:bodyPr/>
          <a:lstStyle>
            <a:lvl1pPr>
              <a:defRPr/>
            </a:lvl1pPr>
          </a:lstStyle>
          <a:p>
            <a:pPr>
              <a:defRPr/>
            </a:pPr>
            <a:fld id="{1B814998-86E4-F54C-A317-837D958D52C5}" type="datetime1">
              <a:rPr lang="zh-TW" altLang="en-US"/>
              <a:pPr>
                <a:defRPr/>
              </a:pPr>
              <a:t>2025/2/18</a:t>
            </a:fld>
            <a:endParaRPr lang="zh-TW" altLang="en-US"/>
          </a:p>
        </p:txBody>
      </p:sp>
      <p:sp>
        <p:nvSpPr>
          <p:cNvPr id="3" name="頁尾版面配置區 4">
            <a:extLst>
              <a:ext uri="{FF2B5EF4-FFF2-40B4-BE49-F238E27FC236}">
                <a16:creationId xmlns:a16="http://schemas.microsoft.com/office/drawing/2014/main" id="{C98D269C-3BF2-CB48-9F85-E585AC864B0B}"/>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4" name="投影片編號版面配置區 5">
            <a:extLst>
              <a:ext uri="{FF2B5EF4-FFF2-40B4-BE49-F238E27FC236}">
                <a16:creationId xmlns:a16="http://schemas.microsoft.com/office/drawing/2014/main" id="{7F83B7BE-CDCE-9646-8DD3-70B8F3B8AB44}"/>
              </a:ext>
            </a:extLst>
          </p:cNvPr>
          <p:cNvSpPr>
            <a:spLocks noGrp="1"/>
          </p:cNvSpPr>
          <p:nvPr>
            <p:ph type="sldNum" sz="quarter" idx="12"/>
          </p:nvPr>
        </p:nvSpPr>
        <p:spPr/>
        <p:txBody>
          <a:bodyPr/>
          <a:lstStyle>
            <a:lvl1pPr>
              <a:defRPr/>
            </a:lvl1pPr>
          </a:lstStyle>
          <a:p>
            <a:fld id="{D3F3EEED-CE98-6D44-B9BB-B57A2469ED34}" type="slidenum">
              <a:rPr lang="zh-TW" altLang="en-US"/>
              <a:pPr/>
              <a:t>‹#›</a:t>
            </a:fld>
            <a:endParaRPr lang="zh-TW" altLang="en-US"/>
          </a:p>
        </p:txBody>
      </p:sp>
    </p:spTree>
    <p:extLst>
      <p:ext uri="{BB962C8B-B14F-4D97-AF65-F5344CB8AC3E}">
        <p14:creationId xmlns:p14="http://schemas.microsoft.com/office/powerpoint/2010/main" val="928905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0"/>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A76E2415-B555-E54A-8BBB-2A8CCB325817}"/>
              </a:ext>
            </a:extLst>
          </p:cNvPr>
          <p:cNvSpPr>
            <a:spLocks noGrp="1"/>
          </p:cNvSpPr>
          <p:nvPr>
            <p:ph type="dt" sz="half" idx="10"/>
          </p:nvPr>
        </p:nvSpPr>
        <p:spPr/>
        <p:txBody>
          <a:bodyPr/>
          <a:lstStyle>
            <a:lvl1pPr>
              <a:defRPr/>
            </a:lvl1pPr>
          </a:lstStyle>
          <a:p>
            <a:pPr>
              <a:defRPr/>
            </a:pPr>
            <a:fld id="{27622D31-D2F6-B442-BABD-0A4562A69D7C}" type="datetime1">
              <a:rPr lang="zh-TW" altLang="en-US"/>
              <a:pPr>
                <a:defRPr/>
              </a:pPr>
              <a:t>2025/2/18</a:t>
            </a:fld>
            <a:endParaRPr lang="zh-TW" altLang="en-US"/>
          </a:p>
        </p:txBody>
      </p:sp>
      <p:sp>
        <p:nvSpPr>
          <p:cNvPr id="6" name="頁尾版面配置區 4">
            <a:extLst>
              <a:ext uri="{FF2B5EF4-FFF2-40B4-BE49-F238E27FC236}">
                <a16:creationId xmlns:a16="http://schemas.microsoft.com/office/drawing/2014/main" id="{EA85740B-AEF6-F54F-87B7-026EDDA6821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1B5626D5-3FBA-9948-8B6C-9C75A1150ED7}"/>
              </a:ext>
            </a:extLst>
          </p:cNvPr>
          <p:cNvSpPr>
            <a:spLocks noGrp="1"/>
          </p:cNvSpPr>
          <p:nvPr>
            <p:ph type="sldNum" sz="quarter" idx="12"/>
          </p:nvPr>
        </p:nvSpPr>
        <p:spPr/>
        <p:txBody>
          <a:bodyPr/>
          <a:lstStyle>
            <a:lvl1pPr>
              <a:defRPr/>
            </a:lvl1pPr>
          </a:lstStyle>
          <a:p>
            <a:fld id="{D33BB35E-2B1B-A84A-83C8-8751BB988801}" type="slidenum">
              <a:rPr lang="zh-TW" altLang="en-US"/>
              <a:pPr/>
              <a:t>‹#›</a:t>
            </a:fld>
            <a:endParaRPr lang="zh-TW" altLang="en-US"/>
          </a:p>
        </p:txBody>
      </p:sp>
    </p:spTree>
    <p:extLst>
      <p:ext uri="{BB962C8B-B14F-4D97-AF65-F5344CB8AC3E}">
        <p14:creationId xmlns:p14="http://schemas.microsoft.com/office/powerpoint/2010/main" val="138854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0"/>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CEEE04EE-CB2B-DB4B-B5C9-F213F01F84FD}"/>
              </a:ext>
            </a:extLst>
          </p:cNvPr>
          <p:cNvSpPr>
            <a:spLocks noGrp="1"/>
          </p:cNvSpPr>
          <p:nvPr>
            <p:ph type="dt" sz="half" idx="10"/>
          </p:nvPr>
        </p:nvSpPr>
        <p:spPr/>
        <p:txBody>
          <a:bodyPr/>
          <a:lstStyle>
            <a:lvl1pPr>
              <a:defRPr/>
            </a:lvl1pPr>
          </a:lstStyle>
          <a:p>
            <a:pPr>
              <a:defRPr/>
            </a:pPr>
            <a:fld id="{3E817BD0-E9BD-D64A-9A1B-4D8D27389E80}" type="datetime1">
              <a:rPr lang="zh-TW" altLang="en-US"/>
              <a:pPr>
                <a:defRPr/>
              </a:pPr>
              <a:t>2025/2/18</a:t>
            </a:fld>
            <a:endParaRPr lang="zh-TW" altLang="en-US"/>
          </a:p>
        </p:txBody>
      </p:sp>
      <p:sp>
        <p:nvSpPr>
          <p:cNvPr id="6" name="頁尾版面配置區 4">
            <a:extLst>
              <a:ext uri="{FF2B5EF4-FFF2-40B4-BE49-F238E27FC236}">
                <a16:creationId xmlns:a16="http://schemas.microsoft.com/office/drawing/2014/main" id="{1640405F-18F5-A244-A0A9-B26A1B2882EC}"/>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9DD3C7A4-4412-FF4D-91EB-6DF257B43355}"/>
              </a:ext>
            </a:extLst>
          </p:cNvPr>
          <p:cNvSpPr>
            <a:spLocks noGrp="1"/>
          </p:cNvSpPr>
          <p:nvPr>
            <p:ph type="sldNum" sz="quarter" idx="12"/>
          </p:nvPr>
        </p:nvSpPr>
        <p:spPr/>
        <p:txBody>
          <a:bodyPr/>
          <a:lstStyle>
            <a:lvl1pPr>
              <a:defRPr/>
            </a:lvl1pPr>
          </a:lstStyle>
          <a:p>
            <a:fld id="{1BA7C781-276C-5943-A06C-3E7B1580FC3E}" type="slidenum">
              <a:rPr lang="zh-TW" altLang="en-US"/>
              <a:pPr/>
              <a:t>‹#›</a:t>
            </a:fld>
            <a:endParaRPr lang="zh-TW" altLang="en-US"/>
          </a:p>
        </p:txBody>
      </p:sp>
    </p:spTree>
    <p:extLst>
      <p:ext uri="{BB962C8B-B14F-4D97-AF65-F5344CB8AC3E}">
        <p14:creationId xmlns:p14="http://schemas.microsoft.com/office/powerpoint/2010/main" val="1797095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892FEBB-25F0-B648-A81F-099879214D6C}"/>
              </a:ext>
            </a:extLst>
          </p:cNvPr>
          <p:cNvSpPr>
            <a:spLocks noGrp="1"/>
          </p:cNvSpPr>
          <p:nvPr>
            <p:ph type="dt" sz="half" idx="10"/>
          </p:nvPr>
        </p:nvSpPr>
        <p:spPr/>
        <p:txBody>
          <a:bodyPr/>
          <a:lstStyle>
            <a:lvl1pPr>
              <a:defRPr/>
            </a:lvl1pPr>
          </a:lstStyle>
          <a:p>
            <a:pPr>
              <a:defRPr/>
            </a:pPr>
            <a:fld id="{43B0D650-1C51-F34B-AD48-0FDABC6C81DE}"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DD011164-54FB-E64A-BBAE-79167F7F3A6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7AB86921-318C-CE4D-8EB1-4CA5E3407511}"/>
              </a:ext>
            </a:extLst>
          </p:cNvPr>
          <p:cNvSpPr>
            <a:spLocks noGrp="1"/>
          </p:cNvSpPr>
          <p:nvPr>
            <p:ph type="sldNum" sz="quarter" idx="12"/>
          </p:nvPr>
        </p:nvSpPr>
        <p:spPr/>
        <p:txBody>
          <a:bodyPr/>
          <a:lstStyle>
            <a:lvl1pPr>
              <a:defRPr/>
            </a:lvl1pPr>
          </a:lstStyle>
          <a:p>
            <a:fld id="{325FAFE3-E558-174E-B392-8469FA5B9F62}" type="slidenum">
              <a:rPr lang="zh-TW" altLang="en-US"/>
              <a:pPr/>
              <a:t>‹#›</a:t>
            </a:fld>
            <a:endParaRPr lang="zh-TW" altLang="en-US"/>
          </a:p>
        </p:txBody>
      </p:sp>
    </p:spTree>
    <p:extLst>
      <p:ext uri="{BB962C8B-B14F-4D97-AF65-F5344CB8AC3E}">
        <p14:creationId xmlns:p14="http://schemas.microsoft.com/office/powerpoint/2010/main" val="4097312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249D1E1-093E-4F44-9477-48896B63EA0D}"/>
              </a:ext>
            </a:extLst>
          </p:cNvPr>
          <p:cNvSpPr>
            <a:spLocks noGrp="1"/>
          </p:cNvSpPr>
          <p:nvPr>
            <p:ph type="dt" sz="half" idx="10"/>
          </p:nvPr>
        </p:nvSpPr>
        <p:spPr/>
        <p:txBody>
          <a:bodyPr/>
          <a:lstStyle>
            <a:lvl1pPr>
              <a:defRPr/>
            </a:lvl1pPr>
          </a:lstStyle>
          <a:p>
            <a:pPr>
              <a:defRPr/>
            </a:pPr>
            <a:fld id="{E1EECA2B-BFE1-B84C-82C1-E6839E512827}"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40839CAD-E49D-894C-A0A5-F93DC7E0BA05}"/>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96854EB5-8045-D240-9FF8-639FCD595111}"/>
              </a:ext>
            </a:extLst>
          </p:cNvPr>
          <p:cNvSpPr>
            <a:spLocks noGrp="1"/>
          </p:cNvSpPr>
          <p:nvPr>
            <p:ph type="sldNum" sz="quarter" idx="12"/>
          </p:nvPr>
        </p:nvSpPr>
        <p:spPr/>
        <p:txBody>
          <a:bodyPr/>
          <a:lstStyle>
            <a:lvl1pPr>
              <a:defRPr/>
            </a:lvl1pPr>
          </a:lstStyle>
          <a:p>
            <a:fld id="{DB8BCEF1-9BBD-3548-8601-644E174525DB}" type="slidenum">
              <a:rPr lang="zh-TW" altLang="en-US"/>
              <a:pPr/>
              <a:t>‹#›</a:t>
            </a:fld>
            <a:endParaRPr lang="zh-TW" altLang="en-US"/>
          </a:p>
        </p:txBody>
      </p:sp>
    </p:spTree>
    <p:extLst>
      <p:ext uri="{BB962C8B-B14F-4D97-AF65-F5344CB8AC3E}">
        <p14:creationId xmlns:p14="http://schemas.microsoft.com/office/powerpoint/2010/main" val="184546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標題版面配置區 1">
            <a:extLst>
              <a:ext uri="{FF2B5EF4-FFF2-40B4-BE49-F238E27FC236}">
                <a16:creationId xmlns:a16="http://schemas.microsoft.com/office/drawing/2014/main" id="{281B8F0B-D6E6-B341-BDAE-BC91CC7A502B}"/>
              </a:ext>
            </a:extLst>
          </p:cNvPr>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7" name="文字版面配置區 2">
            <a:extLst>
              <a:ext uri="{FF2B5EF4-FFF2-40B4-BE49-F238E27FC236}">
                <a16:creationId xmlns:a16="http://schemas.microsoft.com/office/drawing/2014/main" id="{DE492205-464F-A747-80E6-22310BAE99AF}"/>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C46677B-127B-D147-AB39-5EBA8F06CA0B}"/>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2">
                    <a:lumMod val="50000"/>
                  </a:schemeClr>
                </a:solidFill>
                <a:latin typeface="+mn-lt"/>
                <a:ea typeface="+mn-ea"/>
              </a:defRPr>
            </a:lvl1pPr>
          </a:lstStyle>
          <a:p>
            <a:pPr>
              <a:defRPr/>
            </a:pPr>
            <a:fld id="{97B58209-8791-EF4E-89D4-43D500B40DDD}" type="datetime1">
              <a:rPr lang="zh-TW" altLang="en-US"/>
              <a:pPr>
                <a:defRPr/>
              </a:pPr>
              <a:t>2025/2/18</a:t>
            </a:fld>
            <a:endParaRPr lang="zh-TW" altLang="en-US"/>
          </a:p>
        </p:txBody>
      </p:sp>
      <p:sp>
        <p:nvSpPr>
          <p:cNvPr id="5" name="頁尾版面配置區 4">
            <a:extLst>
              <a:ext uri="{FF2B5EF4-FFF2-40B4-BE49-F238E27FC236}">
                <a16:creationId xmlns:a16="http://schemas.microsoft.com/office/drawing/2014/main" id="{FE112E12-33E5-5540-9AAE-30EAEDC7EFCF}"/>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2">
                    <a:lumMod val="50000"/>
                  </a:schemeClr>
                </a:solidFill>
                <a:latin typeface="+mn-lt"/>
                <a:ea typeface="+mn-ea"/>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EEB2081-EF2E-AA43-B886-39C3918CD136}"/>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kumimoji="0" sz="1200">
                <a:solidFill>
                  <a:srgbClr val="10253F"/>
                </a:solidFill>
                <a:latin typeface="Calibri" panose="020F0502020204030204" pitchFamily="34" charset="0"/>
              </a:defRPr>
            </a:lvl1pPr>
          </a:lstStyle>
          <a:p>
            <a:fld id="{9D7DFB71-712F-5248-B39F-18DB1FF16B86}" type="slidenum">
              <a:rPr lang="zh-TW" altLang="en-US"/>
              <a:pPr/>
              <a:t>‹#›</a:t>
            </a:fld>
            <a:endParaRPr lang="zh-TW" altLang="en-US"/>
          </a:p>
        </p:txBody>
      </p:sp>
    </p:spTree>
  </p:cSld>
  <p:clrMap bg1="lt1" tx1="dk1" bg2="lt2" tx2="dk2" accent1="accent1" accent2="accent2" accent3="accent3" accent4="accent4" accent5="accent5" accent6="accent6" hlink="hlink" folHlink="folHlink"/>
  <p:sldLayoutIdLst>
    <p:sldLayoutId id="2147483930"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hf hdr="0"/>
  <p:txStyles>
    <p:titleStyle>
      <a:lvl1pPr algn="ctr" rtl="0" eaLnBrk="1" fontAlgn="base" hangingPunct="1">
        <a:spcBef>
          <a:spcPct val="0"/>
        </a:spcBef>
        <a:spcAft>
          <a:spcPct val="0"/>
        </a:spcAft>
        <a:defRPr sz="4400" kern="1200">
          <a:ln w="18415" cmpd="sng">
            <a:solidFill>
              <a:srgbClr val="FFFFFF"/>
            </a:solidFill>
            <a:prstDash val="solid"/>
          </a:ln>
          <a:solidFill>
            <a:srgbClr val="FFFFFF"/>
          </a:solidFill>
          <a:effectLst>
            <a:outerShdw blurRad="63500" dir="3600000" algn="tl" rotWithShape="0">
              <a:srgbClr val="000000">
                <a:alpha val="70000"/>
              </a:srgbClr>
            </a:outerShdw>
          </a:effectLst>
          <a:latin typeface="微軟正黑體" pitchFamily="34" charset="-120"/>
          <a:ea typeface="微軟正黑體" pitchFamily="34" charset="-120"/>
          <a:cs typeface="+mj-cs"/>
        </a:defRPr>
      </a:lvl1pPr>
      <a:lvl2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2pPr>
      <a:lvl3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3pPr>
      <a:lvl4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4pPr>
      <a:lvl5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5pPr>
      <a:lvl6pPr marL="457200" algn="ctr" rtl="0" eaLnBrk="1" fontAlgn="base" hangingPunct="1">
        <a:spcBef>
          <a:spcPct val="0"/>
        </a:spcBef>
        <a:spcAft>
          <a:spcPct val="0"/>
        </a:spcAft>
        <a:defRPr sz="4400">
          <a:solidFill>
            <a:schemeClr val="bg1"/>
          </a:solidFill>
          <a:latin typeface="Calibri" pitchFamily="34" charset="0"/>
          <a:ea typeface="新細明體" charset="-120"/>
        </a:defRPr>
      </a:lvl6pPr>
      <a:lvl7pPr marL="914400" algn="ctr" rtl="0" eaLnBrk="1" fontAlgn="base" hangingPunct="1">
        <a:spcBef>
          <a:spcPct val="0"/>
        </a:spcBef>
        <a:spcAft>
          <a:spcPct val="0"/>
        </a:spcAft>
        <a:defRPr sz="4400">
          <a:solidFill>
            <a:schemeClr val="bg1"/>
          </a:solidFill>
          <a:latin typeface="Calibri" pitchFamily="34" charset="0"/>
          <a:ea typeface="新細明體" charset="-120"/>
        </a:defRPr>
      </a:lvl7pPr>
      <a:lvl8pPr marL="1371600" algn="ctr" rtl="0" eaLnBrk="1" fontAlgn="base" hangingPunct="1">
        <a:spcBef>
          <a:spcPct val="0"/>
        </a:spcBef>
        <a:spcAft>
          <a:spcPct val="0"/>
        </a:spcAft>
        <a:defRPr sz="4400">
          <a:solidFill>
            <a:schemeClr val="bg1"/>
          </a:solidFill>
          <a:latin typeface="Calibri" pitchFamily="34" charset="0"/>
          <a:ea typeface="新細明體" charset="-120"/>
        </a:defRPr>
      </a:lvl8pPr>
      <a:lvl9pPr marL="1828800" algn="ctr" rtl="0" eaLnBrk="1" fontAlgn="base" hangingPunct="1">
        <a:spcBef>
          <a:spcPct val="0"/>
        </a:spcBef>
        <a:spcAft>
          <a:spcPct val="0"/>
        </a:spcAft>
        <a:defRPr sz="4400">
          <a:solidFill>
            <a:schemeClr val="bg1"/>
          </a:solidFill>
          <a:latin typeface="Calibri" pitchFamily="34" charset="0"/>
          <a:ea typeface="新細明體" charset="-12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10253F"/>
          </a:solidFill>
          <a:latin typeface="Times New Roman" pitchFamily="18" charset="0"/>
          <a:ea typeface="標楷體" pitchFamily="65" charset="-120"/>
          <a:cs typeface="Times New Roman"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rgbClr val="10253F"/>
          </a:solidFill>
          <a:latin typeface="Times New Roman" pitchFamily="18" charset="0"/>
          <a:ea typeface="標楷體" pitchFamily="65" charset="-120"/>
          <a:cs typeface="Times New Roman"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10253F"/>
          </a:solidFill>
          <a:latin typeface="Times New Roman" pitchFamily="18" charset="0"/>
          <a:ea typeface="標楷體" pitchFamily="65" charset="-120"/>
          <a:cs typeface="Times New Roman"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1D_CC7B2D18.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3_BCABFA6C.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21_A2A87D99.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22_C2744EBE.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25_67351454.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2B_AD512D0B.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slide" Target="slide26.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2D_78BF3A68.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zone.com/articles/hexagonal-architecture-is-powerful" TargetMode="External"/><Relationship Id="rId2" Type="http://schemas.openxmlformats.org/officeDocument/2006/relationships/hyperlink" Target="https://dzone.com/articles/layered-architecture-is-good" TargetMode="External"/><Relationship Id="rId1" Type="http://schemas.openxmlformats.org/officeDocument/2006/relationships/slideLayout" Target="../slideLayouts/slideLayout2.xml"/><Relationship Id="rId6" Type="http://schemas.openxmlformats.org/officeDocument/2006/relationships/hyperlink" Target="https://www.youtube.com/watch?v=Tnh5GcyP-OY&amp;list=PLKIX7RFl0BtZ00lbkKi47y8WDaCzrtnj0&amp;index=2" TargetMode="External"/><Relationship Id="rId5" Type="http://schemas.openxmlformats.org/officeDocument/2006/relationships/hyperlink" Target="https://www.codingblocks.net/podcast/clean-architecture-make-your-architecture-scream/" TargetMode="External"/><Relationship Id="rId4" Type="http://schemas.openxmlformats.org/officeDocument/2006/relationships/hyperlink" Target="https://blog.cleancoder.com/uncle-bob/2012/08/13/the-clean-architecture.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298BE-2A98-A94F-98A2-4F0602CE47C7}"/>
              </a:ext>
            </a:extLst>
          </p:cNvPr>
          <p:cNvSpPr>
            <a:spLocks noGrp="1"/>
          </p:cNvSpPr>
          <p:nvPr>
            <p:ph type="ctrTitle"/>
          </p:nvPr>
        </p:nvSpPr>
        <p:spPr>
          <a:xfrm>
            <a:off x="2667000" y="1285876"/>
            <a:ext cx="7772400" cy="1470025"/>
          </a:xfrm>
        </p:spPr>
        <p:txBody>
          <a:bodyPr/>
          <a:lstStyle/>
          <a:p>
            <a:pPr>
              <a:defRPr/>
            </a:pPr>
            <a:r>
              <a:rPr lang="en-US" altLang="zh-TW" dirty="0"/>
              <a:t>Clean Architecture</a:t>
            </a:r>
            <a:endParaRPr lang="zh-TW" altLang="en-US" dirty="0"/>
          </a:p>
        </p:txBody>
      </p:sp>
      <p:sp>
        <p:nvSpPr>
          <p:cNvPr id="3" name="副標題 2">
            <a:extLst>
              <a:ext uri="{FF2B5EF4-FFF2-40B4-BE49-F238E27FC236}">
                <a16:creationId xmlns:a16="http://schemas.microsoft.com/office/drawing/2014/main" id="{15B61164-EE9C-4B41-BC07-29061A98CCC5}"/>
              </a:ext>
            </a:extLst>
          </p:cNvPr>
          <p:cNvSpPr>
            <a:spLocks noGrp="1"/>
          </p:cNvSpPr>
          <p:nvPr>
            <p:ph type="subTitle" idx="1"/>
          </p:nvPr>
        </p:nvSpPr>
        <p:spPr>
          <a:xfrm>
            <a:off x="2667000" y="3071813"/>
            <a:ext cx="6400800" cy="1752600"/>
          </a:xfrm>
        </p:spPr>
        <p:txBody>
          <a:bodyPr/>
          <a:lstStyle/>
          <a:p>
            <a:pPr>
              <a:buFont typeface="Arial" charset="0"/>
              <a:buNone/>
              <a:defRPr/>
            </a:pPr>
            <a:r>
              <a:rPr lang="zh-TW" altLang="en-US" dirty="0"/>
              <a:t>演講者：</a:t>
            </a:r>
            <a:r>
              <a:rPr lang="en-US" altLang="zh-TW" dirty="0"/>
              <a:t>Frank</a:t>
            </a:r>
          </a:p>
          <a:p>
            <a:pPr>
              <a:buFont typeface="Arial" charset="0"/>
              <a:buNone/>
              <a:defRPr/>
            </a:pPr>
            <a:r>
              <a:rPr lang="en-US" altLang="zh-TW" dirty="0"/>
              <a:t>2025/02/18</a:t>
            </a:r>
          </a:p>
        </p:txBody>
      </p:sp>
      <p:sp>
        <p:nvSpPr>
          <p:cNvPr id="6" name="矩形 5">
            <a:extLst>
              <a:ext uri="{FF2B5EF4-FFF2-40B4-BE49-F238E27FC236}">
                <a16:creationId xmlns:a16="http://schemas.microsoft.com/office/drawing/2014/main" id="{C7B8B7A0-6627-2E4D-B940-F09CEFD8AD1B}"/>
              </a:ext>
            </a:extLst>
          </p:cNvPr>
          <p:cNvSpPr/>
          <p:nvPr/>
        </p:nvSpPr>
        <p:spPr>
          <a:xfrm>
            <a:off x="2667001" y="4500564"/>
            <a:ext cx="6715125" cy="904875"/>
          </a:xfrm>
          <a:prstGeom prst="rect">
            <a:avLst/>
          </a:prstGeom>
        </p:spPr>
        <p:txBody>
          <a:bodyPr>
            <a:spAutoFit/>
          </a:bodyPr>
          <a:lstStyle/>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國立台北科技大學　資訊工程系</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指導教授：鄭有進、謝金雲</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017DAA5-975F-AF41-A215-18112FE86F6D}"/>
              </a:ext>
            </a:extLst>
          </p:cNvPr>
          <p:cNvSpPr>
            <a:spLocks noGrp="1"/>
          </p:cNvSpPr>
          <p:nvPr>
            <p:ph type="sldNum" sz="quarter" idx="12"/>
          </p:nvPr>
        </p:nvSpPr>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fld id="{149653C5-FE47-144B-98D6-FD4A24C463D1}" type="slidenum">
              <a:rPr kumimoji="0" lang="zh-TW" altLang="en-US">
                <a:solidFill>
                  <a:srgbClr val="10253F"/>
                </a:solidFill>
                <a:latin typeface="Calibri" panose="020F0502020204030204" pitchFamily="34" charset="0"/>
              </a:rPr>
              <a:pPr eaLnBrk="1" hangingPunct="1"/>
              <a:t>2</a:t>
            </a:fld>
            <a:endParaRPr kumimoji="0" lang="zh-TW" altLang="en-US">
              <a:solidFill>
                <a:srgbClr val="10253F"/>
              </a:solidFill>
              <a:latin typeface="Calibri" panose="020F0502020204030204" pitchFamily="34" charset="0"/>
            </a:endParaRPr>
          </a:p>
        </p:txBody>
      </p:sp>
      <p:sp>
        <p:nvSpPr>
          <p:cNvPr id="5" name="日期版面配置區 4">
            <a:extLst>
              <a:ext uri="{FF2B5EF4-FFF2-40B4-BE49-F238E27FC236}">
                <a16:creationId xmlns:a16="http://schemas.microsoft.com/office/drawing/2014/main" id="{05FBB558-7334-5B4A-8695-44058B960583}"/>
              </a:ext>
            </a:extLst>
          </p:cNvPr>
          <p:cNvSpPr>
            <a:spLocks noGrp="1"/>
          </p:cNvSpPr>
          <p:nvPr>
            <p:ph type="dt" sz="quarter" idx="10"/>
          </p:nvPr>
        </p:nvSpPr>
        <p:spPr/>
        <p:txBody>
          <a:bodyPr/>
          <a:lstStyle/>
          <a:p>
            <a:pPr>
              <a:defRPr/>
            </a:pPr>
            <a:fld id="{8C4365B6-F14D-4045-8E37-64E386527D75}" type="datetime1">
              <a:rPr lang="zh-TW" altLang="en-US"/>
              <a:pPr>
                <a:defRPr/>
              </a:pPr>
              <a:t>2025/2/18</a:t>
            </a:fld>
            <a:endParaRPr lang="zh-TW" altLang="en-US" dirty="0"/>
          </a:p>
        </p:txBody>
      </p:sp>
      <p:sp>
        <p:nvSpPr>
          <p:cNvPr id="7" name="頁尾版面配置區 6">
            <a:extLst>
              <a:ext uri="{FF2B5EF4-FFF2-40B4-BE49-F238E27FC236}">
                <a16:creationId xmlns:a16="http://schemas.microsoft.com/office/drawing/2014/main" id="{C0442A9D-A316-2F45-A251-37F31F617748}"/>
              </a:ext>
            </a:extLst>
          </p:cNvPr>
          <p:cNvSpPr>
            <a:spLocks noGrp="1"/>
          </p:cNvSpPr>
          <p:nvPr>
            <p:ph type="ftr" sz="quarter" idx="11"/>
          </p:nvPr>
        </p:nvSpPr>
        <p:spPr/>
        <p:txBody>
          <a:bodyPr/>
          <a:lstStyle/>
          <a:p>
            <a:pPr>
              <a:defRPr/>
            </a:pPr>
            <a:r>
              <a:rPr lang="zh-TW" altLang="en-US"/>
              <a:t>軟體系統實驗室</a:t>
            </a:r>
          </a:p>
        </p:txBody>
      </p:sp>
      <p:sp>
        <p:nvSpPr>
          <p:cNvPr id="8" name="標題 7">
            <a:extLst>
              <a:ext uri="{FF2B5EF4-FFF2-40B4-BE49-F238E27FC236}">
                <a16:creationId xmlns:a16="http://schemas.microsoft.com/office/drawing/2014/main" id="{C99CC9D9-B252-5F42-BDBF-A4C873E84374}"/>
              </a:ext>
            </a:extLst>
          </p:cNvPr>
          <p:cNvSpPr>
            <a:spLocks noGrp="1"/>
          </p:cNvSpPr>
          <p:nvPr>
            <p:ph type="title"/>
          </p:nvPr>
        </p:nvSpPr>
        <p:spPr/>
        <p:txBody>
          <a:bodyPr/>
          <a:lstStyle/>
          <a:p>
            <a:pPr>
              <a:defRPr/>
            </a:pPr>
            <a:r>
              <a:rPr lang="en-US" altLang="zh-TW" dirty="0"/>
              <a:t>Outline</a:t>
            </a:r>
            <a:endParaRPr lang="zh-TW" altLang="en-US" dirty="0"/>
          </a:p>
        </p:txBody>
      </p:sp>
      <p:sp>
        <p:nvSpPr>
          <p:cNvPr id="9" name="內容版面配置區 8">
            <a:extLst>
              <a:ext uri="{FF2B5EF4-FFF2-40B4-BE49-F238E27FC236}">
                <a16:creationId xmlns:a16="http://schemas.microsoft.com/office/drawing/2014/main" id="{EC445DD7-88C1-394B-A476-56FA5A102AE1}"/>
              </a:ext>
            </a:extLst>
          </p:cNvPr>
          <p:cNvSpPr>
            <a:spLocks noGrp="1"/>
          </p:cNvSpPr>
          <p:nvPr>
            <p:ph idx="1"/>
          </p:nvPr>
        </p:nvSpPr>
        <p:spPr>
          <a:xfrm>
            <a:off x="609600" y="1916832"/>
            <a:ext cx="10972800" cy="4525963"/>
          </a:xfrm>
        </p:spPr>
        <p:txBody>
          <a:bodyPr/>
          <a:lstStyle/>
          <a:p>
            <a:pPr>
              <a:buFont typeface="Arial" charset="0"/>
              <a:buChar char="•"/>
              <a:defRPr/>
            </a:pPr>
            <a:r>
              <a:rPr lang="en-US" altLang="zh-TW" dirty="0"/>
              <a:t>What is Software Architecture?</a:t>
            </a:r>
          </a:p>
          <a:p>
            <a:pPr>
              <a:buFont typeface="Arial" charset="0"/>
              <a:buChar char="•"/>
              <a:defRPr/>
            </a:pPr>
            <a:r>
              <a:rPr lang="en-US" altLang="zh-TW" dirty="0"/>
              <a:t>Layered Rule</a:t>
            </a:r>
          </a:p>
          <a:p>
            <a:pPr>
              <a:buFont typeface="Arial" charset="0"/>
              <a:buChar char="•"/>
              <a:defRPr/>
            </a:pPr>
            <a:r>
              <a:rPr lang="en-US" altLang="zh-TW" dirty="0"/>
              <a:t>Dependency Rule</a:t>
            </a:r>
          </a:p>
          <a:p>
            <a:pPr>
              <a:buFont typeface="Arial" charset="0"/>
              <a:buChar char="•"/>
              <a:defRPr/>
            </a:pPr>
            <a:r>
              <a:rPr lang="en-US" altLang="zh-TW" dirty="0"/>
              <a:t>Cross-Boundary Rule</a:t>
            </a:r>
          </a:p>
          <a:p>
            <a:pPr>
              <a:buFont typeface="Arial" charset="0"/>
              <a:buChar char="•"/>
              <a:defRPr/>
            </a:pPr>
            <a:r>
              <a:rPr lang="en-US" altLang="zh-TW" dirty="0"/>
              <a:t>Pros and Cons</a:t>
            </a:r>
          </a:p>
          <a:p>
            <a:pPr>
              <a:buFont typeface="Arial" charset="0"/>
              <a:buChar char="•"/>
              <a:defRPr/>
            </a:pPr>
            <a:endParaRPr lang="en-US" altLang="zh-TW" dirty="0"/>
          </a:p>
          <a:p>
            <a:pPr>
              <a:buFont typeface="Arial" charset="0"/>
              <a:buChar char="•"/>
              <a:defRPr/>
            </a:pPr>
            <a:endParaRPr lang="zh-TW" altLang="en-US" dirty="0"/>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BFEA7-3A3E-282C-7E98-D03CCF9F4620}"/>
              </a:ext>
            </a:extLst>
          </p:cNvPr>
          <p:cNvSpPr>
            <a:spLocks noGrp="1"/>
          </p:cNvSpPr>
          <p:nvPr>
            <p:ph type="title"/>
          </p:nvPr>
        </p:nvSpPr>
        <p:spPr>
          <a:xfrm>
            <a:off x="551384" y="274638"/>
            <a:ext cx="11521280" cy="1143000"/>
          </a:xfrm>
        </p:spPr>
        <p:txBody>
          <a:bodyPr/>
          <a:lstStyle/>
          <a:p>
            <a:r>
              <a:rPr lang="en-US" altLang="zh-TW" dirty="0"/>
              <a:t>What is Software Architecture?(1)</a:t>
            </a:r>
            <a:endParaRPr lang="zh-TW" altLang="en-US" dirty="0"/>
          </a:p>
        </p:txBody>
      </p:sp>
      <p:sp>
        <p:nvSpPr>
          <p:cNvPr id="4" name="日期版面配置區 3">
            <a:extLst>
              <a:ext uri="{FF2B5EF4-FFF2-40B4-BE49-F238E27FC236}">
                <a16:creationId xmlns:a16="http://schemas.microsoft.com/office/drawing/2014/main" id="{E5BE2255-F832-B59F-0428-4BD7FBFE1870}"/>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a:p>
        </p:txBody>
      </p:sp>
      <p:sp>
        <p:nvSpPr>
          <p:cNvPr id="5" name="頁尾版面配置區 4">
            <a:extLst>
              <a:ext uri="{FF2B5EF4-FFF2-40B4-BE49-F238E27FC236}">
                <a16:creationId xmlns:a16="http://schemas.microsoft.com/office/drawing/2014/main" id="{62C77C37-3FB8-A2B3-4827-BA4F50AD4233}"/>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93EC0C01-8167-83C2-1594-3F9ABE960719}"/>
              </a:ext>
            </a:extLst>
          </p:cNvPr>
          <p:cNvSpPr>
            <a:spLocks noGrp="1"/>
          </p:cNvSpPr>
          <p:nvPr>
            <p:ph type="sldNum" sz="quarter" idx="12"/>
          </p:nvPr>
        </p:nvSpPr>
        <p:spPr/>
        <p:txBody>
          <a:bodyPr/>
          <a:lstStyle/>
          <a:p>
            <a:fld id="{7408114E-E8DD-9044-BC35-9779A826010B}" type="slidenum">
              <a:rPr lang="zh-TW" altLang="en-US" smtClean="0"/>
              <a:pPr/>
              <a:t>3</a:t>
            </a:fld>
            <a:endParaRPr lang="zh-TW" altLang="en-US"/>
          </a:p>
        </p:txBody>
      </p:sp>
      <p:sp>
        <p:nvSpPr>
          <p:cNvPr id="3" name="文字方塊 2">
            <a:extLst>
              <a:ext uri="{FF2B5EF4-FFF2-40B4-BE49-F238E27FC236}">
                <a16:creationId xmlns:a16="http://schemas.microsoft.com/office/drawing/2014/main" id="{FF11D35E-B60D-BAA1-19C2-92735E80F4C5}"/>
              </a:ext>
            </a:extLst>
          </p:cNvPr>
          <p:cNvSpPr txBox="1"/>
          <p:nvPr/>
        </p:nvSpPr>
        <p:spPr>
          <a:xfrm>
            <a:off x="875420" y="1484784"/>
            <a:ext cx="10441160" cy="923330"/>
          </a:xfrm>
          <a:prstGeom prst="rect">
            <a:avLst/>
          </a:prstGeom>
          <a:noFill/>
        </p:spPr>
        <p:txBody>
          <a:bodyPr wrap="square" rtlCol="0">
            <a:spAutoFit/>
          </a:bodyPr>
          <a:lstStyle/>
          <a:p>
            <a:pPr algn="just"/>
            <a:r>
              <a:rPr lang="en-US" altLang="zh-TW" i="0" dirty="0">
                <a:effectLst/>
                <a:latin typeface="微軟正黑體" panose="020B0604030504040204" pitchFamily="34" charset="-120"/>
                <a:ea typeface="微軟正黑體" panose="020B0604030504040204" pitchFamily="34" charset="-120"/>
              </a:rPr>
              <a:t>The architecture of a software is the </a:t>
            </a:r>
            <a:r>
              <a:rPr lang="en-US" altLang="zh-TW" b="1" i="0" dirty="0">
                <a:solidFill>
                  <a:srgbClr val="FF0000"/>
                </a:solidFill>
                <a:effectLst/>
                <a:latin typeface="微軟正黑體" panose="020B0604030504040204" pitchFamily="34" charset="-120"/>
                <a:ea typeface="微軟正黑體" panose="020B0604030504040204" pitchFamily="34" charset="-120"/>
              </a:rPr>
              <a:t>shape</a:t>
            </a:r>
            <a:r>
              <a:rPr lang="en-US" altLang="zh-TW" b="1" i="0" dirty="0">
                <a:effectLst/>
                <a:latin typeface="微軟正黑體" panose="020B0604030504040204" pitchFamily="34" charset="-120"/>
                <a:ea typeface="微軟正黑體" panose="020B0604030504040204" pitchFamily="34" charset="-120"/>
              </a:rPr>
              <a:t> </a:t>
            </a:r>
            <a:r>
              <a:rPr lang="en-US" altLang="zh-TW" i="0" dirty="0">
                <a:effectLst/>
                <a:latin typeface="微軟正黑體" panose="020B0604030504040204" pitchFamily="34" charset="-120"/>
                <a:ea typeface="微軟正黑體" panose="020B0604030504040204" pitchFamily="34" charset="-120"/>
              </a:rPr>
              <a:t>given to that system by those who build it.</a:t>
            </a:r>
          </a:p>
          <a:p>
            <a:pPr algn="just"/>
            <a:r>
              <a:rPr lang="en-US" altLang="zh-TW" i="0" dirty="0">
                <a:effectLst/>
                <a:latin typeface="Arial" panose="020B0604020202020204" pitchFamily="34" charset="0"/>
              </a:rPr>
              <a:t>The form of that shape is in the division of the system into </a:t>
            </a:r>
            <a:r>
              <a:rPr lang="en-US" altLang="zh-TW" b="1" i="0" dirty="0">
                <a:solidFill>
                  <a:srgbClr val="FF0000"/>
                </a:solidFill>
                <a:effectLst/>
                <a:latin typeface="Arial" panose="020B0604020202020204" pitchFamily="34" charset="0"/>
              </a:rPr>
              <a:t>components</a:t>
            </a:r>
            <a:r>
              <a:rPr lang="en-US" altLang="zh-TW" i="0" dirty="0">
                <a:effectLst/>
                <a:latin typeface="Arial" panose="020B0604020202020204" pitchFamily="34" charset="0"/>
              </a:rPr>
              <a:t>, the </a:t>
            </a:r>
            <a:r>
              <a:rPr lang="en-US" altLang="zh-TW" b="1" i="0" dirty="0">
                <a:solidFill>
                  <a:srgbClr val="FF0000"/>
                </a:solidFill>
                <a:effectLst/>
                <a:latin typeface="Arial" panose="020B0604020202020204" pitchFamily="34" charset="0"/>
              </a:rPr>
              <a:t>arrangement</a:t>
            </a:r>
            <a:r>
              <a:rPr lang="en-US" altLang="zh-TW" i="0" dirty="0">
                <a:effectLst/>
                <a:latin typeface="Arial" panose="020B0604020202020204" pitchFamily="34" charset="0"/>
              </a:rPr>
              <a:t> of those components, and the ways in which those components </a:t>
            </a:r>
            <a:r>
              <a:rPr lang="en-US" altLang="zh-TW" b="1" i="0" dirty="0">
                <a:solidFill>
                  <a:srgbClr val="FF0000"/>
                </a:solidFill>
                <a:effectLst/>
                <a:latin typeface="Arial" panose="020B0604020202020204" pitchFamily="34" charset="0"/>
              </a:rPr>
              <a:t>communicate</a:t>
            </a:r>
            <a:r>
              <a:rPr lang="en-US" altLang="zh-TW" i="0" dirty="0">
                <a:effectLst/>
                <a:latin typeface="Arial" panose="020B0604020202020204" pitchFamily="34" charset="0"/>
              </a:rPr>
              <a:t> with each other.</a:t>
            </a:r>
          </a:p>
        </p:txBody>
      </p:sp>
      <p:sp>
        <p:nvSpPr>
          <p:cNvPr id="7" name="矩形: 圓角 6">
            <a:extLst>
              <a:ext uri="{FF2B5EF4-FFF2-40B4-BE49-F238E27FC236}">
                <a16:creationId xmlns:a16="http://schemas.microsoft.com/office/drawing/2014/main" id="{44B489FC-B0D1-091E-C77E-96551B81640C}"/>
              </a:ext>
            </a:extLst>
          </p:cNvPr>
          <p:cNvSpPr/>
          <p:nvPr/>
        </p:nvSpPr>
        <p:spPr>
          <a:xfrm>
            <a:off x="6116500" y="4105234"/>
            <a:ext cx="1656184" cy="504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Development</a:t>
            </a:r>
            <a:endParaRPr lang="zh-TW" altLang="en-US" dirty="0"/>
          </a:p>
        </p:txBody>
      </p:sp>
      <p:sp>
        <p:nvSpPr>
          <p:cNvPr id="10" name="矩形: 圓角 9">
            <a:extLst>
              <a:ext uri="{FF2B5EF4-FFF2-40B4-BE49-F238E27FC236}">
                <a16:creationId xmlns:a16="http://schemas.microsoft.com/office/drawing/2014/main" id="{AB2BB19E-53E6-7FE9-285C-BE1AC86923E9}"/>
              </a:ext>
            </a:extLst>
          </p:cNvPr>
          <p:cNvSpPr/>
          <p:nvPr/>
        </p:nvSpPr>
        <p:spPr>
          <a:xfrm>
            <a:off x="8480541" y="4105234"/>
            <a:ext cx="1656184" cy="504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Deployment</a:t>
            </a:r>
            <a:endParaRPr lang="zh-TW" altLang="en-US" dirty="0"/>
          </a:p>
        </p:txBody>
      </p:sp>
      <p:sp>
        <p:nvSpPr>
          <p:cNvPr id="11" name="矩形: 圓角 10">
            <a:extLst>
              <a:ext uri="{FF2B5EF4-FFF2-40B4-BE49-F238E27FC236}">
                <a16:creationId xmlns:a16="http://schemas.microsoft.com/office/drawing/2014/main" id="{AB37B29F-BDE0-0B90-1A84-FE5F9CC99E6E}"/>
              </a:ext>
            </a:extLst>
          </p:cNvPr>
          <p:cNvSpPr/>
          <p:nvPr/>
        </p:nvSpPr>
        <p:spPr>
          <a:xfrm>
            <a:off x="6116500" y="5128467"/>
            <a:ext cx="1656184" cy="504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Operation</a:t>
            </a:r>
            <a:endParaRPr lang="zh-TW" altLang="en-US" dirty="0"/>
          </a:p>
        </p:txBody>
      </p:sp>
      <p:sp>
        <p:nvSpPr>
          <p:cNvPr id="12" name="矩形: 圓角 11">
            <a:extLst>
              <a:ext uri="{FF2B5EF4-FFF2-40B4-BE49-F238E27FC236}">
                <a16:creationId xmlns:a16="http://schemas.microsoft.com/office/drawing/2014/main" id="{B46E7499-F3E4-62FB-89DA-FCC9167D9775}"/>
              </a:ext>
            </a:extLst>
          </p:cNvPr>
          <p:cNvSpPr/>
          <p:nvPr/>
        </p:nvSpPr>
        <p:spPr>
          <a:xfrm>
            <a:off x="8480541" y="5128467"/>
            <a:ext cx="1656184" cy="504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Maintenance</a:t>
            </a:r>
            <a:endParaRPr lang="zh-TW" altLang="en-US" dirty="0"/>
          </a:p>
        </p:txBody>
      </p:sp>
      <p:sp>
        <p:nvSpPr>
          <p:cNvPr id="18" name="語音泡泡: 圓角矩形 17">
            <a:extLst>
              <a:ext uri="{FF2B5EF4-FFF2-40B4-BE49-F238E27FC236}">
                <a16:creationId xmlns:a16="http://schemas.microsoft.com/office/drawing/2014/main" id="{6A50D84C-FC79-AFD6-84DC-CB7D124C08A3}"/>
              </a:ext>
            </a:extLst>
          </p:cNvPr>
          <p:cNvSpPr/>
          <p:nvPr/>
        </p:nvSpPr>
        <p:spPr>
          <a:xfrm>
            <a:off x="2351584" y="2764608"/>
            <a:ext cx="3240360" cy="1240456"/>
          </a:xfrm>
          <a:prstGeom prst="wedgeRoundRectCallout">
            <a:avLst>
              <a:gd name="adj1" fmla="val 35161"/>
              <a:gd name="adj2" fmla="val 102433"/>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TW" sz="2800" dirty="0"/>
              <a:t>What is the purpose of the shape?</a:t>
            </a:r>
            <a:endParaRPr lang="en-US" altLang="zh-TW" sz="2800" b="0" i="0" dirty="0">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32865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ppt_x"/>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5E42DD8A-01A4-645A-426A-E37514DB989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a:p>
        </p:txBody>
      </p:sp>
      <p:sp>
        <p:nvSpPr>
          <p:cNvPr id="5" name="頁尾版面配置區 4">
            <a:extLst>
              <a:ext uri="{FF2B5EF4-FFF2-40B4-BE49-F238E27FC236}">
                <a16:creationId xmlns:a16="http://schemas.microsoft.com/office/drawing/2014/main" id="{BC0628AF-978E-361B-95C3-ABAC89207949}"/>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52DA3B77-6341-094B-B881-5E526F19AE12}"/>
              </a:ext>
            </a:extLst>
          </p:cNvPr>
          <p:cNvSpPr>
            <a:spLocks noGrp="1"/>
          </p:cNvSpPr>
          <p:nvPr>
            <p:ph type="sldNum" sz="quarter" idx="12"/>
          </p:nvPr>
        </p:nvSpPr>
        <p:spPr/>
        <p:txBody>
          <a:bodyPr/>
          <a:lstStyle/>
          <a:p>
            <a:fld id="{7408114E-E8DD-9044-BC35-9779A826010B}" type="slidenum">
              <a:rPr lang="zh-TW" altLang="en-US" smtClean="0"/>
              <a:pPr/>
              <a:t>4</a:t>
            </a:fld>
            <a:endParaRPr lang="zh-TW" altLang="en-US"/>
          </a:p>
        </p:txBody>
      </p:sp>
      <p:sp>
        <p:nvSpPr>
          <p:cNvPr id="10" name="標題 1">
            <a:extLst>
              <a:ext uri="{FF2B5EF4-FFF2-40B4-BE49-F238E27FC236}">
                <a16:creationId xmlns:a16="http://schemas.microsoft.com/office/drawing/2014/main" id="{9DB2D0F3-062F-5719-7058-F7BDD031D35D}"/>
              </a:ext>
            </a:extLst>
          </p:cNvPr>
          <p:cNvSpPr>
            <a:spLocks noGrp="1"/>
          </p:cNvSpPr>
          <p:nvPr>
            <p:ph type="title"/>
          </p:nvPr>
        </p:nvSpPr>
        <p:spPr>
          <a:xfrm>
            <a:off x="551384" y="274638"/>
            <a:ext cx="11521280" cy="1143000"/>
          </a:xfrm>
        </p:spPr>
        <p:txBody>
          <a:bodyPr/>
          <a:lstStyle/>
          <a:p>
            <a:r>
              <a:rPr lang="en-US" altLang="zh-TW" dirty="0"/>
              <a:t>What is Software Architecture?(2)</a:t>
            </a:r>
            <a:endParaRPr lang="zh-TW" altLang="en-US" dirty="0"/>
          </a:p>
        </p:txBody>
      </p:sp>
      <p:sp>
        <p:nvSpPr>
          <p:cNvPr id="2" name="文字方塊 1">
            <a:extLst>
              <a:ext uri="{FF2B5EF4-FFF2-40B4-BE49-F238E27FC236}">
                <a16:creationId xmlns:a16="http://schemas.microsoft.com/office/drawing/2014/main" id="{9AB0E028-2991-0E86-CC91-C44DD33A5366}"/>
              </a:ext>
            </a:extLst>
          </p:cNvPr>
          <p:cNvSpPr txBox="1"/>
          <p:nvPr/>
        </p:nvSpPr>
        <p:spPr>
          <a:xfrm>
            <a:off x="875420" y="1406591"/>
            <a:ext cx="10441160" cy="707886"/>
          </a:xfrm>
          <a:prstGeom prst="rect">
            <a:avLst/>
          </a:prstGeom>
          <a:noFill/>
        </p:spPr>
        <p:txBody>
          <a:bodyPr wrap="square" rtlCol="0">
            <a:spAutoFit/>
          </a:bodyPr>
          <a:lstStyle/>
          <a:p>
            <a:r>
              <a:rPr lang="en-US" altLang="zh-TW" sz="2000" b="1" i="0" dirty="0">
                <a:effectLst/>
                <a:latin typeface="微軟正黑體" panose="020B0604030504040204" pitchFamily="34" charset="-120"/>
                <a:ea typeface="微軟正黑體" panose="020B0604030504040204" pitchFamily="34" charset="-120"/>
              </a:rPr>
              <a:t>The ultimate goal of software architecture is to </a:t>
            </a:r>
            <a:r>
              <a:rPr lang="en-US" altLang="zh-TW" sz="2000" b="1" i="0" dirty="0">
                <a:solidFill>
                  <a:srgbClr val="FF0000"/>
                </a:solidFill>
                <a:effectLst/>
                <a:latin typeface="微軟正黑體" panose="020B0604030504040204" pitchFamily="34" charset="-120"/>
                <a:ea typeface="微軟正黑體" panose="020B0604030504040204" pitchFamily="34" charset="-120"/>
              </a:rPr>
              <a:t>minimize</a:t>
            </a:r>
            <a:r>
              <a:rPr lang="en-US" altLang="zh-TW" sz="2000" b="1" i="0" dirty="0">
                <a:effectLst/>
                <a:latin typeface="微軟正黑體" panose="020B0604030504040204" pitchFamily="34" charset="-120"/>
                <a:ea typeface="微軟正黑體" panose="020B0604030504040204" pitchFamily="34" charset="-120"/>
              </a:rPr>
              <a:t> the lifetime cost </a:t>
            </a:r>
            <a:r>
              <a:rPr lang="en-US" altLang="zh-TW" sz="2000" b="1" dirty="0">
                <a:latin typeface="微軟正黑體" panose="020B0604030504040204" pitchFamily="34" charset="-120"/>
                <a:ea typeface="微軟正黑體" panose="020B0604030504040204" pitchFamily="34" charset="-120"/>
              </a:rPr>
              <a:t>of the system and to </a:t>
            </a:r>
            <a:r>
              <a:rPr lang="en-US" altLang="zh-TW" sz="2000" b="1" dirty="0">
                <a:solidFill>
                  <a:srgbClr val="FF0000"/>
                </a:solidFill>
                <a:latin typeface="微軟正黑體" panose="020B0604030504040204" pitchFamily="34" charset="-120"/>
                <a:ea typeface="微軟正黑體" panose="020B0604030504040204" pitchFamily="34" charset="-120"/>
              </a:rPr>
              <a:t>maximize</a:t>
            </a:r>
            <a:r>
              <a:rPr lang="en-US" altLang="zh-TW" sz="2000" b="1" dirty="0">
                <a:latin typeface="微軟正黑體" panose="020B0604030504040204" pitchFamily="34" charset="-120"/>
                <a:ea typeface="微軟正黑體" panose="020B0604030504040204" pitchFamily="34" charset="-120"/>
              </a:rPr>
              <a:t> programmer productivity.</a:t>
            </a:r>
            <a:endParaRPr lang="en-US" altLang="zh-TW" sz="2000" b="1" i="0" dirty="0">
              <a:effectLst/>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16A55EAA-32FC-87A9-7B6E-4ABC16D74B6A}"/>
              </a:ext>
            </a:extLst>
          </p:cNvPr>
          <p:cNvPicPr>
            <a:picLocks noChangeAspect="1"/>
          </p:cNvPicPr>
          <p:nvPr/>
        </p:nvPicPr>
        <p:blipFill>
          <a:blip r:embed="rId4"/>
          <a:stretch>
            <a:fillRect/>
          </a:stretch>
        </p:blipFill>
        <p:spPr>
          <a:xfrm>
            <a:off x="1046986" y="2131115"/>
            <a:ext cx="5265038" cy="4032448"/>
          </a:xfrm>
          <a:prstGeom prst="rect">
            <a:avLst/>
          </a:prstGeom>
        </p:spPr>
      </p:pic>
      <p:sp>
        <p:nvSpPr>
          <p:cNvPr id="11" name="語音泡泡: 矩形 10">
            <a:extLst>
              <a:ext uri="{FF2B5EF4-FFF2-40B4-BE49-F238E27FC236}">
                <a16:creationId xmlns:a16="http://schemas.microsoft.com/office/drawing/2014/main" id="{E4DEF665-899A-9669-8643-2991E5700632}"/>
              </a:ext>
            </a:extLst>
          </p:cNvPr>
          <p:cNvSpPr/>
          <p:nvPr/>
        </p:nvSpPr>
        <p:spPr>
          <a:xfrm>
            <a:off x="6672064" y="2527159"/>
            <a:ext cx="4910336" cy="1512168"/>
          </a:xfrm>
          <a:prstGeom prst="wedgeRectCallout">
            <a:avLst>
              <a:gd name="adj1" fmla="val -75075"/>
              <a:gd name="adj2" fmla="val 62845"/>
            </a:avLst>
          </a:prstGeom>
        </p:spPr>
        <p:style>
          <a:lnRef idx="2">
            <a:schemeClr val="dk1"/>
          </a:lnRef>
          <a:fillRef idx="1">
            <a:schemeClr val="lt1"/>
          </a:fillRef>
          <a:effectRef idx="0">
            <a:schemeClr val="dk1"/>
          </a:effectRef>
          <a:fontRef idx="minor">
            <a:schemeClr val="dk1"/>
          </a:fontRef>
        </p:style>
        <p:txBody>
          <a:bodyPr rtlCol="0" anchor="ctr"/>
          <a:lstStyle/>
          <a:p>
            <a:r>
              <a:rPr lang="en-US" altLang="zh-TW" sz="2800" b="1" dirty="0"/>
              <a:t>The cost of software changes is not related to </a:t>
            </a:r>
            <a:r>
              <a:rPr lang="en-US" altLang="zh-TW" sz="2800" b="1" dirty="0">
                <a:solidFill>
                  <a:srgbClr val="FF0000"/>
                </a:solidFill>
              </a:rPr>
              <a:t>time</a:t>
            </a:r>
            <a:r>
              <a:rPr lang="en-US" altLang="zh-TW" sz="2800" b="1" dirty="0"/>
              <a:t> but to the </a:t>
            </a:r>
            <a:r>
              <a:rPr lang="en-US" altLang="zh-TW" sz="2800" b="1" dirty="0">
                <a:solidFill>
                  <a:srgbClr val="FF0000"/>
                </a:solidFill>
              </a:rPr>
              <a:t>scope</a:t>
            </a:r>
            <a:r>
              <a:rPr lang="en-US" altLang="zh-TW" sz="2800" b="1" dirty="0"/>
              <a:t> of the change.</a:t>
            </a:r>
            <a:endParaRPr lang="en-US" altLang="zh-TW" sz="2800" dirty="0"/>
          </a:p>
        </p:txBody>
      </p:sp>
    </p:spTree>
    <p:extLst>
      <p:ext uri="{BB962C8B-B14F-4D97-AF65-F5344CB8AC3E}">
        <p14:creationId xmlns:p14="http://schemas.microsoft.com/office/powerpoint/2010/main" val="343062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B53C-6DE4-0282-24F4-521A10858FF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F2027D7-D958-B87B-1786-3DBCBF2B0D2D}"/>
              </a:ext>
            </a:extLst>
          </p:cNvPr>
          <p:cNvSpPr>
            <a:spLocks noGrp="1"/>
          </p:cNvSpPr>
          <p:nvPr>
            <p:ph type="title"/>
          </p:nvPr>
        </p:nvSpPr>
        <p:spPr/>
        <p:txBody>
          <a:bodyPr/>
          <a:lstStyle/>
          <a:p>
            <a:r>
              <a:rPr lang="en-US" altLang="zh-TW" dirty="0"/>
              <a:t>Layered Rule(1)</a:t>
            </a:r>
            <a:endParaRPr lang="zh-TW" altLang="en-US" dirty="0"/>
          </a:p>
        </p:txBody>
      </p:sp>
      <p:sp>
        <p:nvSpPr>
          <p:cNvPr id="4" name="日期版面配置區 3">
            <a:extLst>
              <a:ext uri="{FF2B5EF4-FFF2-40B4-BE49-F238E27FC236}">
                <a16:creationId xmlns:a16="http://schemas.microsoft.com/office/drawing/2014/main" id="{0786DBCF-71F8-57A6-D697-A9FC413CF6D7}"/>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a:p>
        </p:txBody>
      </p:sp>
      <p:sp>
        <p:nvSpPr>
          <p:cNvPr id="5" name="頁尾版面配置區 4">
            <a:extLst>
              <a:ext uri="{FF2B5EF4-FFF2-40B4-BE49-F238E27FC236}">
                <a16:creationId xmlns:a16="http://schemas.microsoft.com/office/drawing/2014/main" id="{43BCF39E-6AEA-49B5-1CD4-4CD7B9298B5F}"/>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BFA8F500-1FC5-3BA2-7775-0BC6ED29D2BC}"/>
              </a:ext>
            </a:extLst>
          </p:cNvPr>
          <p:cNvSpPr>
            <a:spLocks noGrp="1"/>
          </p:cNvSpPr>
          <p:nvPr>
            <p:ph type="sldNum" sz="quarter" idx="12"/>
          </p:nvPr>
        </p:nvSpPr>
        <p:spPr/>
        <p:txBody>
          <a:bodyPr/>
          <a:lstStyle/>
          <a:p>
            <a:fld id="{7408114E-E8DD-9044-BC35-9779A826010B}" type="slidenum">
              <a:rPr lang="zh-TW" altLang="en-US" smtClean="0"/>
              <a:pPr/>
              <a:t>5</a:t>
            </a:fld>
            <a:endParaRPr lang="zh-TW" altLang="en-US"/>
          </a:p>
        </p:txBody>
      </p:sp>
      <p:pic>
        <p:nvPicPr>
          <p:cNvPr id="7" name="圖片 6">
            <a:extLst>
              <a:ext uri="{FF2B5EF4-FFF2-40B4-BE49-F238E27FC236}">
                <a16:creationId xmlns:a16="http://schemas.microsoft.com/office/drawing/2014/main" id="{5F763D11-278A-5E9F-6049-B3E178E11FBA}"/>
              </a:ext>
            </a:extLst>
          </p:cNvPr>
          <p:cNvPicPr>
            <a:picLocks noChangeAspect="1"/>
          </p:cNvPicPr>
          <p:nvPr/>
        </p:nvPicPr>
        <p:blipFill>
          <a:blip r:embed="rId3"/>
          <a:stretch>
            <a:fillRect/>
          </a:stretch>
        </p:blipFill>
        <p:spPr>
          <a:xfrm>
            <a:off x="2522438" y="1556792"/>
            <a:ext cx="7147124" cy="4921920"/>
          </a:xfrm>
          <a:prstGeom prst="rect">
            <a:avLst/>
          </a:prstGeom>
        </p:spPr>
      </p:pic>
    </p:spTree>
    <p:extLst>
      <p:ext uri="{BB962C8B-B14F-4D97-AF65-F5344CB8AC3E}">
        <p14:creationId xmlns:p14="http://schemas.microsoft.com/office/powerpoint/2010/main" val="904951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444D-05A6-6136-EC5B-D974B7BAD88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DBA21A5-DE4D-0628-DA27-2507AC387091}"/>
              </a:ext>
            </a:extLst>
          </p:cNvPr>
          <p:cNvSpPr>
            <a:spLocks noGrp="1"/>
          </p:cNvSpPr>
          <p:nvPr>
            <p:ph type="title"/>
          </p:nvPr>
        </p:nvSpPr>
        <p:spPr/>
        <p:txBody>
          <a:bodyPr/>
          <a:lstStyle/>
          <a:p>
            <a:r>
              <a:rPr lang="en-US" altLang="zh-TW" dirty="0"/>
              <a:t>Layered Rule(1)</a:t>
            </a:r>
            <a:endParaRPr lang="zh-TW" altLang="en-US" dirty="0"/>
          </a:p>
        </p:txBody>
      </p:sp>
      <p:sp>
        <p:nvSpPr>
          <p:cNvPr id="4" name="日期版面配置區 3">
            <a:extLst>
              <a:ext uri="{FF2B5EF4-FFF2-40B4-BE49-F238E27FC236}">
                <a16:creationId xmlns:a16="http://schemas.microsoft.com/office/drawing/2014/main" id="{5E5C6D94-3B5A-1823-2975-E4E09E327202}"/>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a:p>
        </p:txBody>
      </p:sp>
      <p:sp>
        <p:nvSpPr>
          <p:cNvPr id="5" name="頁尾版面配置區 4">
            <a:extLst>
              <a:ext uri="{FF2B5EF4-FFF2-40B4-BE49-F238E27FC236}">
                <a16:creationId xmlns:a16="http://schemas.microsoft.com/office/drawing/2014/main" id="{E983A00E-E378-3236-260F-AC34AB01C5F0}"/>
              </a:ext>
            </a:extLst>
          </p:cNvPr>
          <p:cNvSpPr>
            <a:spLocks noGrp="1"/>
          </p:cNvSpPr>
          <p:nvPr>
            <p:ph type="ftr" sz="quarter" idx="11"/>
          </p:nvPr>
        </p:nvSpPr>
        <p:spPr>
          <a:xfrm>
            <a:off x="4165600"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B59C86B5-FFC6-0192-F876-F0DB3559520A}"/>
              </a:ext>
            </a:extLst>
          </p:cNvPr>
          <p:cNvSpPr>
            <a:spLocks noGrp="1"/>
          </p:cNvSpPr>
          <p:nvPr>
            <p:ph type="sldNum" sz="quarter" idx="12"/>
          </p:nvPr>
        </p:nvSpPr>
        <p:spPr/>
        <p:txBody>
          <a:bodyPr/>
          <a:lstStyle/>
          <a:p>
            <a:fld id="{7408114E-E8DD-9044-BC35-9779A826010B}" type="slidenum">
              <a:rPr lang="zh-TW" altLang="en-US" smtClean="0"/>
              <a:pPr/>
              <a:t>6</a:t>
            </a:fld>
            <a:endParaRPr lang="zh-TW" altLang="en-US"/>
          </a:p>
        </p:txBody>
      </p:sp>
      <p:pic>
        <p:nvPicPr>
          <p:cNvPr id="8" name="圖片 7">
            <a:extLst>
              <a:ext uri="{FF2B5EF4-FFF2-40B4-BE49-F238E27FC236}">
                <a16:creationId xmlns:a16="http://schemas.microsoft.com/office/drawing/2014/main" id="{3A312CA0-F180-58AA-068B-E8F05C099CDA}"/>
              </a:ext>
            </a:extLst>
          </p:cNvPr>
          <p:cNvPicPr>
            <a:picLocks noChangeAspect="1"/>
          </p:cNvPicPr>
          <p:nvPr/>
        </p:nvPicPr>
        <p:blipFill>
          <a:blip r:embed="rId3"/>
          <a:stretch>
            <a:fillRect/>
          </a:stretch>
        </p:blipFill>
        <p:spPr>
          <a:xfrm>
            <a:off x="2307627" y="1342440"/>
            <a:ext cx="7576745" cy="5240188"/>
          </a:xfrm>
          <a:prstGeom prst="rect">
            <a:avLst/>
          </a:prstGeom>
        </p:spPr>
      </p:pic>
    </p:spTree>
    <p:extLst>
      <p:ext uri="{BB962C8B-B14F-4D97-AF65-F5344CB8AC3E}">
        <p14:creationId xmlns:p14="http://schemas.microsoft.com/office/powerpoint/2010/main" val="410663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0A781B2A-1FA3-FA60-1C95-950C89AD14D0}"/>
              </a:ext>
            </a:extLst>
          </p:cNvPr>
          <p:cNvPicPr>
            <a:picLocks noChangeAspect="1"/>
          </p:cNvPicPr>
          <p:nvPr/>
        </p:nvPicPr>
        <p:blipFill>
          <a:blip r:embed="rId3"/>
          <a:stretch>
            <a:fillRect/>
          </a:stretch>
        </p:blipFill>
        <p:spPr>
          <a:xfrm>
            <a:off x="2358008" y="1607940"/>
            <a:ext cx="7475984" cy="4781084"/>
          </a:xfrm>
          <a:prstGeom prst="rect">
            <a:avLst/>
          </a:prstGeom>
        </p:spPr>
      </p:pic>
      <p:sp>
        <p:nvSpPr>
          <p:cNvPr id="2" name="標題 1">
            <a:extLst>
              <a:ext uri="{FF2B5EF4-FFF2-40B4-BE49-F238E27FC236}">
                <a16:creationId xmlns:a16="http://schemas.microsoft.com/office/drawing/2014/main" id="{4D553F58-3EF9-39FF-FF79-231C1D1DB8AB}"/>
              </a:ext>
            </a:extLst>
          </p:cNvPr>
          <p:cNvSpPr>
            <a:spLocks noGrp="1"/>
          </p:cNvSpPr>
          <p:nvPr>
            <p:ph type="title"/>
          </p:nvPr>
        </p:nvSpPr>
        <p:spPr/>
        <p:txBody>
          <a:bodyPr/>
          <a:lstStyle/>
          <a:p>
            <a:r>
              <a:rPr lang="en-US" altLang="zh-TW" dirty="0"/>
              <a:t>Layered Rule(2)</a:t>
            </a:r>
            <a:endParaRPr lang="zh-TW" altLang="en-US" dirty="0"/>
          </a:p>
        </p:txBody>
      </p:sp>
      <p:sp>
        <p:nvSpPr>
          <p:cNvPr id="4" name="日期版面配置區 3">
            <a:extLst>
              <a:ext uri="{FF2B5EF4-FFF2-40B4-BE49-F238E27FC236}">
                <a16:creationId xmlns:a16="http://schemas.microsoft.com/office/drawing/2014/main" id="{F818A65D-DB70-3D54-9E8B-DAE18F303859}"/>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6" name="投影片編號版面配置區 5">
            <a:extLst>
              <a:ext uri="{FF2B5EF4-FFF2-40B4-BE49-F238E27FC236}">
                <a16:creationId xmlns:a16="http://schemas.microsoft.com/office/drawing/2014/main" id="{702E4AC5-DDBE-0F86-33FE-6BC5B2418E7D}"/>
              </a:ext>
            </a:extLst>
          </p:cNvPr>
          <p:cNvSpPr>
            <a:spLocks noGrp="1"/>
          </p:cNvSpPr>
          <p:nvPr>
            <p:ph type="sldNum" sz="quarter" idx="12"/>
          </p:nvPr>
        </p:nvSpPr>
        <p:spPr/>
        <p:txBody>
          <a:bodyPr/>
          <a:lstStyle/>
          <a:p>
            <a:fld id="{7408114E-E8DD-9044-BC35-9779A826010B}" type="slidenum">
              <a:rPr lang="zh-TW" altLang="en-US" smtClean="0"/>
              <a:pPr/>
              <a:t>7</a:t>
            </a:fld>
            <a:endParaRPr lang="zh-TW" altLang="en-US"/>
          </a:p>
        </p:txBody>
      </p:sp>
      <p:sp>
        <p:nvSpPr>
          <p:cNvPr id="3" name="文字方塊 2">
            <a:extLst>
              <a:ext uri="{FF2B5EF4-FFF2-40B4-BE49-F238E27FC236}">
                <a16:creationId xmlns:a16="http://schemas.microsoft.com/office/drawing/2014/main" id="{19D5DE39-E0CC-3B2E-19BB-00C36B34C2F5}"/>
              </a:ext>
            </a:extLst>
          </p:cNvPr>
          <p:cNvSpPr txBox="1"/>
          <p:nvPr/>
        </p:nvSpPr>
        <p:spPr>
          <a:xfrm>
            <a:off x="551384" y="1357750"/>
            <a:ext cx="11089232" cy="646331"/>
          </a:xfrm>
          <a:prstGeom prst="rect">
            <a:avLst/>
          </a:prstGeom>
          <a:noFill/>
        </p:spPr>
        <p:txBody>
          <a:bodyPr wrap="square" rtlCol="0">
            <a:spAutoFit/>
          </a:bodyPr>
          <a:lstStyle/>
          <a:p>
            <a:r>
              <a:rPr lang="en-US" altLang="zh-TW" dirty="0"/>
              <a:t>The farther a component is from I/O (input and output), the higher its level; the closer a component is to I/O, the lower its level.</a:t>
            </a:r>
            <a:endParaRPr lang="zh-TW" altLang="en-US" b="1" dirty="0"/>
          </a:p>
        </p:txBody>
      </p:sp>
      <p:sp>
        <p:nvSpPr>
          <p:cNvPr id="5" name="頁尾版面配置區 4">
            <a:extLst>
              <a:ext uri="{FF2B5EF4-FFF2-40B4-BE49-F238E27FC236}">
                <a16:creationId xmlns:a16="http://schemas.microsoft.com/office/drawing/2014/main" id="{85D631C5-D5F0-9EA0-4589-4419D4B4BFBB}"/>
              </a:ext>
            </a:extLst>
          </p:cNvPr>
          <p:cNvSpPr>
            <a:spLocks noGrp="1"/>
          </p:cNvSpPr>
          <p:nvPr>
            <p:ph type="ftr" sz="quarter" idx="11"/>
          </p:nvPr>
        </p:nvSpPr>
        <p:spPr/>
        <p:txBody>
          <a:bodyPr/>
          <a:lstStyle/>
          <a:p>
            <a:pPr>
              <a:defRPr/>
            </a:pPr>
            <a:r>
              <a:rPr lang="zh-TW" altLang="en-US" dirty="0"/>
              <a:t>軟體系統實驗室</a:t>
            </a:r>
          </a:p>
        </p:txBody>
      </p:sp>
      <p:sp>
        <p:nvSpPr>
          <p:cNvPr id="7" name="文字方塊 6">
            <a:hlinkClick r:id="rId4" action="ppaction://hlinksldjump"/>
            <a:extLst>
              <a:ext uri="{FF2B5EF4-FFF2-40B4-BE49-F238E27FC236}">
                <a16:creationId xmlns:a16="http://schemas.microsoft.com/office/drawing/2014/main" id="{9D5137DD-A854-8BC7-8E91-52E0C8CD2187}"/>
              </a:ext>
            </a:extLst>
          </p:cNvPr>
          <p:cNvSpPr txBox="1"/>
          <p:nvPr/>
        </p:nvSpPr>
        <p:spPr>
          <a:xfrm>
            <a:off x="10128448" y="5984916"/>
            <a:ext cx="1224136" cy="369332"/>
          </a:xfrm>
          <a:prstGeom prst="rect">
            <a:avLst/>
          </a:prstGeom>
          <a:noFill/>
        </p:spPr>
        <p:txBody>
          <a:bodyPr wrap="square" rtlCol="0">
            <a:spAutoFit/>
          </a:bodyPr>
          <a:lstStyle/>
          <a:p>
            <a:r>
              <a:rPr lang="en-US" altLang="zh-TW" b="1" dirty="0"/>
              <a:t>DP Link</a:t>
            </a:r>
            <a:endParaRPr lang="zh-TW" altLang="en-US" b="1" dirty="0"/>
          </a:p>
        </p:txBody>
      </p:sp>
    </p:spTree>
    <p:extLst>
      <p:ext uri="{BB962C8B-B14F-4D97-AF65-F5344CB8AC3E}">
        <p14:creationId xmlns:p14="http://schemas.microsoft.com/office/powerpoint/2010/main" val="2631617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61E4-2486-F6A5-CF65-6B24C230628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C13FADD-E379-5F53-6BDE-FF41B10E0F46}"/>
              </a:ext>
            </a:extLst>
          </p:cNvPr>
          <p:cNvSpPr>
            <a:spLocks noGrp="1"/>
          </p:cNvSpPr>
          <p:nvPr>
            <p:ph type="title"/>
          </p:nvPr>
        </p:nvSpPr>
        <p:spPr/>
        <p:txBody>
          <a:bodyPr/>
          <a:lstStyle/>
          <a:p>
            <a:r>
              <a:rPr lang="en-US" altLang="zh-TW" dirty="0"/>
              <a:t>Layered Rule(3)</a:t>
            </a:r>
            <a:endParaRPr lang="zh-TW" altLang="en-US" dirty="0"/>
          </a:p>
        </p:txBody>
      </p:sp>
      <p:sp>
        <p:nvSpPr>
          <p:cNvPr id="4" name="日期版面配置區 3">
            <a:extLst>
              <a:ext uri="{FF2B5EF4-FFF2-40B4-BE49-F238E27FC236}">
                <a16:creationId xmlns:a16="http://schemas.microsoft.com/office/drawing/2014/main" id="{1E2839B9-B0A7-6A0B-1F07-0A41989E82BD}"/>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AF0D8ED9-FB8B-3BEE-C162-7D13E3196D82}"/>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ADA1D937-F4B4-963F-BABB-718D8EFEC008}"/>
              </a:ext>
            </a:extLst>
          </p:cNvPr>
          <p:cNvSpPr>
            <a:spLocks noGrp="1"/>
          </p:cNvSpPr>
          <p:nvPr>
            <p:ph type="sldNum" sz="quarter" idx="12"/>
          </p:nvPr>
        </p:nvSpPr>
        <p:spPr/>
        <p:txBody>
          <a:bodyPr/>
          <a:lstStyle/>
          <a:p>
            <a:fld id="{7408114E-E8DD-9044-BC35-9779A826010B}" type="slidenum">
              <a:rPr lang="zh-TW" altLang="en-US" smtClean="0"/>
              <a:pPr/>
              <a:t>8</a:t>
            </a:fld>
            <a:endParaRPr lang="zh-TW" altLang="en-US"/>
          </a:p>
        </p:txBody>
      </p:sp>
      <p:sp>
        <p:nvSpPr>
          <p:cNvPr id="3" name="文字方塊 2">
            <a:extLst>
              <a:ext uri="{FF2B5EF4-FFF2-40B4-BE49-F238E27FC236}">
                <a16:creationId xmlns:a16="http://schemas.microsoft.com/office/drawing/2014/main" id="{04E23455-4099-2438-F383-5FF218956425}"/>
              </a:ext>
            </a:extLst>
          </p:cNvPr>
          <p:cNvSpPr txBox="1"/>
          <p:nvPr/>
        </p:nvSpPr>
        <p:spPr>
          <a:xfrm>
            <a:off x="479376" y="1844824"/>
            <a:ext cx="10598968" cy="3170099"/>
          </a:xfrm>
          <a:prstGeom prst="rect">
            <a:avLst/>
          </a:prstGeom>
          <a:noFill/>
        </p:spPr>
        <p:txBody>
          <a:bodyPr wrap="square" rtlCol="0">
            <a:spAutoFit/>
          </a:bodyPr>
          <a:lstStyle/>
          <a:p>
            <a:pPr algn="just"/>
            <a:r>
              <a:rPr lang="en-US" altLang="zh-TW" sz="4000" b="1" dirty="0"/>
              <a:t>Entities</a:t>
            </a:r>
            <a:r>
              <a:rPr lang="zh-TW" altLang="en-US" sz="4000" b="1" dirty="0"/>
              <a:t>：</a:t>
            </a:r>
          </a:p>
          <a:p>
            <a:pPr algn="just"/>
            <a:r>
              <a:rPr lang="en-US" altLang="zh-TW" sz="3200" dirty="0"/>
              <a:t>Objects that encapsulate </a:t>
            </a:r>
            <a:r>
              <a:rPr lang="en-US" altLang="zh-TW" sz="3200" dirty="0">
                <a:solidFill>
                  <a:srgbClr val="FF0000"/>
                </a:solidFill>
              </a:rPr>
              <a:t>critical business rules and data</a:t>
            </a:r>
            <a:r>
              <a:rPr lang="en-US" altLang="zh-TW" sz="3200" dirty="0"/>
              <a:t>, ensuring they remain pure business logic that can be used consistently across multiple applications within the enterprise. They are independent of databases, third-party dependencies, and user interfaces.</a:t>
            </a:r>
          </a:p>
        </p:txBody>
      </p:sp>
    </p:spTree>
    <p:extLst>
      <p:ext uri="{BB962C8B-B14F-4D97-AF65-F5344CB8AC3E}">
        <p14:creationId xmlns:p14="http://schemas.microsoft.com/office/powerpoint/2010/main" val="2917176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53DB9-66AE-03AB-8727-E5EBFCF5E768}"/>
            </a:ext>
          </a:extLst>
        </p:cNvPr>
        <p:cNvGrpSpPr/>
        <p:nvPr/>
      </p:nvGrpSpPr>
      <p:grpSpPr>
        <a:xfrm>
          <a:off x="0" y="0"/>
          <a:ext cx="0" cy="0"/>
          <a:chOff x="0" y="0"/>
          <a:chExt cx="0" cy="0"/>
        </a:xfrm>
      </p:grpSpPr>
      <p:pic>
        <p:nvPicPr>
          <p:cNvPr id="9" name="圖片 8">
            <a:extLst>
              <a:ext uri="{FF2B5EF4-FFF2-40B4-BE49-F238E27FC236}">
                <a16:creationId xmlns:a16="http://schemas.microsoft.com/office/drawing/2014/main" id="{EE064AC8-355D-0B87-746B-59EF27BD73B6}"/>
              </a:ext>
            </a:extLst>
          </p:cNvPr>
          <p:cNvPicPr>
            <a:picLocks noChangeAspect="1"/>
          </p:cNvPicPr>
          <p:nvPr/>
        </p:nvPicPr>
        <p:blipFill>
          <a:blip r:embed="rId4"/>
          <a:stretch>
            <a:fillRect/>
          </a:stretch>
        </p:blipFill>
        <p:spPr>
          <a:xfrm>
            <a:off x="1540422" y="1393442"/>
            <a:ext cx="8939507" cy="5116692"/>
          </a:xfrm>
          <a:prstGeom prst="rect">
            <a:avLst/>
          </a:prstGeom>
        </p:spPr>
      </p:pic>
      <p:sp>
        <p:nvSpPr>
          <p:cNvPr id="2" name="標題 1">
            <a:extLst>
              <a:ext uri="{FF2B5EF4-FFF2-40B4-BE49-F238E27FC236}">
                <a16:creationId xmlns:a16="http://schemas.microsoft.com/office/drawing/2014/main" id="{1264744F-EEE2-BC3E-42DB-01D2314B6D2A}"/>
              </a:ext>
            </a:extLst>
          </p:cNvPr>
          <p:cNvSpPr>
            <a:spLocks noGrp="1"/>
          </p:cNvSpPr>
          <p:nvPr>
            <p:ph type="title"/>
          </p:nvPr>
        </p:nvSpPr>
        <p:spPr/>
        <p:txBody>
          <a:bodyPr/>
          <a:lstStyle/>
          <a:p>
            <a:r>
              <a:rPr lang="en-US" altLang="zh-TW" dirty="0"/>
              <a:t>Layered Rule(4)</a:t>
            </a:r>
            <a:endParaRPr lang="zh-TW" altLang="en-US" dirty="0"/>
          </a:p>
        </p:txBody>
      </p:sp>
      <p:sp>
        <p:nvSpPr>
          <p:cNvPr id="4" name="日期版面配置區 3">
            <a:extLst>
              <a:ext uri="{FF2B5EF4-FFF2-40B4-BE49-F238E27FC236}">
                <a16:creationId xmlns:a16="http://schemas.microsoft.com/office/drawing/2014/main" id="{00926296-339A-09CF-5B9A-B33D802499D7}"/>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0A4A555B-BF30-AB2B-4B30-6AAAAC28136B}"/>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3D1AFAC2-F8E6-584A-9992-3CD2411FA6AC}"/>
              </a:ext>
            </a:extLst>
          </p:cNvPr>
          <p:cNvSpPr>
            <a:spLocks noGrp="1"/>
          </p:cNvSpPr>
          <p:nvPr>
            <p:ph type="sldNum" sz="quarter" idx="12"/>
          </p:nvPr>
        </p:nvSpPr>
        <p:spPr/>
        <p:txBody>
          <a:bodyPr/>
          <a:lstStyle/>
          <a:p>
            <a:fld id="{7408114E-E8DD-9044-BC35-9779A826010B}" type="slidenum">
              <a:rPr lang="zh-TW" altLang="en-US" smtClean="0"/>
              <a:pPr/>
              <a:t>9</a:t>
            </a:fld>
            <a:endParaRPr lang="zh-TW" altLang="en-US"/>
          </a:p>
        </p:txBody>
      </p:sp>
      <p:sp>
        <p:nvSpPr>
          <p:cNvPr id="3" name="矩形 2">
            <a:extLst>
              <a:ext uri="{FF2B5EF4-FFF2-40B4-BE49-F238E27FC236}">
                <a16:creationId xmlns:a16="http://schemas.microsoft.com/office/drawing/2014/main" id="{A6282485-D4B3-5B0A-14E0-715E0A068F91}"/>
              </a:ext>
            </a:extLst>
          </p:cNvPr>
          <p:cNvSpPr/>
          <p:nvPr/>
        </p:nvSpPr>
        <p:spPr>
          <a:xfrm>
            <a:off x="6816080" y="4421305"/>
            <a:ext cx="3168352" cy="10081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hlinkClick r:id="rId5" action="ppaction://hlinksldjump"/>
            <a:extLst>
              <a:ext uri="{FF2B5EF4-FFF2-40B4-BE49-F238E27FC236}">
                <a16:creationId xmlns:a16="http://schemas.microsoft.com/office/drawing/2014/main" id="{87CE5D4F-7921-4EB6-9D4D-94E05F947480}"/>
              </a:ext>
            </a:extLst>
          </p:cNvPr>
          <p:cNvSpPr txBox="1"/>
          <p:nvPr/>
        </p:nvSpPr>
        <p:spPr>
          <a:xfrm>
            <a:off x="9840416" y="836712"/>
            <a:ext cx="1152128" cy="369332"/>
          </a:xfrm>
          <a:prstGeom prst="rect">
            <a:avLst/>
          </a:prstGeom>
          <a:noFill/>
        </p:spPr>
        <p:txBody>
          <a:bodyPr wrap="square" rtlCol="0">
            <a:spAutoFit/>
          </a:bodyPr>
          <a:lstStyle/>
          <a:p>
            <a:r>
              <a:rPr lang="en-US" altLang="zh-TW" b="1" dirty="0"/>
              <a:t>Example</a:t>
            </a:r>
            <a:endParaRPr lang="zh-TW" altLang="en-US" b="1" dirty="0"/>
          </a:p>
        </p:txBody>
      </p:sp>
    </p:spTree>
    <p:extLst>
      <p:ext uri="{BB962C8B-B14F-4D97-AF65-F5344CB8AC3E}">
        <p14:creationId xmlns:p14="http://schemas.microsoft.com/office/powerpoint/2010/main" val="316538737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13E4-2BB8-D22F-A2C2-9E6C0DCFE54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DDE2EE7-B4DE-C271-41CE-C62BE669F1CC}"/>
              </a:ext>
            </a:extLst>
          </p:cNvPr>
          <p:cNvSpPr>
            <a:spLocks noGrp="1"/>
          </p:cNvSpPr>
          <p:nvPr>
            <p:ph type="title"/>
          </p:nvPr>
        </p:nvSpPr>
        <p:spPr/>
        <p:txBody>
          <a:bodyPr/>
          <a:lstStyle/>
          <a:p>
            <a:r>
              <a:rPr lang="en-US" altLang="zh-TW" dirty="0"/>
              <a:t>Layered Rule(5)</a:t>
            </a:r>
            <a:endParaRPr lang="zh-TW" altLang="en-US" dirty="0"/>
          </a:p>
        </p:txBody>
      </p:sp>
      <p:sp>
        <p:nvSpPr>
          <p:cNvPr id="4" name="日期版面配置區 3">
            <a:extLst>
              <a:ext uri="{FF2B5EF4-FFF2-40B4-BE49-F238E27FC236}">
                <a16:creationId xmlns:a16="http://schemas.microsoft.com/office/drawing/2014/main" id="{6BB88E42-B4A0-3CDB-88F3-CF742E598144}"/>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274A5938-F1E1-5AA6-FB46-6437C291D113}"/>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88D3CB46-8BC4-1AD5-5AF8-73F542FAE036}"/>
              </a:ext>
            </a:extLst>
          </p:cNvPr>
          <p:cNvSpPr>
            <a:spLocks noGrp="1"/>
          </p:cNvSpPr>
          <p:nvPr>
            <p:ph type="sldNum" sz="quarter" idx="12"/>
          </p:nvPr>
        </p:nvSpPr>
        <p:spPr/>
        <p:txBody>
          <a:bodyPr/>
          <a:lstStyle/>
          <a:p>
            <a:fld id="{7408114E-E8DD-9044-BC35-9779A826010B}" type="slidenum">
              <a:rPr lang="zh-TW" altLang="en-US" smtClean="0"/>
              <a:pPr/>
              <a:t>10</a:t>
            </a:fld>
            <a:endParaRPr lang="zh-TW" altLang="en-US"/>
          </a:p>
        </p:txBody>
      </p:sp>
      <p:sp>
        <p:nvSpPr>
          <p:cNvPr id="3" name="文字方塊 2">
            <a:extLst>
              <a:ext uri="{FF2B5EF4-FFF2-40B4-BE49-F238E27FC236}">
                <a16:creationId xmlns:a16="http://schemas.microsoft.com/office/drawing/2014/main" id="{98A62BEC-E887-05EE-4B5E-7AB5538CDDA6}"/>
              </a:ext>
            </a:extLst>
          </p:cNvPr>
          <p:cNvSpPr txBox="1"/>
          <p:nvPr/>
        </p:nvSpPr>
        <p:spPr>
          <a:xfrm>
            <a:off x="573572" y="1556792"/>
            <a:ext cx="10873208" cy="4154984"/>
          </a:xfrm>
          <a:prstGeom prst="rect">
            <a:avLst/>
          </a:prstGeom>
          <a:noFill/>
        </p:spPr>
        <p:txBody>
          <a:bodyPr wrap="square" rtlCol="0">
            <a:spAutoFit/>
          </a:bodyPr>
          <a:lstStyle/>
          <a:p>
            <a:pPr algn="just"/>
            <a:r>
              <a:rPr lang="en-US" altLang="zh-TW" sz="4000" dirty="0"/>
              <a:t>Use Cases</a:t>
            </a:r>
            <a:r>
              <a:rPr lang="zh-TW" altLang="en-US" sz="4000" dirty="0"/>
              <a:t>：</a:t>
            </a:r>
            <a:endParaRPr lang="en-US" altLang="zh-TW" sz="4000" dirty="0"/>
          </a:p>
          <a:p>
            <a:pPr algn="just"/>
            <a:r>
              <a:rPr lang="en-US" altLang="zh-TW" sz="3200" dirty="0"/>
              <a:t>• </a:t>
            </a:r>
            <a:r>
              <a:rPr lang="en-US" altLang="zh-TW" sz="3200" b="0" i="0" dirty="0">
                <a:solidFill>
                  <a:srgbClr val="333333"/>
                </a:solidFill>
                <a:effectLst/>
                <a:cs typeface="Arial" panose="020B0604020202020204" pitchFamily="34" charset="0"/>
              </a:rPr>
              <a:t>Use cases are </a:t>
            </a:r>
            <a:r>
              <a:rPr lang="en-US" altLang="zh-TW" sz="3200" b="0" i="0" dirty="0">
                <a:solidFill>
                  <a:srgbClr val="FF0000"/>
                </a:solidFill>
                <a:effectLst/>
                <a:cs typeface="Arial" panose="020B0604020202020204" pitchFamily="34" charset="0"/>
              </a:rPr>
              <a:t>application specific business rules</a:t>
            </a:r>
          </a:p>
          <a:p>
            <a:pPr lvl="1" algn="just"/>
            <a:r>
              <a:rPr lang="en-US" altLang="zh-TW" sz="3200" dirty="0">
                <a:cs typeface="Arial" panose="020B0604020202020204" pitchFamily="34" charset="0"/>
              </a:rPr>
              <a:t>• </a:t>
            </a:r>
            <a:r>
              <a:rPr lang="en-US" altLang="zh-TW" sz="3200" b="0" i="0" dirty="0">
                <a:solidFill>
                  <a:srgbClr val="333333"/>
                </a:solidFill>
                <a:effectLst/>
                <a:cs typeface="Arial" panose="020B0604020202020204" pitchFamily="34" charset="0"/>
              </a:rPr>
              <a:t>Changes should not impact the Entities</a:t>
            </a:r>
          </a:p>
          <a:p>
            <a:pPr lvl="1" algn="just"/>
            <a:r>
              <a:rPr lang="en-US" altLang="zh-TW" sz="3200" dirty="0">
                <a:cs typeface="Arial" panose="020B0604020202020204" pitchFamily="34" charset="0"/>
              </a:rPr>
              <a:t>• </a:t>
            </a:r>
            <a:r>
              <a:rPr lang="en-US" altLang="zh-TW" sz="3200" b="0" i="0" dirty="0">
                <a:solidFill>
                  <a:srgbClr val="333333"/>
                </a:solidFill>
                <a:effectLst/>
                <a:cs typeface="Arial" panose="020B0604020202020204" pitchFamily="34" charset="0"/>
              </a:rPr>
              <a:t>Changes should not be impacted by infrastructure such as a database</a:t>
            </a:r>
          </a:p>
          <a:p>
            <a:pPr algn="just"/>
            <a:r>
              <a:rPr lang="en-US" altLang="zh-TW" sz="3200" dirty="0">
                <a:cs typeface="Arial" panose="020B0604020202020204" pitchFamily="34" charset="0"/>
              </a:rPr>
              <a:t>• </a:t>
            </a:r>
            <a:r>
              <a:rPr lang="en-US" altLang="zh-TW" sz="3200" b="0" i="0" dirty="0">
                <a:solidFill>
                  <a:srgbClr val="333333"/>
                </a:solidFill>
                <a:effectLst/>
                <a:cs typeface="Arial" panose="020B0604020202020204" pitchFamily="34" charset="0"/>
              </a:rPr>
              <a:t>The use cases orchestrate the flow of data in/out of the </a:t>
            </a:r>
            <a:r>
              <a:rPr lang="en-US" altLang="zh-TW" sz="3200" dirty="0">
                <a:solidFill>
                  <a:srgbClr val="333333"/>
                </a:solidFill>
                <a:cs typeface="Arial" panose="020B0604020202020204" pitchFamily="34" charset="0"/>
              </a:rPr>
              <a:t>  </a:t>
            </a:r>
            <a:r>
              <a:rPr lang="en-US" altLang="zh-TW" sz="3200" b="0" i="0" dirty="0">
                <a:solidFill>
                  <a:srgbClr val="333333"/>
                </a:solidFill>
                <a:effectLst/>
                <a:cs typeface="Arial" panose="020B0604020202020204" pitchFamily="34" charset="0"/>
              </a:rPr>
              <a:t>Entities and direct the Entities to use their Critical Business Rules to achieve the use case.</a:t>
            </a:r>
            <a:endParaRPr lang="en-US" altLang="zh-TW" sz="3200" b="0" i="0" dirty="0">
              <a:effectLst/>
              <a:cs typeface="Arial" panose="020B0604020202020204" pitchFamily="34" charset="0"/>
            </a:endParaRPr>
          </a:p>
        </p:txBody>
      </p:sp>
      <p:sp>
        <p:nvSpPr>
          <p:cNvPr id="7" name="文字方塊 6"/>
          <p:cNvSpPr txBox="1"/>
          <p:nvPr/>
        </p:nvSpPr>
        <p:spPr>
          <a:xfrm>
            <a:off x="9840416" y="836712"/>
            <a:ext cx="1152128" cy="369332"/>
          </a:xfrm>
          <a:prstGeom prst="rect">
            <a:avLst/>
          </a:prstGeom>
          <a:noFill/>
        </p:spPr>
        <p:txBody>
          <a:bodyPr wrap="square" rtlCol="0">
            <a:spAutoFit/>
          </a:bodyPr>
          <a:lstStyle/>
          <a:p>
            <a:r>
              <a:rPr lang="en-US" altLang="zh-TW" b="1" dirty="0">
                <a:hlinkClick r:id="rId4" action="ppaction://hlinksldjump"/>
              </a:rPr>
              <a:t>Example</a:t>
            </a:r>
            <a:endParaRPr lang="zh-TW" altLang="en-US" b="1" dirty="0"/>
          </a:p>
        </p:txBody>
      </p:sp>
    </p:spTree>
    <p:extLst>
      <p:ext uri="{BB962C8B-B14F-4D97-AF65-F5344CB8AC3E}">
        <p14:creationId xmlns:p14="http://schemas.microsoft.com/office/powerpoint/2010/main" val="272895119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832D2-1B22-92DD-7C90-09C01F876475}"/>
            </a:ext>
          </a:extLst>
        </p:cNvPr>
        <p:cNvGrpSpPr/>
        <p:nvPr/>
      </p:nvGrpSpPr>
      <p:grpSpPr>
        <a:xfrm>
          <a:off x="0" y="0"/>
          <a:ext cx="0" cy="0"/>
          <a:chOff x="0" y="0"/>
          <a:chExt cx="0" cy="0"/>
        </a:xfrm>
      </p:grpSpPr>
      <p:pic>
        <p:nvPicPr>
          <p:cNvPr id="3" name="圖片 2"/>
          <p:cNvPicPr>
            <a:picLocks noChangeAspect="1"/>
          </p:cNvPicPr>
          <p:nvPr/>
        </p:nvPicPr>
        <p:blipFill>
          <a:blip r:embed="rId4"/>
          <a:stretch>
            <a:fillRect/>
          </a:stretch>
        </p:blipFill>
        <p:spPr>
          <a:xfrm>
            <a:off x="580126" y="1831999"/>
            <a:ext cx="11031747" cy="4542484"/>
          </a:xfrm>
          <a:prstGeom prst="rect">
            <a:avLst/>
          </a:prstGeom>
        </p:spPr>
      </p:pic>
      <p:sp>
        <p:nvSpPr>
          <p:cNvPr id="2" name="標題 1">
            <a:extLst>
              <a:ext uri="{FF2B5EF4-FFF2-40B4-BE49-F238E27FC236}">
                <a16:creationId xmlns:a16="http://schemas.microsoft.com/office/drawing/2014/main" id="{034E678D-E0A9-182C-B498-2C3F78A5003F}"/>
              </a:ext>
            </a:extLst>
          </p:cNvPr>
          <p:cNvSpPr>
            <a:spLocks noGrp="1"/>
          </p:cNvSpPr>
          <p:nvPr>
            <p:ph type="title"/>
          </p:nvPr>
        </p:nvSpPr>
        <p:spPr/>
        <p:txBody>
          <a:bodyPr/>
          <a:lstStyle/>
          <a:p>
            <a:r>
              <a:rPr lang="en-US" altLang="zh-TW" dirty="0"/>
              <a:t>Layered Rule(6)</a:t>
            </a:r>
            <a:endParaRPr lang="zh-TW" altLang="en-US" dirty="0"/>
          </a:p>
        </p:txBody>
      </p:sp>
      <p:sp>
        <p:nvSpPr>
          <p:cNvPr id="4" name="日期版面配置區 3">
            <a:extLst>
              <a:ext uri="{FF2B5EF4-FFF2-40B4-BE49-F238E27FC236}">
                <a16:creationId xmlns:a16="http://schemas.microsoft.com/office/drawing/2014/main" id="{36AF7D83-58E2-8B56-FC32-E7300A078DF0}"/>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64191CFB-65E1-69B2-BD68-0264D85A9EA6}"/>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2F312E0D-79F6-BB47-C109-6B7C23C67076}"/>
              </a:ext>
            </a:extLst>
          </p:cNvPr>
          <p:cNvSpPr>
            <a:spLocks noGrp="1"/>
          </p:cNvSpPr>
          <p:nvPr>
            <p:ph type="sldNum" sz="quarter" idx="12"/>
          </p:nvPr>
        </p:nvSpPr>
        <p:spPr/>
        <p:txBody>
          <a:bodyPr/>
          <a:lstStyle/>
          <a:p>
            <a:fld id="{7408114E-E8DD-9044-BC35-9779A826010B}" type="slidenum">
              <a:rPr lang="zh-TW" altLang="en-US" smtClean="0"/>
              <a:pPr/>
              <a:t>11</a:t>
            </a:fld>
            <a:endParaRPr lang="zh-TW" altLang="en-US"/>
          </a:p>
        </p:txBody>
      </p:sp>
      <p:sp>
        <p:nvSpPr>
          <p:cNvPr id="8" name="矩形 7">
            <a:extLst>
              <a:ext uri="{FF2B5EF4-FFF2-40B4-BE49-F238E27FC236}">
                <a16:creationId xmlns:a16="http://schemas.microsoft.com/office/drawing/2014/main" id="{1C1F1B08-7C12-4B0A-2BEC-CFD5E294593D}"/>
              </a:ext>
            </a:extLst>
          </p:cNvPr>
          <p:cNvSpPr/>
          <p:nvPr/>
        </p:nvSpPr>
        <p:spPr>
          <a:xfrm>
            <a:off x="1199456" y="2745342"/>
            <a:ext cx="9937104"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4CB837A9-DC8D-A23E-012B-38126DE6FF0F}"/>
              </a:ext>
            </a:extLst>
          </p:cNvPr>
          <p:cNvSpPr/>
          <p:nvPr/>
        </p:nvSpPr>
        <p:spPr>
          <a:xfrm>
            <a:off x="1199456" y="5172725"/>
            <a:ext cx="3168352" cy="2195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28BCA30E-5413-C75C-7318-459710BBEF7F}"/>
              </a:ext>
            </a:extLst>
          </p:cNvPr>
          <p:cNvSpPr/>
          <p:nvPr/>
        </p:nvSpPr>
        <p:spPr>
          <a:xfrm>
            <a:off x="1199456" y="4582595"/>
            <a:ext cx="10382944" cy="530934"/>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5"/>
              </a:solidFill>
            </a:endParaRPr>
          </a:p>
        </p:txBody>
      </p:sp>
      <p:sp>
        <p:nvSpPr>
          <p:cNvPr id="7" name="文字方塊 6">
            <a:extLst>
              <a:ext uri="{FF2B5EF4-FFF2-40B4-BE49-F238E27FC236}">
                <a16:creationId xmlns:a16="http://schemas.microsoft.com/office/drawing/2014/main" id="{17CD5C03-773E-7F96-244C-651BE816E9A9}"/>
              </a:ext>
            </a:extLst>
          </p:cNvPr>
          <p:cNvSpPr txBox="1"/>
          <p:nvPr/>
        </p:nvSpPr>
        <p:spPr>
          <a:xfrm>
            <a:off x="479376" y="1293390"/>
            <a:ext cx="4464496" cy="584775"/>
          </a:xfrm>
          <a:prstGeom prst="rect">
            <a:avLst/>
          </a:prstGeom>
          <a:noFill/>
        </p:spPr>
        <p:txBody>
          <a:bodyPr wrap="square" rtlCol="0">
            <a:spAutoFit/>
          </a:bodyPr>
          <a:lstStyle/>
          <a:p>
            <a:r>
              <a:rPr lang="en-US" altLang="zh-TW" sz="3200" b="1" dirty="0" err="1"/>
              <a:t>SetWipLimitUseCase</a:t>
            </a:r>
            <a:endParaRPr lang="zh-TW" altLang="en-US" sz="3200" b="1" dirty="0"/>
          </a:p>
        </p:txBody>
      </p:sp>
    </p:spTree>
    <p:extLst>
      <p:ext uri="{BB962C8B-B14F-4D97-AF65-F5344CB8AC3E}">
        <p14:creationId xmlns:p14="http://schemas.microsoft.com/office/powerpoint/2010/main" val="326240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7B60-0D23-D50F-D9B1-9F0F59F6C6F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78C61DA-01F6-5917-DAF8-5FD0263343CB}"/>
              </a:ext>
            </a:extLst>
          </p:cNvPr>
          <p:cNvSpPr>
            <a:spLocks noGrp="1"/>
          </p:cNvSpPr>
          <p:nvPr>
            <p:ph type="title"/>
          </p:nvPr>
        </p:nvSpPr>
        <p:spPr/>
        <p:txBody>
          <a:bodyPr/>
          <a:lstStyle/>
          <a:p>
            <a:r>
              <a:rPr lang="en-US" altLang="zh-TW" dirty="0"/>
              <a:t>Layered Rule(7)</a:t>
            </a:r>
            <a:endParaRPr lang="zh-TW" altLang="en-US" dirty="0"/>
          </a:p>
        </p:txBody>
      </p:sp>
      <p:sp>
        <p:nvSpPr>
          <p:cNvPr id="4" name="日期版面配置區 3">
            <a:extLst>
              <a:ext uri="{FF2B5EF4-FFF2-40B4-BE49-F238E27FC236}">
                <a16:creationId xmlns:a16="http://schemas.microsoft.com/office/drawing/2014/main" id="{30341C84-37E8-E144-C28A-314DDE76508E}"/>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437DA533-0FE4-208E-4623-5047F574F4E1}"/>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C8C99E6F-9666-1373-B521-723EC295E700}"/>
              </a:ext>
            </a:extLst>
          </p:cNvPr>
          <p:cNvSpPr>
            <a:spLocks noGrp="1"/>
          </p:cNvSpPr>
          <p:nvPr>
            <p:ph type="sldNum" sz="quarter" idx="12"/>
          </p:nvPr>
        </p:nvSpPr>
        <p:spPr/>
        <p:txBody>
          <a:bodyPr/>
          <a:lstStyle/>
          <a:p>
            <a:fld id="{7408114E-E8DD-9044-BC35-9779A826010B}" type="slidenum">
              <a:rPr lang="zh-TW" altLang="en-US" smtClean="0"/>
              <a:pPr/>
              <a:t>12</a:t>
            </a:fld>
            <a:endParaRPr lang="zh-TW" altLang="en-US"/>
          </a:p>
        </p:txBody>
      </p:sp>
      <p:sp>
        <p:nvSpPr>
          <p:cNvPr id="3" name="文字方塊 2">
            <a:extLst>
              <a:ext uri="{FF2B5EF4-FFF2-40B4-BE49-F238E27FC236}">
                <a16:creationId xmlns:a16="http://schemas.microsoft.com/office/drawing/2014/main" id="{B0F5001D-D86D-7F4C-2650-85467FF88904}"/>
              </a:ext>
            </a:extLst>
          </p:cNvPr>
          <p:cNvSpPr txBox="1"/>
          <p:nvPr/>
        </p:nvSpPr>
        <p:spPr>
          <a:xfrm>
            <a:off x="580118" y="1844824"/>
            <a:ext cx="11038662" cy="2677656"/>
          </a:xfrm>
          <a:prstGeom prst="rect">
            <a:avLst/>
          </a:prstGeom>
          <a:noFill/>
        </p:spPr>
        <p:txBody>
          <a:bodyPr wrap="square" rtlCol="0">
            <a:spAutoFit/>
          </a:bodyPr>
          <a:lstStyle/>
          <a:p>
            <a:pPr algn="just"/>
            <a:r>
              <a:rPr lang="en-US" altLang="zh-TW" sz="4000" dirty="0"/>
              <a:t>Interface Adapters</a:t>
            </a:r>
            <a:r>
              <a:rPr lang="zh-TW" altLang="en-US" sz="4000" dirty="0"/>
              <a:t>：</a:t>
            </a:r>
          </a:p>
          <a:p>
            <a:pPr algn="l">
              <a:buFont typeface="Arial" panose="020B0604020202020204" pitchFamily="34" charset="0"/>
              <a:buChar char="•"/>
            </a:pPr>
            <a:r>
              <a:rPr lang="en-US" altLang="zh-TW" sz="3200" b="0" i="0" dirty="0">
                <a:solidFill>
                  <a:srgbClr val="333333"/>
                </a:solidFill>
                <a:effectLst/>
                <a:cs typeface="Arial" panose="020B0604020202020204" pitchFamily="34" charset="0"/>
              </a:rPr>
              <a:t> Converts data from data layers to use case or entity layers</a:t>
            </a:r>
          </a:p>
          <a:p>
            <a:pPr marL="742950" lvl="1" indent="-285750" algn="l">
              <a:buFont typeface="Arial" panose="020B0604020202020204" pitchFamily="34" charset="0"/>
              <a:buChar char="•"/>
            </a:pPr>
            <a:r>
              <a:rPr lang="en-US" altLang="zh-TW" sz="3200" b="0" i="0" dirty="0">
                <a:solidFill>
                  <a:srgbClr val="333333"/>
                </a:solidFill>
                <a:effectLst/>
                <a:cs typeface="Arial" panose="020B0604020202020204" pitchFamily="34" charset="0"/>
              </a:rPr>
              <a:t>Presenters, views and controllers all belong here</a:t>
            </a:r>
          </a:p>
          <a:p>
            <a:pPr algn="l">
              <a:buFont typeface="Arial" panose="020B0604020202020204" pitchFamily="34" charset="0"/>
              <a:buChar char="•"/>
            </a:pPr>
            <a:r>
              <a:rPr lang="en-US" altLang="zh-TW" sz="3200" b="0" i="0" dirty="0">
                <a:solidFill>
                  <a:srgbClr val="333333"/>
                </a:solidFill>
                <a:effectLst/>
                <a:cs typeface="Arial" panose="020B0604020202020204" pitchFamily="34" charset="0"/>
              </a:rPr>
              <a:t> No code further in (use cases, entities) should have any knowledge of the db.</a:t>
            </a:r>
          </a:p>
        </p:txBody>
      </p:sp>
    </p:spTree>
    <p:extLst>
      <p:ext uri="{BB962C8B-B14F-4D97-AF65-F5344CB8AC3E}">
        <p14:creationId xmlns:p14="http://schemas.microsoft.com/office/powerpoint/2010/main" val="3409483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FF9F-9215-841A-6E76-2C1A45AA27B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4F605D1-BA7E-8D01-A003-7990A30BBEE2}"/>
              </a:ext>
            </a:extLst>
          </p:cNvPr>
          <p:cNvSpPr>
            <a:spLocks noGrp="1"/>
          </p:cNvSpPr>
          <p:nvPr>
            <p:ph type="title"/>
          </p:nvPr>
        </p:nvSpPr>
        <p:spPr/>
        <p:txBody>
          <a:bodyPr/>
          <a:lstStyle/>
          <a:p>
            <a:r>
              <a:rPr lang="en-US" altLang="zh-TW" dirty="0"/>
              <a:t>Layered Rule(8)</a:t>
            </a:r>
            <a:endParaRPr lang="zh-TW" altLang="en-US" dirty="0"/>
          </a:p>
        </p:txBody>
      </p:sp>
      <p:sp>
        <p:nvSpPr>
          <p:cNvPr id="4" name="日期版面配置區 3">
            <a:extLst>
              <a:ext uri="{FF2B5EF4-FFF2-40B4-BE49-F238E27FC236}">
                <a16:creationId xmlns:a16="http://schemas.microsoft.com/office/drawing/2014/main" id="{70C7C224-34C8-7838-4524-5C33D3EB680D}"/>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351576AB-4051-881A-4954-BEB820C778DA}"/>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10578989-D646-E489-E6B3-C99E9B5D5221}"/>
              </a:ext>
            </a:extLst>
          </p:cNvPr>
          <p:cNvSpPr>
            <a:spLocks noGrp="1"/>
          </p:cNvSpPr>
          <p:nvPr>
            <p:ph type="sldNum" sz="quarter" idx="12"/>
          </p:nvPr>
        </p:nvSpPr>
        <p:spPr/>
        <p:txBody>
          <a:bodyPr/>
          <a:lstStyle/>
          <a:p>
            <a:fld id="{7408114E-E8DD-9044-BC35-9779A826010B}" type="slidenum">
              <a:rPr lang="zh-TW" altLang="en-US" smtClean="0"/>
              <a:pPr/>
              <a:t>13</a:t>
            </a:fld>
            <a:endParaRPr lang="zh-TW" altLang="en-US"/>
          </a:p>
        </p:txBody>
      </p:sp>
      <p:pic>
        <p:nvPicPr>
          <p:cNvPr id="7" name="圖片 6">
            <a:extLst>
              <a:ext uri="{FF2B5EF4-FFF2-40B4-BE49-F238E27FC236}">
                <a16:creationId xmlns:a16="http://schemas.microsoft.com/office/drawing/2014/main" id="{8FC9A097-3AF4-BE15-8E02-9E428EB5A93F}"/>
              </a:ext>
            </a:extLst>
          </p:cNvPr>
          <p:cNvPicPr>
            <a:picLocks noChangeAspect="1"/>
          </p:cNvPicPr>
          <p:nvPr/>
        </p:nvPicPr>
        <p:blipFill>
          <a:blip r:embed="rId4"/>
          <a:stretch>
            <a:fillRect/>
          </a:stretch>
        </p:blipFill>
        <p:spPr>
          <a:xfrm>
            <a:off x="231891" y="1628800"/>
            <a:ext cx="11728217" cy="4065240"/>
          </a:xfrm>
          <a:prstGeom prst="rect">
            <a:avLst/>
          </a:prstGeom>
        </p:spPr>
      </p:pic>
    </p:spTree>
    <p:extLst>
      <p:ext uri="{BB962C8B-B14F-4D97-AF65-F5344CB8AC3E}">
        <p14:creationId xmlns:p14="http://schemas.microsoft.com/office/powerpoint/2010/main" val="1731531860"/>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13074-5BA3-7ED2-44E7-33C272C1954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932B0B-6575-6BC8-3C3E-0A9CBCB26FC1}"/>
              </a:ext>
            </a:extLst>
          </p:cNvPr>
          <p:cNvSpPr>
            <a:spLocks noGrp="1"/>
          </p:cNvSpPr>
          <p:nvPr>
            <p:ph type="title"/>
          </p:nvPr>
        </p:nvSpPr>
        <p:spPr/>
        <p:txBody>
          <a:bodyPr/>
          <a:lstStyle/>
          <a:p>
            <a:r>
              <a:rPr lang="en-US" altLang="zh-TW" dirty="0"/>
              <a:t>Layered Principle(9)</a:t>
            </a:r>
            <a:endParaRPr lang="zh-TW" altLang="en-US" dirty="0"/>
          </a:p>
        </p:txBody>
      </p:sp>
      <p:sp>
        <p:nvSpPr>
          <p:cNvPr id="4" name="日期版面配置區 3">
            <a:extLst>
              <a:ext uri="{FF2B5EF4-FFF2-40B4-BE49-F238E27FC236}">
                <a16:creationId xmlns:a16="http://schemas.microsoft.com/office/drawing/2014/main" id="{78983F0E-D394-F097-AA49-0E657B2E3F4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EB862D57-458F-E344-A7F3-78FAAA92BD99}"/>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6455C84-4CA1-ADFD-B3B6-1166B3934220}"/>
              </a:ext>
            </a:extLst>
          </p:cNvPr>
          <p:cNvSpPr>
            <a:spLocks noGrp="1"/>
          </p:cNvSpPr>
          <p:nvPr>
            <p:ph type="sldNum" sz="quarter" idx="12"/>
          </p:nvPr>
        </p:nvSpPr>
        <p:spPr/>
        <p:txBody>
          <a:bodyPr/>
          <a:lstStyle/>
          <a:p>
            <a:fld id="{7408114E-E8DD-9044-BC35-9779A826010B}" type="slidenum">
              <a:rPr lang="zh-TW" altLang="en-US" smtClean="0"/>
              <a:pPr/>
              <a:t>14</a:t>
            </a:fld>
            <a:endParaRPr lang="zh-TW" altLang="en-US"/>
          </a:p>
        </p:txBody>
      </p:sp>
      <p:sp>
        <p:nvSpPr>
          <p:cNvPr id="3" name="文字方塊 2">
            <a:extLst>
              <a:ext uri="{FF2B5EF4-FFF2-40B4-BE49-F238E27FC236}">
                <a16:creationId xmlns:a16="http://schemas.microsoft.com/office/drawing/2014/main" id="{06E8F121-3154-CB20-34EC-C6ABDCDCE62C}"/>
              </a:ext>
            </a:extLst>
          </p:cNvPr>
          <p:cNvSpPr txBox="1"/>
          <p:nvPr/>
        </p:nvSpPr>
        <p:spPr>
          <a:xfrm>
            <a:off x="710692" y="2060848"/>
            <a:ext cx="10598968" cy="3170099"/>
          </a:xfrm>
          <a:prstGeom prst="rect">
            <a:avLst/>
          </a:prstGeom>
          <a:noFill/>
        </p:spPr>
        <p:txBody>
          <a:bodyPr wrap="square" rtlCol="0">
            <a:spAutoFit/>
          </a:bodyPr>
          <a:lstStyle/>
          <a:p>
            <a:pPr algn="just"/>
            <a:r>
              <a:rPr lang="en-US" altLang="zh-TW" sz="4000" dirty="0"/>
              <a:t>Frameworks and Drivers</a:t>
            </a:r>
            <a:r>
              <a:rPr lang="zh-TW" altLang="en-US" sz="4000" dirty="0"/>
              <a:t>：</a:t>
            </a:r>
            <a:endParaRPr lang="en-US" altLang="zh-TW" sz="4000" dirty="0"/>
          </a:p>
          <a:p>
            <a:pPr algn="just"/>
            <a:r>
              <a:rPr lang="en-US" altLang="zh-TW" sz="3200" dirty="0"/>
              <a:t>The outermost layer is generally composed of frameworks and tools such as the Database, the Web Framework, etc. Generally you don’t write much code in this layer other than </a:t>
            </a:r>
            <a:r>
              <a:rPr lang="en-US" altLang="zh-TW" sz="3200" b="1" dirty="0">
                <a:solidFill>
                  <a:srgbClr val="FF0000"/>
                </a:solidFill>
              </a:rPr>
              <a:t>glue code </a:t>
            </a:r>
            <a:r>
              <a:rPr lang="en-US" altLang="zh-TW" sz="3200" dirty="0"/>
              <a:t>that communicates to the next circle inwards.</a:t>
            </a:r>
          </a:p>
        </p:txBody>
      </p:sp>
    </p:spTree>
    <p:extLst>
      <p:ext uri="{BB962C8B-B14F-4D97-AF65-F5344CB8AC3E}">
        <p14:creationId xmlns:p14="http://schemas.microsoft.com/office/powerpoint/2010/main" val="3990435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21-701B-D87C-97A8-71DED113091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2DCB4E7-6318-AB19-1E99-29D746B21F0D}"/>
              </a:ext>
            </a:extLst>
          </p:cNvPr>
          <p:cNvSpPr>
            <a:spLocks noGrp="1"/>
          </p:cNvSpPr>
          <p:nvPr>
            <p:ph type="title"/>
          </p:nvPr>
        </p:nvSpPr>
        <p:spPr/>
        <p:txBody>
          <a:bodyPr/>
          <a:lstStyle/>
          <a:p>
            <a:r>
              <a:rPr lang="en-US" altLang="zh-TW" dirty="0"/>
              <a:t>Layered Principle(10)</a:t>
            </a:r>
            <a:endParaRPr lang="zh-TW" altLang="en-US" dirty="0"/>
          </a:p>
        </p:txBody>
      </p:sp>
      <p:sp>
        <p:nvSpPr>
          <p:cNvPr id="4" name="日期版面配置區 3">
            <a:extLst>
              <a:ext uri="{FF2B5EF4-FFF2-40B4-BE49-F238E27FC236}">
                <a16:creationId xmlns:a16="http://schemas.microsoft.com/office/drawing/2014/main" id="{F2820FB7-AEC4-7474-95C0-276CD5463F9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A10C0F68-AB73-D5F4-41F7-243689B7910F}"/>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E8898627-2CE4-66FC-1CC7-589FEC13972E}"/>
              </a:ext>
            </a:extLst>
          </p:cNvPr>
          <p:cNvSpPr>
            <a:spLocks noGrp="1"/>
          </p:cNvSpPr>
          <p:nvPr>
            <p:ph type="sldNum" sz="quarter" idx="12"/>
          </p:nvPr>
        </p:nvSpPr>
        <p:spPr/>
        <p:txBody>
          <a:bodyPr/>
          <a:lstStyle/>
          <a:p>
            <a:fld id="{7408114E-E8DD-9044-BC35-9779A826010B}" type="slidenum">
              <a:rPr lang="zh-TW" altLang="en-US" smtClean="0"/>
              <a:pPr/>
              <a:t>15</a:t>
            </a:fld>
            <a:endParaRPr lang="zh-TW" altLang="en-US"/>
          </a:p>
        </p:txBody>
      </p:sp>
      <p:pic>
        <p:nvPicPr>
          <p:cNvPr id="7" name="圖片 6">
            <a:extLst>
              <a:ext uri="{FF2B5EF4-FFF2-40B4-BE49-F238E27FC236}">
                <a16:creationId xmlns:a16="http://schemas.microsoft.com/office/drawing/2014/main" id="{341FF0CB-4FBD-9D6B-7DA4-747CA0021545}"/>
              </a:ext>
            </a:extLst>
          </p:cNvPr>
          <p:cNvPicPr>
            <a:picLocks noChangeAspect="1"/>
          </p:cNvPicPr>
          <p:nvPr/>
        </p:nvPicPr>
        <p:blipFill>
          <a:blip r:embed="rId3"/>
          <a:stretch>
            <a:fillRect/>
          </a:stretch>
        </p:blipFill>
        <p:spPr>
          <a:xfrm>
            <a:off x="407368" y="1374249"/>
            <a:ext cx="11377264" cy="5025491"/>
          </a:xfrm>
          <a:prstGeom prst="rect">
            <a:avLst/>
          </a:prstGeom>
        </p:spPr>
      </p:pic>
    </p:spTree>
    <p:extLst>
      <p:ext uri="{BB962C8B-B14F-4D97-AF65-F5344CB8AC3E}">
        <p14:creationId xmlns:p14="http://schemas.microsoft.com/office/powerpoint/2010/main" val="2765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77B00-8202-F352-924B-56C04580E8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ED280CA-AF07-8CD5-15EF-CE3BBB2D07AC}"/>
              </a:ext>
            </a:extLst>
          </p:cNvPr>
          <p:cNvSpPr>
            <a:spLocks noGrp="1"/>
          </p:cNvSpPr>
          <p:nvPr>
            <p:ph type="title"/>
          </p:nvPr>
        </p:nvSpPr>
        <p:spPr/>
        <p:txBody>
          <a:bodyPr/>
          <a:lstStyle/>
          <a:p>
            <a:r>
              <a:rPr lang="en-US" altLang="zh-TW" dirty="0"/>
              <a:t>Dependency Rule(1)</a:t>
            </a:r>
            <a:endParaRPr lang="zh-TW" altLang="en-US" dirty="0"/>
          </a:p>
        </p:txBody>
      </p:sp>
      <p:sp>
        <p:nvSpPr>
          <p:cNvPr id="4" name="日期版面配置區 3">
            <a:extLst>
              <a:ext uri="{FF2B5EF4-FFF2-40B4-BE49-F238E27FC236}">
                <a16:creationId xmlns:a16="http://schemas.microsoft.com/office/drawing/2014/main" id="{D98D158E-C55D-79CA-E768-6F3E89310D76}"/>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9042D54A-46F0-7BE5-7253-183E5145A2CA}"/>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6048D3A6-10B1-6632-E2C0-AE8704F49ACA}"/>
              </a:ext>
            </a:extLst>
          </p:cNvPr>
          <p:cNvSpPr>
            <a:spLocks noGrp="1"/>
          </p:cNvSpPr>
          <p:nvPr>
            <p:ph type="sldNum" sz="quarter" idx="12"/>
          </p:nvPr>
        </p:nvSpPr>
        <p:spPr/>
        <p:txBody>
          <a:bodyPr/>
          <a:lstStyle/>
          <a:p>
            <a:fld id="{7408114E-E8DD-9044-BC35-9779A826010B}" type="slidenum">
              <a:rPr lang="zh-TW" altLang="en-US" smtClean="0"/>
              <a:pPr/>
              <a:t>16</a:t>
            </a:fld>
            <a:endParaRPr lang="zh-TW" altLang="en-US" dirty="0"/>
          </a:p>
        </p:txBody>
      </p:sp>
      <p:sp>
        <p:nvSpPr>
          <p:cNvPr id="3" name="文字方塊 2">
            <a:extLst>
              <a:ext uri="{FF2B5EF4-FFF2-40B4-BE49-F238E27FC236}">
                <a16:creationId xmlns:a16="http://schemas.microsoft.com/office/drawing/2014/main" id="{0E628EBF-B841-F6F5-9D70-DE558DAAD5CE}"/>
              </a:ext>
            </a:extLst>
          </p:cNvPr>
          <p:cNvSpPr txBox="1"/>
          <p:nvPr/>
        </p:nvSpPr>
        <p:spPr>
          <a:xfrm>
            <a:off x="1415480" y="1597055"/>
            <a:ext cx="9361040" cy="369332"/>
          </a:xfrm>
          <a:prstGeom prst="rect">
            <a:avLst/>
          </a:prstGeom>
          <a:noFill/>
        </p:spPr>
        <p:txBody>
          <a:bodyPr wrap="square" rtlCol="0">
            <a:spAutoFit/>
          </a:bodyPr>
          <a:lstStyle/>
          <a:p>
            <a:r>
              <a:rPr lang="en-US" altLang="zh-TW" b="1" i="1" dirty="0">
                <a:effectLst/>
                <a:latin typeface="Arial" panose="020B0604020202020204" pitchFamily="34" charset="0"/>
              </a:rPr>
              <a:t>Source code dependencies must point only inward, toward higher-level policies.</a:t>
            </a:r>
            <a:endParaRPr lang="zh-TW" altLang="en-US" dirty="0"/>
          </a:p>
        </p:txBody>
      </p:sp>
      <p:pic>
        <p:nvPicPr>
          <p:cNvPr id="13" name="圖片 12">
            <a:extLst>
              <a:ext uri="{FF2B5EF4-FFF2-40B4-BE49-F238E27FC236}">
                <a16:creationId xmlns:a16="http://schemas.microsoft.com/office/drawing/2014/main" id="{B40B3B49-B789-C924-F52C-CD36D55AAC4A}"/>
              </a:ext>
            </a:extLst>
          </p:cNvPr>
          <p:cNvPicPr>
            <a:picLocks noChangeAspect="1"/>
          </p:cNvPicPr>
          <p:nvPr/>
        </p:nvPicPr>
        <p:blipFill>
          <a:blip r:embed="rId4"/>
          <a:stretch>
            <a:fillRect/>
          </a:stretch>
        </p:blipFill>
        <p:spPr>
          <a:xfrm>
            <a:off x="579144" y="2272422"/>
            <a:ext cx="11296117" cy="3777893"/>
          </a:xfrm>
          <a:prstGeom prst="rect">
            <a:avLst/>
          </a:prstGeom>
        </p:spPr>
      </p:pic>
      <p:sp>
        <p:nvSpPr>
          <p:cNvPr id="15" name="文字方塊 14">
            <a:extLst>
              <a:ext uri="{FF2B5EF4-FFF2-40B4-BE49-F238E27FC236}">
                <a16:creationId xmlns:a16="http://schemas.microsoft.com/office/drawing/2014/main" id="{F076B20B-1F95-8AD4-985B-2B834A05F14E}"/>
              </a:ext>
            </a:extLst>
          </p:cNvPr>
          <p:cNvSpPr txBox="1"/>
          <p:nvPr/>
        </p:nvSpPr>
        <p:spPr>
          <a:xfrm>
            <a:off x="2730058" y="5935016"/>
            <a:ext cx="6994288" cy="400110"/>
          </a:xfrm>
          <a:prstGeom prst="rect">
            <a:avLst/>
          </a:prstGeom>
          <a:noFill/>
        </p:spPr>
        <p:txBody>
          <a:bodyPr wrap="square">
            <a:spAutoFit/>
          </a:bodyPr>
          <a:lstStyle/>
          <a:p>
            <a:r>
              <a:rPr lang="en-US" altLang="zh-TW" sz="1000" dirty="0"/>
              <a:t>Figure 3: Simple Layers(Source: Robert C. Martin, "The Dependency Inversion Principle," C++ Report, May 1996, p. 7)</a:t>
            </a:r>
          </a:p>
          <a:p>
            <a:r>
              <a:rPr lang="en-US" altLang="zh-TW" sz="1000" dirty="0"/>
              <a:t>Figure 4: Abstract Layers(Source: Robert C. Martin, "The Dependency Inversion Principle," C++ Report, May 1996, p. 7)</a:t>
            </a:r>
          </a:p>
        </p:txBody>
      </p:sp>
      <p:sp>
        <p:nvSpPr>
          <p:cNvPr id="7" name="文字方塊 6">
            <a:hlinkClick r:id="rId5" action="ppaction://hlinksldjump"/>
            <a:extLst>
              <a:ext uri="{FF2B5EF4-FFF2-40B4-BE49-F238E27FC236}">
                <a16:creationId xmlns:a16="http://schemas.microsoft.com/office/drawing/2014/main" id="{DC231CBE-AF3C-0250-765E-7F6BA87E95D6}"/>
              </a:ext>
            </a:extLst>
          </p:cNvPr>
          <p:cNvSpPr txBox="1"/>
          <p:nvPr/>
        </p:nvSpPr>
        <p:spPr>
          <a:xfrm>
            <a:off x="10632503" y="1597055"/>
            <a:ext cx="1242757" cy="369332"/>
          </a:xfrm>
          <a:prstGeom prst="rect">
            <a:avLst/>
          </a:prstGeom>
          <a:noFill/>
        </p:spPr>
        <p:txBody>
          <a:bodyPr wrap="square" rtlCol="0">
            <a:spAutoFit/>
          </a:bodyPr>
          <a:lstStyle/>
          <a:p>
            <a:r>
              <a:rPr lang="en-US" altLang="zh-TW" b="1" dirty="0"/>
              <a:t>CA Link</a:t>
            </a:r>
            <a:endParaRPr lang="zh-TW" altLang="en-US" b="1" dirty="0"/>
          </a:p>
        </p:txBody>
      </p:sp>
    </p:spTree>
    <p:extLst>
      <p:ext uri="{BB962C8B-B14F-4D97-AF65-F5344CB8AC3E}">
        <p14:creationId xmlns:p14="http://schemas.microsoft.com/office/powerpoint/2010/main" val="2907778315"/>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7A28-416D-BB6B-274D-4EED62B7B23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38B158C-32E7-F7CF-6C1E-BFE063CA96CB}"/>
              </a:ext>
            </a:extLst>
          </p:cNvPr>
          <p:cNvSpPr>
            <a:spLocks noGrp="1"/>
          </p:cNvSpPr>
          <p:nvPr>
            <p:ph type="title"/>
          </p:nvPr>
        </p:nvSpPr>
        <p:spPr/>
        <p:txBody>
          <a:bodyPr/>
          <a:lstStyle/>
          <a:p>
            <a:r>
              <a:rPr lang="en-US" altLang="zh-TW" dirty="0"/>
              <a:t>Dependency Rule(2)</a:t>
            </a:r>
            <a:endParaRPr lang="zh-TW" altLang="en-US" dirty="0"/>
          </a:p>
        </p:txBody>
      </p:sp>
      <p:sp>
        <p:nvSpPr>
          <p:cNvPr id="4" name="日期版面配置區 3">
            <a:extLst>
              <a:ext uri="{FF2B5EF4-FFF2-40B4-BE49-F238E27FC236}">
                <a16:creationId xmlns:a16="http://schemas.microsoft.com/office/drawing/2014/main" id="{5D808D4B-3211-19DE-DD10-DE9DBF4C02D9}"/>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5170CB98-EE4F-87AC-9CDF-E12DC0F6D595}"/>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D5205BBD-2502-5586-B059-1169C8747511}"/>
              </a:ext>
            </a:extLst>
          </p:cNvPr>
          <p:cNvSpPr>
            <a:spLocks noGrp="1"/>
          </p:cNvSpPr>
          <p:nvPr>
            <p:ph type="sldNum" sz="quarter" idx="12"/>
          </p:nvPr>
        </p:nvSpPr>
        <p:spPr/>
        <p:txBody>
          <a:bodyPr/>
          <a:lstStyle/>
          <a:p>
            <a:fld id="{7408114E-E8DD-9044-BC35-9779A826010B}" type="slidenum">
              <a:rPr lang="zh-TW" altLang="en-US" smtClean="0"/>
              <a:pPr/>
              <a:t>17</a:t>
            </a:fld>
            <a:endParaRPr lang="zh-TW" altLang="en-US"/>
          </a:p>
        </p:txBody>
      </p:sp>
      <p:pic>
        <p:nvPicPr>
          <p:cNvPr id="8" name="圖片 7">
            <a:extLst>
              <a:ext uri="{FF2B5EF4-FFF2-40B4-BE49-F238E27FC236}">
                <a16:creationId xmlns:a16="http://schemas.microsoft.com/office/drawing/2014/main" id="{9685D75E-D67F-DEC8-0699-2DB743CE7EBA}"/>
              </a:ext>
            </a:extLst>
          </p:cNvPr>
          <p:cNvPicPr>
            <a:picLocks noChangeAspect="1"/>
          </p:cNvPicPr>
          <p:nvPr/>
        </p:nvPicPr>
        <p:blipFill>
          <a:blip r:embed="rId3"/>
          <a:stretch>
            <a:fillRect/>
          </a:stretch>
        </p:blipFill>
        <p:spPr>
          <a:xfrm>
            <a:off x="197961" y="1556792"/>
            <a:ext cx="11796078" cy="4680520"/>
          </a:xfrm>
          <a:prstGeom prst="rect">
            <a:avLst/>
          </a:prstGeom>
        </p:spPr>
      </p:pic>
      <p:sp>
        <p:nvSpPr>
          <p:cNvPr id="3" name="文字方塊 2"/>
          <p:cNvSpPr txBox="1"/>
          <p:nvPr/>
        </p:nvSpPr>
        <p:spPr>
          <a:xfrm>
            <a:off x="9840416" y="836712"/>
            <a:ext cx="1152128" cy="369332"/>
          </a:xfrm>
          <a:prstGeom prst="rect">
            <a:avLst/>
          </a:prstGeom>
          <a:noFill/>
        </p:spPr>
        <p:txBody>
          <a:bodyPr wrap="square" rtlCol="0">
            <a:spAutoFit/>
          </a:bodyPr>
          <a:lstStyle/>
          <a:p>
            <a:r>
              <a:rPr lang="en-US" altLang="zh-TW" b="1" dirty="0">
                <a:hlinkClick r:id="rId4" action="ppaction://hlinksldjump"/>
              </a:rPr>
              <a:t>Example</a:t>
            </a:r>
            <a:endParaRPr lang="zh-TW" altLang="en-US" b="1" dirty="0"/>
          </a:p>
        </p:txBody>
      </p:sp>
    </p:spTree>
    <p:extLst>
      <p:ext uri="{BB962C8B-B14F-4D97-AF65-F5344CB8AC3E}">
        <p14:creationId xmlns:p14="http://schemas.microsoft.com/office/powerpoint/2010/main" val="3697301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B62FE-B589-2746-46D6-D4C3464B0FD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0FC9DB7-A3F6-DA83-EB33-52362FAED0A5}"/>
              </a:ext>
            </a:extLst>
          </p:cNvPr>
          <p:cNvSpPr>
            <a:spLocks noGrp="1"/>
          </p:cNvSpPr>
          <p:nvPr>
            <p:ph type="title"/>
          </p:nvPr>
        </p:nvSpPr>
        <p:spPr/>
        <p:txBody>
          <a:bodyPr/>
          <a:lstStyle/>
          <a:p>
            <a:r>
              <a:rPr lang="en-US" altLang="zh-TW" dirty="0"/>
              <a:t>Cross-Boundary Rule(1)</a:t>
            </a:r>
            <a:endParaRPr lang="zh-TW" altLang="en-US" dirty="0"/>
          </a:p>
        </p:txBody>
      </p:sp>
      <p:sp>
        <p:nvSpPr>
          <p:cNvPr id="4" name="日期版面配置區 3">
            <a:extLst>
              <a:ext uri="{FF2B5EF4-FFF2-40B4-BE49-F238E27FC236}">
                <a16:creationId xmlns:a16="http://schemas.microsoft.com/office/drawing/2014/main" id="{6F6E4501-AA8B-4645-C7A9-678F0C398BF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D1AFAD33-D81C-6D8E-42F9-CCF8D69FCCEC}"/>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8175AE0-42B2-D806-FA04-17BC0D5472AF}"/>
              </a:ext>
            </a:extLst>
          </p:cNvPr>
          <p:cNvSpPr>
            <a:spLocks noGrp="1"/>
          </p:cNvSpPr>
          <p:nvPr>
            <p:ph type="sldNum" sz="quarter" idx="12"/>
          </p:nvPr>
        </p:nvSpPr>
        <p:spPr/>
        <p:txBody>
          <a:bodyPr/>
          <a:lstStyle/>
          <a:p>
            <a:fld id="{7408114E-E8DD-9044-BC35-9779A826010B}" type="slidenum">
              <a:rPr lang="zh-TW" altLang="en-US" smtClean="0"/>
              <a:pPr/>
              <a:t>18</a:t>
            </a:fld>
            <a:endParaRPr lang="zh-TW" altLang="en-US"/>
          </a:p>
        </p:txBody>
      </p:sp>
      <p:sp>
        <p:nvSpPr>
          <p:cNvPr id="3" name="文字方塊 2">
            <a:extLst>
              <a:ext uri="{FF2B5EF4-FFF2-40B4-BE49-F238E27FC236}">
                <a16:creationId xmlns:a16="http://schemas.microsoft.com/office/drawing/2014/main" id="{0E4B0BB3-7565-9F81-568A-FEA8BBADF76C}"/>
              </a:ext>
            </a:extLst>
          </p:cNvPr>
          <p:cNvSpPr txBox="1"/>
          <p:nvPr/>
        </p:nvSpPr>
        <p:spPr>
          <a:xfrm>
            <a:off x="1415480" y="1354841"/>
            <a:ext cx="9361040" cy="369332"/>
          </a:xfrm>
          <a:prstGeom prst="rect">
            <a:avLst/>
          </a:prstGeom>
          <a:noFill/>
        </p:spPr>
        <p:txBody>
          <a:bodyPr wrap="square" rtlCol="0">
            <a:spAutoFit/>
          </a:bodyPr>
          <a:lstStyle/>
          <a:p>
            <a:r>
              <a:rPr lang="en-US" altLang="zh-TW" dirty="0"/>
              <a:t>What should be done when objects need to cross boundaries?</a:t>
            </a:r>
          </a:p>
        </p:txBody>
      </p:sp>
      <p:pic>
        <p:nvPicPr>
          <p:cNvPr id="14" name="圖片 13">
            <a:extLst>
              <a:ext uri="{FF2B5EF4-FFF2-40B4-BE49-F238E27FC236}">
                <a16:creationId xmlns:a16="http://schemas.microsoft.com/office/drawing/2014/main" id="{41228B72-9C61-C645-5DEC-166210FB9DFD}"/>
              </a:ext>
            </a:extLst>
          </p:cNvPr>
          <p:cNvPicPr>
            <a:picLocks noChangeAspect="1"/>
          </p:cNvPicPr>
          <p:nvPr/>
        </p:nvPicPr>
        <p:blipFill>
          <a:blip r:embed="rId3"/>
          <a:stretch>
            <a:fillRect/>
          </a:stretch>
        </p:blipFill>
        <p:spPr>
          <a:xfrm>
            <a:off x="3107597" y="1740469"/>
            <a:ext cx="5805158" cy="4801219"/>
          </a:xfrm>
          <a:prstGeom prst="rect">
            <a:avLst/>
          </a:prstGeom>
        </p:spPr>
      </p:pic>
    </p:spTree>
    <p:extLst>
      <p:ext uri="{BB962C8B-B14F-4D97-AF65-F5344CB8AC3E}">
        <p14:creationId xmlns:p14="http://schemas.microsoft.com/office/powerpoint/2010/main" val="1423079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90DCB-26D6-0B75-9013-CE69C6919CA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FA606C-1B0E-E5E1-8D37-BA58CCFA92F3}"/>
              </a:ext>
            </a:extLst>
          </p:cNvPr>
          <p:cNvSpPr>
            <a:spLocks noGrp="1"/>
          </p:cNvSpPr>
          <p:nvPr>
            <p:ph type="title"/>
          </p:nvPr>
        </p:nvSpPr>
        <p:spPr/>
        <p:txBody>
          <a:bodyPr/>
          <a:lstStyle/>
          <a:p>
            <a:r>
              <a:rPr lang="en-US" altLang="zh-TW" dirty="0"/>
              <a:t>Cross-Boundary Principle(2)</a:t>
            </a:r>
            <a:endParaRPr lang="zh-TW" altLang="en-US" dirty="0"/>
          </a:p>
        </p:txBody>
      </p:sp>
      <p:sp>
        <p:nvSpPr>
          <p:cNvPr id="4" name="日期版面配置區 3">
            <a:extLst>
              <a:ext uri="{FF2B5EF4-FFF2-40B4-BE49-F238E27FC236}">
                <a16:creationId xmlns:a16="http://schemas.microsoft.com/office/drawing/2014/main" id="{59957AF2-20D1-6439-7184-183F13946D43}"/>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07D12C2C-401F-6260-028B-B9E9D855D2AE}"/>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9DA4D0F7-7869-5293-EF4F-E3C84933F8D3}"/>
              </a:ext>
            </a:extLst>
          </p:cNvPr>
          <p:cNvSpPr>
            <a:spLocks noGrp="1"/>
          </p:cNvSpPr>
          <p:nvPr>
            <p:ph type="sldNum" sz="quarter" idx="12"/>
          </p:nvPr>
        </p:nvSpPr>
        <p:spPr/>
        <p:txBody>
          <a:bodyPr/>
          <a:lstStyle/>
          <a:p>
            <a:fld id="{7408114E-E8DD-9044-BC35-9779A826010B}" type="slidenum">
              <a:rPr lang="zh-TW" altLang="en-US" smtClean="0"/>
              <a:pPr/>
              <a:t>19</a:t>
            </a:fld>
            <a:endParaRPr lang="zh-TW" altLang="en-US"/>
          </a:p>
        </p:txBody>
      </p:sp>
      <p:pic>
        <p:nvPicPr>
          <p:cNvPr id="8" name="圖片 7">
            <a:extLst>
              <a:ext uri="{FF2B5EF4-FFF2-40B4-BE49-F238E27FC236}">
                <a16:creationId xmlns:a16="http://schemas.microsoft.com/office/drawing/2014/main" id="{434A8DC2-F95F-F604-3E4A-3968940642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8266" y="1376920"/>
            <a:ext cx="7103819" cy="5120520"/>
          </a:xfrm>
          <a:prstGeom prst="rect">
            <a:avLst/>
          </a:prstGeom>
        </p:spPr>
      </p:pic>
      <p:sp>
        <p:nvSpPr>
          <p:cNvPr id="10" name="矩形 9">
            <a:extLst>
              <a:ext uri="{FF2B5EF4-FFF2-40B4-BE49-F238E27FC236}">
                <a16:creationId xmlns:a16="http://schemas.microsoft.com/office/drawing/2014/main" id="{790C55BB-89F9-81DB-3A16-249E881CE640}"/>
              </a:ext>
            </a:extLst>
          </p:cNvPr>
          <p:cNvSpPr/>
          <p:nvPr/>
        </p:nvSpPr>
        <p:spPr>
          <a:xfrm>
            <a:off x="4223792" y="1376920"/>
            <a:ext cx="1584176" cy="3348224"/>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41637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9A14-B762-E71E-AF64-CBF132F5395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77878E4-94FB-129F-F0DF-DA2B97FB3437}"/>
              </a:ext>
            </a:extLst>
          </p:cNvPr>
          <p:cNvSpPr>
            <a:spLocks noGrp="1"/>
          </p:cNvSpPr>
          <p:nvPr>
            <p:ph type="title"/>
          </p:nvPr>
        </p:nvSpPr>
        <p:spPr/>
        <p:txBody>
          <a:bodyPr/>
          <a:lstStyle/>
          <a:p>
            <a:r>
              <a:rPr lang="en-US" altLang="zh-TW" dirty="0"/>
              <a:t>Cross-Boundary Principle(3)</a:t>
            </a:r>
            <a:endParaRPr lang="zh-TW" altLang="en-US" dirty="0"/>
          </a:p>
        </p:txBody>
      </p:sp>
      <p:sp>
        <p:nvSpPr>
          <p:cNvPr id="4" name="日期版面配置區 3">
            <a:extLst>
              <a:ext uri="{FF2B5EF4-FFF2-40B4-BE49-F238E27FC236}">
                <a16:creationId xmlns:a16="http://schemas.microsoft.com/office/drawing/2014/main" id="{B9D7BE60-313B-BBA8-66C8-0B136E6706C1}"/>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4842E72B-50A6-DE8C-B970-A9C60A36B35E}"/>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4A4BC4F4-B514-DE40-D911-0482C9A05772}"/>
              </a:ext>
            </a:extLst>
          </p:cNvPr>
          <p:cNvSpPr>
            <a:spLocks noGrp="1"/>
          </p:cNvSpPr>
          <p:nvPr>
            <p:ph type="sldNum" sz="quarter" idx="12"/>
          </p:nvPr>
        </p:nvSpPr>
        <p:spPr/>
        <p:txBody>
          <a:bodyPr/>
          <a:lstStyle/>
          <a:p>
            <a:fld id="{7408114E-E8DD-9044-BC35-9779A826010B}" type="slidenum">
              <a:rPr lang="zh-TW" altLang="en-US" smtClean="0"/>
              <a:pPr/>
              <a:t>20</a:t>
            </a:fld>
            <a:endParaRPr lang="zh-TW" altLang="en-US"/>
          </a:p>
        </p:txBody>
      </p:sp>
      <p:pic>
        <p:nvPicPr>
          <p:cNvPr id="10" name="圖片 9">
            <a:extLst>
              <a:ext uri="{FF2B5EF4-FFF2-40B4-BE49-F238E27FC236}">
                <a16:creationId xmlns:a16="http://schemas.microsoft.com/office/drawing/2014/main" id="{FBFF4376-5784-6AE0-88E5-BEF69FBA913D}"/>
              </a:ext>
            </a:extLst>
          </p:cNvPr>
          <p:cNvPicPr>
            <a:picLocks noChangeAspect="1"/>
          </p:cNvPicPr>
          <p:nvPr/>
        </p:nvPicPr>
        <p:blipFill>
          <a:blip r:embed="rId3"/>
          <a:stretch>
            <a:fillRect/>
          </a:stretch>
        </p:blipFill>
        <p:spPr>
          <a:xfrm>
            <a:off x="874738" y="1655302"/>
            <a:ext cx="10697727" cy="1340104"/>
          </a:xfrm>
          <a:prstGeom prst="rect">
            <a:avLst/>
          </a:prstGeom>
        </p:spPr>
      </p:pic>
      <p:pic>
        <p:nvPicPr>
          <p:cNvPr id="3" name="圖片 2"/>
          <p:cNvPicPr>
            <a:picLocks noChangeAspect="1"/>
          </p:cNvPicPr>
          <p:nvPr/>
        </p:nvPicPr>
        <p:blipFill>
          <a:blip r:embed="rId4"/>
          <a:stretch>
            <a:fillRect/>
          </a:stretch>
        </p:blipFill>
        <p:spPr>
          <a:xfrm>
            <a:off x="1158726" y="3113404"/>
            <a:ext cx="10129750" cy="3152834"/>
          </a:xfrm>
          <a:prstGeom prst="rect">
            <a:avLst/>
          </a:prstGeom>
        </p:spPr>
      </p:pic>
    </p:spTree>
    <p:extLst>
      <p:ext uri="{BB962C8B-B14F-4D97-AF65-F5344CB8AC3E}">
        <p14:creationId xmlns:p14="http://schemas.microsoft.com/office/powerpoint/2010/main" val="1714679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7381-7C82-55EE-5AA0-08F3E2F3951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D98E295-C5FE-ED2C-41EF-E4BE878B6CAE}"/>
              </a:ext>
            </a:extLst>
          </p:cNvPr>
          <p:cNvSpPr>
            <a:spLocks noGrp="1"/>
          </p:cNvSpPr>
          <p:nvPr>
            <p:ph type="title"/>
          </p:nvPr>
        </p:nvSpPr>
        <p:spPr/>
        <p:txBody>
          <a:bodyPr/>
          <a:lstStyle/>
          <a:p>
            <a:r>
              <a:rPr lang="en-US" altLang="zh-TW" dirty="0"/>
              <a:t>Cross-Boundary Rule(4)</a:t>
            </a:r>
            <a:endParaRPr lang="zh-TW" altLang="en-US" dirty="0"/>
          </a:p>
        </p:txBody>
      </p:sp>
      <p:sp>
        <p:nvSpPr>
          <p:cNvPr id="4" name="日期版面配置區 3">
            <a:extLst>
              <a:ext uri="{FF2B5EF4-FFF2-40B4-BE49-F238E27FC236}">
                <a16:creationId xmlns:a16="http://schemas.microsoft.com/office/drawing/2014/main" id="{7C236940-E04A-B034-9F6D-7D0A8612F930}"/>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7051F89F-08C5-D4A4-B264-6BD5D13EDE60}"/>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A8588A4C-7833-60A2-AE08-9E522AE4DEBE}"/>
              </a:ext>
            </a:extLst>
          </p:cNvPr>
          <p:cNvSpPr>
            <a:spLocks noGrp="1"/>
          </p:cNvSpPr>
          <p:nvPr>
            <p:ph type="sldNum" sz="quarter" idx="12"/>
          </p:nvPr>
        </p:nvSpPr>
        <p:spPr/>
        <p:txBody>
          <a:bodyPr/>
          <a:lstStyle/>
          <a:p>
            <a:fld id="{7408114E-E8DD-9044-BC35-9779A826010B}" type="slidenum">
              <a:rPr lang="zh-TW" altLang="en-US" smtClean="0"/>
              <a:pPr/>
              <a:t>21</a:t>
            </a:fld>
            <a:endParaRPr lang="zh-TW" altLang="en-US"/>
          </a:p>
        </p:txBody>
      </p:sp>
      <p:pic>
        <p:nvPicPr>
          <p:cNvPr id="7" name="圖片 6">
            <a:extLst>
              <a:ext uri="{FF2B5EF4-FFF2-40B4-BE49-F238E27FC236}">
                <a16:creationId xmlns:a16="http://schemas.microsoft.com/office/drawing/2014/main" id="{1A16AA01-53E5-D05D-DDE2-E1A0128CFD58}"/>
              </a:ext>
            </a:extLst>
          </p:cNvPr>
          <p:cNvPicPr>
            <a:picLocks noChangeAspect="1"/>
          </p:cNvPicPr>
          <p:nvPr/>
        </p:nvPicPr>
        <p:blipFill>
          <a:blip r:embed="rId3"/>
          <a:stretch>
            <a:fillRect/>
          </a:stretch>
        </p:blipFill>
        <p:spPr>
          <a:xfrm>
            <a:off x="692268" y="2973210"/>
            <a:ext cx="10807463" cy="1870125"/>
          </a:xfrm>
          <a:prstGeom prst="rect">
            <a:avLst/>
          </a:prstGeom>
        </p:spPr>
      </p:pic>
    </p:spTree>
    <p:extLst>
      <p:ext uri="{BB962C8B-B14F-4D97-AF65-F5344CB8AC3E}">
        <p14:creationId xmlns:p14="http://schemas.microsoft.com/office/powerpoint/2010/main" val="4119522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EF6B-70BC-12BE-5656-3E87AA40209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1DDB45C-05D9-52D8-A198-C50C65E7904D}"/>
              </a:ext>
            </a:extLst>
          </p:cNvPr>
          <p:cNvSpPr>
            <a:spLocks noGrp="1"/>
          </p:cNvSpPr>
          <p:nvPr>
            <p:ph type="title"/>
          </p:nvPr>
        </p:nvSpPr>
        <p:spPr/>
        <p:txBody>
          <a:bodyPr/>
          <a:lstStyle/>
          <a:p>
            <a:r>
              <a:rPr lang="en-US" altLang="zh-TW" dirty="0"/>
              <a:t>Cross-Boundary Rule(5)</a:t>
            </a:r>
            <a:endParaRPr lang="zh-TW" altLang="en-US" dirty="0"/>
          </a:p>
        </p:txBody>
      </p:sp>
      <p:sp>
        <p:nvSpPr>
          <p:cNvPr id="4" name="日期版面配置區 3">
            <a:extLst>
              <a:ext uri="{FF2B5EF4-FFF2-40B4-BE49-F238E27FC236}">
                <a16:creationId xmlns:a16="http://schemas.microsoft.com/office/drawing/2014/main" id="{D94FA2DC-3B49-D650-B41F-82B5292157B0}"/>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9B6ED11F-17BF-E8CE-8418-2DA78ACEE7EC}"/>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BC57E46F-AF5C-4B25-60D6-C18F99F1A5E7}"/>
              </a:ext>
            </a:extLst>
          </p:cNvPr>
          <p:cNvSpPr>
            <a:spLocks noGrp="1"/>
          </p:cNvSpPr>
          <p:nvPr>
            <p:ph type="sldNum" sz="quarter" idx="12"/>
          </p:nvPr>
        </p:nvSpPr>
        <p:spPr/>
        <p:txBody>
          <a:bodyPr/>
          <a:lstStyle/>
          <a:p>
            <a:fld id="{7408114E-E8DD-9044-BC35-9779A826010B}" type="slidenum">
              <a:rPr lang="zh-TW" altLang="en-US" smtClean="0"/>
              <a:pPr/>
              <a:t>22</a:t>
            </a:fld>
            <a:endParaRPr lang="zh-TW" altLang="en-US"/>
          </a:p>
        </p:txBody>
      </p:sp>
      <p:pic>
        <p:nvPicPr>
          <p:cNvPr id="3" name="圖片 2"/>
          <p:cNvPicPr>
            <a:picLocks noChangeAspect="1"/>
          </p:cNvPicPr>
          <p:nvPr/>
        </p:nvPicPr>
        <p:blipFill>
          <a:blip r:embed="rId3"/>
          <a:stretch>
            <a:fillRect/>
          </a:stretch>
        </p:blipFill>
        <p:spPr>
          <a:xfrm>
            <a:off x="1006823" y="1442567"/>
            <a:ext cx="10178353" cy="1368518"/>
          </a:xfrm>
          <a:prstGeom prst="rect">
            <a:avLst/>
          </a:prstGeom>
        </p:spPr>
      </p:pic>
      <p:pic>
        <p:nvPicPr>
          <p:cNvPr id="7" name="圖片 6"/>
          <p:cNvPicPr>
            <a:picLocks noChangeAspect="1"/>
          </p:cNvPicPr>
          <p:nvPr/>
        </p:nvPicPr>
        <p:blipFill>
          <a:blip r:embed="rId4"/>
          <a:stretch>
            <a:fillRect/>
          </a:stretch>
        </p:blipFill>
        <p:spPr>
          <a:xfrm>
            <a:off x="199039" y="2980835"/>
            <a:ext cx="11793919" cy="3409353"/>
          </a:xfrm>
          <a:prstGeom prst="rect">
            <a:avLst/>
          </a:prstGeom>
        </p:spPr>
      </p:pic>
    </p:spTree>
    <p:extLst>
      <p:ext uri="{BB962C8B-B14F-4D97-AF65-F5344CB8AC3E}">
        <p14:creationId xmlns:p14="http://schemas.microsoft.com/office/powerpoint/2010/main" val="3069958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646BD-9583-662B-7EA1-93228F74C89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2C58910-E41B-B9DF-7ABD-733009C91443}"/>
              </a:ext>
            </a:extLst>
          </p:cNvPr>
          <p:cNvSpPr>
            <a:spLocks noGrp="1"/>
          </p:cNvSpPr>
          <p:nvPr>
            <p:ph type="title"/>
          </p:nvPr>
        </p:nvSpPr>
        <p:spPr/>
        <p:txBody>
          <a:bodyPr/>
          <a:lstStyle/>
          <a:p>
            <a:r>
              <a:rPr lang="en-US" altLang="zh-TW" dirty="0"/>
              <a:t>Pros and Cons(1)</a:t>
            </a:r>
            <a:endParaRPr lang="zh-TW" altLang="en-US" dirty="0"/>
          </a:p>
        </p:txBody>
      </p:sp>
      <p:sp>
        <p:nvSpPr>
          <p:cNvPr id="4" name="日期版面配置區 3">
            <a:extLst>
              <a:ext uri="{FF2B5EF4-FFF2-40B4-BE49-F238E27FC236}">
                <a16:creationId xmlns:a16="http://schemas.microsoft.com/office/drawing/2014/main" id="{8FA66E3B-3F96-F63E-FE96-B670BEA11476}"/>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7B33AFB5-AC65-D14B-91D9-ED85E8FBEF4B}"/>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4DE40299-CD0B-6ECF-830E-BB628CAD9140}"/>
              </a:ext>
            </a:extLst>
          </p:cNvPr>
          <p:cNvSpPr>
            <a:spLocks noGrp="1"/>
          </p:cNvSpPr>
          <p:nvPr>
            <p:ph type="sldNum" sz="quarter" idx="12"/>
          </p:nvPr>
        </p:nvSpPr>
        <p:spPr/>
        <p:txBody>
          <a:bodyPr/>
          <a:lstStyle/>
          <a:p>
            <a:fld id="{7408114E-E8DD-9044-BC35-9779A826010B}" type="slidenum">
              <a:rPr lang="zh-TW" altLang="en-US" smtClean="0"/>
              <a:pPr/>
              <a:t>23</a:t>
            </a:fld>
            <a:endParaRPr lang="zh-TW" altLang="en-US"/>
          </a:p>
        </p:txBody>
      </p:sp>
      <p:graphicFrame>
        <p:nvGraphicFramePr>
          <p:cNvPr id="7" name="表格 6">
            <a:extLst>
              <a:ext uri="{FF2B5EF4-FFF2-40B4-BE49-F238E27FC236}">
                <a16:creationId xmlns:a16="http://schemas.microsoft.com/office/drawing/2014/main" id="{581B207D-268C-6F08-DA6E-105FDDA36201}"/>
              </a:ext>
            </a:extLst>
          </p:cNvPr>
          <p:cNvGraphicFramePr>
            <a:graphicFrameLocks noGrp="1"/>
          </p:cNvGraphicFramePr>
          <p:nvPr>
            <p:extLst>
              <p:ext uri="{D42A27DB-BD31-4B8C-83A1-F6EECF244321}">
                <p14:modId xmlns:p14="http://schemas.microsoft.com/office/powerpoint/2010/main" val="2913622421"/>
              </p:ext>
            </p:extLst>
          </p:nvPr>
        </p:nvGraphicFramePr>
        <p:xfrm>
          <a:off x="609600" y="1916832"/>
          <a:ext cx="11086564" cy="4166728"/>
        </p:xfrm>
        <a:graphic>
          <a:graphicData uri="http://schemas.openxmlformats.org/drawingml/2006/table">
            <a:tbl>
              <a:tblPr firstRow="1" bandRow="1">
                <a:tableStyleId>{5C22544A-7EE6-4342-B048-85BDC9FD1C3A}</a:tableStyleId>
              </a:tblPr>
              <a:tblGrid>
                <a:gridCol w="5543282">
                  <a:extLst>
                    <a:ext uri="{9D8B030D-6E8A-4147-A177-3AD203B41FA5}">
                      <a16:colId xmlns:a16="http://schemas.microsoft.com/office/drawing/2014/main" val="3298532631"/>
                    </a:ext>
                  </a:extLst>
                </a:gridCol>
                <a:gridCol w="5543282">
                  <a:extLst>
                    <a:ext uri="{9D8B030D-6E8A-4147-A177-3AD203B41FA5}">
                      <a16:colId xmlns:a16="http://schemas.microsoft.com/office/drawing/2014/main" val="1589181366"/>
                    </a:ext>
                  </a:extLst>
                </a:gridCol>
              </a:tblGrid>
              <a:tr h="872105">
                <a:tc>
                  <a:txBody>
                    <a:bodyPr/>
                    <a:lstStyle/>
                    <a:p>
                      <a:r>
                        <a:rPr lang="en-US" altLang="zh-TW" sz="2800" dirty="0"/>
                        <a:t>Pros</a:t>
                      </a:r>
                      <a:endParaRPr lang="zh-TW" altLang="en-US" sz="2800" dirty="0"/>
                    </a:p>
                  </a:txBody>
                  <a:tcPr/>
                </a:tc>
                <a:tc>
                  <a:txBody>
                    <a:bodyPr/>
                    <a:lstStyle/>
                    <a:p>
                      <a:r>
                        <a:rPr lang="en-US" altLang="zh-TW" sz="2800" dirty="0"/>
                        <a:t>Cons</a:t>
                      </a:r>
                      <a:endParaRPr lang="zh-TW" altLang="en-US" sz="2800" dirty="0"/>
                    </a:p>
                  </a:txBody>
                  <a:tcPr/>
                </a:tc>
                <a:extLst>
                  <a:ext uri="{0D108BD9-81ED-4DB2-BD59-A6C34878D82A}">
                    <a16:rowId xmlns:a16="http://schemas.microsoft.com/office/drawing/2014/main" val="2613549151"/>
                  </a:ext>
                </a:extLst>
              </a:tr>
              <a:tr h="884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b="0" dirty="0"/>
                        <a:t>Maintainable</a:t>
                      </a:r>
                      <a:endParaRPr lang="zh-TW" altLang="en-US" sz="2800" dirty="0"/>
                    </a:p>
                  </a:txBody>
                  <a:tcPr/>
                </a:tc>
                <a:tc>
                  <a:txBody>
                    <a:bodyPr/>
                    <a:lstStyle/>
                    <a:p>
                      <a:r>
                        <a:rPr lang="en-US" altLang="zh-TW" sz="2800" dirty="0"/>
                        <a:t>Complicated(not easy for rookie)</a:t>
                      </a:r>
                      <a:endParaRPr lang="zh-TW" altLang="en-US" sz="2800" dirty="0"/>
                    </a:p>
                  </a:txBody>
                  <a:tcPr/>
                </a:tc>
                <a:extLst>
                  <a:ext uri="{0D108BD9-81ED-4DB2-BD59-A6C34878D82A}">
                    <a16:rowId xmlns:a16="http://schemas.microsoft.com/office/drawing/2014/main" val="823258576"/>
                  </a:ext>
                </a:extLst>
              </a:tr>
              <a:tr h="884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dirty="0"/>
                        <a:t>Align with the </a:t>
                      </a:r>
                      <a:r>
                        <a:rPr lang="en-US" altLang="zh-TW" sz="2800" b="1" dirty="0"/>
                        <a:t>SRP</a:t>
                      </a:r>
                      <a:r>
                        <a:rPr lang="en-US" altLang="zh-TW" sz="2800" b="0" dirty="0"/>
                        <a:t>(four layer)</a:t>
                      </a:r>
                      <a:endParaRPr lang="zh-TW" altLang="en-US" sz="2800" b="0" dirty="0"/>
                    </a:p>
                  </a:txBody>
                  <a:tcPr/>
                </a:tc>
                <a:tc>
                  <a:txBody>
                    <a:bodyPr/>
                    <a:lstStyle/>
                    <a:p>
                      <a:r>
                        <a:rPr lang="en-US" altLang="zh-TW" sz="2800" dirty="0"/>
                        <a:t>Not always necessary(CRUD App)</a:t>
                      </a:r>
                      <a:endParaRPr lang="zh-TW" altLang="en-US" sz="2800" dirty="0"/>
                    </a:p>
                  </a:txBody>
                  <a:tcPr/>
                </a:tc>
                <a:extLst>
                  <a:ext uri="{0D108BD9-81ED-4DB2-BD59-A6C34878D82A}">
                    <a16:rowId xmlns:a16="http://schemas.microsoft.com/office/drawing/2014/main" val="1073657445"/>
                  </a:ext>
                </a:extLst>
              </a:tr>
              <a:tr h="15261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dirty="0"/>
                        <a:t>Testable</a:t>
                      </a:r>
                      <a:endParaRPr lang="zh-TW" alt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b="0" dirty="0"/>
                    </a:p>
                  </a:txBody>
                  <a:tcPr/>
                </a:tc>
                <a:tc>
                  <a:txBody>
                    <a:bodyPr/>
                    <a:lstStyle/>
                    <a:p>
                      <a:r>
                        <a:rPr lang="en-US" altLang="zh-TW" sz="2800" dirty="0"/>
                        <a:t>Performance Overhead(frequently transform data format)</a:t>
                      </a:r>
                      <a:endParaRPr lang="zh-TW" altLang="en-US" sz="2800" dirty="0"/>
                    </a:p>
                  </a:txBody>
                  <a:tcPr/>
                </a:tc>
                <a:extLst>
                  <a:ext uri="{0D108BD9-81ED-4DB2-BD59-A6C34878D82A}">
                    <a16:rowId xmlns:a16="http://schemas.microsoft.com/office/drawing/2014/main" val="1470685926"/>
                  </a:ext>
                </a:extLst>
              </a:tr>
            </a:tbl>
          </a:graphicData>
        </a:graphic>
      </p:graphicFrame>
    </p:spTree>
    <p:extLst>
      <p:ext uri="{BB962C8B-B14F-4D97-AF65-F5344CB8AC3E}">
        <p14:creationId xmlns:p14="http://schemas.microsoft.com/office/powerpoint/2010/main" val="202579824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180539-9442-EFCD-8826-501DBB828611}"/>
              </a:ext>
            </a:extLst>
          </p:cNvPr>
          <p:cNvSpPr>
            <a:spLocks noGrp="1"/>
          </p:cNvSpPr>
          <p:nvPr>
            <p:ph type="title"/>
          </p:nvPr>
        </p:nvSpPr>
        <p:spPr/>
        <p:txBody>
          <a:bodyPr/>
          <a:lstStyle/>
          <a:p>
            <a:r>
              <a:rPr lang="en-US" altLang="zh-TW" dirty="0"/>
              <a:t>Reference</a:t>
            </a:r>
            <a:endParaRPr lang="zh-TW" altLang="en-US" dirty="0"/>
          </a:p>
        </p:txBody>
      </p:sp>
      <p:sp>
        <p:nvSpPr>
          <p:cNvPr id="3" name="內容版面配置區 2">
            <a:extLst>
              <a:ext uri="{FF2B5EF4-FFF2-40B4-BE49-F238E27FC236}">
                <a16:creationId xmlns:a16="http://schemas.microsoft.com/office/drawing/2014/main" id="{05B72979-8141-3DC5-D38D-2D8A74255D87}"/>
              </a:ext>
            </a:extLst>
          </p:cNvPr>
          <p:cNvSpPr>
            <a:spLocks noGrp="1"/>
          </p:cNvSpPr>
          <p:nvPr>
            <p:ph idx="1"/>
          </p:nvPr>
        </p:nvSpPr>
        <p:spPr/>
        <p:txBody>
          <a:bodyPr/>
          <a:lstStyle/>
          <a:p>
            <a:pPr>
              <a:spcBef>
                <a:spcPts val="1050"/>
              </a:spcBef>
              <a:spcAft>
                <a:spcPts val="750"/>
              </a:spcAft>
            </a:pPr>
            <a:r>
              <a:rPr lang="en-US" altLang="zh-TW" sz="2400" b="1" i="0" dirty="0">
                <a:solidFill>
                  <a:srgbClr val="000100"/>
                </a:solidFill>
                <a:effectLst/>
                <a:latin typeface="Arial" panose="020B0604020202020204" pitchFamily="34" charset="0"/>
                <a:cs typeface="Arial" panose="020B0604020202020204" pitchFamily="34" charset="0"/>
                <a:hlinkClick r:id="rId2"/>
              </a:rPr>
              <a:t>Layered Architecture Is Good-</a:t>
            </a:r>
            <a:r>
              <a:rPr lang="en-US" altLang="zh-TW" sz="2400" b="1" i="0" dirty="0">
                <a:solidFill>
                  <a:srgbClr val="333333"/>
                </a:solidFill>
                <a:effectLst/>
                <a:latin typeface="Arial" panose="020B0604020202020204" pitchFamily="34" charset="0"/>
                <a:cs typeface="Arial" panose="020B0604020202020204" pitchFamily="34" charset="0"/>
                <a:hlinkClick r:id="rId2"/>
              </a:rPr>
              <a:t>Grzegorz </a:t>
            </a:r>
            <a:r>
              <a:rPr lang="en-US" altLang="zh-TW" sz="2400" b="1" i="0" dirty="0" err="1">
                <a:solidFill>
                  <a:srgbClr val="333333"/>
                </a:solidFill>
                <a:effectLst/>
                <a:latin typeface="Arial" panose="020B0604020202020204" pitchFamily="34" charset="0"/>
                <a:cs typeface="Arial" panose="020B0604020202020204" pitchFamily="34" charset="0"/>
                <a:hlinkClick r:id="rId2"/>
              </a:rPr>
              <a:t>Ziemoński</a:t>
            </a:r>
            <a:endParaRPr lang="en-US" altLang="zh-TW" sz="2400" b="1" i="0" dirty="0">
              <a:solidFill>
                <a:srgbClr val="000100"/>
              </a:solidFill>
              <a:effectLst/>
              <a:latin typeface="Arial" panose="020B0604020202020204" pitchFamily="34" charset="0"/>
              <a:cs typeface="Arial" panose="020B0604020202020204" pitchFamily="34" charset="0"/>
            </a:endParaRPr>
          </a:p>
          <a:p>
            <a:pPr>
              <a:spcBef>
                <a:spcPts val="1050"/>
              </a:spcBef>
              <a:spcAft>
                <a:spcPts val="750"/>
              </a:spcAft>
            </a:pPr>
            <a:r>
              <a:rPr lang="en-US" altLang="zh-TW" sz="2400" b="1" i="0" dirty="0">
                <a:solidFill>
                  <a:srgbClr val="000100"/>
                </a:solidFill>
                <a:effectLst/>
                <a:latin typeface="Arial" panose="020B0604020202020204" pitchFamily="34" charset="0"/>
                <a:cs typeface="Arial" panose="020B0604020202020204" pitchFamily="34" charset="0"/>
                <a:hlinkClick r:id="rId3"/>
              </a:rPr>
              <a:t>Hexagonal Architecture Is Powerful-</a:t>
            </a:r>
            <a:r>
              <a:rPr lang="en-US" altLang="zh-TW" sz="2400" b="1" i="0" dirty="0">
                <a:solidFill>
                  <a:srgbClr val="333333"/>
                </a:solidFill>
                <a:effectLst/>
                <a:latin typeface="Arial" panose="020B0604020202020204" pitchFamily="34" charset="0"/>
                <a:cs typeface="Arial" panose="020B0604020202020204" pitchFamily="34" charset="0"/>
                <a:hlinkClick r:id="rId3"/>
              </a:rPr>
              <a:t>Grzegorz </a:t>
            </a:r>
            <a:r>
              <a:rPr lang="en-US" altLang="zh-TW" sz="2400" b="1" i="0" dirty="0" err="1">
                <a:solidFill>
                  <a:srgbClr val="333333"/>
                </a:solidFill>
                <a:effectLst/>
                <a:latin typeface="Arial" panose="020B0604020202020204" pitchFamily="34" charset="0"/>
                <a:cs typeface="Arial" panose="020B0604020202020204" pitchFamily="34" charset="0"/>
                <a:hlinkClick r:id="rId3"/>
              </a:rPr>
              <a:t>Ziemoński</a:t>
            </a:r>
            <a:endParaRPr lang="en-US" altLang="zh-TW" sz="2400" b="1" i="0" dirty="0">
              <a:solidFill>
                <a:srgbClr val="333333"/>
              </a:solidFill>
              <a:effectLst/>
              <a:latin typeface="Arial" panose="020B0604020202020204" pitchFamily="34" charset="0"/>
              <a:cs typeface="Arial" panose="020B0604020202020204" pitchFamily="34" charset="0"/>
            </a:endParaRPr>
          </a:p>
          <a:p>
            <a:pPr>
              <a:spcBef>
                <a:spcPts val="1050"/>
              </a:spcBef>
              <a:spcAft>
                <a:spcPts val="750"/>
              </a:spcAft>
            </a:pPr>
            <a:r>
              <a:rPr lang="en-US" altLang="zh-TW" sz="2400" b="1" i="0" dirty="0">
                <a:solidFill>
                  <a:srgbClr val="29323C"/>
                </a:solidFill>
                <a:effectLst/>
                <a:latin typeface="Arial" panose="020B0604020202020204" pitchFamily="34" charset="0"/>
                <a:cs typeface="Arial" panose="020B0604020202020204" pitchFamily="34" charset="0"/>
                <a:hlinkClick r:id="rId4"/>
              </a:rPr>
              <a:t>The Clean Code Blog-</a:t>
            </a:r>
            <a:r>
              <a:rPr lang="en-US" altLang="zh-TW" sz="2400" b="1" i="0" dirty="0">
                <a:solidFill>
                  <a:schemeClr val="tx1"/>
                </a:solidFill>
                <a:effectLst/>
                <a:latin typeface="Arial" panose="020B0604020202020204" pitchFamily="34" charset="0"/>
                <a:cs typeface="Arial" panose="020B0604020202020204" pitchFamily="34" charset="0"/>
                <a:hlinkClick r:id="rId4"/>
              </a:rPr>
              <a:t>Robert C. Martin (Uncle Bob)</a:t>
            </a:r>
            <a:endParaRPr lang="en-US" altLang="zh-TW" sz="2400" b="1" i="0" dirty="0">
              <a:solidFill>
                <a:schemeClr val="tx1"/>
              </a:solidFill>
              <a:effectLst/>
              <a:latin typeface="Arial" panose="020B0604020202020204" pitchFamily="34" charset="0"/>
              <a:cs typeface="Arial" panose="020B0604020202020204" pitchFamily="34" charset="0"/>
            </a:endParaRPr>
          </a:p>
          <a:p>
            <a:pPr>
              <a:spcBef>
                <a:spcPts val="1050"/>
              </a:spcBef>
              <a:spcAft>
                <a:spcPts val="750"/>
              </a:spcAft>
            </a:pPr>
            <a:r>
              <a:rPr lang="en-US" altLang="zh-TW" sz="2400" b="1" i="0" u="none" strike="noStrike" dirty="0">
                <a:solidFill>
                  <a:srgbClr val="333333"/>
                </a:solidFill>
                <a:effectLst/>
                <a:latin typeface="Lato" panose="020F0502020204030204" pitchFamily="34" charset="0"/>
                <a:hlinkClick r:id="rId5"/>
              </a:rPr>
              <a:t>Clean Architecture – Make Your Architecture Scream</a:t>
            </a:r>
            <a:endParaRPr lang="en-US" altLang="zh-TW" sz="2400" b="1" i="0" dirty="0">
              <a:solidFill>
                <a:schemeClr val="tx1"/>
              </a:solidFill>
              <a:effectLst/>
              <a:latin typeface="Arial" panose="020B0604020202020204" pitchFamily="34" charset="0"/>
              <a:cs typeface="Arial" panose="020B0604020202020204" pitchFamily="34" charset="0"/>
            </a:endParaRPr>
          </a:p>
          <a:p>
            <a:pPr>
              <a:spcBef>
                <a:spcPts val="1050"/>
              </a:spcBef>
              <a:spcAft>
                <a:spcPts val="750"/>
              </a:spcAft>
            </a:pPr>
            <a:r>
              <a:rPr lang="en-US" altLang="zh-TW" sz="2400" b="1" i="0" dirty="0">
                <a:solidFill>
                  <a:srgbClr val="0F0F0F"/>
                </a:solidFill>
                <a:effectLst/>
                <a:latin typeface="Arial" panose="020B0604020202020204" pitchFamily="34" charset="0"/>
                <a:cs typeface="Arial" panose="020B0604020202020204" pitchFamily="34" charset="0"/>
                <a:hlinkClick r:id="rId6"/>
              </a:rPr>
              <a:t>Clean Architecture</a:t>
            </a:r>
            <a:r>
              <a:rPr lang="zh-TW" altLang="en-US" sz="2400" b="1" i="0" dirty="0">
                <a:solidFill>
                  <a:srgbClr val="0F0F0F"/>
                </a:solidFill>
                <a:effectLst/>
                <a:latin typeface="Arial" panose="020B0604020202020204" pitchFamily="34" charset="0"/>
                <a:cs typeface="Arial" panose="020B0604020202020204" pitchFamily="34" charset="0"/>
                <a:hlinkClick r:id="rId6"/>
              </a:rPr>
              <a:t>三原則</a:t>
            </a:r>
            <a:r>
              <a:rPr lang="en-US" altLang="zh-TW" sz="2400" b="1" i="0" dirty="0">
                <a:solidFill>
                  <a:srgbClr val="0F0F0F"/>
                </a:solidFill>
                <a:effectLst/>
                <a:latin typeface="Arial" panose="020B0604020202020204" pitchFamily="34" charset="0"/>
                <a:cs typeface="Arial" panose="020B0604020202020204" pitchFamily="34" charset="0"/>
                <a:hlinkClick r:id="rId6"/>
              </a:rPr>
              <a:t>-</a:t>
            </a:r>
            <a:r>
              <a:rPr lang="zh-TW" altLang="en-US" sz="2400" b="1" i="0" dirty="0">
                <a:solidFill>
                  <a:srgbClr val="0F0F0F"/>
                </a:solidFill>
                <a:effectLst/>
                <a:latin typeface="Arial" panose="020B0604020202020204" pitchFamily="34" charset="0"/>
                <a:cs typeface="Arial" panose="020B0604020202020204" pitchFamily="34" charset="0"/>
                <a:hlinkClick r:id="rId6"/>
              </a:rPr>
              <a:t>搞笑談軟工</a:t>
            </a:r>
            <a:r>
              <a:rPr lang="en-US" altLang="zh-TW" sz="2400" b="1" i="0" dirty="0">
                <a:solidFill>
                  <a:srgbClr val="0F0F0F"/>
                </a:solidFill>
                <a:effectLst/>
                <a:latin typeface="Arial" panose="020B0604020202020204" pitchFamily="34" charset="0"/>
                <a:cs typeface="Arial" panose="020B0604020202020204" pitchFamily="34" charset="0"/>
                <a:hlinkClick r:id="rId6"/>
              </a:rPr>
              <a:t>Teddy</a:t>
            </a:r>
            <a:endParaRPr lang="en-US" altLang="zh-TW" sz="2400" b="1" i="0" dirty="0">
              <a:solidFill>
                <a:srgbClr val="0F0F0F"/>
              </a:solidFill>
              <a:effectLst/>
              <a:latin typeface="Arial" panose="020B0604020202020204" pitchFamily="34" charset="0"/>
              <a:cs typeface="Arial" panose="020B0604020202020204" pitchFamily="34" charset="0"/>
            </a:endParaRPr>
          </a:p>
          <a:p>
            <a:pPr>
              <a:spcBef>
                <a:spcPts val="1050"/>
              </a:spcBef>
              <a:spcAft>
                <a:spcPts val="750"/>
              </a:spcAft>
            </a:pPr>
            <a:r>
              <a:rPr lang="en-US" altLang="zh-TW" sz="2400" i="0" dirty="0">
                <a:solidFill>
                  <a:srgbClr val="0F0F0F"/>
                </a:solidFill>
                <a:effectLst/>
                <a:latin typeface="Arial" panose="020B0604020202020204" pitchFamily="34" charset="0"/>
                <a:cs typeface="Arial" panose="020B0604020202020204" pitchFamily="34" charset="0"/>
              </a:rPr>
              <a:t>Martin, Robert C. "The Dependency Inversion Principle," C++ Report, May 1996, p. 7.</a:t>
            </a:r>
          </a:p>
          <a:p>
            <a:pPr>
              <a:spcBef>
                <a:spcPts val="1050"/>
              </a:spcBef>
              <a:spcAft>
                <a:spcPts val="750"/>
              </a:spcAft>
            </a:pPr>
            <a:r>
              <a:rPr lang="en-US" altLang="zh-TW" sz="2400" dirty="0">
                <a:latin typeface="Arial" panose="020B0604020202020204" pitchFamily="34" charset="0"/>
                <a:cs typeface="Arial" panose="020B0604020202020204" pitchFamily="34" charset="0"/>
              </a:rPr>
              <a:t>Martin, Robert C. Clean Architecture: A Craftsman's Guide to Software Structure and Design. Prentice Hall, 2017.</a:t>
            </a:r>
            <a:endParaRPr lang="en-US" altLang="zh-TW" sz="2400" b="1" i="0" dirty="0">
              <a:solidFill>
                <a:schemeClr val="tx1"/>
              </a:solidFill>
              <a:effectLst/>
              <a:latin typeface="Arial" panose="020B0604020202020204" pitchFamily="34" charset="0"/>
              <a:cs typeface="Arial" panose="020B0604020202020204" pitchFamily="34" charset="0"/>
            </a:endParaRPr>
          </a:p>
          <a:p>
            <a:pPr>
              <a:spcBef>
                <a:spcPts val="1050"/>
              </a:spcBef>
              <a:spcAft>
                <a:spcPts val="750"/>
              </a:spcAft>
            </a:pPr>
            <a:endParaRPr lang="en-US" altLang="zh-TW" b="1" i="0" dirty="0">
              <a:solidFill>
                <a:srgbClr val="000100"/>
              </a:solidFill>
              <a:effectLst/>
              <a:latin typeface="Helvetica Neue"/>
            </a:endParaRPr>
          </a:p>
          <a:p>
            <a:pPr>
              <a:spcBef>
                <a:spcPts val="1050"/>
              </a:spcBef>
              <a:spcAft>
                <a:spcPts val="750"/>
              </a:spcAft>
            </a:pPr>
            <a:endParaRPr lang="en-US" altLang="zh-TW" b="1" i="0" dirty="0">
              <a:solidFill>
                <a:srgbClr val="000100"/>
              </a:solidFill>
              <a:effectLst/>
              <a:latin typeface="Helvetica Neue"/>
            </a:endParaRPr>
          </a:p>
          <a:p>
            <a:pPr algn="l">
              <a:spcBef>
                <a:spcPts val="1050"/>
              </a:spcBef>
              <a:spcAft>
                <a:spcPts val="750"/>
              </a:spcAft>
            </a:pPr>
            <a:endParaRPr lang="en-US" altLang="zh-TW" b="1" i="0" dirty="0">
              <a:solidFill>
                <a:srgbClr val="000100"/>
              </a:solidFill>
              <a:effectLst/>
              <a:latin typeface="Helvetica Neue"/>
            </a:endParaRPr>
          </a:p>
        </p:txBody>
      </p:sp>
      <p:sp>
        <p:nvSpPr>
          <p:cNvPr id="4" name="日期版面配置區 3">
            <a:extLst>
              <a:ext uri="{FF2B5EF4-FFF2-40B4-BE49-F238E27FC236}">
                <a16:creationId xmlns:a16="http://schemas.microsoft.com/office/drawing/2014/main" id="{624DBA7A-CB6E-82CD-53FE-7645DF7911C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E64A4E1E-8217-F98F-39BC-872161CBC8CA}"/>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B21D724-C4DF-C765-B26F-22A6836EAFAA}"/>
              </a:ext>
            </a:extLst>
          </p:cNvPr>
          <p:cNvSpPr>
            <a:spLocks noGrp="1"/>
          </p:cNvSpPr>
          <p:nvPr>
            <p:ph type="sldNum" sz="quarter" idx="12"/>
          </p:nvPr>
        </p:nvSpPr>
        <p:spPr/>
        <p:txBody>
          <a:bodyPr/>
          <a:lstStyle/>
          <a:p>
            <a:fld id="{7408114E-E8DD-9044-BC35-9779A826010B}" type="slidenum">
              <a:rPr lang="zh-TW" altLang="en-US" smtClean="0"/>
              <a:pPr/>
              <a:t>24</a:t>
            </a:fld>
            <a:endParaRPr lang="zh-TW" altLang="en-US" dirty="0"/>
          </a:p>
        </p:txBody>
      </p:sp>
    </p:spTree>
    <p:extLst>
      <p:ext uri="{BB962C8B-B14F-4D97-AF65-F5344CB8AC3E}">
        <p14:creationId xmlns:p14="http://schemas.microsoft.com/office/powerpoint/2010/main" val="361732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49428EBB-52F3-DCDA-004A-C121C19FD1AB}"/>
              </a:ext>
            </a:extLst>
          </p:cNvPr>
          <p:cNvSpPr>
            <a:spLocks noGrp="1"/>
          </p:cNvSpPr>
          <p:nvPr>
            <p:ph type="ctrTitle"/>
          </p:nvPr>
        </p:nvSpPr>
        <p:spPr/>
        <p:txBody>
          <a:bodyPr/>
          <a:lstStyle/>
          <a:p>
            <a:r>
              <a:rPr lang="en-US" altLang="zh-TW" dirty="0"/>
              <a:t>Thanks for listening</a:t>
            </a:r>
            <a:endParaRPr lang="zh-TW" altLang="en-US" dirty="0"/>
          </a:p>
        </p:txBody>
      </p:sp>
      <p:sp>
        <p:nvSpPr>
          <p:cNvPr id="8" name="副標題 7">
            <a:extLst>
              <a:ext uri="{FF2B5EF4-FFF2-40B4-BE49-F238E27FC236}">
                <a16:creationId xmlns:a16="http://schemas.microsoft.com/office/drawing/2014/main" id="{3EA56918-8406-F3CE-1E00-603B5EF3B952}"/>
              </a:ext>
            </a:extLst>
          </p:cNvPr>
          <p:cNvSpPr>
            <a:spLocks noGrp="1"/>
          </p:cNvSpPr>
          <p:nvPr>
            <p:ph type="subTitle" idx="1"/>
          </p:nvPr>
        </p:nvSpPr>
        <p:spPr/>
        <p:txBody>
          <a:bodyPr/>
          <a:lstStyle/>
          <a:p>
            <a:r>
              <a:rPr lang="en-US" altLang="zh-TW" dirty="0"/>
              <a:t>QA</a:t>
            </a:r>
          </a:p>
          <a:p>
            <a:endParaRPr lang="zh-TW" altLang="en-US" dirty="0"/>
          </a:p>
        </p:txBody>
      </p:sp>
      <p:sp>
        <p:nvSpPr>
          <p:cNvPr id="4" name="日期版面配置區 3">
            <a:extLst>
              <a:ext uri="{FF2B5EF4-FFF2-40B4-BE49-F238E27FC236}">
                <a16:creationId xmlns:a16="http://schemas.microsoft.com/office/drawing/2014/main" id="{D92E1E64-631A-4CB4-4C7F-5278B2528B24}"/>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a:p>
        </p:txBody>
      </p:sp>
      <p:sp>
        <p:nvSpPr>
          <p:cNvPr id="5" name="頁尾版面配置區 4">
            <a:extLst>
              <a:ext uri="{FF2B5EF4-FFF2-40B4-BE49-F238E27FC236}">
                <a16:creationId xmlns:a16="http://schemas.microsoft.com/office/drawing/2014/main" id="{9F72B136-F273-B303-3F68-096C82558D91}"/>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B8DADF54-8EE1-BE91-465C-6E328C35B6AE}"/>
              </a:ext>
            </a:extLst>
          </p:cNvPr>
          <p:cNvSpPr>
            <a:spLocks noGrp="1"/>
          </p:cNvSpPr>
          <p:nvPr>
            <p:ph type="sldNum" sz="quarter" idx="12"/>
          </p:nvPr>
        </p:nvSpPr>
        <p:spPr/>
        <p:txBody>
          <a:bodyPr/>
          <a:lstStyle/>
          <a:p>
            <a:fld id="{7408114E-E8DD-9044-BC35-9779A826010B}" type="slidenum">
              <a:rPr lang="zh-TW" altLang="en-US" smtClean="0"/>
              <a:pPr/>
              <a:t>25</a:t>
            </a:fld>
            <a:endParaRPr lang="zh-TW" altLang="en-US"/>
          </a:p>
        </p:txBody>
      </p:sp>
    </p:spTree>
    <p:extLst>
      <p:ext uri="{BB962C8B-B14F-4D97-AF65-F5344CB8AC3E}">
        <p14:creationId xmlns:p14="http://schemas.microsoft.com/office/powerpoint/2010/main" val="4121251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624DBA7A-CB6E-82CD-53FE-7645DF7911C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E64A4E1E-8217-F98F-39BC-872161CBC8CA}"/>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B21D724-C4DF-C765-B26F-22A6836EAFAA}"/>
              </a:ext>
            </a:extLst>
          </p:cNvPr>
          <p:cNvSpPr>
            <a:spLocks noGrp="1"/>
          </p:cNvSpPr>
          <p:nvPr>
            <p:ph type="sldNum" sz="quarter" idx="12"/>
          </p:nvPr>
        </p:nvSpPr>
        <p:spPr/>
        <p:txBody>
          <a:bodyPr/>
          <a:lstStyle/>
          <a:p>
            <a:fld id="{7408114E-E8DD-9044-BC35-9779A826010B}" type="slidenum">
              <a:rPr lang="zh-TW" altLang="en-US" smtClean="0"/>
              <a:pPr/>
              <a:t>26</a:t>
            </a:fld>
            <a:endParaRPr lang="zh-TW" altLang="en-US" dirty="0"/>
          </a:p>
        </p:txBody>
      </p:sp>
      <p:sp>
        <p:nvSpPr>
          <p:cNvPr id="7" name="標題 6"/>
          <p:cNvSpPr>
            <a:spLocks noGrp="1"/>
          </p:cNvSpPr>
          <p:nvPr>
            <p:ph type="title"/>
          </p:nvPr>
        </p:nvSpPr>
        <p:spPr/>
        <p:txBody>
          <a:bodyPr/>
          <a:lstStyle/>
          <a:p>
            <a:r>
              <a:rPr lang="en-US" altLang="zh-TW" dirty="0" err="1"/>
              <a:t>CreateBoardInTeam</a:t>
            </a:r>
            <a:r>
              <a:rPr lang="en-US" altLang="zh-TW" dirty="0"/>
              <a:t> Example</a:t>
            </a:r>
            <a:endParaRPr lang="zh-TW" altLang="en-US" dirty="0"/>
          </a:p>
        </p:txBody>
      </p:sp>
      <p:pic>
        <p:nvPicPr>
          <p:cNvPr id="9" name="圖片 8"/>
          <p:cNvPicPr>
            <a:picLocks noChangeAspect="1"/>
          </p:cNvPicPr>
          <p:nvPr/>
        </p:nvPicPr>
        <p:blipFill>
          <a:blip r:embed="rId2"/>
          <a:stretch>
            <a:fillRect/>
          </a:stretch>
        </p:blipFill>
        <p:spPr>
          <a:xfrm>
            <a:off x="230804" y="1556792"/>
            <a:ext cx="11730391" cy="4799559"/>
          </a:xfrm>
          <a:prstGeom prst="rect">
            <a:avLst/>
          </a:prstGeom>
        </p:spPr>
      </p:pic>
      <p:sp>
        <p:nvSpPr>
          <p:cNvPr id="10" name="文字方塊 9">
            <a:hlinkClick r:id="rId3" action="ppaction://hlinksldjump"/>
          </p:cNvPr>
          <p:cNvSpPr txBox="1"/>
          <p:nvPr/>
        </p:nvSpPr>
        <p:spPr>
          <a:xfrm>
            <a:off x="10704512" y="825838"/>
            <a:ext cx="1152128" cy="369332"/>
          </a:xfrm>
          <a:prstGeom prst="rect">
            <a:avLst/>
          </a:prstGeom>
          <a:noFill/>
        </p:spPr>
        <p:txBody>
          <a:bodyPr wrap="square" rtlCol="0">
            <a:spAutoFit/>
          </a:bodyPr>
          <a:lstStyle/>
          <a:p>
            <a:r>
              <a:rPr lang="en-US" altLang="zh-TW" b="1" dirty="0">
                <a:hlinkClick r:id="rId3" action="ppaction://hlinksldjump"/>
              </a:rPr>
              <a:t>Back</a:t>
            </a:r>
            <a:endParaRPr lang="zh-TW" altLang="en-US" b="1" dirty="0"/>
          </a:p>
        </p:txBody>
      </p:sp>
    </p:spTree>
    <p:extLst>
      <p:ext uri="{BB962C8B-B14F-4D97-AF65-F5344CB8AC3E}">
        <p14:creationId xmlns:p14="http://schemas.microsoft.com/office/powerpoint/2010/main" val="2726607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624DBA7A-CB6E-82CD-53FE-7645DF7911CA}"/>
              </a:ext>
            </a:extLst>
          </p:cNvPr>
          <p:cNvSpPr>
            <a:spLocks noGrp="1"/>
          </p:cNvSpPr>
          <p:nvPr>
            <p:ph type="dt" sz="half" idx="10"/>
          </p:nvPr>
        </p:nvSpPr>
        <p:spPr/>
        <p:txBody>
          <a:bodyPr/>
          <a:lstStyle/>
          <a:p>
            <a:pPr>
              <a:defRPr/>
            </a:pPr>
            <a:fld id="{DFE053C5-6C4D-8948-A0B7-F6BA541D276A}" type="datetime1">
              <a:rPr lang="zh-TW" altLang="en-US" smtClean="0"/>
              <a:pPr>
                <a:defRPr/>
              </a:pPr>
              <a:t>2025/2/18</a:t>
            </a:fld>
            <a:endParaRPr lang="zh-TW" altLang="en-US" dirty="0"/>
          </a:p>
        </p:txBody>
      </p:sp>
      <p:sp>
        <p:nvSpPr>
          <p:cNvPr id="5" name="頁尾版面配置區 4">
            <a:extLst>
              <a:ext uri="{FF2B5EF4-FFF2-40B4-BE49-F238E27FC236}">
                <a16:creationId xmlns:a16="http://schemas.microsoft.com/office/drawing/2014/main" id="{E64A4E1E-8217-F98F-39BC-872161CBC8CA}"/>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B21D724-C4DF-C765-B26F-22A6836EAFAA}"/>
              </a:ext>
            </a:extLst>
          </p:cNvPr>
          <p:cNvSpPr>
            <a:spLocks noGrp="1"/>
          </p:cNvSpPr>
          <p:nvPr>
            <p:ph type="sldNum" sz="quarter" idx="12"/>
          </p:nvPr>
        </p:nvSpPr>
        <p:spPr/>
        <p:txBody>
          <a:bodyPr/>
          <a:lstStyle/>
          <a:p>
            <a:fld id="{7408114E-E8DD-9044-BC35-9779A826010B}" type="slidenum">
              <a:rPr lang="zh-TW" altLang="en-US" smtClean="0"/>
              <a:pPr/>
              <a:t>27</a:t>
            </a:fld>
            <a:endParaRPr lang="zh-TW" altLang="en-US" dirty="0"/>
          </a:p>
        </p:txBody>
      </p:sp>
      <p:sp>
        <p:nvSpPr>
          <p:cNvPr id="7" name="標題 6"/>
          <p:cNvSpPr>
            <a:spLocks noGrp="1"/>
          </p:cNvSpPr>
          <p:nvPr>
            <p:ph type="title"/>
          </p:nvPr>
        </p:nvSpPr>
        <p:spPr/>
        <p:txBody>
          <a:bodyPr/>
          <a:lstStyle/>
          <a:p>
            <a:r>
              <a:rPr lang="en-US" altLang="zh-TW" dirty="0" err="1"/>
              <a:t>SetWipLimit</a:t>
            </a:r>
            <a:r>
              <a:rPr lang="en-US" altLang="zh-TW" dirty="0"/>
              <a:t> Example</a:t>
            </a:r>
            <a:endParaRPr lang="zh-TW" altLang="en-US" dirty="0"/>
          </a:p>
        </p:txBody>
      </p:sp>
      <p:pic>
        <p:nvPicPr>
          <p:cNvPr id="2" name="圖片 1"/>
          <p:cNvPicPr>
            <a:picLocks noChangeAspect="1"/>
          </p:cNvPicPr>
          <p:nvPr/>
        </p:nvPicPr>
        <p:blipFill>
          <a:blip r:embed="rId2"/>
          <a:stretch>
            <a:fillRect/>
          </a:stretch>
        </p:blipFill>
        <p:spPr>
          <a:xfrm>
            <a:off x="710834" y="1369146"/>
            <a:ext cx="10770331" cy="5035698"/>
          </a:xfrm>
          <a:prstGeom prst="rect">
            <a:avLst/>
          </a:prstGeom>
        </p:spPr>
      </p:pic>
      <p:sp>
        <p:nvSpPr>
          <p:cNvPr id="8" name="文字方塊 7">
            <a:hlinkClick r:id="rId3" action="ppaction://hlinksldjump"/>
          </p:cNvPr>
          <p:cNvSpPr txBox="1"/>
          <p:nvPr/>
        </p:nvSpPr>
        <p:spPr>
          <a:xfrm>
            <a:off x="9362516" y="846138"/>
            <a:ext cx="2566132" cy="369332"/>
          </a:xfrm>
          <a:prstGeom prst="rect">
            <a:avLst/>
          </a:prstGeom>
          <a:noFill/>
        </p:spPr>
        <p:txBody>
          <a:bodyPr wrap="square" rtlCol="0">
            <a:spAutoFit/>
          </a:bodyPr>
          <a:lstStyle/>
          <a:p>
            <a:r>
              <a:rPr lang="en-US" altLang="zh-TW" b="1" dirty="0" err="1">
                <a:hlinkClick r:id="rId4" action="ppaction://hlinksldjump"/>
              </a:rPr>
              <a:t>BackToUseCase</a:t>
            </a:r>
            <a:endParaRPr lang="zh-TW" altLang="en-US" b="1" dirty="0"/>
          </a:p>
        </p:txBody>
      </p:sp>
      <p:sp>
        <p:nvSpPr>
          <p:cNvPr id="3" name="文字方塊 2">
            <a:hlinkClick r:id="rId3" action="ppaction://hlinksldjump"/>
            <a:extLst>
              <a:ext uri="{FF2B5EF4-FFF2-40B4-BE49-F238E27FC236}">
                <a16:creationId xmlns:a16="http://schemas.microsoft.com/office/drawing/2014/main" id="{F96F36D3-81F4-BAF6-EB86-4E32461930ED}"/>
              </a:ext>
            </a:extLst>
          </p:cNvPr>
          <p:cNvSpPr txBox="1"/>
          <p:nvPr/>
        </p:nvSpPr>
        <p:spPr>
          <a:xfrm>
            <a:off x="9372364" y="483785"/>
            <a:ext cx="2664296" cy="369332"/>
          </a:xfrm>
          <a:prstGeom prst="rect">
            <a:avLst/>
          </a:prstGeom>
          <a:noFill/>
        </p:spPr>
        <p:txBody>
          <a:bodyPr wrap="square" rtlCol="0">
            <a:spAutoFit/>
          </a:bodyPr>
          <a:lstStyle/>
          <a:p>
            <a:r>
              <a:rPr lang="en-US" altLang="zh-TW" b="1" dirty="0" err="1">
                <a:hlinkClick r:id="rId5" action="ppaction://hlinksldjump"/>
              </a:rPr>
              <a:t>BackToDomainModel</a:t>
            </a:r>
            <a:endParaRPr lang="zh-TW" altLang="en-US" b="1" dirty="0"/>
          </a:p>
        </p:txBody>
      </p:sp>
    </p:spTree>
    <p:extLst>
      <p:ext uri="{BB962C8B-B14F-4D97-AF65-F5344CB8AC3E}">
        <p14:creationId xmlns:p14="http://schemas.microsoft.com/office/powerpoint/2010/main" val="3890508834"/>
      </p:ext>
    </p:extLst>
  </p:cSld>
  <p:clrMapOvr>
    <a:masterClrMapping/>
  </p:clrMapOvr>
</p:sld>
</file>

<file path=ppt/theme/theme1.xml><?xml version="1.0" encoding="utf-8"?>
<a:theme xmlns:a="http://schemas.openxmlformats.org/drawingml/2006/main" name="blue_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簡報11" id="{6922D46F-0F15-BD4E-912F-2E75D1E2E774}" vid="{92D0F2A3-209E-254B-B530-A3E9B9D9A732}"/>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blue_w</Template>
  <TotalTime>4384</TotalTime>
  <Words>3794</Words>
  <Application>Microsoft Office PowerPoint</Application>
  <PresentationFormat>寬螢幕</PresentationFormat>
  <Paragraphs>309</Paragraphs>
  <Slides>27</Slides>
  <Notes>23</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27</vt:i4>
      </vt:variant>
    </vt:vector>
  </HeadingPairs>
  <TitlesOfParts>
    <vt:vector size="36" baseType="lpstr">
      <vt:lpstr>Helvetica Neue</vt:lpstr>
      <vt:lpstr>source-serif-pro</vt:lpstr>
      <vt:lpstr>微軟正黑體</vt:lpstr>
      <vt:lpstr>Arial</vt:lpstr>
      <vt:lpstr>Calibri</vt:lpstr>
      <vt:lpstr>Lato</vt:lpstr>
      <vt:lpstr>PT Sans</vt:lpstr>
      <vt:lpstr>Times New Roman</vt:lpstr>
      <vt:lpstr>blue_w</vt:lpstr>
      <vt:lpstr>Clean Architecture</vt:lpstr>
      <vt:lpstr>Outline</vt:lpstr>
      <vt:lpstr>What is Software Architecture?(1)</vt:lpstr>
      <vt:lpstr>What is Software Architecture?(2)</vt:lpstr>
      <vt:lpstr>Layered Rule(1)</vt:lpstr>
      <vt:lpstr>Layered Rule(1)</vt:lpstr>
      <vt:lpstr>Layered Rule(2)</vt:lpstr>
      <vt:lpstr>Layered Rule(3)</vt:lpstr>
      <vt:lpstr>Layered Rule(4)</vt:lpstr>
      <vt:lpstr>Layered Rule(5)</vt:lpstr>
      <vt:lpstr>Layered Rule(6)</vt:lpstr>
      <vt:lpstr>Layered Rule(7)</vt:lpstr>
      <vt:lpstr>Layered Rule(8)</vt:lpstr>
      <vt:lpstr>Layered Principle(9)</vt:lpstr>
      <vt:lpstr>Layered Principle(10)</vt:lpstr>
      <vt:lpstr>Dependency Rule(1)</vt:lpstr>
      <vt:lpstr>Dependency Rule(2)</vt:lpstr>
      <vt:lpstr>Cross-Boundary Rule(1)</vt:lpstr>
      <vt:lpstr>Cross-Boundary Principle(2)</vt:lpstr>
      <vt:lpstr>Cross-Boundary Principle(3)</vt:lpstr>
      <vt:lpstr>Cross-Boundary Rule(4)</vt:lpstr>
      <vt:lpstr>Cross-Boundary Rule(5)</vt:lpstr>
      <vt:lpstr>Pros and Cons(1)</vt:lpstr>
      <vt:lpstr>Reference</vt:lpstr>
      <vt:lpstr>Thanks for listening</vt:lpstr>
      <vt:lpstr>CreateBoardInTeam Example</vt:lpstr>
      <vt:lpstr>SetWipLimit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Sourcing</dc:title>
  <dc:creator>許雅竹</dc:creator>
  <cp:lastModifiedBy>Frank Li</cp:lastModifiedBy>
  <cp:revision>181</cp:revision>
  <dcterms:created xsi:type="dcterms:W3CDTF">2024-11-04T15:08:33Z</dcterms:created>
  <dcterms:modified xsi:type="dcterms:W3CDTF">2025-02-17T16:36:05Z</dcterms:modified>
</cp:coreProperties>
</file>