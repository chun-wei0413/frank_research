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28" r:id="rId1"/>
  </p:sldMasterIdLst>
  <p:notesMasterIdLst>
    <p:notesMasterId r:id="rId18"/>
  </p:notesMasterIdLst>
  <p:handoutMasterIdLst>
    <p:handoutMasterId r:id="rId19"/>
  </p:handoutMasterIdLst>
  <p:sldIdLst>
    <p:sldId id="256" r:id="rId2"/>
    <p:sldId id="257" r:id="rId3"/>
    <p:sldId id="285" r:id="rId4"/>
    <p:sldId id="288" r:id="rId5"/>
    <p:sldId id="289" r:id="rId6"/>
    <p:sldId id="300" r:id="rId7"/>
    <p:sldId id="301" r:id="rId8"/>
    <p:sldId id="295" r:id="rId9"/>
    <p:sldId id="299" r:id="rId10"/>
    <p:sldId id="298" r:id="rId11"/>
    <p:sldId id="297" r:id="rId12"/>
    <p:sldId id="296" r:id="rId13"/>
    <p:sldId id="292" r:id="rId14"/>
    <p:sldId id="294" r:id="rId15"/>
    <p:sldId id="286" r:id="rId16"/>
    <p:sldId id="283" r:id="rId17"/>
  </p:sldIdLst>
  <p:sldSz cx="12192000" cy="6858000"/>
  <p:notesSz cx="7099300" cy="10234613"/>
  <p:defaultTextStyle>
    <a:defPPr>
      <a:defRPr lang="zh-TW"/>
    </a:defPPr>
    <a:lvl1pPr algn="l" rtl="0" fontAlgn="base">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1pPr>
    <a:lvl2pPr marL="457200" algn="l" rtl="0" fontAlgn="base">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2pPr>
    <a:lvl3pPr marL="914400" algn="l" rtl="0" fontAlgn="base">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3pPr>
    <a:lvl4pPr marL="1371600" algn="l" rtl="0" fontAlgn="base">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4pPr>
    <a:lvl5pPr marL="1828800" algn="l" rtl="0" fontAlgn="base">
      <a:spcBef>
        <a:spcPct val="0"/>
      </a:spcBef>
      <a:spcAft>
        <a:spcPct val="0"/>
      </a:spcAft>
      <a:defRPr kumimoji="1" kern="1200">
        <a:solidFill>
          <a:schemeClr val="tx1"/>
        </a:solidFill>
        <a:latin typeface="Arial" panose="020B0604020202020204" pitchFamily="34" charset="0"/>
        <a:ea typeface="新細明體" panose="02020500000000000000" pitchFamily="18" charset="-120"/>
        <a:cs typeface="+mn-cs"/>
      </a:defRPr>
    </a:lvl5pPr>
    <a:lvl6pPr marL="22860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6pPr>
    <a:lvl7pPr marL="27432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7pPr>
    <a:lvl8pPr marL="32004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8pPr>
    <a:lvl9pPr marL="3657600" algn="l" defTabSz="914400" rtl="0" eaLnBrk="1" latinLnBrk="0" hangingPunct="1">
      <a:defRPr kumimoji="1" kern="1200">
        <a:solidFill>
          <a:schemeClr val="tx1"/>
        </a:solidFill>
        <a:latin typeface="Arial" panose="020B0604020202020204" pitchFamily="34" charset="0"/>
        <a:ea typeface="新細明體" panose="02020500000000000000" pitchFamily="18" charset="-120"/>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EB2BCC7-BA44-2B2A-85DF-CDA8C59980A1}" name="喻翔 胡" initials="喻胡" userId="bce98f34b5dff7b8"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50" autoAdjust="0"/>
    <p:restoredTop sz="65747" autoAdjust="0"/>
  </p:normalViewPr>
  <p:slideViewPr>
    <p:cSldViewPr>
      <p:cViewPr varScale="1">
        <p:scale>
          <a:sx n="108" d="100"/>
          <a:sy n="108" d="100"/>
        </p:scale>
        <p:origin x="2676" y="114"/>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773510F1-8AE8-2943-BE76-1CC3E099172E}"/>
              </a:ext>
            </a:extLst>
          </p:cNvPr>
          <p:cNvSpPr>
            <a:spLocks noGrp="1"/>
          </p:cNvSpPr>
          <p:nvPr>
            <p:ph type="hdr" sz="quarter"/>
          </p:nvPr>
        </p:nvSpPr>
        <p:spPr>
          <a:xfrm>
            <a:off x="0" y="0"/>
            <a:ext cx="3076575" cy="511175"/>
          </a:xfrm>
          <a:prstGeom prst="rect">
            <a:avLst/>
          </a:prstGeom>
        </p:spPr>
        <p:txBody>
          <a:bodyPr vert="horz" lIns="99048" tIns="49524" rIns="99048" bIns="49524" rtlCol="0"/>
          <a:lstStyle>
            <a:lvl1pPr algn="l" fontAlgn="auto">
              <a:spcBef>
                <a:spcPts val="0"/>
              </a:spcBef>
              <a:spcAft>
                <a:spcPts val="0"/>
              </a:spcAft>
              <a:defRPr kumimoji="0" sz="1300">
                <a:latin typeface="+mn-lt"/>
                <a:ea typeface="+mn-ea"/>
              </a:defRPr>
            </a:lvl1pPr>
          </a:lstStyle>
          <a:p>
            <a:pPr>
              <a:defRPr/>
            </a:pPr>
            <a:endParaRPr lang="zh-TW" altLang="en-US"/>
          </a:p>
        </p:txBody>
      </p:sp>
      <p:sp>
        <p:nvSpPr>
          <p:cNvPr id="4" name="頁尾版面配置區 3">
            <a:extLst>
              <a:ext uri="{FF2B5EF4-FFF2-40B4-BE49-F238E27FC236}">
                <a16:creationId xmlns:a16="http://schemas.microsoft.com/office/drawing/2014/main" id="{B04CFB7D-18F5-E84C-A05B-9A0B0FE5B1C5}"/>
              </a:ext>
            </a:extLst>
          </p:cNvPr>
          <p:cNvSpPr>
            <a:spLocks noGrp="1"/>
          </p:cNvSpPr>
          <p:nvPr>
            <p:ph type="ftr" sz="quarter" idx="2"/>
          </p:nvPr>
        </p:nvSpPr>
        <p:spPr>
          <a:xfrm>
            <a:off x="0" y="9721850"/>
            <a:ext cx="3076575" cy="511175"/>
          </a:xfrm>
          <a:prstGeom prst="rect">
            <a:avLst/>
          </a:prstGeom>
        </p:spPr>
        <p:txBody>
          <a:bodyPr vert="horz" lIns="99048" tIns="49524" rIns="99048" bIns="49524" rtlCol="0" anchor="b"/>
          <a:lstStyle>
            <a:lvl1pPr algn="l" fontAlgn="auto">
              <a:spcBef>
                <a:spcPts val="0"/>
              </a:spcBef>
              <a:spcAft>
                <a:spcPts val="0"/>
              </a:spcAft>
              <a:defRPr kumimoji="0" sz="1300">
                <a:latin typeface="+mn-lt"/>
                <a:ea typeface="+mn-ea"/>
              </a:defRPr>
            </a:lvl1pPr>
          </a:lstStyle>
          <a:p>
            <a:pPr>
              <a:defRPr/>
            </a:pPr>
            <a:endParaRPr lang="zh-TW"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81E759A3-0E5A-3743-85D7-197A568D4A79}"/>
              </a:ext>
            </a:extLst>
          </p:cNvPr>
          <p:cNvSpPr>
            <a:spLocks noGrp="1"/>
          </p:cNvSpPr>
          <p:nvPr>
            <p:ph type="hdr" sz="quarter"/>
          </p:nvPr>
        </p:nvSpPr>
        <p:spPr>
          <a:xfrm>
            <a:off x="0" y="0"/>
            <a:ext cx="3076575" cy="511175"/>
          </a:xfrm>
          <a:prstGeom prst="rect">
            <a:avLst/>
          </a:prstGeom>
        </p:spPr>
        <p:txBody>
          <a:bodyPr vert="horz" lIns="99048" tIns="49524" rIns="99048" bIns="49524" rtlCol="0"/>
          <a:lstStyle>
            <a:lvl1pPr algn="l">
              <a:defRPr sz="1300">
                <a:latin typeface="Arial" charset="0"/>
                <a:ea typeface="新細明體" charset="-120"/>
              </a:defRPr>
            </a:lvl1pPr>
          </a:lstStyle>
          <a:p>
            <a:pPr>
              <a:defRPr/>
            </a:pPr>
            <a:endParaRPr lang="zh-TW" altLang="en-US"/>
          </a:p>
        </p:txBody>
      </p:sp>
      <p:sp>
        <p:nvSpPr>
          <p:cNvPr id="3" name="日期版面配置區 2">
            <a:extLst>
              <a:ext uri="{FF2B5EF4-FFF2-40B4-BE49-F238E27FC236}">
                <a16:creationId xmlns:a16="http://schemas.microsoft.com/office/drawing/2014/main" id="{7BF9B35B-3E7C-C046-B431-B878F2FB5E40}"/>
              </a:ext>
            </a:extLst>
          </p:cNvPr>
          <p:cNvSpPr>
            <a:spLocks noGrp="1"/>
          </p:cNvSpPr>
          <p:nvPr>
            <p:ph type="dt" idx="1"/>
          </p:nvPr>
        </p:nvSpPr>
        <p:spPr>
          <a:xfrm>
            <a:off x="4021138" y="0"/>
            <a:ext cx="3076575" cy="511175"/>
          </a:xfrm>
          <a:prstGeom prst="rect">
            <a:avLst/>
          </a:prstGeom>
        </p:spPr>
        <p:txBody>
          <a:bodyPr vert="horz" lIns="99048" tIns="49524" rIns="99048" bIns="49524" rtlCol="0"/>
          <a:lstStyle>
            <a:lvl1pPr algn="r">
              <a:defRPr sz="1300">
                <a:latin typeface="Arial" charset="0"/>
                <a:ea typeface="新細明體" charset="-120"/>
              </a:defRPr>
            </a:lvl1pPr>
          </a:lstStyle>
          <a:p>
            <a:pPr>
              <a:defRPr/>
            </a:pPr>
            <a:fld id="{813B3F78-9AD1-7E42-BBA8-A48702909C03}" type="datetimeFigureOut">
              <a:rPr lang="zh-TW" altLang="en-US"/>
              <a:pPr>
                <a:defRPr/>
              </a:pPr>
              <a:t>2025/11/16</a:t>
            </a:fld>
            <a:endParaRPr lang="zh-TW" altLang="en-US"/>
          </a:p>
        </p:txBody>
      </p:sp>
      <p:sp>
        <p:nvSpPr>
          <p:cNvPr id="4" name="投影片圖像版面配置區 3">
            <a:extLst>
              <a:ext uri="{FF2B5EF4-FFF2-40B4-BE49-F238E27FC236}">
                <a16:creationId xmlns:a16="http://schemas.microsoft.com/office/drawing/2014/main" id="{53632CAF-4F0B-834F-A6D4-B7662DC514E1}"/>
              </a:ext>
            </a:extLst>
          </p:cNvPr>
          <p:cNvSpPr>
            <a:spLocks noGrp="1" noRot="1" noChangeAspect="1"/>
          </p:cNvSpPr>
          <p:nvPr>
            <p:ph type="sldImg" idx="2"/>
          </p:nvPr>
        </p:nvSpPr>
        <p:spPr>
          <a:xfrm>
            <a:off x="139700" y="768350"/>
            <a:ext cx="6819900" cy="3836988"/>
          </a:xfrm>
          <a:prstGeom prst="rect">
            <a:avLst/>
          </a:prstGeom>
          <a:noFill/>
          <a:ln w="12700">
            <a:solidFill>
              <a:prstClr val="black"/>
            </a:solidFill>
          </a:ln>
        </p:spPr>
        <p:txBody>
          <a:bodyPr vert="horz" lIns="99048" tIns="49524" rIns="99048" bIns="49524" rtlCol="0" anchor="ctr"/>
          <a:lstStyle/>
          <a:p>
            <a:pPr lvl="0"/>
            <a:endParaRPr lang="zh-TW" altLang="en-US" noProof="0"/>
          </a:p>
        </p:txBody>
      </p:sp>
      <p:sp>
        <p:nvSpPr>
          <p:cNvPr id="5" name="備忘稿版面配置區 4">
            <a:extLst>
              <a:ext uri="{FF2B5EF4-FFF2-40B4-BE49-F238E27FC236}">
                <a16:creationId xmlns:a16="http://schemas.microsoft.com/office/drawing/2014/main" id="{0C5B9BBA-B26F-AC4E-AEB9-999CA2B8A956}"/>
              </a:ext>
            </a:extLst>
          </p:cNvPr>
          <p:cNvSpPr>
            <a:spLocks noGrp="1"/>
          </p:cNvSpPr>
          <p:nvPr>
            <p:ph type="body" sz="quarter" idx="3"/>
          </p:nvPr>
        </p:nvSpPr>
        <p:spPr>
          <a:xfrm>
            <a:off x="709613" y="4860925"/>
            <a:ext cx="5680075" cy="4605338"/>
          </a:xfrm>
          <a:prstGeom prst="rect">
            <a:avLst/>
          </a:prstGeom>
        </p:spPr>
        <p:txBody>
          <a:bodyPr vert="horz" lIns="99048" tIns="49524" rIns="99048" bIns="49524" rtlCol="0">
            <a:normAutofit/>
          </a:bodyPr>
          <a:lstStyle/>
          <a:p>
            <a:pPr lvl="0"/>
            <a:r>
              <a:rPr lang="zh-TW" altLang="en-US" noProof="0"/>
              <a:t>按一下以編輯母片文字樣式</a:t>
            </a:r>
          </a:p>
          <a:p>
            <a:pPr lvl="1"/>
            <a:r>
              <a:rPr lang="zh-TW" altLang="en-US" noProof="0"/>
              <a:t>第二層</a:t>
            </a:r>
          </a:p>
          <a:p>
            <a:pPr lvl="2"/>
            <a:r>
              <a:rPr lang="zh-TW" altLang="en-US" noProof="0"/>
              <a:t>第三層</a:t>
            </a:r>
          </a:p>
          <a:p>
            <a:pPr lvl="3"/>
            <a:r>
              <a:rPr lang="zh-TW" altLang="en-US" noProof="0"/>
              <a:t>第四層</a:t>
            </a:r>
          </a:p>
          <a:p>
            <a:pPr lvl="4"/>
            <a:r>
              <a:rPr lang="zh-TW" altLang="en-US" noProof="0"/>
              <a:t>第五層</a:t>
            </a:r>
          </a:p>
        </p:txBody>
      </p:sp>
      <p:sp>
        <p:nvSpPr>
          <p:cNvPr id="6" name="頁尾版面配置區 5">
            <a:extLst>
              <a:ext uri="{FF2B5EF4-FFF2-40B4-BE49-F238E27FC236}">
                <a16:creationId xmlns:a16="http://schemas.microsoft.com/office/drawing/2014/main" id="{EFAB9033-8F48-4C42-B89C-AAB2F45C086A}"/>
              </a:ext>
            </a:extLst>
          </p:cNvPr>
          <p:cNvSpPr>
            <a:spLocks noGrp="1"/>
          </p:cNvSpPr>
          <p:nvPr>
            <p:ph type="ftr" sz="quarter" idx="4"/>
          </p:nvPr>
        </p:nvSpPr>
        <p:spPr>
          <a:xfrm>
            <a:off x="0" y="9721850"/>
            <a:ext cx="3076575" cy="511175"/>
          </a:xfrm>
          <a:prstGeom prst="rect">
            <a:avLst/>
          </a:prstGeom>
        </p:spPr>
        <p:txBody>
          <a:bodyPr vert="horz" lIns="99048" tIns="49524" rIns="99048" bIns="49524" rtlCol="0" anchor="b"/>
          <a:lstStyle>
            <a:lvl1pPr algn="l">
              <a:defRPr sz="1300">
                <a:latin typeface="Arial" charset="0"/>
                <a:ea typeface="新細明體" charset="-120"/>
              </a:defRPr>
            </a:lvl1pPr>
          </a:lstStyle>
          <a:p>
            <a:pPr>
              <a:defRPr/>
            </a:pPr>
            <a:endParaRPr lang="zh-TW" altLang="en-US"/>
          </a:p>
        </p:txBody>
      </p:sp>
      <p:sp>
        <p:nvSpPr>
          <p:cNvPr id="7" name="投影片編號版面配置區 6">
            <a:extLst>
              <a:ext uri="{FF2B5EF4-FFF2-40B4-BE49-F238E27FC236}">
                <a16:creationId xmlns:a16="http://schemas.microsoft.com/office/drawing/2014/main" id="{D64BCDAF-0B06-0B43-856C-A71F5361F0FD}"/>
              </a:ext>
            </a:extLst>
          </p:cNvPr>
          <p:cNvSpPr>
            <a:spLocks noGrp="1"/>
          </p:cNvSpPr>
          <p:nvPr>
            <p:ph type="sldNum" sz="quarter" idx="5"/>
          </p:nvPr>
        </p:nvSpPr>
        <p:spPr>
          <a:xfrm>
            <a:off x="4021138" y="9721850"/>
            <a:ext cx="3076575" cy="511175"/>
          </a:xfrm>
          <a:prstGeom prst="rect">
            <a:avLst/>
          </a:prstGeom>
        </p:spPr>
        <p:txBody>
          <a:bodyPr vert="horz" wrap="square" lIns="99048" tIns="49524" rIns="99048" bIns="49524" numCol="1" anchor="b" anchorCtr="0" compatLnSpc="1">
            <a:prstTxWarp prst="textNoShape">
              <a:avLst/>
            </a:prstTxWarp>
          </a:bodyPr>
          <a:lstStyle>
            <a:lvl1pPr algn="r">
              <a:defRPr sz="1300"/>
            </a:lvl1pPr>
          </a:lstStyle>
          <a:p>
            <a:fld id="{73967E60-74AC-7544-A9E1-2DF949A6356E}" type="slidenum">
              <a:rPr lang="zh-TW" altLang="en-US"/>
              <a:pPr/>
              <a:t>‹#›</a:t>
            </a:fld>
            <a:endParaRPr lang="zh-TW" altLang="en-US"/>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3967E60-74AC-7544-A9E1-2DF949A6356E}" type="slidenum">
              <a:rPr lang="zh-TW" altLang="en-US" smtClean="0"/>
              <a:pPr/>
              <a:t>1</a:t>
            </a:fld>
            <a:endParaRPr lang="zh-TW" altLang="en-US"/>
          </a:p>
        </p:txBody>
      </p:sp>
    </p:spTree>
    <p:extLst>
      <p:ext uri="{BB962C8B-B14F-4D97-AF65-F5344CB8AC3E}">
        <p14:creationId xmlns:p14="http://schemas.microsoft.com/office/powerpoint/2010/main" val="10324372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3967E60-74AC-7544-A9E1-2DF949A6356E}" type="slidenum">
              <a:rPr lang="zh-TW" altLang="en-US" smtClean="0"/>
              <a:pPr/>
              <a:t>2</a:t>
            </a:fld>
            <a:endParaRPr lang="zh-TW" altLang="en-US"/>
          </a:p>
        </p:txBody>
      </p:sp>
    </p:spTree>
    <p:extLst>
      <p:ext uri="{BB962C8B-B14F-4D97-AF65-F5344CB8AC3E}">
        <p14:creationId xmlns:p14="http://schemas.microsoft.com/office/powerpoint/2010/main" val="38222550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fontScale="92500" lnSpcReduction="20000"/>
          </a:bodyPr>
          <a:lstStyle/>
          <a:p>
            <a:r>
              <a:rPr lang="zh-TW" altLang="en-US" b="1" dirty="0"/>
              <a:t>統一介面有甚麼好處</a:t>
            </a:r>
            <a:r>
              <a:rPr lang="en-US" altLang="zh-TW" b="1" dirty="0"/>
              <a:t>?</a:t>
            </a:r>
          </a:p>
          <a:p>
            <a:r>
              <a:rPr lang="en-US" altLang="zh-TW" b="1" dirty="0"/>
              <a:t>Before MCP</a:t>
            </a:r>
            <a:r>
              <a:rPr lang="zh-TW" altLang="en-US" b="1" dirty="0"/>
              <a:t>（左圖）</a:t>
            </a:r>
          </a:p>
          <a:p>
            <a:r>
              <a:rPr lang="zh-TW" altLang="en-US" dirty="0"/>
              <a:t>在 </a:t>
            </a:r>
            <a:r>
              <a:rPr lang="en-US" altLang="zh-TW" dirty="0"/>
              <a:t>MCP </a:t>
            </a:r>
            <a:r>
              <a:rPr lang="zh-TW" altLang="en-US" dirty="0"/>
              <a:t>出現之前，每個 </a:t>
            </a:r>
            <a:r>
              <a:rPr lang="en-US" altLang="zh-TW" dirty="0"/>
              <a:t>LLM </a:t>
            </a:r>
            <a:r>
              <a:rPr lang="zh-TW" altLang="en-US" dirty="0"/>
              <a:t>應用都需要為每個外部服務開發</a:t>
            </a:r>
            <a:r>
              <a:rPr lang="zh-TW" altLang="en-US" b="1" dirty="0"/>
              <a:t>專屬的 </a:t>
            </a:r>
            <a:r>
              <a:rPr lang="en-US" altLang="zh-TW" b="1" dirty="0"/>
              <a:t>API </a:t>
            </a:r>
            <a:r>
              <a:rPr lang="zh-TW" altLang="en-US" b="1" dirty="0"/>
              <a:t>整合</a:t>
            </a:r>
            <a:r>
              <a:rPr lang="zh-TW" altLang="en-US" dirty="0"/>
              <a:t>。</a:t>
            </a:r>
          </a:p>
          <a:p>
            <a:r>
              <a:rPr lang="zh-TW" altLang="en-US" dirty="0"/>
              <a:t>舉例來說，如果你的 </a:t>
            </a:r>
            <a:r>
              <a:rPr lang="en-US" altLang="zh-TW" dirty="0"/>
              <a:t>LLM </a:t>
            </a:r>
            <a:r>
              <a:rPr lang="zh-TW" altLang="en-US" dirty="0"/>
              <a:t>需要連接 </a:t>
            </a:r>
            <a:r>
              <a:rPr lang="en-US" altLang="zh-TW" dirty="0"/>
              <a:t>Slack</a:t>
            </a:r>
            <a:r>
              <a:rPr lang="zh-TW" altLang="en-US" dirty="0"/>
              <a:t>、</a:t>
            </a:r>
            <a:r>
              <a:rPr lang="en-US" altLang="zh-TW" dirty="0"/>
              <a:t>Google Drive </a:t>
            </a:r>
            <a:r>
              <a:rPr lang="zh-TW" altLang="en-US" dirty="0"/>
              <a:t>和 </a:t>
            </a:r>
            <a:r>
              <a:rPr lang="en-US" altLang="zh-TW" dirty="0"/>
              <a:t>GitHub</a:t>
            </a:r>
            <a:r>
              <a:rPr lang="zh-TW" altLang="en-US" dirty="0"/>
              <a:t>，就必須分別實作三套不同的連接代碼。每個連接都有自己的認證方式、資料格式和呼叫方法。</a:t>
            </a:r>
          </a:p>
          <a:p>
            <a:r>
              <a:rPr lang="zh-TW" altLang="en-US" dirty="0"/>
              <a:t>這造成了**「</a:t>
            </a:r>
            <a:r>
              <a:rPr lang="en-US" altLang="zh-TW" dirty="0"/>
              <a:t>M × N </a:t>
            </a:r>
            <a:r>
              <a:rPr lang="zh-TW" altLang="en-US" dirty="0"/>
              <a:t>問題」**：</a:t>
            </a:r>
            <a:r>
              <a:rPr lang="en-US" altLang="zh-TW" dirty="0"/>
              <a:t>M </a:t>
            </a:r>
            <a:r>
              <a:rPr lang="zh-TW" altLang="en-US" dirty="0"/>
              <a:t>個 </a:t>
            </a:r>
            <a:r>
              <a:rPr lang="en-US" altLang="zh-TW" dirty="0"/>
              <a:t>AI </a:t>
            </a:r>
            <a:r>
              <a:rPr lang="zh-TW" altLang="en-US" dirty="0"/>
              <a:t>應用乘以 </a:t>
            </a:r>
            <a:r>
              <a:rPr lang="en-US" altLang="zh-TW" dirty="0"/>
              <a:t>N </a:t>
            </a:r>
            <a:r>
              <a:rPr lang="zh-TW" altLang="en-US" dirty="0"/>
              <a:t>個服務，等於需要開發和維護 </a:t>
            </a:r>
            <a:r>
              <a:rPr lang="en-US" altLang="zh-TW" dirty="0"/>
              <a:t>M × N </a:t>
            </a:r>
            <a:r>
              <a:rPr lang="zh-TW" altLang="en-US" dirty="0"/>
              <a:t>個整合。工作量龐大且重複。</a:t>
            </a:r>
          </a:p>
          <a:p>
            <a:br>
              <a:rPr lang="zh-TW" altLang="en-US" dirty="0"/>
            </a:br>
            <a:endParaRPr lang="zh-TW" altLang="en-US" dirty="0"/>
          </a:p>
          <a:p>
            <a:r>
              <a:rPr lang="en-US" altLang="zh-TW" b="1" dirty="0"/>
              <a:t>After MCP</a:t>
            </a:r>
            <a:r>
              <a:rPr lang="zh-TW" altLang="en-US" b="1" dirty="0"/>
              <a:t>（右圖）</a:t>
            </a:r>
          </a:p>
          <a:p>
            <a:r>
              <a:rPr lang="zh-TW" altLang="en-US" dirty="0"/>
              <a:t>有了 </a:t>
            </a:r>
            <a:r>
              <a:rPr lang="en-US" altLang="zh-TW" dirty="0"/>
              <a:t>MCP </a:t>
            </a:r>
            <a:r>
              <a:rPr lang="zh-TW" altLang="en-US" dirty="0"/>
              <a:t>之後，我們在 </a:t>
            </a:r>
            <a:r>
              <a:rPr lang="en-US" altLang="zh-TW" dirty="0"/>
              <a:t>LLM </a:t>
            </a:r>
            <a:r>
              <a:rPr lang="zh-TW" altLang="en-US" dirty="0"/>
              <a:t>和外部服務之間加入了一個</a:t>
            </a:r>
            <a:r>
              <a:rPr lang="zh-TW" altLang="en-US" b="1" dirty="0"/>
              <a:t>標準化的中間層</a:t>
            </a:r>
            <a:r>
              <a:rPr lang="zh-TW" altLang="en-US" dirty="0"/>
              <a:t>。</a:t>
            </a:r>
          </a:p>
          <a:p>
            <a:r>
              <a:rPr lang="en-US" altLang="zh-TW" dirty="0"/>
              <a:t>LLM </a:t>
            </a:r>
            <a:r>
              <a:rPr lang="zh-TW" altLang="en-US" dirty="0"/>
              <a:t>現在只需要透過</a:t>
            </a:r>
            <a:r>
              <a:rPr lang="zh-TW" altLang="en-US" b="1" dirty="0"/>
              <a:t>統一的 </a:t>
            </a:r>
            <a:r>
              <a:rPr lang="en-US" altLang="zh-TW" b="1" dirty="0"/>
              <a:t>MCP API</a:t>
            </a:r>
            <a:r>
              <a:rPr lang="zh-TW" altLang="en-US" dirty="0"/>
              <a:t> 與所有服務溝通。無論是 </a:t>
            </a:r>
            <a:r>
              <a:rPr lang="en-US" altLang="zh-TW" dirty="0"/>
              <a:t>Slack</a:t>
            </a:r>
            <a:r>
              <a:rPr lang="zh-TW" altLang="en-US" dirty="0"/>
              <a:t>、</a:t>
            </a:r>
            <a:r>
              <a:rPr lang="en-US" altLang="zh-TW" dirty="0"/>
              <a:t>Google Drive </a:t>
            </a:r>
            <a:r>
              <a:rPr lang="zh-TW" altLang="en-US" dirty="0"/>
              <a:t>還是 </a:t>
            </a:r>
            <a:r>
              <a:rPr lang="en-US" altLang="zh-TW" dirty="0"/>
              <a:t>GitHub</a:t>
            </a:r>
            <a:r>
              <a:rPr lang="zh-TW" altLang="en-US" dirty="0"/>
              <a:t>，呼叫方式都是一樣的。</a:t>
            </a:r>
          </a:p>
          <a:p>
            <a:r>
              <a:rPr lang="zh-TW" altLang="en-US" dirty="0"/>
              <a:t>雖然底層仍需要各自的 </a:t>
            </a:r>
            <a:r>
              <a:rPr lang="en-US" altLang="zh-TW" dirty="0"/>
              <a:t>Unique API </a:t>
            </a:r>
            <a:r>
              <a:rPr lang="zh-TW" altLang="en-US" dirty="0"/>
              <a:t>來連接實際服務，但這些 </a:t>
            </a:r>
            <a:r>
              <a:rPr lang="en-US" altLang="zh-TW" dirty="0"/>
              <a:t>MCP Server </a:t>
            </a:r>
            <a:r>
              <a:rPr lang="zh-TW" altLang="en-US" b="1" dirty="0"/>
              <a:t>只需要開發一次</a:t>
            </a:r>
            <a:r>
              <a:rPr lang="zh-TW" altLang="en-US" dirty="0"/>
              <a:t>，就能被所有 </a:t>
            </a:r>
            <a:r>
              <a:rPr lang="en-US" altLang="zh-TW" dirty="0"/>
              <a:t>AI </a:t>
            </a:r>
            <a:r>
              <a:rPr lang="zh-TW" altLang="en-US" dirty="0"/>
              <a:t>應用重複使用。</a:t>
            </a:r>
          </a:p>
          <a:p>
            <a:r>
              <a:rPr lang="zh-TW" altLang="en-US" dirty="0"/>
              <a:t>這將問題從 </a:t>
            </a:r>
            <a:r>
              <a:rPr lang="en-US" altLang="zh-TW" b="1" dirty="0"/>
              <a:t>M × N </a:t>
            </a:r>
            <a:r>
              <a:rPr lang="zh-TW" altLang="en-US" b="1" dirty="0"/>
              <a:t>簡化為 </a:t>
            </a:r>
            <a:r>
              <a:rPr lang="en-US" altLang="zh-TW" b="1" dirty="0"/>
              <a:t>M + N</a:t>
            </a:r>
            <a:r>
              <a:rPr lang="zh-TW" altLang="en-US" dirty="0"/>
              <a:t>，大幅減少開發和維護成本。</a:t>
            </a:r>
            <a:endParaRPr lang="en-US" altLang="zh-TW" dirty="0"/>
          </a:p>
          <a:p>
            <a:endParaRPr lang="en-US" altLang="zh-TW" dirty="0"/>
          </a:p>
          <a:p>
            <a:r>
              <a:rPr lang="en-US" altLang="zh-TW" sz="1200" b="0" i="0" kern="1200" dirty="0">
                <a:solidFill>
                  <a:schemeClr val="tx1"/>
                </a:solidFill>
                <a:effectLst/>
                <a:latin typeface="+mn-lt"/>
                <a:ea typeface="+mn-ea"/>
                <a:cs typeface="+mn-cs"/>
              </a:rPr>
              <a:t>MCP aims to simplify this by providing a common API and transforming this into an "M+N problem". Tool creators build N MCP servers (one for each system), while application developers build M MCP clients (one for each AI application). MCP defines a client-server architecture where:</a:t>
            </a:r>
          </a:p>
          <a:p>
            <a:r>
              <a:rPr lang="en-US" altLang="zh-TW" sz="1200" b="1" i="0" kern="1200" dirty="0">
                <a:solidFill>
                  <a:schemeClr val="tx1"/>
                </a:solidFill>
                <a:effectLst/>
                <a:latin typeface="+mn-lt"/>
                <a:ea typeface="+mn-ea"/>
                <a:cs typeface="+mn-cs"/>
              </a:rPr>
              <a:t>Hosts:</a:t>
            </a:r>
            <a:r>
              <a:rPr lang="en-US" altLang="zh-TW" sz="1200" b="0" i="0" kern="1200" dirty="0">
                <a:solidFill>
                  <a:schemeClr val="tx1"/>
                </a:solidFill>
                <a:effectLst/>
                <a:latin typeface="+mn-lt"/>
                <a:ea typeface="+mn-ea"/>
                <a:cs typeface="+mn-cs"/>
              </a:rPr>
              <a:t> Applications the user interacts with (e.g., Claude Desktop, an IDE like Cursor, a custom agent).</a:t>
            </a:r>
          </a:p>
          <a:p>
            <a:r>
              <a:rPr lang="en-US" altLang="zh-TW" sz="1200" b="1" i="0" kern="1200" dirty="0">
                <a:solidFill>
                  <a:schemeClr val="tx1"/>
                </a:solidFill>
                <a:effectLst/>
                <a:latin typeface="+mn-lt"/>
                <a:ea typeface="+mn-ea"/>
                <a:cs typeface="+mn-cs"/>
              </a:rPr>
              <a:t>Clients:</a:t>
            </a:r>
            <a:r>
              <a:rPr lang="en-US" altLang="zh-TW" sz="1200" b="0" i="0" kern="1200" dirty="0">
                <a:solidFill>
                  <a:schemeClr val="tx1"/>
                </a:solidFill>
                <a:effectLst/>
                <a:latin typeface="+mn-lt"/>
                <a:ea typeface="+mn-ea"/>
                <a:cs typeface="+mn-cs"/>
              </a:rPr>
              <a:t> Live within the Host application and manage the connection to one specific MCP server. Maintain a 1:1 to connection.</a:t>
            </a:r>
          </a:p>
          <a:p>
            <a:r>
              <a:rPr lang="en-US" altLang="zh-TW" sz="1200" b="1" i="0" kern="1200" dirty="0">
                <a:solidFill>
                  <a:schemeClr val="tx1"/>
                </a:solidFill>
                <a:effectLst/>
                <a:latin typeface="+mn-lt"/>
                <a:ea typeface="+mn-ea"/>
                <a:cs typeface="+mn-cs"/>
              </a:rPr>
              <a:t>Servers:</a:t>
            </a:r>
            <a:r>
              <a:rPr lang="en-US" altLang="zh-TW" sz="1200" b="0" i="0" kern="1200" dirty="0">
                <a:solidFill>
                  <a:schemeClr val="tx1"/>
                </a:solidFill>
                <a:effectLst/>
                <a:latin typeface="+mn-lt"/>
                <a:ea typeface="+mn-ea"/>
                <a:cs typeface="+mn-cs"/>
              </a:rPr>
              <a:t> External programs that expose Tools, Resources and Prompts via standard API to the AI model via the client.</a:t>
            </a:r>
          </a:p>
          <a:p>
            <a:endParaRPr lang="zh-TW" altLang="en-US" dirty="0"/>
          </a:p>
          <a:p>
            <a:endParaRPr lang="zh-TW" altLang="en-US" dirty="0"/>
          </a:p>
        </p:txBody>
      </p:sp>
      <p:sp>
        <p:nvSpPr>
          <p:cNvPr id="4" name="投影片編號版面配置區 3"/>
          <p:cNvSpPr>
            <a:spLocks noGrp="1"/>
          </p:cNvSpPr>
          <p:nvPr>
            <p:ph type="sldNum" sz="quarter" idx="5"/>
          </p:nvPr>
        </p:nvSpPr>
        <p:spPr/>
        <p:txBody>
          <a:bodyPr/>
          <a:lstStyle/>
          <a:p>
            <a:fld id="{73967E60-74AC-7544-A9E1-2DF949A6356E}" type="slidenum">
              <a:rPr lang="zh-TW" altLang="en-US" smtClean="0"/>
              <a:pPr/>
              <a:t>5</a:t>
            </a:fld>
            <a:endParaRPr lang="zh-TW" altLang="en-US"/>
          </a:p>
        </p:txBody>
      </p:sp>
    </p:spTree>
    <p:extLst>
      <p:ext uri="{BB962C8B-B14F-4D97-AF65-F5344CB8AC3E}">
        <p14:creationId xmlns:p14="http://schemas.microsoft.com/office/powerpoint/2010/main" val="34485699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D6A75-A54F-94D3-7CED-936213B39EC7}"/>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823D6B54-1A52-73B7-7BB8-69370FB5321A}"/>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BB57B1A7-1015-3A7B-BB7B-413004EB22D6}"/>
              </a:ext>
            </a:extLst>
          </p:cNvPr>
          <p:cNvSpPr>
            <a:spLocks noGrp="1"/>
          </p:cNvSpPr>
          <p:nvPr>
            <p:ph type="body" idx="1"/>
          </p:nvPr>
        </p:nvSpPr>
        <p:spPr/>
        <p:txBody>
          <a:bodyPr>
            <a:normAutofit/>
          </a:bodyPr>
          <a:lstStyle/>
          <a:p>
            <a:r>
              <a:rPr lang="en-US" altLang="zh-TW" sz="1200" b="0" i="0" kern="1200" dirty="0">
                <a:solidFill>
                  <a:schemeClr val="tx1"/>
                </a:solidFill>
                <a:effectLst/>
                <a:latin typeface="+mn-lt"/>
                <a:ea typeface="+mn-ea"/>
                <a:cs typeface="+mn-cs"/>
              </a:rPr>
              <a:t>Retrieval-Augmented Generation (RAG)</a:t>
            </a:r>
            <a:r>
              <a:rPr lang="zh-TW" altLang="en-US" sz="1200" b="0" i="0" kern="1200" dirty="0">
                <a:solidFill>
                  <a:schemeClr val="tx1"/>
                </a:solidFill>
                <a:effectLst/>
                <a:latin typeface="+mn-lt"/>
                <a:ea typeface="+mn-ea"/>
                <a:cs typeface="+mn-cs"/>
              </a:rPr>
              <a:t>，中文稱為「</a:t>
            </a:r>
            <a:r>
              <a:rPr lang="zh-TW" altLang="en-US" sz="1200" b="1" i="0" kern="1200" dirty="0">
                <a:solidFill>
                  <a:schemeClr val="tx1"/>
                </a:solidFill>
                <a:effectLst/>
                <a:latin typeface="+mn-lt"/>
                <a:ea typeface="+mn-ea"/>
                <a:cs typeface="+mn-cs"/>
              </a:rPr>
              <a:t>檢索增強生成</a:t>
            </a:r>
            <a:r>
              <a:rPr lang="zh-TW" altLang="en-US" sz="1200" b="0" i="0" kern="1200" dirty="0">
                <a:solidFill>
                  <a:schemeClr val="tx1"/>
                </a:solidFill>
                <a:effectLst/>
                <a:latin typeface="+mn-lt"/>
                <a:ea typeface="+mn-ea"/>
                <a:cs typeface="+mn-cs"/>
              </a:rPr>
              <a:t>」，是一種結合了資訊檢索（</a:t>
            </a:r>
            <a:r>
              <a:rPr lang="en-US" altLang="zh-TW" sz="1200" b="0" i="0" kern="1200" dirty="0">
                <a:solidFill>
                  <a:schemeClr val="tx1"/>
                </a:solidFill>
                <a:effectLst/>
                <a:latin typeface="+mn-lt"/>
                <a:ea typeface="+mn-ea"/>
                <a:cs typeface="+mn-cs"/>
              </a:rPr>
              <a:t>Retrieval</a:t>
            </a:r>
            <a:r>
              <a:rPr lang="zh-TW" altLang="en-US" sz="1200" b="0" i="0" kern="1200" dirty="0">
                <a:solidFill>
                  <a:schemeClr val="tx1"/>
                </a:solidFill>
                <a:effectLst/>
                <a:latin typeface="+mn-lt"/>
                <a:ea typeface="+mn-ea"/>
                <a:cs typeface="+mn-cs"/>
              </a:rPr>
              <a:t>）和生成式 </a:t>
            </a:r>
            <a:r>
              <a:rPr lang="en-US" altLang="zh-TW" sz="1200" b="0" i="0" kern="1200" dirty="0">
                <a:solidFill>
                  <a:schemeClr val="tx1"/>
                </a:solidFill>
                <a:effectLst/>
                <a:latin typeface="+mn-lt"/>
                <a:ea typeface="+mn-ea"/>
                <a:cs typeface="+mn-cs"/>
              </a:rPr>
              <a:t>AI</a:t>
            </a:r>
            <a:r>
              <a:rPr lang="zh-TW" altLang="en-US" sz="1200" b="0" i="0" kern="1200" dirty="0">
                <a:solidFill>
                  <a:schemeClr val="tx1"/>
                </a:solidFill>
                <a:effectLst/>
                <a:latin typeface="+mn-lt"/>
                <a:ea typeface="+mn-ea"/>
                <a:cs typeface="+mn-cs"/>
              </a:rPr>
              <a:t>（</a:t>
            </a:r>
            <a:r>
              <a:rPr lang="en-US" altLang="zh-TW" sz="1200" b="0" i="0" kern="1200" dirty="0">
                <a:solidFill>
                  <a:schemeClr val="tx1"/>
                </a:solidFill>
                <a:effectLst/>
                <a:latin typeface="+mn-lt"/>
                <a:ea typeface="+mn-ea"/>
                <a:cs typeface="+mn-cs"/>
              </a:rPr>
              <a:t>Generation</a:t>
            </a:r>
            <a:r>
              <a:rPr lang="zh-TW" altLang="en-US" sz="1200" b="0" i="0" kern="1200" dirty="0">
                <a:solidFill>
                  <a:schemeClr val="tx1"/>
                </a:solidFill>
                <a:effectLst/>
                <a:latin typeface="+mn-lt"/>
                <a:ea typeface="+mn-ea"/>
                <a:cs typeface="+mn-cs"/>
              </a:rPr>
              <a:t>）的技術。它的主要目的是解決大型語言模型 </a:t>
            </a:r>
            <a:r>
              <a:rPr lang="en-US" altLang="zh-TW" sz="1200" b="0" i="0" kern="1200" dirty="0">
                <a:solidFill>
                  <a:schemeClr val="tx1"/>
                </a:solidFill>
                <a:effectLst/>
                <a:latin typeface="+mn-lt"/>
                <a:ea typeface="+mn-ea"/>
                <a:cs typeface="+mn-cs"/>
              </a:rPr>
              <a:t>(LLM) </a:t>
            </a:r>
            <a:r>
              <a:rPr lang="zh-TW" altLang="en-US" sz="1200" b="0" i="0" kern="1200" dirty="0">
                <a:solidFill>
                  <a:schemeClr val="tx1"/>
                </a:solidFill>
                <a:effectLst/>
                <a:latin typeface="+mn-lt"/>
                <a:ea typeface="+mn-ea"/>
                <a:cs typeface="+mn-cs"/>
              </a:rPr>
              <a:t>可能會產生不準確、過時資訊或「幻覺」（</a:t>
            </a:r>
            <a:r>
              <a:rPr lang="en-US" altLang="zh-TW" sz="1200" b="0" i="0" kern="1200" dirty="0">
                <a:solidFill>
                  <a:schemeClr val="tx1"/>
                </a:solidFill>
                <a:effectLst/>
                <a:latin typeface="+mn-lt"/>
                <a:ea typeface="+mn-ea"/>
                <a:cs typeface="+mn-cs"/>
              </a:rPr>
              <a:t>hallucination</a:t>
            </a:r>
            <a:r>
              <a:rPr lang="zh-TW" altLang="en-US" sz="1200" b="0" i="0" kern="1200" dirty="0">
                <a:solidFill>
                  <a:schemeClr val="tx1"/>
                </a:solidFill>
                <a:effectLst/>
                <a:latin typeface="+mn-lt"/>
                <a:ea typeface="+mn-ea"/>
                <a:cs typeface="+mn-cs"/>
              </a:rPr>
              <a:t>）的問題，透過從外部知識來源檢索相關事實資訊來強化回答的準確性和可靠性。 </a:t>
            </a:r>
            <a:endParaRPr lang="zh-TW" altLang="en-US" sz="1200" b="1" i="0" kern="1200" dirty="0">
              <a:solidFill>
                <a:schemeClr val="tx1"/>
              </a:solidFill>
              <a:effectLst/>
              <a:latin typeface="+mn-lt"/>
              <a:ea typeface="+mn-ea"/>
              <a:cs typeface="+mn-cs"/>
            </a:endParaRPr>
          </a:p>
          <a:p>
            <a:endParaRPr lang="en-US" altLang="zh-TW" dirty="0"/>
          </a:p>
          <a:p>
            <a:endParaRPr lang="en-US" altLang="zh-TW" sz="1200" b="0" i="0" kern="1200" dirty="0">
              <a:solidFill>
                <a:schemeClr val="tx1"/>
              </a:solidFill>
              <a:effectLst/>
              <a:latin typeface="+mn-lt"/>
              <a:ea typeface="+mn-ea"/>
              <a:cs typeface="+mn-cs"/>
            </a:endParaRPr>
          </a:p>
          <a:p>
            <a:r>
              <a:rPr lang="zh-TW" altLang="en-US" sz="1200" b="0" i="0" kern="1200" dirty="0">
                <a:solidFill>
                  <a:schemeClr val="tx1"/>
                </a:solidFill>
                <a:effectLst/>
                <a:latin typeface="+mn-lt"/>
                <a:ea typeface="+mn-ea"/>
                <a:cs typeface="+mn-cs"/>
              </a:rPr>
              <a:t>簡單來說，</a:t>
            </a:r>
            <a:r>
              <a:rPr lang="en-US" altLang="zh-TW" sz="1200" b="0" i="0" kern="1200" dirty="0">
                <a:solidFill>
                  <a:schemeClr val="tx1"/>
                </a:solidFill>
                <a:effectLst/>
                <a:latin typeface="+mn-lt"/>
                <a:ea typeface="+mn-ea"/>
                <a:cs typeface="+mn-cs"/>
              </a:rPr>
              <a:t>RAG </a:t>
            </a:r>
            <a:r>
              <a:rPr lang="zh-TW" altLang="en-US" sz="1200" b="0" i="0" kern="1200" dirty="0">
                <a:solidFill>
                  <a:schemeClr val="tx1"/>
                </a:solidFill>
                <a:effectLst/>
                <a:latin typeface="+mn-lt"/>
                <a:ea typeface="+mn-ea"/>
                <a:cs typeface="+mn-cs"/>
              </a:rPr>
              <a:t>就像是給予 </a:t>
            </a:r>
            <a:r>
              <a:rPr lang="en-US" altLang="zh-TW" sz="1200" b="0" i="0" kern="1200" dirty="0">
                <a:solidFill>
                  <a:schemeClr val="tx1"/>
                </a:solidFill>
                <a:effectLst/>
                <a:latin typeface="+mn-lt"/>
                <a:ea typeface="+mn-ea"/>
                <a:cs typeface="+mn-cs"/>
              </a:rPr>
              <a:t>AI </a:t>
            </a:r>
            <a:r>
              <a:rPr lang="zh-TW" altLang="en-US" sz="1200" b="0" i="0" kern="1200" dirty="0">
                <a:solidFill>
                  <a:schemeClr val="tx1"/>
                </a:solidFill>
                <a:effectLst/>
                <a:latin typeface="+mn-lt"/>
                <a:ea typeface="+mn-ea"/>
                <a:cs typeface="+mn-cs"/>
              </a:rPr>
              <a:t>快速查找「小抄」的能力，讓它在回答問題時更有依據、更可靠。 </a:t>
            </a:r>
          </a:p>
          <a:p>
            <a:endParaRPr lang="zh-TW" altLang="en-US" dirty="0"/>
          </a:p>
        </p:txBody>
      </p:sp>
      <p:sp>
        <p:nvSpPr>
          <p:cNvPr id="4" name="投影片編號版面配置區 3">
            <a:extLst>
              <a:ext uri="{FF2B5EF4-FFF2-40B4-BE49-F238E27FC236}">
                <a16:creationId xmlns:a16="http://schemas.microsoft.com/office/drawing/2014/main" id="{C5418AD1-A14D-59CC-6618-88C105835F84}"/>
              </a:ext>
            </a:extLst>
          </p:cNvPr>
          <p:cNvSpPr>
            <a:spLocks noGrp="1"/>
          </p:cNvSpPr>
          <p:nvPr>
            <p:ph type="sldNum" sz="quarter" idx="5"/>
          </p:nvPr>
        </p:nvSpPr>
        <p:spPr/>
        <p:txBody>
          <a:bodyPr/>
          <a:lstStyle/>
          <a:p>
            <a:fld id="{73967E60-74AC-7544-A9E1-2DF949A6356E}" type="slidenum">
              <a:rPr lang="zh-TW" altLang="en-US" smtClean="0"/>
              <a:pPr/>
              <a:t>6</a:t>
            </a:fld>
            <a:endParaRPr lang="zh-TW" altLang="en-US"/>
          </a:p>
        </p:txBody>
      </p:sp>
    </p:spTree>
    <p:extLst>
      <p:ext uri="{BB962C8B-B14F-4D97-AF65-F5344CB8AC3E}">
        <p14:creationId xmlns:p14="http://schemas.microsoft.com/office/powerpoint/2010/main" val="2564275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A2CBD-76B0-4098-F7F2-5B0CD1869BB7}"/>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AE26C0A-A08B-CCEB-D862-4AA00E7EDAFB}"/>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BDA1FE85-BD1B-8D2E-37A5-71242CD858DA}"/>
              </a:ext>
            </a:extLst>
          </p:cNvPr>
          <p:cNvSpPr>
            <a:spLocks noGrp="1"/>
          </p:cNvSpPr>
          <p:nvPr>
            <p:ph type="body" idx="1"/>
          </p:nvPr>
        </p:nvSpPr>
        <p:spPr/>
        <p:txBody>
          <a:bodyPr>
            <a:normAutofit/>
          </a:bodyPr>
          <a:lstStyle/>
          <a:p>
            <a:r>
              <a:rPr lang="zh-TW" altLang="en-US" sz="1200" b="1" i="0" kern="1200" dirty="0">
                <a:solidFill>
                  <a:schemeClr val="tx1"/>
                </a:solidFill>
                <a:effectLst/>
                <a:latin typeface="+mn-lt"/>
                <a:ea typeface="+mn-ea"/>
                <a:cs typeface="+mn-cs"/>
              </a:rPr>
              <a:t>這邊談到概念因為這個不是我想介紹的重點</a:t>
            </a:r>
            <a:endParaRPr lang="en-US" altLang="zh-TW" sz="1200" b="1" i="0" kern="1200" dirty="0">
              <a:solidFill>
                <a:schemeClr val="tx1"/>
              </a:solidFill>
              <a:effectLst/>
              <a:latin typeface="+mn-lt"/>
              <a:ea typeface="+mn-ea"/>
              <a:cs typeface="+mn-cs"/>
            </a:endParaRPr>
          </a:p>
          <a:p>
            <a:endParaRPr lang="en-US" altLang="zh-TW" sz="1200" b="1" i="0" kern="1200" dirty="0">
              <a:solidFill>
                <a:schemeClr val="tx1"/>
              </a:solidFill>
              <a:effectLst/>
              <a:latin typeface="+mn-lt"/>
              <a:ea typeface="+mn-ea"/>
              <a:cs typeface="+mn-cs"/>
            </a:endParaRPr>
          </a:p>
          <a:p>
            <a:r>
              <a:rPr lang="zh-TW" altLang="en-US" sz="1200" b="1" i="0" kern="1200" dirty="0">
                <a:solidFill>
                  <a:schemeClr val="tx1"/>
                </a:solidFill>
                <a:effectLst/>
                <a:latin typeface="+mn-lt"/>
                <a:ea typeface="+mn-ea"/>
                <a:cs typeface="+mn-cs"/>
              </a:rPr>
              <a:t>檢索階段 </a:t>
            </a:r>
            <a:r>
              <a:rPr lang="en-US" altLang="zh-TW" sz="1200" b="1" i="0" kern="1200" dirty="0">
                <a:solidFill>
                  <a:schemeClr val="tx1"/>
                </a:solidFill>
                <a:effectLst/>
                <a:latin typeface="+mn-lt"/>
                <a:ea typeface="+mn-ea"/>
                <a:cs typeface="+mn-cs"/>
              </a:rPr>
              <a:t>(Retrieval Phase)</a:t>
            </a:r>
            <a:r>
              <a:rPr lang="zh-TW" altLang="en-US" sz="1200" b="0" i="0" kern="1200" dirty="0">
                <a:solidFill>
                  <a:schemeClr val="tx1"/>
                </a:solidFill>
                <a:effectLst/>
                <a:latin typeface="+mn-lt"/>
                <a:ea typeface="+mn-ea"/>
                <a:cs typeface="+mn-cs"/>
              </a:rPr>
              <a:t>：系統會分析使用者的查詢，並從預先建立好的外部知識庫（例如：企業文件、資料庫、網頁內容等）中，搜尋並找出最相關的資訊片段。這個知識庫通常會經過向量化和索引處理，以便進行快速的語意檢索。</a:t>
            </a:r>
          </a:p>
          <a:p>
            <a:r>
              <a:rPr lang="zh-TW" altLang="en-US" sz="1200" b="1" i="0" kern="1200" dirty="0">
                <a:solidFill>
                  <a:schemeClr val="tx1"/>
                </a:solidFill>
                <a:effectLst/>
                <a:latin typeface="+mn-lt"/>
                <a:ea typeface="+mn-ea"/>
                <a:cs typeface="+mn-cs"/>
              </a:rPr>
              <a:t>增強階段 </a:t>
            </a:r>
            <a:r>
              <a:rPr lang="en-US" altLang="zh-TW" sz="1200" b="1" i="0" kern="1200" dirty="0">
                <a:solidFill>
                  <a:schemeClr val="tx1"/>
                </a:solidFill>
                <a:effectLst/>
                <a:latin typeface="+mn-lt"/>
                <a:ea typeface="+mn-ea"/>
                <a:cs typeface="+mn-cs"/>
              </a:rPr>
              <a:t>(Augmentation Phase)</a:t>
            </a:r>
            <a:r>
              <a:rPr lang="zh-TW" altLang="en-US" sz="1200" b="0" i="0" kern="1200" dirty="0">
                <a:solidFill>
                  <a:schemeClr val="tx1"/>
                </a:solidFill>
                <a:effectLst/>
                <a:latin typeface="+mn-lt"/>
                <a:ea typeface="+mn-ea"/>
                <a:cs typeface="+mn-cs"/>
              </a:rPr>
              <a:t>：檢索到的相關資訊會被作為「額外的上下文」或「參考資料」，連同原始查詢一起提供給大型語言模型。</a:t>
            </a:r>
          </a:p>
          <a:p>
            <a:r>
              <a:rPr lang="zh-TW" altLang="en-US" sz="1200" b="1" i="0" kern="1200" dirty="0">
                <a:solidFill>
                  <a:schemeClr val="tx1"/>
                </a:solidFill>
                <a:effectLst/>
                <a:latin typeface="+mn-lt"/>
                <a:ea typeface="+mn-ea"/>
                <a:cs typeface="+mn-cs"/>
              </a:rPr>
              <a:t>生成階段 </a:t>
            </a:r>
            <a:r>
              <a:rPr lang="en-US" altLang="zh-TW" sz="1200" b="1" i="0" kern="1200" dirty="0">
                <a:solidFill>
                  <a:schemeClr val="tx1"/>
                </a:solidFill>
                <a:effectLst/>
                <a:latin typeface="+mn-lt"/>
                <a:ea typeface="+mn-ea"/>
                <a:cs typeface="+mn-cs"/>
              </a:rPr>
              <a:t>(Generation Phase)</a:t>
            </a:r>
            <a:r>
              <a:rPr lang="zh-TW" altLang="en-US" sz="1200" b="0" i="0" kern="1200" dirty="0">
                <a:solidFill>
                  <a:schemeClr val="tx1"/>
                </a:solidFill>
                <a:effectLst/>
                <a:latin typeface="+mn-lt"/>
                <a:ea typeface="+mn-ea"/>
                <a:cs typeface="+mn-cs"/>
              </a:rPr>
              <a:t>：大型語言模型根據這些豐富的上下文來生成最終答案，而不僅僅依賴其內建的訓練數據。</a:t>
            </a:r>
            <a:endParaRPr lang="en-US" altLang="zh-TW" sz="1200" b="0" i="0" kern="1200" dirty="0">
              <a:solidFill>
                <a:schemeClr val="tx1"/>
              </a:solidFill>
              <a:effectLst/>
              <a:latin typeface="+mn-lt"/>
              <a:ea typeface="+mn-ea"/>
              <a:cs typeface="+mn-cs"/>
            </a:endParaRPr>
          </a:p>
          <a:p>
            <a:endParaRPr lang="zh-TW" altLang="en-US" dirty="0"/>
          </a:p>
        </p:txBody>
      </p:sp>
      <p:sp>
        <p:nvSpPr>
          <p:cNvPr id="4" name="投影片編號版面配置區 3">
            <a:extLst>
              <a:ext uri="{FF2B5EF4-FFF2-40B4-BE49-F238E27FC236}">
                <a16:creationId xmlns:a16="http://schemas.microsoft.com/office/drawing/2014/main" id="{FFF21B9B-42A7-25E2-E11A-F03C4BD12583}"/>
              </a:ext>
            </a:extLst>
          </p:cNvPr>
          <p:cNvSpPr>
            <a:spLocks noGrp="1"/>
          </p:cNvSpPr>
          <p:nvPr>
            <p:ph type="sldNum" sz="quarter" idx="5"/>
          </p:nvPr>
        </p:nvSpPr>
        <p:spPr/>
        <p:txBody>
          <a:bodyPr/>
          <a:lstStyle/>
          <a:p>
            <a:fld id="{73967E60-74AC-7544-A9E1-2DF949A6356E}" type="slidenum">
              <a:rPr lang="zh-TW" altLang="en-US" smtClean="0"/>
              <a:pPr/>
              <a:t>7</a:t>
            </a:fld>
            <a:endParaRPr lang="zh-TW" altLang="en-US"/>
          </a:p>
        </p:txBody>
      </p:sp>
    </p:spTree>
    <p:extLst>
      <p:ext uri="{BB962C8B-B14F-4D97-AF65-F5344CB8AC3E}">
        <p14:creationId xmlns:p14="http://schemas.microsoft.com/office/powerpoint/2010/main" val="8849181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F428D-25A6-23AA-8C82-98AEB41827E6}"/>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FC073971-9665-A5E3-9C0A-8AD6E0D2C754}"/>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8CBE1DDD-B427-9832-135A-CD72A41E231F}"/>
              </a:ext>
            </a:extLst>
          </p:cNvPr>
          <p:cNvSpPr>
            <a:spLocks noGrp="1"/>
          </p:cNvSpPr>
          <p:nvPr>
            <p:ph type="body" idx="1"/>
          </p:nvPr>
        </p:nvSpPr>
        <p:spPr/>
        <p:txBody>
          <a:bodyPr>
            <a:normAutofit/>
          </a:bodyPr>
          <a:lstStyle/>
          <a:p>
            <a:endParaRPr lang="zh-TW" altLang="en-US" dirty="0"/>
          </a:p>
        </p:txBody>
      </p:sp>
      <p:sp>
        <p:nvSpPr>
          <p:cNvPr id="4" name="投影片編號版面配置區 3">
            <a:extLst>
              <a:ext uri="{FF2B5EF4-FFF2-40B4-BE49-F238E27FC236}">
                <a16:creationId xmlns:a16="http://schemas.microsoft.com/office/drawing/2014/main" id="{0E903F42-8BB3-A593-C108-2BC65EE3C0A7}"/>
              </a:ext>
            </a:extLst>
          </p:cNvPr>
          <p:cNvSpPr>
            <a:spLocks noGrp="1"/>
          </p:cNvSpPr>
          <p:nvPr>
            <p:ph type="sldNum" sz="quarter" idx="5"/>
          </p:nvPr>
        </p:nvSpPr>
        <p:spPr/>
        <p:txBody>
          <a:bodyPr/>
          <a:lstStyle/>
          <a:p>
            <a:fld id="{73967E60-74AC-7544-A9E1-2DF949A6356E}" type="slidenum">
              <a:rPr lang="zh-TW" altLang="en-US" smtClean="0"/>
              <a:pPr/>
              <a:t>8</a:t>
            </a:fld>
            <a:endParaRPr lang="zh-TW" altLang="en-US"/>
          </a:p>
        </p:txBody>
      </p:sp>
    </p:spTree>
    <p:extLst>
      <p:ext uri="{BB962C8B-B14F-4D97-AF65-F5344CB8AC3E}">
        <p14:creationId xmlns:p14="http://schemas.microsoft.com/office/powerpoint/2010/main" val="18099828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760F4-15E7-50CC-1BC8-6F5D25904A60}"/>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9957CFE-C6C0-A192-6111-0A3C51F4B086}"/>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D7918FC2-FAF3-4623-A605-87F86FAA3E2A}"/>
              </a:ext>
            </a:extLst>
          </p:cNvPr>
          <p:cNvSpPr>
            <a:spLocks noGrp="1"/>
          </p:cNvSpPr>
          <p:nvPr>
            <p:ph type="body" idx="1"/>
          </p:nvPr>
        </p:nvSpPr>
        <p:spPr/>
        <p:txBody>
          <a:bodyPr>
            <a:normAutofit/>
          </a:bodyPr>
          <a:lstStyle/>
          <a:p>
            <a:endParaRPr lang="zh-TW" altLang="en-US" dirty="0"/>
          </a:p>
        </p:txBody>
      </p:sp>
      <p:sp>
        <p:nvSpPr>
          <p:cNvPr id="4" name="投影片編號版面配置區 3">
            <a:extLst>
              <a:ext uri="{FF2B5EF4-FFF2-40B4-BE49-F238E27FC236}">
                <a16:creationId xmlns:a16="http://schemas.microsoft.com/office/drawing/2014/main" id="{C7A7BD9F-AB4A-C645-5492-7FB6BD9D1DF7}"/>
              </a:ext>
            </a:extLst>
          </p:cNvPr>
          <p:cNvSpPr>
            <a:spLocks noGrp="1"/>
          </p:cNvSpPr>
          <p:nvPr>
            <p:ph type="sldNum" sz="quarter" idx="5"/>
          </p:nvPr>
        </p:nvSpPr>
        <p:spPr/>
        <p:txBody>
          <a:bodyPr/>
          <a:lstStyle/>
          <a:p>
            <a:fld id="{73967E60-74AC-7544-A9E1-2DF949A6356E}" type="slidenum">
              <a:rPr lang="zh-TW" altLang="en-US" smtClean="0"/>
              <a:pPr/>
              <a:t>9</a:t>
            </a:fld>
            <a:endParaRPr lang="zh-TW" altLang="en-US"/>
          </a:p>
        </p:txBody>
      </p:sp>
    </p:spTree>
    <p:extLst>
      <p:ext uri="{BB962C8B-B14F-4D97-AF65-F5344CB8AC3E}">
        <p14:creationId xmlns:p14="http://schemas.microsoft.com/office/powerpoint/2010/main" val="13765357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8BC51-686F-1ED0-1684-789F34ABE1F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FD7DE42-C29A-8799-6ADE-D6238F892298}"/>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D25717B0-522C-0591-F83C-EE32C37011F2}"/>
              </a:ext>
            </a:extLst>
          </p:cNvPr>
          <p:cNvSpPr>
            <a:spLocks noGrp="1"/>
          </p:cNvSpPr>
          <p:nvPr>
            <p:ph type="body" idx="1"/>
          </p:nvPr>
        </p:nvSpPr>
        <p:spPr/>
        <p:txBody>
          <a:bodyPr>
            <a:normAutofit/>
          </a:bodyPr>
          <a:lstStyle/>
          <a:p>
            <a:endParaRPr lang="zh-TW" altLang="en-US" dirty="0"/>
          </a:p>
        </p:txBody>
      </p:sp>
      <p:sp>
        <p:nvSpPr>
          <p:cNvPr id="4" name="投影片編號版面配置區 3">
            <a:extLst>
              <a:ext uri="{FF2B5EF4-FFF2-40B4-BE49-F238E27FC236}">
                <a16:creationId xmlns:a16="http://schemas.microsoft.com/office/drawing/2014/main" id="{2A0A3AA6-219F-9879-31AC-19E39AB94812}"/>
              </a:ext>
            </a:extLst>
          </p:cNvPr>
          <p:cNvSpPr>
            <a:spLocks noGrp="1"/>
          </p:cNvSpPr>
          <p:nvPr>
            <p:ph type="sldNum" sz="quarter" idx="5"/>
          </p:nvPr>
        </p:nvSpPr>
        <p:spPr/>
        <p:txBody>
          <a:bodyPr/>
          <a:lstStyle/>
          <a:p>
            <a:fld id="{73967E60-74AC-7544-A9E1-2DF949A6356E}" type="slidenum">
              <a:rPr lang="zh-TW" altLang="en-US" smtClean="0"/>
              <a:pPr/>
              <a:t>10</a:t>
            </a:fld>
            <a:endParaRPr lang="zh-TW" altLang="en-US"/>
          </a:p>
        </p:txBody>
      </p:sp>
    </p:spTree>
    <p:extLst>
      <p:ext uri="{BB962C8B-B14F-4D97-AF65-F5344CB8AC3E}">
        <p14:creationId xmlns:p14="http://schemas.microsoft.com/office/powerpoint/2010/main" val="39447446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0EF16-7BDC-D892-72F0-D7EA953C6118}"/>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96F3A1D-FBB5-B6A8-19C9-BA45F37B42CE}"/>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56452E91-8F76-5547-1B68-727B4E05FCED}"/>
              </a:ext>
            </a:extLst>
          </p:cNvPr>
          <p:cNvSpPr>
            <a:spLocks noGrp="1"/>
          </p:cNvSpPr>
          <p:nvPr>
            <p:ph type="body" idx="1"/>
          </p:nvPr>
        </p:nvSpPr>
        <p:spPr/>
        <p:txBody>
          <a:bodyPr>
            <a:normAutofit/>
          </a:bodyPr>
          <a:lstStyle/>
          <a:p>
            <a:endParaRPr lang="zh-TW" altLang="en-US" dirty="0"/>
          </a:p>
        </p:txBody>
      </p:sp>
      <p:sp>
        <p:nvSpPr>
          <p:cNvPr id="4" name="投影片編號版面配置區 3">
            <a:extLst>
              <a:ext uri="{FF2B5EF4-FFF2-40B4-BE49-F238E27FC236}">
                <a16:creationId xmlns:a16="http://schemas.microsoft.com/office/drawing/2014/main" id="{335CF2DB-E3DB-59E5-A895-4898CEBC3578}"/>
              </a:ext>
            </a:extLst>
          </p:cNvPr>
          <p:cNvSpPr>
            <a:spLocks noGrp="1"/>
          </p:cNvSpPr>
          <p:nvPr>
            <p:ph type="sldNum" sz="quarter" idx="5"/>
          </p:nvPr>
        </p:nvSpPr>
        <p:spPr/>
        <p:txBody>
          <a:bodyPr/>
          <a:lstStyle/>
          <a:p>
            <a:fld id="{73967E60-74AC-7544-A9E1-2DF949A6356E}" type="slidenum">
              <a:rPr lang="zh-TW" altLang="en-US" smtClean="0"/>
              <a:pPr/>
              <a:t>11</a:t>
            </a:fld>
            <a:endParaRPr lang="zh-TW" altLang="en-US"/>
          </a:p>
        </p:txBody>
      </p:sp>
    </p:spTree>
    <p:extLst>
      <p:ext uri="{BB962C8B-B14F-4D97-AF65-F5344CB8AC3E}">
        <p14:creationId xmlns:p14="http://schemas.microsoft.com/office/powerpoint/2010/main" val="39477872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1B337B-1214-EA76-030C-F6DB4DBAB338}"/>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0CEBADEB-FDFF-E3D4-2E00-AE5D5E54F36B}"/>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07B5F63B-151D-71DA-36B6-BC901790B62D}"/>
              </a:ext>
            </a:extLst>
          </p:cNvPr>
          <p:cNvSpPr>
            <a:spLocks noGrp="1"/>
          </p:cNvSpPr>
          <p:nvPr>
            <p:ph type="body" idx="1"/>
          </p:nvPr>
        </p:nvSpPr>
        <p:spPr/>
        <p:txBody>
          <a:bodyPr>
            <a:normAutofit/>
          </a:bodyPr>
          <a:lstStyle/>
          <a:p>
            <a:r>
              <a:rPr lang="zh-TW" altLang="en-US" dirty="0"/>
              <a:t>解耦後好處，單一職責、對於</a:t>
            </a:r>
            <a:r>
              <a:rPr lang="en-US" altLang="zh-TW" dirty="0"/>
              <a:t>Spec</a:t>
            </a:r>
            <a:r>
              <a:rPr lang="zh-TW" altLang="en-US" dirty="0"/>
              <a:t>的擴展完全不會影響到</a:t>
            </a:r>
            <a:r>
              <a:rPr lang="en-US" altLang="zh-TW" dirty="0"/>
              <a:t>production code</a:t>
            </a:r>
            <a:r>
              <a:rPr lang="zh-TW" altLang="en-US" dirty="0"/>
              <a:t>。</a:t>
            </a:r>
          </a:p>
        </p:txBody>
      </p:sp>
      <p:sp>
        <p:nvSpPr>
          <p:cNvPr id="4" name="投影片編號版面配置區 3">
            <a:extLst>
              <a:ext uri="{FF2B5EF4-FFF2-40B4-BE49-F238E27FC236}">
                <a16:creationId xmlns:a16="http://schemas.microsoft.com/office/drawing/2014/main" id="{4FE6660D-2662-1999-4137-6531A6D4DB24}"/>
              </a:ext>
            </a:extLst>
          </p:cNvPr>
          <p:cNvSpPr>
            <a:spLocks noGrp="1"/>
          </p:cNvSpPr>
          <p:nvPr>
            <p:ph type="sldNum" sz="quarter" idx="5"/>
          </p:nvPr>
        </p:nvSpPr>
        <p:spPr/>
        <p:txBody>
          <a:bodyPr/>
          <a:lstStyle/>
          <a:p>
            <a:fld id="{73967E60-74AC-7544-A9E1-2DF949A6356E}" type="slidenum">
              <a:rPr lang="zh-TW" altLang="en-US" smtClean="0"/>
              <a:pPr/>
              <a:t>12</a:t>
            </a:fld>
            <a:endParaRPr lang="zh-TW" altLang="en-US"/>
          </a:p>
        </p:txBody>
      </p:sp>
    </p:spTree>
    <p:extLst>
      <p:ext uri="{BB962C8B-B14F-4D97-AF65-F5344CB8AC3E}">
        <p14:creationId xmlns:p14="http://schemas.microsoft.com/office/powerpoint/2010/main" val="90498301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標題 1"/>
          <p:cNvSpPr>
            <a:spLocks noGrp="1"/>
          </p:cNvSpPr>
          <p:nvPr>
            <p:ph type="ctrTitle"/>
          </p:nvPr>
        </p:nvSpPr>
        <p:spPr>
          <a:xfrm>
            <a:off x="1523968" y="1285861"/>
            <a:ext cx="10363200" cy="1470025"/>
          </a:xfrm>
        </p:spPr>
        <p:txBody>
          <a:bodyPr/>
          <a:lstStyle>
            <a:lvl1pPr algn="l">
              <a:defRPr b="0" cap="none" spc="0">
                <a:ln w="18415" cmpd="sng">
                  <a:solidFill>
                    <a:srgbClr val="FFFFFF"/>
                  </a:solidFill>
                  <a:prstDash val="solid"/>
                </a:ln>
                <a:solidFill>
                  <a:schemeClr val="bg1"/>
                </a:solidFill>
                <a:effectLst>
                  <a:outerShdw blurRad="63500" dir="3600000" algn="tl" rotWithShape="0">
                    <a:srgbClr val="000000">
                      <a:alpha val="70000"/>
                    </a:srgbClr>
                  </a:outerShdw>
                </a:effectLst>
                <a:latin typeface="微軟正黑體" pitchFamily="34" charset="-120"/>
                <a:ea typeface="微軟正黑體" pitchFamily="34" charset="-120"/>
              </a:defRPr>
            </a:lvl1pPr>
          </a:lstStyle>
          <a:p>
            <a:r>
              <a:rPr lang="zh-TW" altLang="en-US"/>
              <a:t>按一下以編輯母片標題樣式</a:t>
            </a:r>
            <a:endParaRPr lang="zh-TW" altLang="en-US" dirty="0"/>
          </a:p>
        </p:txBody>
      </p:sp>
      <p:sp>
        <p:nvSpPr>
          <p:cNvPr id="3" name="副標題 2"/>
          <p:cNvSpPr>
            <a:spLocks noGrp="1"/>
          </p:cNvSpPr>
          <p:nvPr>
            <p:ph type="subTitle" idx="1"/>
          </p:nvPr>
        </p:nvSpPr>
        <p:spPr>
          <a:xfrm>
            <a:off x="1523968" y="3071810"/>
            <a:ext cx="8534400" cy="1752600"/>
          </a:xfrm>
        </p:spPr>
        <p:txBody>
          <a:bodyPr/>
          <a:lstStyle>
            <a:lvl1pPr marL="0" indent="0" algn="l">
              <a:buNone/>
              <a:defRPr>
                <a:solidFill>
                  <a:schemeClr val="bg1">
                    <a:lumMod val="9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按一下以編輯母片子標題樣式</a:t>
            </a:r>
            <a:endParaRPr lang="zh-TW" altLang="en-US" dirty="0"/>
          </a:p>
        </p:txBody>
      </p:sp>
      <p:sp>
        <p:nvSpPr>
          <p:cNvPr id="4" name="日期版面配置區 3">
            <a:extLst>
              <a:ext uri="{FF2B5EF4-FFF2-40B4-BE49-F238E27FC236}">
                <a16:creationId xmlns:a16="http://schemas.microsoft.com/office/drawing/2014/main" id="{6786EB08-6256-4A4E-9021-4782D6BD6E6A}"/>
              </a:ext>
            </a:extLst>
          </p:cNvPr>
          <p:cNvSpPr>
            <a:spLocks noGrp="1"/>
          </p:cNvSpPr>
          <p:nvPr>
            <p:ph type="dt" sz="half" idx="10"/>
          </p:nvPr>
        </p:nvSpPr>
        <p:spPr/>
        <p:txBody>
          <a:bodyPr/>
          <a:lstStyle>
            <a:lvl1pPr>
              <a:defRPr/>
            </a:lvl1pPr>
          </a:lstStyle>
          <a:p>
            <a:pPr>
              <a:defRPr/>
            </a:pPr>
            <a:fld id="{94C54D8F-BB97-7D40-BDB2-3676B44FD685}" type="datetime1">
              <a:rPr lang="zh-TW" altLang="en-US"/>
              <a:pPr>
                <a:defRPr/>
              </a:pPr>
              <a:t>2025/11/16</a:t>
            </a:fld>
            <a:endParaRPr lang="zh-TW" altLang="en-US"/>
          </a:p>
        </p:txBody>
      </p:sp>
      <p:sp>
        <p:nvSpPr>
          <p:cNvPr id="5" name="頁尾版面配置區 4">
            <a:extLst>
              <a:ext uri="{FF2B5EF4-FFF2-40B4-BE49-F238E27FC236}">
                <a16:creationId xmlns:a16="http://schemas.microsoft.com/office/drawing/2014/main" id="{906179E8-903E-D84C-9018-F2BBCC144D8D}"/>
              </a:ext>
            </a:extLst>
          </p:cNvPr>
          <p:cNvSpPr>
            <a:spLocks noGrp="1"/>
          </p:cNvSpPr>
          <p:nvPr>
            <p:ph type="ftr" sz="quarter" idx="11"/>
          </p:nvPr>
        </p:nvSpPr>
        <p:spPr/>
        <p:txBody>
          <a:bodyPr/>
          <a:lstStyle>
            <a:lvl1pPr>
              <a:defRPr/>
            </a:lvl1pPr>
          </a:lstStyle>
          <a:p>
            <a:pPr>
              <a:defRPr/>
            </a:pPr>
            <a:r>
              <a:rPr lang="zh-TW" altLang="en-US"/>
              <a:t>軟體系統實驗室</a:t>
            </a:r>
          </a:p>
        </p:txBody>
      </p:sp>
      <p:sp>
        <p:nvSpPr>
          <p:cNvPr id="6" name="投影片編號版面配置區 5">
            <a:extLst>
              <a:ext uri="{FF2B5EF4-FFF2-40B4-BE49-F238E27FC236}">
                <a16:creationId xmlns:a16="http://schemas.microsoft.com/office/drawing/2014/main" id="{1DB79C2A-EC4D-F745-8427-A7526A359C9D}"/>
              </a:ext>
            </a:extLst>
          </p:cNvPr>
          <p:cNvSpPr>
            <a:spLocks noGrp="1"/>
          </p:cNvSpPr>
          <p:nvPr>
            <p:ph type="sldNum" sz="quarter" idx="12"/>
          </p:nvPr>
        </p:nvSpPr>
        <p:spPr/>
        <p:txBody>
          <a:bodyPr/>
          <a:lstStyle>
            <a:lvl1pPr>
              <a:defRPr/>
            </a:lvl1pPr>
          </a:lstStyle>
          <a:p>
            <a:fld id="{8DAA59C6-B4B9-564A-B53A-FBF02A05FB77}" type="slidenum">
              <a:rPr lang="zh-TW" altLang="en-US"/>
              <a:pPr/>
              <a:t>‹#›</a:t>
            </a:fld>
            <a:endParaRPr lang="zh-TW" altLang="en-US"/>
          </a:p>
        </p:txBody>
      </p:sp>
    </p:spTree>
    <p:extLst>
      <p:ext uri="{BB962C8B-B14F-4D97-AF65-F5344CB8AC3E}">
        <p14:creationId xmlns:p14="http://schemas.microsoft.com/office/powerpoint/2010/main" val="22227426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solidFill>
                  <a:schemeClr val="bg1"/>
                </a:solidFill>
              </a:defRPr>
            </a:lvl1pPr>
          </a:lstStyle>
          <a:p>
            <a:r>
              <a:rPr lang="zh-TW" altLang="en-US"/>
              <a:t>按一下以編輯母片標題樣式</a:t>
            </a:r>
            <a:endParaRPr lang="zh-TW" altLang="en-US" dirty="0"/>
          </a:p>
        </p:txBody>
      </p:sp>
      <p:sp>
        <p:nvSpPr>
          <p:cNvPr id="3" name="內容版面配置區 2"/>
          <p:cNvSpPr>
            <a:spLocks noGrp="1"/>
          </p:cNvSpPr>
          <p:nvPr>
            <p:ph idx="1"/>
          </p:nvPr>
        </p:nvSpPr>
        <p:spPr/>
        <p:txBody>
          <a:bodyPr/>
          <a:lstStyle>
            <a:lvl1pPr>
              <a:defRPr>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tx2">
                    <a:lumMod val="50000"/>
                  </a:schemeClr>
                </a:solidFill>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4" name="日期版面配置區 3">
            <a:extLst>
              <a:ext uri="{FF2B5EF4-FFF2-40B4-BE49-F238E27FC236}">
                <a16:creationId xmlns:a16="http://schemas.microsoft.com/office/drawing/2014/main" id="{45548F8C-46EE-4F4A-9409-6FEB08CD059F}"/>
              </a:ext>
            </a:extLst>
          </p:cNvPr>
          <p:cNvSpPr>
            <a:spLocks noGrp="1"/>
          </p:cNvSpPr>
          <p:nvPr>
            <p:ph type="dt" sz="half" idx="10"/>
          </p:nvPr>
        </p:nvSpPr>
        <p:spPr/>
        <p:txBody>
          <a:bodyPr/>
          <a:lstStyle>
            <a:lvl1pPr>
              <a:defRPr/>
            </a:lvl1pPr>
          </a:lstStyle>
          <a:p>
            <a:pPr>
              <a:defRPr/>
            </a:pPr>
            <a:fld id="{DFE053C5-6C4D-8948-A0B7-F6BA541D276A}" type="datetime1">
              <a:rPr lang="zh-TW" altLang="en-US"/>
              <a:pPr>
                <a:defRPr/>
              </a:pPr>
              <a:t>2025/11/16</a:t>
            </a:fld>
            <a:endParaRPr lang="zh-TW" altLang="en-US"/>
          </a:p>
        </p:txBody>
      </p:sp>
      <p:sp>
        <p:nvSpPr>
          <p:cNvPr id="5" name="頁尾版面配置區 4">
            <a:extLst>
              <a:ext uri="{FF2B5EF4-FFF2-40B4-BE49-F238E27FC236}">
                <a16:creationId xmlns:a16="http://schemas.microsoft.com/office/drawing/2014/main" id="{393A62EA-78D6-254F-8955-BDC79FCD5836}"/>
              </a:ext>
            </a:extLst>
          </p:cNvPr>
          <p:cNvSpPr>
            <a:spLocks noGrp="1"/>
          </p:cNvSpPr>
          <p:nvPr>
            <p:ph type="ftr" sz="quarter" idx="11"/>
          </p:nvPr>
        </p:nvSpPr>
        <p:spPr/>
        <p:txBody>
          <a:bodyPr/>
          <a:lstStyle>
            <a:lvl1pPr>
              <a:defRPr/>
            </a:lvl1pPr>
          </a:lstStyle>
          <a:p>
            <a:pPr>
              <a:defRPr/>
            </a:pPr>
            <a:r>
              <a:rPr lang="zh-TW" altLang="en-US"/>
              <a:t>軟體系統實驗室</a:t>
            </a:r>
          </a:p>
        </p:txBody>
      </p:sp>
      <p:sp>
        <p:nvSpPr>
          <p:cNvPr id="6" name="投影片編號版面配置區 5">
            <a:extLst>
              <a:ext uri="{FF2B5EF4-FFF2-40B4-BE49-F238E27FC236}">
                <a16:creationId xmlns:a16="http://schemas.microsoft.com/office/drawing/2014/main" id="{5647FE38-E818-A244-9BB6-E569B310FE40}"/>
              </a:ext>
            </a:extLst>
          </p:cNvPr>
          <p:cNvSpPr>
            <a:spLocks noGrp="1"/>
          </p:cNvSpPr>
          <p:nvPr>
            <p:ph type="sldNum" sz="quarter" idx="12"/>
          </p:nvPr>
        </p:nvSpPr>
        <p:spPr/>
        <p:txBody>
          <a:bodyPr/>
          <a:lstStyle>
            <a:lvl1pPr>
              <a:defRPr/>
            </a:lvl1pPr>
          </a:lstStyle>
          <a:p>
            <a:fld id="{7408114E-E8DD-9044-BC35-9779A826010B}" type="slidenum">
              <a:rPr lang="zh-TW" altLang="en-US"/>
              <a:pPr/>
              <a:t>‹#›</a:t>
            </a:fld>
            <a:endParaRPr lang="zh-TW" altLang="en-US"/>
          </a:p>
        </p:txBody>
      </p:sp>
    </p:spTree>
    <p:extLst>
      <p:ext uri="{BB962C8B-B14F-4D97-AF65-F5344CB8AC3E}">
        <p14:creationId xmlns:p14="http://schemas.microsoft.com/office/powerpoint/2010/main" val="1397248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963084" y="4406901"/>
            <a:ext cx="10363200" cy="1362075"/>
          </a:xfrm>
        </p:spPr>
        <p:txBody>
          <a:bodyPr anchor="t"/>
          <a:lstStyle>
            <a:lvl1pPr algn="l">
              <a:defRPr sz="4000" b="0" cap="all"/>
            </a:lvl1pPr>
          </a:lstStyle>
          <a:p>
            <a:r>
              <a:rPr lang="zh-TW" altLang="en-US"/>
              <a:t>按一下以編輯母片標題樣式</a:t>
            </a:r>
            <a:endParaRPr lang="zh-TW" altLang="en-US" dirty="0"/>
          </a:p>
        </p:txBody>
      </p:sp>
      <p:sp>
        <p:nvSpPr>
          <p:cNvPr id="3" name="文字版面配置區 2"/>
          <p:cNvSpPr>
            <a:spLocks noGrp="1"/>
          </p:cNvSpPr>
          <p:nvPr>
            <p:ph type="body" idx="1"/>
          </p:nvPr>
        </p:nvSpPr>
        <p:spPr>
          <a:xfrm>
            <a:off x="963084" y="2906713"/>
            <a:ext cx="10363200" cy="1500187"/>
          </a:xfrm>
        </p:spPr>
        <p:txBody>
          <a:bodyPr anchor="b"/>
          <a:lstStyle>
            <a:lvl1pPr marL="0" indent="0">
              <a:buNone/>
              <a:defRPr sz="2000">
                <a:solidFill>
                  <a:schemeClr val="tx2">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2872FE18-7C6B-0144-B367-02789F67D3F1}"/>
              </a:ext>
            </a:extLst>
          </p:cNvPr>
          <p:cNvSpPr>
            <a:spLocks noGrp="1"/>
          </p:cNvSpPr>
          <p:nvPr>
            <p:ph type="dt" sz="half" idx="10"/>
          </p:nvPr>
        </p:nvSpPr>
        <p:spPr/>
        <p:txBody>
          <a:bodyPr/>
          <a:lstStyle>
            <a:lvl1pPr>
              <a:defRPr/>
            </a:lvl1pPr>
          </a:lstStyle>
          <a:p>
            <a:pPr>
              <a:defRPr/>
            </a:pPr>
            <a:fld id="{D4CCFA25-A1A1-6E4A-B6DB-A5D23E4209C0}" type="datetime1">
              <a:rPr lang="zh-TW" altLang="en-US"/>
              <a:pPr>
                <a:defRPr/>
              </a:pPr>
              <a:t>2025/11/16</a:t>
            </a:fld>
            <a:endParaRPr lang="zh-TW" altLang="en-US"/>
          </a:p>
        </p:txBody>
      </p:sp>
      <p:sp>
        <p:nvSpPr>
          <p:cNvPr id="5" name="頁尾版面配置區 4">
            <a:extLst>
              <a:ext uri="{FF2B5EF4-FFF2-40B4-BE49-F238E27FC236}">
                <a16:creationId xmlns:a16="http://schemas.microsoft.com/office/drawing/2014/main" id="{6B8365DD-17C7-2D4C-8FE8-8FEB5E6CA19A}"/>
              </a:ext>
            </a:extLst>
          </p:cNvPr>
          <p:cNvSpPr>
            <a:spLocks noGrp="1"/>
          </p:cNvSpPr>
          <p:nvPr>
            <p:ph type="ftr" sz="quarter" idx="11"/>
          </p:nvPr>
        </p:nvSpPr>
        <p:spPr/>
        <p:txBody>
          <a:bodyPr/>
          <a:lstStyle>
            <a:lvl1pPr>
              <a:defRPr/>
            </a:lvl1pPr>
          </a:lstStyle>
          <a:p>
            <a:pPr>
              <a:defRPr/>
            </a:pPr>
            <a:r>
              <a:rPr lang="zh-TW" altLang="en-US"/>
              <a:t>軟體系統實驗室</a:t>
            </a:r>
          </a:p>
        </p:txBody>
      </p:sp>
      <p:sp>
        <p:nvSpPr>
          <p:cNvPr id="6" name="投影片編號版面配置區 5">
            <a:extLst>
              <a:ext uri="{FF2B5EF4-FFF2-40B4-BE49-F238E27FC236}">
                <a16:creationId xmlns:a16="http://schemas.microsoft.com/office/drawing/2014/main" id="{E92522C6-ADE6-C245-8EA8-0F38BC38ACAA}"/>
              </a:ext>
            </a:extLst>
          </p:cNvPr>
          <p:cNvSpPr>
            <a:spLocks noGrp="1"/>
          </p:cNvSpPr>
          <p:nvPr>
            <p:ph type="sldNum" sz="quarter" idx="12"/>
          </p:nvPr>
        </p:nvSpPr>
        <p:spPr/>
        <p:txBody>
          <a:bodyPr/>
          <a:lstStyle>
            <a:lvl1pPr>
              <a:defRPr/>
            </a:lvl1pPr>
          </a:lstStyle>
          <a:p>
            <a:fld id="{03B1DD0D-936E-EE40-A44C-CBC2431D0812}" type="slidenum">
              <a:rPr lang="zh-TW" altLang="en-US"/>
              <a:pPr/>
              <a:t>‹#›</a:t>
            </a:fld>
            <a:endParaRPr lang="zh-TW" altLang="en-US"/>
          </a:p>
        </p:txBody>
      </p:sp>
    </p:spTree>
    <p:extLst>
      <p:ext uri="{BB962C8B-B14F-4D97-AF65-F5344CB8AC3E}">
        <p14:creationId xmlns:p14="http://schemas.microsoft.com/office/powerpoint/2010/main" val="36711751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3">
            <a:extLst>
              <a:ext uri="{FF2B5EF4-FFF2-40B4-BE49-F238E27FC236}">
                <a16:creationId xmlns:a16="http://schemas.microsoft.com/office/drawing/2014/main" id="{DCE94036-239E-DC44-962B-3195286ABAF5}"/>
              </a:ext>
            </a:extLst>
          </p:cNvPr>
          <p:cNvSpPr>
            <a:spLocks noGrp="1"/>
          </p:cNvSpPr>
          <p:nvPr>
            <p:ph type="dt" sz="half" idx="10"/>
          </p:nvPr>
        </p:nvSpPr>
        <p:spPr/>
        <p:txBody>
          <a:bodyPr/>
          <a:lstStyle>
            <a:lvl1pPr>
              <a:defRPr/>
            </a:lvl1pPr>
          </a:lstStyle>
          <a:p>
            <a:pPr>
              <a:defRPr/>
            </a:pPr>
            <a:fld id="{C34F742B-D7CF-ED4A-8E92-BB72B3477EDA}" type="datetime1">
              <a:rPr lang="zh-TW" altLang="en-US"/>
              <a:pPr>
                <a:defRPr/>
              </a:pPr>
              <a:t>2025/11/16</a:t>
            </a:fld>
            <a:endParaRPr lang="zh-TW" altLang="en-US"/>
          </a:p>
        </p:txBody>
      </p:sp>
      <p:sp>
        <p:nvSpPr>
          <p:cNvPr id="6" name="頁尾版面配置區 4">
            <a:extLst>
              <a:ext uri="{FF2B5EF4-FFF2-40B4-BE49-F238E27FC236}">
                <a16:creationId xmlns:a16="http://schemas.microsoft.com/office/drawing/2014/main" id="{4C11FDE5-261B-E646-9E6B-1B934665DE7D}"/>
              </a:ext>
            </a:extLst>
          </p:cNvPr>
          <p:cNvSpPr>
            <a:spLocks noGrp="1"/>
          </p:cNvSpPr>
          <p:nvPr>
            <p:ph type="ftr" sz="quarter" idx="11"/>
          </p:nvPr>
        </p:nvSpPr>
        <p:spPr/>
        <p:txBody>
          <a:bodyPr/>
          <a:lstStyle>
            <a:lvl1pPr>
              <a:defRPr/>
            </a:lvl1pPr>
          </a:lstStyle>
          <a:p>
            <a:pPr>
              <a:defRPr/>
            </a:pPr>
            <a:r>
              <a:rPr lang="zh-TW" altLang="en-US"/>
              <a:t>軟體系統實驗室</a:t>
            </a:r>
          </a:p>
        </p:txBody>
      </p:sp>
      <p:sp>
        <p:nvSpPr>
          <p:cNvPr id="7" name="投影片編號版面配置區 5">
            <a:extLst>
              <a:ext uri="{FF2B5EF4-FFF2-40B4-BE49-F238E27FC236}">
                <a16:creationId xmlns:a16="http://schemas.microsoft.com/office/drawing/2014/main" id="{230567DF-5C55-874A-9A29-994170111E8B}"/>
              </a:ext>
            </a:extLst>
          </p:cNvPr>
          <p:cNvSpPr>
            <a:spLocks noGrp="1"/>
          </p:cNvSpPr>
          <p:nvPr>
            <p:ph type="sldNum" sz="quarter" idx="12"/>
          </p:nvPr>
        </p:nvSpPr>
        <p:spPr/>
        <p:txBody>
          <a:bodyPr/>
          <a:lstStyle>
            <a:lvl1pPr>
              <a:defRPr/>
            </a:lvl1pPr>
          </a:lstStyle>
          <a:p>
            <a:fld id="{1AF76522-9632-F54C-A224-CA4B5D733566}" type="slidenum">
              <a:rPr lang="zh-TW" altLang="en-US"/>
              <a:pPr/>
              <a:t>‹#›</a:t>
            </a:fld>
            <a:endParaRPr lang="zh-TW" altLang="en-US"/>
          </a:p>
        </p:txBody>
      </p:sp>
    </p:spTree>
    <p:extLst>
      <p:ext uri="{BB962C8B-B14F-4D97-AF65-F5344CB8AC3E}">
        <p14:creationId xmlns:p14="http://schemas.microsoft.com/office/powerpoint/2010/main" val="17711974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3">
            <a:extLst>
              <a:ext uri="{FF2B5EF4-FFF2-40B4-BE49-F238E27FC236}">
                <a16:creationId xmlns:a16="http://schemas.microsoft.com/office/drawing/2014/main" id="{07B2D94B-5010-7D4B-92D5-88A19B75B741}"/>
              </a:ext>
            </a:extLst>
          </p:cNvPr>
          <p:cNvSpPr>
            <a:spLocks noGrp="1"/>
          </p:cNvSpPr>
          <p:nvPr>
            <p:ph type="dt" sz="half" idx="10"/>
          </p:nvPr>
        </p:nvSpPr>
        <p:spPr/>
        <p:txBody>
          <a:bodyPr/>
          <a:lstStyle>
            <a:lvl1pPr>
              <a:defRPr/>
            </a:lvl1pPr>
          </a:lstStyle>
          <a:p>
            <a:pPr>
              <a:defRPr/>
            </a:pPr>
            <a:fld id="{CAB70403-D632-DF46-9E91-7B75E81182C0}" type="datetime1">
              <a:rPr lang="zh-TW" altLang="en-US"/>
              <a:pPr>
                <a:defRPr/>
              </a:pPr>
              <a:t>2025/11/16</a:t>
            </a:fld>
            <a:endParaRPr lang="zh-TW" altLang="en-US"/>
          </a:p>
        </p:txBody>
      </p:sp>
      <p:sp>
        <p:nvSpPr>
          <p:cNvPr id="8" name="頁尾版面配置區 4">
            <a:extLst>
              <a:ext uri="{FF2B5EF4-FFF2-40B4-BE49-F238E27FC236}">
                <a16:creationId xmlns:a16="http://schemas.microsoft.com/office/drawing/2014/main" id="{1D2C3C2D-F1CB-1947-9D57-85BDB6F6A580}"/>
              </a:ext>
            </a:extLst>
          </p:cNvPr>
          <p:cNvSpPr>
            <a:spLocks noGrp="1"/>
          </p:cNvSpPr>
          <p:nvPr>
            <p:ph type="ftr" sz="quarter" idx="11"/>
          </p:nvPr>
        </p:nvSpPr>
        <p:spPr/>
        <p:txBody>
          <a:bodyPr/>
          <a:lstStyle>
            <a:lvl1pPr>
              <a:defRPr/>
            </a:lvl1pPr>
          </a:lstStyle>
          <a:p>
            <a:pPr>
              <a:defRPr/>
            </a:pPr>
            <a:r>
              <a:rPr lang="zh-TW" altLang="en-US"/>
              <a:t>軟體系統實驗室</a:t>
            </a:r>
          </a:p>
        </p:txBody>
      </p:sp>
      <p:sp>
        <p:nvSpPr>
          <p:cNvPr id="9" name="投影片編號版面配置區 5">
            <a:extLst>
              <a:ext uri="{FF2B5EF4-FFF2-40B4-BE49-F238E27FC236}">
                <a16:creationId xmlns:a16="http://schemas.microsoft.com/office/drawing/2014/main" id="{671207E0-3A26-2D45-9077-130B7F1E71ED}"/>
              </a:ext>
            </a:extLst>
          </p:cNvPr>
          <p:cNvSpPr>
            <a:spLocks noGrp="1"/>
          </p:cNvSpPr>
          <p:nvPr>
            <p:ph type="sldNum" sz="quarter" idx="12"/>
          </p:nvPr>
        </p:nvSpPr>
        <p:spPr/>
        <p:txBody>
          <a:bodyPr/>
          <a:lstStyle>
            <a:lvl1pPr>
              <a:defRPr/>
            </a:lvl1pPr>
          </a:lstStyle>
          <a:p>
            <a:fld id="{C88EF28A-A00B-164C-8258-F5A62DAE54CD}" type="slidenum">
              <a:rPr lang="zh-TW" altLang="en-US"/>
              <a:pPr/>
              <a:t>‹#›</a:t>
            </a:fld>
            <a:endParaRPr lang="zh-TW" altLang="en-US"/>
          </a:p>
        </p:txBody>
      </p:sp>
    </p:spTree>
    <p:extLst>
      <p:ext uri="{BB962C8B-B14F-4D97-AF65-F5344CB8AC3E}">
        <p14:creationId xmlns:p14="http://schemas.microsoft.com/office/powerpoint/2010/main" val="36367301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3">
            <a:extLst>
              <a:ext uri="{FF2B5EF4-FFF2-40B4-BE49-F238E27FC236}">
                <a16:creationId xmlns:a16="http://schemas.microsoft.com/office/drawing/2014/main" id="{8E3937A3-9726-7C47-A636-BAFA0E1847A9}"/>
              </a:ext>
            </a:extLst>
          </p:cNvPr>
          <p:cNvSpPr>
            <a:spLocks noGrp="1"/>
          </p:cNvSpPr>
          <p:nvPr>
            <p:ph type="dt" sz="half" idx="10"/>
          </p:nvPr>
        </p:nvSpPr>
        <p:spPr/>
        <p:txBody>
          <a:bodyPr/>
          <a:lstStyle>
            <a:lvl1pPr>
              <a:defRPr/>
            </a:lvl1pPr>
          </a:lstStyle>
          <a:p>
            <a:pPr>
              <a:defRPr/>
            </a:pPr>
            <a:fld id="{D4207772-2337-D346-925D-889AC70BF3B0}" type="datetime1">
              <a:rPr lang="zh-TW" altLang="en-US"/>
              <a:pPr>
                <a:defRPr/>
              </a:pPr>
              <a:t>2025/11/16</a:t>
            </a:fld>
            <a:endParaRPr lang="zh-TW" altLang="en-US"/>
          </a:p>
        </p:txBody>
      </p:sp>
      <p:sp>
        <p:nvSpPr>
          <p:cNvPr id="4" name="頁尾版面配置區 4">
            <a:extLst>
              <a:ext uri="{FF2B5EF4-FFF2-40B4-BE49-F238E27FC236}">
                <a16:creationId xmlns:a16="http://schemas.microsoft.com/office/drawing/2014/main" id="{B9079D60-3595-8A4D-BE79-236774F1AB30}"/>
              </a:ext>
            </a:extLst>
          </p:cNvPr>
          <p:cNvSpPr>
            <a:spLocks noGrp="1"/>
          </p:cNvSpPr>
          <p:nvPr>
            <p:ph type="ftr" sz="quarter" idx="11"/>
          </p:nvPr>
        </p:nvSpPr>
        <p:spPr/>
        <p:txBody>
          <a:bodyPr/>
          <a:lstStyle>
            <a:lvl1pPr>
              <a:defRPr/>
            </a:lvl1pPr>
          </a:lstStyle>
          <a:p>
            <a:pPr>
              <a:defRPr/>
            </a:pPr>
            <a:r>
              <a:rPr lang="zh-TW" altLang="en-US"/>
              <a:t>軟體系統實驗室</a:t>
            </a:r>
          </a:p>
        </p:txBody>
      </p:sp>
      <p:sp>
        <p:nvSpPr>
          <p:cNvPr id="5" name="投影片編號版面配置區 5">
            <a:extLst>
              <a:ext uri="{FF2B5EF4-FFF2-40B4-BE49-F238E27FC236}">
                <a16:creationId xmlns:a16="http://schemas.microsoft.com/office/drawing/2014/main" id="{41939247-32AE-AB4A-8985-23446EE2A92B}"/>
              </a:ext>
            </a:extLst>
          </p:cNvPr>
          <p:cNvSpPr>
            <a:spLocks noGrp="1"/>
          </p:cNvSpPr>
          <p:nvPr>
            <p:ph type="sldNum" sz="quarter" idx="12"/>
          </p:nvPr>
        </p:nvSpPr>
        <p:spPr/>
        <p:txBody>
          <a:bodyPr/>
          <a:lstStyle>
            <a:lvl1pPr>
              <a:defRPr/>
            </a:lvl1pPr>
          </a:lstStyle>
          <a:p>
            <a:fld id="{CFC49D30-CAF4-414B-97A1-37ED46EB9A5F}" type="slidenum">
              <a:rPr lang="zh-TW" altLang="en-US"/>
              <a:pPr/>
              <a:t>‹#›</a:t>
            </a:fld>
            <a:endParaRPr lang="zh-TW" altLang="en-US"/>
          </a:p>
        </p:txBody>
      </p:sp>
    </p:spTree>
    <p:extLst>
      <p:ext uri="{BB962C8B-B14F-4D97-AF65-F5344CB8AC3E}">
        <p14:creationId xmlns:p14="http://schemas.microsoft.com/office/powerpoint/2010/main" val="18445904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3">
            <a:extLst>
              <a:ext uri="{FF2B5EF4-FFF2-40B4-BE49-F238E27FC236}">
                <a16:creationId xmlns:a16="http://schemas.microsoft.com/office/drawing/2014/main" id="{8D9E443E-4F0B-5E43-8061-E17531D9CA85}"/>
              </a:ext>
            </a:extLst>
          </p:cNvPr>
          <p:cNvSpPr>
            <a:spLocks noGrp="1"/>
          </p:cNvSpPr>
          <p:nvPr>
            <p:ph type="dt" sz="half" idx="10"/>
          </p:nvPr>
        </p:nvSpPr>
        <p:spPr/>
        <p:txBody>
          <a:bodyPr/>
          <a:lstStyle>
            <a:lvl1pPr>
              <a:defRPr/>
            </a:lvl1pPr>
          </a:lstStyle>
          <a:p>
            <a:pPr>
              <a:defRPr/>
            </a:pPr>
            <a:fld id="{1B814998-86E4-F54C-A317-837D958D52C5}" type="datetime1">
              <a:rPr lang="zh-TW" altLang="en-US"/>
              <a:pPr>
                <a:defRPr/>
              </a:pPr>
              <a:t>2025/11/16</a:t>
            </a:fld>
            <a:endParaRPr lang="zh-TW" altLang="en-US"/>
          </a:p>
        </p:txBody>
      </p:sp>
      <p:sp>
        <p:nvSpPr>
          <p:cNvPr id="3" name="頁尾版面配置區 4">
            <a:extLst>
              <a:ext uri="{FF2B5EF4-FFF2-40B4-BE49-F238E27FC236}">
                <a16:creationId xmlns:a16="http://schemas.microsoft.com/office/drawing/2014/main" id="{C98D269C-3BF2-CB48-9F85-E585AC864B0B}"/>
              </a:ext>
            </a:extLst>
          </p:cNvPr>
          <p:cNvSpPr>
            <a:spLocks noGrp="1"/>
          </p:cNvSpPr>
          <p:nvPr>
            <p:ph type="ftr" sz="quarter" idx="11"/>
          </p:nvPr>
        </p:nvSpPr>
        <p:spPr/>
        <p:txBody>
          <a:bodyPr/>
          <a:lstStyle>
            <a:lvl1pPr>
              <a:defRPr/>
            </a:lvl1pPr>
          </a:lstStyle>
          <a:p>
            <a:pPr>
              <a:defRPr/>
            </a:pPr>
            <a:r>
              <a:rPr lang="zh-TW" altLang="en-US"/>
              <a:t>軟體系統實驗室</a:t>
            </a:r>
          </a:p>
        </p:txBody>
      </p:sp>
      <p:sp>
        <p:nvSpPr>
          <p:cNvPr id="4" name="投影片編號版面配置區 5">
            <a:extLst>
              <a:ext uri="{FF2B5EF4-FFF2-40B4-BE49-F238E27FC236}">
                <a16:creationId xmlns:a16="http://schemas.microsoft.com/office/drawing/2014/main" id="{7F83B7BE-CDCE-9646-8DD3-70B8F3B8AB44}"/>
              </a:ext>
            </a:extLst>
          </p:cNvPr>
          <p:cNvSpPr>
            <a:spLocks noGrp="1"/>
          </p:cNvSpPr>
          <p:nvPr>
            <p:ph type="sldNum" sz="quarter" idx="12"/>
          </p:nvPr>
        </p:nvSpPr>
        <p:spPr/>
        <p:txBody>
          <a:bodyPr/>
          <a:lstStyle>
            <a:lvl1pPr>
              <a:defRPr/>
            </a:lvl1pPr>
          </a:lstStyle>
          <a:p>
            <a:fld id="{D3F3EEED-CE98-6D44-B9BB-B57A2469ED34}" type="slidenum">
              <a:rPr lang="zh-TW" altLang="en-US"/>
              <a:pPr/>
              <a:t>‹#›</a:t>
            </a:fld>
            <a:endParaRPr lang="zh-TW" altLang="en-US"/>
          </a:p>
        </p:txBody>
      </p:sp>
    </p:spTree>
    <p:extLst>
      <p:ext uri="{BB962C8B-B14F-4D97-AF65-F5344CB8AC3E}">
        <p14:creationId xmlns:p14="http://schemas.microsoft.com/office/powerpoint/2010/main" val="9289055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09601" y="273050"/>
            <a:ext cx="4011084" cy="1162050"/>
          </a:xfrm>
        </p:spPr>
        <p:txBody>
          <a:bodyPr anchor="b"/>
          <a:lstStyle>
            <a:lvl1pPr algn="l">
              <a:defRPr sz="2000" b="0"/>
            </a:lvl1pPr>
          </a:lstStyle>
          <a:p>
            <a:r>
              <a:rPr lang="zh-TW" altLang="en-US"/>
              <a:t>按一下以編輯母片標題樣式</a:t>
            </a:r>
            <a:endParaRPr lang="zh-TW" altLang="en-US" dirty="0"/>
          </a:p>
        </p:txBody>
      </p:sp>
      <p:sp>
        <p:nvSpPr>
          <p:cNvPr id="3" name="內容版面配置區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3">
            <a:extLst>
              <a:ext uri="{FF2B5EF4-FFF2-40B4-BE49-F238E27FC236}">
                <a16:creationId xmlns:a16="http://schemas.microsoft.com/office/drawing/2014/main" id="{A76E2415-B555-E54A-8BBB-2A8CCB325817}"/>
              </a:ext>
            </a:extLst>
          </p:cNvPr>
          <p:cNvSpPr>
            <a:spLocks noGrp="1"/>
          </p:cNvSpPr>
          <p:nvPr>
            <p:ph type="dt" sz="half" idx="10"/>
          </p:nvPr>
        </p:nvSpPr>
        <p:spPr/>
        <p:txBody>
          <a:bodyPr/>
          <a:lstStyle>
            <a:lvl1pPr>
              <a:defRPr/>
            </a:lvl1pPr>
          </a:lstStyle>
          <a:p>
            <a:pPr>
              <a:defRPr/>
            </a:pPr>
            <a:fld id="{27622D31-D2F6-B442-BABD-0A4562A69D7C}" type="datetime1">
              <a:rPr lang="zh-TW" altLang="en-US"/>
              <a:pPr>
                <a:defRPr/>
              </a:pPr>
              <a:t>2025/11/16</a:t>
            </a:fld>
            <a:endParaRPr lang="zh-TW" altLang="en-US"/>
          </a:p>
        </p:txBody>
      </p:sp>
      <p:sp>
        <p:nvSpPr>
          <p:cNvPr id="6" name="頁尾版面配置區 4">
            <a:extLst>
              <a:ext uri="{FF2B5EF4-FFF2-40B4-BE49-F238E27FC236}">
                <a16:creationId xmlns:a16="http://schemas.microsoft.com/office/drawing/2014/main" id="{EA85740B-AEF6-F54F-87B7-026EDDA6821A}"/>
              </a:ext>
            </a:extLst>
          </p:cNvPr>
          <p:cNvSpPr>
            <a:spLocks noGrp="1"/>
          </p:cNvSpPr>
          <p:nvPr>
            <p:ph type="ftr" sz="quarter" idx="11"/>
          </p:nvPr>
        </p:nvSpPr>
        <p:spPr/>
        <p:txBody>
          <a:bodyPr/>
          <a:lstStyle>
            <a:lvl1pPr>
              <a:defRPr/>
            </a:lvl1pPr>
          </a:lstStyle>
          <a:p>
            <a:pPr>
              <a:defRPr/>
            </a:pPr>
            <a:r>
              <a:rPr lang="zh-TW" altLang="en-US"/>
              <a:t>軟體系統實驗室</a:t>
            </a:r>
          </a:p>
        </p:txBody>
      </p:sp>
      <p:sp>
        <p:nvSpPr>
          <p:cNvPr id="7" name="投影片編號版面配置區 5">
            <a:extLst>
              <a:ext uri="{FF2B5EF4-FFF2-40B4-BE49-F238E27FC236}">
                <a16:creationId xmlns:a16="http://schemas.microsoft.com/office/drawing/2014/main" id="{1B5626D5-3FBA-9948-8B6C-9C75A1150ED7}"/>
              </a:ext>
            </a:extLst>
          </p:cNvPr>
          <p:cNvSpPr>
            <a:spLocks noGrp="1"/>
          </p:cNvSpPr>
          <p:nvPr>
            <p:ph type="sldNum" sz="quarter" idx="12"/>
          </p:nvPr>
        </p:nvSpPr>
        <p:spPr/>
        <p:txBody>
          <a:bodyPr/>
          <a:lstStyle>
            <a:lvl1pPr>
              <a:defRPr/>
            </a:lvl1pPr>
          </a:lstStyle>
          <a:p>
            <a:fld id="{D33BB35E-2B1B-A84A-83C8-8751BB988801}" type="slidenum">
              <a:rPr lang="zh-TW" altLang="en-US"/>
              <a:pPr/>
              <a:t>‹#›</a:t>
            </a:fld>
            <a:endParaRPr lang="zh-TW" altLang="en-US"/>
          </a:p>
        </p:txBody>
      </p:sp>
    </p:spTree>
    <p:extLst>
      <p:ext uri="{BB962C8B-B14F-4D97-AF65-F5344CB8AC3E}">
        <p14:creationId xmlns:p14="http://schemas.microsoft.com/office/powerpoint/2010/main" val="1388547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2389717" y="4800600"/>
            <a:ext cx="7315200" cy="566738"/>
          </a:xfrm>
        </p:spPr>
        <p:txBody>
          <a:bodyPr anchor="b"/>
          <a:lstStyle>
            <a:lvl1pPr algn="l">
              <a:defRPr sz="2000" b="0"/>
            </a:lvl1pPr>
          </a:lstStyle>
          <a:p>
            <a:r>
              <a:rPr lang="zh-TW" altLang="en-US"/>
              <a:t>按一下以編輯母片標題樣式</a:t>
            </a:r>
          </a:p>
        </p:txBody>
      </p:sp>
      <p:sp>
        <p:nvSpPr>
          <p:cNvPr id="3" name="圖片版面配置區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TW" altLang="en-US" noProof="0"/>
              <a:t>按一下圖示以新增圖片</a:t>
            </a:r>
          </a:p>
        </p:txBody>
      </p:sp>
      <p:sp>
        <p:nvSpPr>
          <p:cNvPr id="4" name="文字版面配置區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3">
            <a:extLst>
              <a:ext uri="{FF2B5EF4-FFF2-40B4-BE49-F238E27FC236}">
                <a16:creationId xmlns:a16="http://schemas.microsoft.com/office/drawing/2014/main" id="{CEEE04EE-CB2B-DB4B-B5C9-F213F01F84FD}"/>
              </a:ext>
            </a:extLst>
          </p:cNvPr>
          <p:cNvSpPr>
            <a:spLocks noGrp="1"/>
          </p:cNvSpPr>
          <p:nvPr>
            <p:ph type="dt" sz="half" idx="10"/>
          </p:nvPr>
        </p:nvSpPr>
        <p:spPr/>
        <p:txBody>
          <a:bodyPr/>
          <a:lstStyle>
            <a:lvl1pPr>
              <a:defRPr/>
            </a:lvl1pPr>
          </a:lstStyle>
          <a:p>
            <a:pPr>
              <a:defRPr/>
            </a:pPr>
            <a:fld id="{3E817BD0-E9BD-D64A-9A1B-4D8D27389E80}" type="datetime1">
              <a:rPr lang="zh-TW" altLang="en-US"/>
              <a:pPr>
                <a:defRPr/>
              </a:pPr>
              <a:t>2025/11/16</a:t>
            </a:fld>
            <a:endParaRPr lang="zh-TW" altLang="en-US"/>
          </a:p>
        </p:txBody>
      </p:sp>
      <p:sp>
        <p:nvSpPr>
          <p:cNvPr id="6" name="頁尾版面配置區 4">
            <a:extLst>
              <a:ext uri="{FF2B5EF4-FFF2-40B4-BE49-F238E27FC236}">
                <a16:creationId xmlns:a16="http://schemas.microsoft.com/office/drawing/2014/main" id="{1640405F-18F5-A244-A0A9-B26A1B2882EC}"/>
              </a:ext>
            </a:extLst>
          </p:cNvPr>
          <p:cNvSpPr>
            <a:spLocks noGrp="1"/>
          </p:cNvSpPr>
          <p:nvPr>
            <p:ph type="ftr" sz="quarter" idx="11"/>
          </p:nvPr>
        </p:nvSpPr>
        <p:spPr/>
        <p:txBody>
          <a:bodyPr/>
          <a:lstStyle>
            <a:lvl1pPr>
              <a:defRPr/>
            </a:lvl1pPr>
          </a:lstStyle>
          <a:p>
            <a:pPr>
              <a:defRPr/>
            </a:pPr>
            <a:r>
              <a:rPr lang="zh-TW" altLang="en-US"/>
              <a:t>軟體系統實驗室</a:t>
            </a:r>
          </a:p>
        </p:txBody>
      </p:sp>
      <p:sp>
        <p:nvSpPr>
          <p:cNvPr id="7" name="投影片編號版面配置區 5">
            <a:extLst>
              <a:ext uri="{FF2B5EF4-FFF2-40B4-BE49-F238E27FC236}">
                <a16:creationId xmlns:a16="http://schemas.microsoft.com/office/drawing/2014/main" id="{9DD3C7A4-4412-FF4D-91EB-6DF257B43355}"/>
              </a:ext>
            </a:extLst>
          </p:cNvPr>
          <p:cNvSpPr>
            <a:spLocks noGrp="1"/>
          </p:cNvSpPr>
          <p:nvPr>
            <p:ph type="sldNum" sz="quarter" idx="12"/>
          </p:nvPr>
        </p:nvSpPr>
        <p:spPr/>
        <p:txBody>
          <a:bodyPr/>
          <a:lstStyle>
            <a:lvl1pPr>
              <a:defRPr/>
            </a:lvl1pPr>
          </a:lstStyle>
          <a:p>
            <a:fld id="{1BA7C781-276C-5943-A06C-3E7B1580FC3E}" type="slidenum">
              <a:rPr lang="zh-TW" altLang="en-US"/>
              <a:pPr/>
              <a:t>‹#›</a:t>
            </a:fld>
            <a:endParaRPr lang="zh-TW" altLang="en-US"/>
          </a:p>
        </p:txBody>
      </p:sp>
    </p:spTree>
    <p:extLst>
      <p:ext uri="{BB962C8B-B14F-4D97-AF65-F5344CB8AC3E}">
        <p14:creationId xmlns:p14="http://schemas.microsoft.com/office/powerpoint/2010/main" val="17970950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3892FEBB-25F0-B648-A81F-099879214D6C}"/>
              </a:ext>
            </a:extLst>
          </p:cNvPr>
          <p:cNvSpPr>
            <a:spLocks noGrp="1"/>
          </p:cNvSpPr>
          <p:nvPr>
            <p:ph type="dt" sz="half" idx="10"/>
          </p:nvPr>
        </p:nvSpPr>
        <p:spPr/>
        <p:txBody>
          <a:bodyPr/>
          <a:lstStyle>
            <a:lvl1pPr>
              <a:defRPr/>
            </a:lvl1pPr>
          </a:lstStyle>
          <a:p>
            <a:pPr>
              <a:defRPr/>
            </a:pPr>
            <a:fld id="{43B0D650-1C51-F34B-AD48-0FDABC6C81DE}" type="datetime1">
              <a:rPr lang="zh-TW" altLang="en-US"/>
              <a:pPr>
                <a:defRPr/>
              </a:pPr>
              <a:t>2025/11/16</a:t>
            </a:fld>
            <a:endParaRPr lang="zh-TW" altLang="en-US"/>
          </a:p>
        </p:txBody>
      </p:sp>
      <p:sp>
        <p:nvSpPr>
          <p:cNvPr id="5" name="頁尾版面配置區 4">
            <a:extLst>
              <a:ext uri="{FF2B5EF4-FFF2-40B4-BE49-F238E27FC236}">
                <a16:creationId xmlns:a16="http://schemas.microsoft.com/office/drawing/2014/main" id="{DD011164-54FB-E64A-BBAE-79167F7F3A6D}"/>
              </a:ext>
            </a:extLst>
          </p:cNvPr>
          <p:cNvSpPr>
            <a:spLocks noGrp="1"/>
          </p:cNvSpPr>
          <p:nvPr>
            <p:ph type="ftr" sz="quarter" idx="11"/>
          </p:nvPr>
        </p:nvSpPr>
        <p:spPr/>
        <p:txBody>
          <a:bodyPr/>
          <a:lstStyle>
            <a:lvl1pPr>
              <a:defRPr/>
            </a:lvl1pPr>
          </a:lstStyle>
          <a:p>
            <a:pPr>
              <a:defRPr/>
            </a:pPr>
            <a:r>
              <a:rPr lang="zh-TW" altLang="en-US"/>
              <a:t>軟體系統實驗室</a:t>
            </a:r>
          </a:p>
        </p:txBody>
      </p:sp>
      <p:sp>
        <p:nvSpPr>
          <p:cNvPr id="6" name="投影片編號版面配置區 5">
            <a:extLst>
              <a:ext uri="{FF2B5EF4-FFF2-40B4-BE49-F238E27FC236}">
                <a16:creationId xmlns:a16="http://schemas.microsoft.com/office/drawing/2014/main" id="{7AB86921-318C-CE4D-8EB1-4CA5E3407511}"/>
              </a:ext>
            </a:extLst>
          </p:cNvPr>
          <p:cNvSpPr>
            <a:spLocks noGrp="1"/>
          </p:cNvSpPr>
          <p:nvPr>
            <p:ph type="sldNum" sz="quarter" idx="12"/>
          </p:nvPr>
        </p:nvSpPr>
        <p:spPr/>
        <p:txBody>
          <a:bodyPr/>
          <a:lstStyle>
            <a:lvl1pPr>
              <a:defRPr/>
            </a:lvl1pPr>
          </a:lstStyle>
          <a:p>
            <a:fld id="{325FAFE3-E558-174E-B392-8469FA5B9F62}" type="slidenum">
              <a:rPr lang="zh-TW" altLang="en-US"/>
              <a:pPr/>
              <a:t>‹#›</a:t>
            </a:fld>
            <a:endParaRPr lang="zh-TW" altLang="en-US"/>
          </a:p>
        </p:txBody>
      </p:sp>
    </p:spTree>
    <p:extLst>
      <p:ext uri="{BB962C8B-B14F-4D97-AF65-F5344CB8AC3E}">
        <p14:creationId xmlns:p14="http://schemas.microsoft.com/office/powerpoint/2010/main" val="40973129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839200" y="274639"/>
            <a:ext cx="2743200" cy="5851525"/>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609600" y="274639"/>
            <a:ext cx="80264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4249D1E1-093E-4F44-9477-48896B63EA0D}"/>
              </a:ext>
            </a:extLst>
          </p:cNvPr>
          <p:cNvSpPr>
            <a:spLocks noGrp="1"/>
          </p:cNvSpPr>
          <p:nvPr>
            <p:ph type="dt" sz="half" idx="10"/>
          </p:nvPr>
        </p:nvSpPr>
        <p:spPr/>
        <p:txBody>
          <a:bodyPr/>
          <a:lstStyle>
            <a:lvl1pPr>
              <a:defRPr/>
            </a:lvl1pPr>
          </a:lstStyle>
          <a:p>
            <a:pPr>
              <a:defRPr/>
            </a:pPr>
            <a:fld id="{E1EECA2B-BFE1-B84C-82C1-E6839E512827}" type="datetime1">
              <a:rPr lang="zh-TW" altLang="en-US"/>
              <a:pPr>
                <a:defRPr/>
              </a:pPr>
              <a:t>2025/11/16</a:t>
            </a:fld>
            <a:endParaRPr lang="zh-TW" altLang="en-US"/>
          </a:p>
        </p:txBody>
      </p:sp>
      <p:sp>
        <p:nvSpPr>
          <p:cNvPr id="5" name="頁尾版面配置區 4">
            <a:extLst>
              <a:ext uri="{FF2B5EF4-FFF2-40B4-BE49-F238E27FC236}">
                <a16:creationId xmlns:a16="http://schemas.microsoft.com/office/drawing/2014/main" id="{40839CAD-E49D-894C-A0A5-F93DC7E0BA05}"/>
              </a:ext>
            </a:extLst>
          </p:cNvPr>
          <p:cNvSpPr>
            <a:spLocks noGrp="1"/>
          </p:cNvSpPr>
          <p:nvPr>
            <p:ph type="ftr" sz="quarter" idx="11"/>
          </p:nvPr>
        </p:nvSpPr>
        <p:spPr/>
        <p:txBody>
          <a:bodyPr/>
          <a:lstStyle>
            <a:lvl1pPr>
              <a:defRPr/>
            </a:lvl1pPr>
          </a:lstStyle>
          <a:p>
            <a:pPr>
              <a:defRPr/>
            </a:pPr>
            <a:r>
              <a:rPr lang="zh-TW" altLang="en-US"/>
              <a:t>軟體系統實驗室</a:t>
            </a:r>
          </a:p>
        </p:txBody>
      </p:sp>
      <p:sp>
        <p:nvSpPr>
          <p:cNvPr id="6" name="投影片編號版面配置區 5">
            <a:extLst>
              <a:ext uri="{FF2B5EF4-FFF2-40B4-BE49-F238E27FC236}">
                <a16:creationId xmlns:a16="http://schemas.microsoft.com/office/drawing/2014/main" id="{96854EB5-8045-D240-9FF8-639FCD595111}"/>
              </a:ext>
            </a:extLst>
          </p:cNvPr>
          <p:cNvSpPr>
            <a:spLocks noGrp="1"/>
          </p:cNvSpPr>
          <p:nvPr>
            <p:ph type="sldNum" sz="quarter" idx="12"/>
          </p:nvPr>
        </p:nvSpPr>
        <p:spPr/>
        <p:txBody>
          <a:bodyPr/>
          <a:lstStyle>
            <a:lvl1pPr>
              <a:defRPr/>
            </a:lvl1pPr>
          </a:lstStyle>
          <a:p>
            <a:fld id="{DB8BCEF1-9BBD-3548-8601-644E174525DB}" type="slidenum">
              <a:rPr lang="zh-TW" altLang="en-US"/>
              <a:pPr/>
              <a:t>‹#›</a:t>
            </a:fld>
            <a:endParaRPr lang="zh-TW" altLang="en-US"/>
          </a:p>
        </p:txBody>
      </p:sp>
    </p:spTree>
    <p:extLst>
      <p:ext uri="{BB962C8B-B14F-4D97-AF65-F5344CB8AC3E}">
        <p14:creationId xmlns:p14="http://schemas.microsoft.com/office/powerpoint/2010/main" val="18454675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標題版面配置區 1">
            <a:extLst>
              <a:ext uri="{FF2B5EF4-FFF2-40B4-BE49-F238E27FC236}">
                <a16:creationId xmlns:a16="http://schemas.microsoft.com/office/drawing/2014/main" id="{281B8F0B-D6E6-B341-BDAE-BC91CC7A502B}"/>
              </a:ext>
            </a:extLst>
          </p:cNvPr>
          <p:cNvSpPr>
            <a:spLocks noGrp="1"/>
          </p:cNvSpPr>
          <p:nvPr>
            <p:ph type="title"/>
          </p:nvPr>
        </p:nvSpPr>
        <p:spPr bwMode="auto">
          <a:xfrm>
            <a:off x="609600" y="274638"/>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dirty="0"/>
              <a:t>按一下以編輯母片標題樣式</a:t>
            </a:r>
          </a:p>
        </p:txBody>
      </p:sp>
      <p:sp>
        <p:nvSpPr>
          <p:cNvPr id="1027" name="文字版面配置區 2">
            <a:extLst>
              <a:ext uri="{FF2B5EF4-FFF2-40B4-BE49-F238E27FC236}">
                <a16:creationId xmlns:a16="http://schemas.microsoft.com/office/drawing/2014/main" id="{DE492205-464F-A747-80E6-22310BAE99AF}"/>
              </a:ext>
            </a:extLst>
          </p:cNvPr>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DC46677B-127B-D147-AB39-5EBA8F06CA0B}"/>
              </a:ext>
            </a:extLst>
          </p:cNvPr>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fontAlgn="auto">
              <a:spcBef>
                <a:spcPts val="0"/>
              </a:spcBef>
              <a:spcAft>
                <a:spcPts val="0"/>
              </a:spcAft>
              <a:defRPr kumimoji="0" sz="1200">
                <a:solidFill>
                  <a:schemeClr val="tx2">
                    <a:lumMod val="50000"/>
                  </a:schemeClr>
                </a:solidFill>
                <a:latin typeface="+mn-lt"/>
                <a:ea typeface="+mn-ea"/>
              </a:defRPr>
            </a:lvl1pPr>
          </a:lstStyle>
          <a:p>
            <a:pPr>
              <a:defRPr/>
            </a:pPr>
            <a:fld id="{97B58209-8791-EF4E-89D4-43D500B40DDD}" type="datetime1">
              <a:rPr lang="zh-TW" altLang="en-US"/>
              <a:pPr>
                <a:defRPr/>
              </a:pPr>
              <a:t>2025/11/16</a:t>
            </a:fld>
            <a:endParaRPr lang="zh-TW" altLang="en-US"/>
          </a:p>
        </p:txBody>
      </p:sp>
      <p:sp>
        <p:nvSpPr>
          <p:cNvPr id="5" name="頁尾版面配置區 4">
            <a:extLst>
              <a:ext uri="{FF2B5EF4-FFF2-40B4-BE49-F238E27FC236}">
                <a16:creationId xmlns:a16="http://schemas.microsoft.com/office/drawing/2014/main" id="{FE112E12-33E5-5540-9AAE-30EAEDC7EFCF}"/>
              </a:ext>
            </a:extLst>
          </p:cNvPr>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fontAlgn="auto">
              <a:spcBef>
                <a:spcPts val="0"/>
              </a:spcBef>
              <a:spcAft>
                <a:spcPts val="0"/>
              </a:spcAft>
              <a:defRPr kumimoji="0" sz="1200">
                <a:solidFill>
                  <a:schemeClr val="tx2">
                    <a:lumMod val="50000"/>
                  </a:schemeClr>
                </a:solidFill>
                <a:latin typeface="+mn-lt"/>
                <a:ea typeface="+mn-ea"/>
              </a:defRPr>
            </a:lvl1pPr>
          </a:lstStyle>
          <a:p>
            <a:pPr>
              <a:defRPr/>
            </a:pPr>
            <a:r>
              <a:rPr lang="zh-TW" altLang="en-US"/>
              <a:t>軟體系統實驗室</a:t>
            </a:r>
          </a:p>
        </p:txBody>
      </p:sp>
      <p:sp>
        <p:nvSpPr>
          <p:cNvPr id="6" name="投影片編號版面配置區 5">
            <a:extLst>
              <a:ext uri="{FF2B5EF4-FFF2-40B4-BE49-F238E27FC236}">
                <a16:creationId xmlns:a16="http://schemas.microsoft.com/office/drawing/2014/main" id="{EEEB2081-EF2E-AA43-B886-39C3918CD136}"/>
              </a:ext>
            </a:extLst>
          </p:cNvPr>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prstTxWarp prst="textNoShape">
              <a:avLst/>
            </a:prstTxWarp>
          </a:bodyPr>
          <a:lstStyle>
            <a:lvl1pPr algn="r">
              <a:defRPr kumimoji="0" sz="1200">
                <a:solidFill>
                  <a:srgbClr val="10253F"/>
                </a:solidFill>
                <a:latin typeface="Calibri" panose="020F0502020204030204" pitchFamily="34" charset="0"/>
              </a:defRPr>
            </a:lvl1pPr>
          </a:lstStyle>
          <a:p>
            <a:fld id="{9D7DFB71-712F-5248-B39F-18DB1FF16B86}" type="slidenum">
              <a:rPr lang="zh-TW" altLang="en-US"/>
              <a:pPr/>
              <a:t>‹#›</a:t>
            </a:fld>
            <a:endParaRPr lang="zh-TW" altLang="en-US"/>
          </a:p>
        </p:txBody>
      </p:sp>
    </p:spTree>
  </p:cSld>
  <p:clrMap bg1="lt1" tx1="dk1" bg2="lt2" tx2="dk2" accent1="accent1" accent2="accent2" accent3="accent3" accent4="accent4" accent5="accent5" accent6="accent6" hlink="hlink" folHlink="folHlink"/>
  <p:sldLayoutIdLst>
    <p:sldLayoutId id="2147483930" r:id="rId1"/>
    <p:sldLayoutId id="2147483920" r:id="rId2"/>
    <p:sldLayoutId id="2147483921" r:id="rId3"/>
    <p:sldLayoutId id="2147483922" r:id="rId4"/>
    <p:sldLayoutId id="2147483923" r:id="rId5"/>
    <p:sldLayoutId id="2147483924" r:id="rId6"/>
    <p:sldLayoutId id="2147483925" r:id="rId7"/>
    <p:sldLayoutId id="2147483926" r:id="rId8"/>
    <p:sldLayoutId id="2147483927" r:id="rId9"/>
    <p:sldLayoutId id="2147483928" r:id="rId10"/>
    <p:sldLayoutId id="2147483929" r:id="rId11"/>
  </p:sldLayoutIdLst>
  <p:hf hdr="0"/>
  <p:txStyles>
    <p:titleStyle>
      <a:lvl1pPr algn="ctr" rtl="0" eaLnBrk="1" fontAlgn="base" hangingPunct="1">
        <a:spcBef>
          <a:spcPct val="0"/>
        </a:spcBef>
        <a:spcAft>
          <a:spcPct val="0"/>
        </a:spcAft>
        <a:defRPr sz="4400" kern="1200">
          <a:ln w="18415" cmpd="sng">
            <a:solidFill>
              <a:srgbClr val="FFFFFF"/>
            </a:solidFill>
            <a:prstDash val="solid"/>
          </a:ln>
          <a:solidFill>
            <a:srgbClr val="FFFFFF"/>
          </a:solidFill>
          <a:effectLst>
            <a:outerShdw blurRad="63500" dir="3600000" algn="tl" rotWithShape="0">
              <a:srgbClr val="000000">
                <a:alpha val="70000"/>
              </a:srgbClr>
            </a:outerShdw>
          </a:effectLst>
          <a:latin typeface="微軟正黑體" pitchFamily="34" charset="-120"/>
          <a:ea typeface="微軟正黑體" pitchFamily="34" charset="-120"/>
          <a:cs typeface="+mj-cs"/>
        </a:defRPr>
      </a:lvl1pPr>
      <a:lvl2pPr algn="ctr" rtl="0" eaLnBrk="1" fontAlgn="base" hangingPunct="1">
        <a:spcBef>
          <a:spcPct val="0"/>
        </a:spcBef>
        <a:spcAft>
          <a:spcPct val="0"/>
        </a:spcAft>
        <a:defRPr sz="4400">
          <a:solidFill>
            <a:srgbClr val="FFFFFF"/>
          </a:solidFill>
          <a:latin typeface="微軟正黑體" pitchFamily="34" charset="-120"/>
          <a:ea typeface="微軟正黑體" pitchFamily="34" charset="-120"/>
        </a:defRPr>
      </a:lvl2pPr>
      <a:lvl3pPr algn="ctr" rtl="0" eaLnBrk="1" fontAlgn="base" hangingPunct="1">
        <a:spcBef>
          <a:spcPct val="0"/>
        </a:spcBef>
        <a:spcAft>
          <a:spcPct val="0"/>
        </a:spcAft>
        <a:defRPr sz="4400">
          <a:solidFill>
            <a:srgbClr val="FFFFFF"/>
          </a:solidFill>
          <a:latin typeface="微軟正黑體" pitchFamily="34" charset="-120"/>
          <a:ea typeface="微軟正黑體" pitchFamily="34" charset="-120"/>
        </a:defRPr>
      </a:lvl3pPr>
      <a:lvl4pPr algn="ctr" rtl="0" eaLnBrk="1" fontAlgn="base" hangingPunct="1">
        <a:spcBef>
          <a:spcPct val="0"/>
        </a:spcBef>
        <a:spcAft>
          <a:spcPct val="0"/>
        </a:spcAft>
        <a:defRPr sz="4400">
          <a:solidFill>
            <a:srgbClr val="FFFFFF"/>
          </a:solidFill>
          <a:latin typeface="微軟正黑體" pitchFamily="34" charset="-120"/>
          <a:ea typeface="微軟正黑體" pitchFamily="34" charset="-120"/>
        </a:defRPr>
      </a:lvl4pPr>
      <a:lvl5pPr algn="ctr" rtl="0" eaLnBrk="1" fontAlgn="base" hangingPunct="1">
        <a:spcBef>
          <a:spcPct val="0"/>
        </a:spcBef>
        <a:spcAft>
          <a:spcPct val="0"/>
        </a:spcAft>
        <a:defRPr sz="4400">
          <a:solidFill>
            <a:srgbClr val="FFFFFF"/>
          </a:solidFill>
          <a:latin typeface="微軟正黑體" pitchFamily="34" charset="-120"/>
          <a:ea typeface="微軟正黑體" pitchFamily="34" charset="-120"/>
        </a:defRPr>
      </a:lvl5pPr>
      <a:lvl6pPr marL="457200" algn="ctr" rtl="0" eaLnBrk="1" fontAlgn="base" hangingPunct="1">
        <a:spcBef>
          <a:spcPct val="0"/>
        </a:spcBef>
        <a:spcAft>
          <a:spcPct val="0"/>
        </a:spcAft>
        <a:defRPr sz="4400">
          <a:solidFill>
            <a:schemeClr val="bg1"/>
          </a:solidFill>
          <a:latin typeface="Calibri" pitchFamily="34" charset="0"/>
          <a:ea typeface="新細明體" charset="-120"/>
        </a:defRPr>
      </a:lvl6pPr>
      <a:lvl7pPr marL="914400" algn="ctr" rtl="0" eaLnBrk="1" fontAlgn="base" hangingPunct="1">
        <a:spcBef>
          <a:spcPct val="0"/>
        </a:spcBef>
        <a:spcAft>
          <a:spcPct val="0"/>
        </a:spcAft>
        <a:defRPr sz="4400">
          <a:solidFill>
            <a:schemeClr val="bg1"/>
          </a:solidFill>
          <a:latin typeface="Calibri" pitchFamily="34" charset="0"/>
          <a:ea typeface="新細明體" charset="-120"/>
        </a:defRPr>
      </a:lvl7pPr>
      <a:lvl8pPr marL="1371600" algn="ctr" rtl="0" eaLnBrk="1" fontAlgn="base" hangingPunct="1">
        <a:spcBef>
          <a:spcPct val="0"/>
        </a:spcBef>
        <a:spcAft>
          <a:spcPct val="0"/>
        </a:spcAft>
        <a:defRPr sz="4400">
          <a:solidFill>
            <a:schemeClr val="bg1"/>
          </a:solidFill>
          <a:latin typeface="Calibri" pitchFamily="34" charset="0"/>
          <a:ea typeface="新細明體" charset="-120"/>
        </a:defRPr>
      </a:lvl8pPr>
      <a:lvl9pPr marL="1828800" algn="ctr" rtl="0" eaLnBrk="1" fontAlgn="base" hangingPunct="1">
        <a:spcBef>
          <a:spcPct val="0"/>
        </a:spcBef>
        <a:spcAft>
          <a:spcPct val="0"/>
        </a:spcAft>
        <a:defRPr sz="4400">
          <a:solidFill>
            <a:schemeClr val="bg1"/>
          </a:solidFill>
          <a:latin typeface="Calibri" pitchFamily="34" charset="0"/>
          <a:ea typeface="新細明體" charset="-120"/>
        </a:defRPr>
      </a:lvl9pPr>
    </p:titleStyle>
    <p:bodyStyle>
      <a:lvl1pPr marL="342900" indent="-342900" algn="l" rtl="0" eaLnBrk="1" fontAlgn="base" hangingPunct="1">
        <a:spcBef>
          <a:spcPct val="20000"/>
        </a:spcBef>
        <a:spcAft>
          <a:spcPct val="0"/>
        </a:spcAft>
        <a:buFont typeface="Arial" panose="020B0604020202020204" pitchFamily="34" charset="0"/>
        <a:buChar char="•"/>
        <a:defRPr sz="3200" kern="1200">
          <a:solidFill>
            <a:srgbClr val="10253F"/>
          </a:solidFill>
          <a:latin typeface="Times New Roman" pitchFamily="18" charset="0"/>
          <a:ea typeface="標楷體" pitchFamily="65" charset="-120"/>
          <a:cs typeface="Times New Roman" pitchFamily="18" charset="0"/>
        </a:defRPr>
      </a:lvl1pPr>
      <a:lvl2pPr marL="742950" indent="-285750" algn="l" rtl="0" eaLnBrk="1" fontAlgn="base" hangingPunct="1">
        <a:spcBef>
          <a:spcPct val="20000"/>
        </a:spcBef>
        <a:spcAft>
          <a:spcPct val="0"/>
        </a:spcAft>
        <a:buFont typeface="Arial" panose="020B0604020202020204" pitchFamily="34" charset="0"/>
        <a:buChar char="–"/>
        <a:defRPr sz="2800" kern="1200">
          <a:solidFill>
            <a:srgbClr val="10253F"/>
          </a:solidFill>
          <a:latin typeface="Times New Roman" pitchFamily="18" charset="0"/>
          <a:ea typeface="標楷體" pitchFamily="65" charset="-120"/>
          <a:cs typeface="Times New Roman" pitchFamily="18" charset="0"/>
        </a:defRPr>
      </a:lvl2pPr>
      <a:lvl3pPr marL="1143000" indent="-228600" algn="l" rtl="0" eaLnBrk="1" fontAlgn="base" hangingPunct="1">
        <a:spcBef>
          <a:spcPct val="20000"/>
        </a:spcBef>
        <a:spcAft>
          <a:spcPct val="0"/>
        </a:spcAft>
        <a:buFont typeface="Arial" panose="020B0604020202020204" pitchFamily="34" charset="0"/>
        <a:buChar char="•"/>
        <a:defRPr sz="2400" kern="1200">
          <a:solidFill>
            <a:srgbClr val="10253F"/>
          </a:solidFill>
          <a:latin typeface="Times New Roman" pitchFamily="18" charset="0"/>
          <a:ea typeface="標楷體" pitchFamily="65" charset="-120"/>
          <a:cs typeface="Times New Roman" pitchFamily="18" charset="0"/>
        </a:defRPr>
      </a:lvl3pPr>
      <a:lvl4pPr marL="1600200" indent="-228600" algn="l" rtl="0" eaLnBrk="1" fontAlgn="base" hangingPunct="1">
        <a:spcBef>
          <a:spcPct val="20000"/>
        </a:spcBef>
        <a:spcAft>
          <a:spcPct val="0"/>
        </a:spcAft>
        <a:buFont typeface="Arial" panose="020B0604020202020204" pitchFamily="34" charset="0"/>
        <a:buChar char="–"/>
        <a:defRPr sz="2000" kern="1200">
          <a:solidFill>
            <a:srgbClr val="10253F"/>
          </a:solidFill>
          <a:latin typeface="Times New Roman" pitchFamily="18" charset="0"/>
          <a:ea typeface="標楷體" pitchFamily="65" charset="-120"/>
          <a:cs typeface="Times New Roman" pitchFamily="18" charset="0"/>
        </a:defRPr>
      </a:lvl4pPr>
      <a:lvl5pPr marL="2057400" indent="-228600" algn="l" rtl="0" eaLnBrk="1" fontAlgn="base" hangingPunct="1">
        <a:spcBef>
          <a:spcPct val="20000"/>
        </a:spcBef>
        <a:spcAft>
          <a:spcPct val="0"/>
        </a:spcAft>
        <a:buFont typeface="Arial" panose="020B0604020202020204" pitchFamily="34" charset="0"/>
        <a:buChar char="»"/>
        <a:defRPr sz="2000" kern="1200">
          <a:solidFill>
            <a:srgbClr val="10253F"/>
          </a:solidFill>
          <a:latin typeface="Times New Roman" pitchFamily="18" charset="0"/>
          <a:ea typeface="標楷體" pitchFamily="65" charset="-120"/>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philschmid.de/mcp-introduction" TargetMode="External"/><Relationship Id="rId2" Type="http://schemas.openxmlformats.org/officeDocument/2006/relationships/hyperlink" Target="https://teddy-chen-tw.blogspot.com/2015/05/pattern5force.html" TargetMode="External"/><Relationship Id="rId1" Type="http://schemas.openxmlformats.org/officeDocument/2006/relationships/slideLayout" Target="../slideLayouts/slideLayout2.xml"/><Relationship Id="rId6" Type="http://schemas.openxmlformats.org/officeDocument/2006/relationships/hyperlink" Target="https://learn.microsoft.com/zh-tw/azure/databricks/generative-ai/retrieval-augmented-generation" TargetMode="External"/><Relationship Id="rId5" Type="http://schemas.openxmlformats.org/officeDocument/2006/relationships/hyperlink" Target="https://github.com/modelcontextprotocol/servers" TargetMode="External"/><Relationship Id="rId4" Type="http://schemas.openxmlformats.org/officeDocument/2006/relationships/hyperlink" Target="https://www.anthropic.com/news/model-context-protocol"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github.com/chun-wei0413/mcp-registry"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97298BE-2A98-A94F-98A2-4F0602CE47C7}"/>
              </a:ext>
            </a:extLst>
          </p:cNvPr>
          <p:cNvSpPr>
            <a:spLocks noGrp="1"/>
          </p:cNvSpPr>
          <p:nvPr>
            <p:ph type="ctrTitle"/>
          </p:nvPr>
        </p:nvSpPr>
        <p:spPr>
          <a:xfrm>
            <a:off x="371935" y="908720"/>
            <a:ext cx="11305256" cy="1656184"/>
          </a:xfrm>
        </p:spPr>
        <p:txBody>
          <a:bodyPr/>
          <a:lstStyle/>
          <a:p>
            <a:pPr algn="ctr"/>
            <a:r>
              <a:rPr lang="en-US" altLang="zh-TW" dirty="0">
                <a:effectLst/>
              </a:rPr>
              <a:t>Solving the AI Context Crisis: A RAG-Based Context Provisioning MCP Server</a:t>
            </a:r>
            <a:endParaRPr lang="en-US" altLang="zh-TW" sz="3200" b="1" dirty="0"/>
          </a:p>
        </p:txBody>
      </p:sp>
      <p:sp>
        <p:nvSpPr>
          <p:cNvPr id="3" name="副標題 2">
            <a:extLst>
              <a:ext uri="{FF2B5EF4-FFF2-40B4-BE49-F238E27FC236}">
                <a16:creationId xmlns:a16="http://schemas.microsoft.com/office/drawing/2014/main" id="{15B61164-EE9C-4B41-BC07-29061A98CCC5}"/>
              </a:ext>
            </a:extLst>
          </p:cNvPr>
          <p:cNvSpPr>
            <a:spLocks noGrp="1"/>
          </p:cNvSpPr>
          <p:nvPr>
            <p:ph type="subTitle" idx="1"/>
          </p:nvPr>
        </p:nvSpPr>
        <p:spPr>
          <a:xfrm>
            <a:off x="2667000" y="3071813"/>
            <a:ext cx="6400800" cy="1752600"/>
          </a:xfrm>
        </p:spPr>
        <p:txBody>
          <a:bodyPr/>
          <a:lstStyle/>
          <a:p>
            <a:pPr>
              <a:buFont typeface="Arial" charset="0"/>
              <a:buNone/>
              <a:defRPr/>
            </a:pPr>
            <a:r>
              <a:rPr lang="zh-TW" altLang="en-US" dirty="0"/>
              <a:t>演講者：</a:t>
            </a:r>
            <a:r>
              <a:rPr lang="en-US" altLang="zh-TW" dirty="0"/>
              <a:t>Frank</a:t>
            </a:r>
          </a:p>
          <a:p>
            <a:pPr>
              <a:buFont typeface="Arial" charset="0"/>
              <a:buNone/>
              <a:defRPr/>
            </a:pPr>
            <a:endParaRPr lang="en-US" altLang="zh-TW" dirty="0"/>
          </a:p>
        </p:txBody>
      </p:sp>
      <p:sp>
        <p:nvSpPr>
          <p:cNvPr id="6" name="矩形 5">
            <a:extLst>
              <a:ext uri="{FF2B5EF4-FFF2-40B4-BE49-F238E27FC236}">
                <a16:creationId xmlns:a16="http://schemas.microsoft.com/office/drawing/2014/main" id="{C7B8B7A0-6627-2E4D-B940-F09CEFD8AD1B}"/>
              </a:ext>
            </a:extLst>
          </p:cNvPr>
          <p:cNvSpPr/>
          <p:nvPr/>
        </p:nvSpPr>
        <p:spPr>
          <a:xfrm>
            <a:off x="2667001" y="4500564"/>
            <a:ext cx="6715125" cy="904875"/>
          </a:xfrm>
          <a:prstGeom prst="rect">
            <a:avLst/>
          </a:prstGeom>
        </p:spPr>
        <p:txBody>
          <a:bodyPr>
            <a:spAutoFit/>
          </a:bodyPr>
          <a:lstStyle/>
          <a:p>
            <a:pPr>
              <a:spcBef>
                <a:spcPct val="20000"/>
              </a:spcBef>
              <a:defRPr/>
            </a:pPr>
            <a:r>
              <a:rPr lang="zh-TW" altLang="en-US" sz="2400" dirty="0">
                <a:solidFill>
                  <a:schemeClr val="bg1">
                    <a:lumMod val="95000"/>
                  </a:schemeClr>
                </a:solidFill>
                <a:latin typeface="Times New Roman" pitchFamily="18" charset="0"/>
                <a:ea typeface="標楷體" pitchFamily="65" charset="-120"/>
                <a:cs typeface="Times New Roman" pitchFamily="18" charset="0"/>
              </a:rPr>
              <a:t>國立台北科技大學　資訊工程系</a:t>
            </a:r>
            <a:endParaRPr lang="en-US" altLang="zh-TW" sz="2400" dirty="0">
              <a:solidFill>
                <a:schemeClr val="bg1">
                  <a:lumMod val="95000"/>
                </a:schemeClr>
              </a:solidFill>
              <a:latin typeface="Times New Roman" pitchFamily="18" charset="0"/>
              <a:ea typeface="標楷體" pitchFamily="65" charset="-120"/>
              <a:cs typeface="Times New Roman" pitchFamily="18" charset="0"/>
            </a:endParaRPr>
          </a:p>
          <a:p>
            <a:pPr>
              <a:spcBef>
                <a:spcPct val="20000"/>
              </a:spcBef>
              <a:defRPr/>
            </a:pPr>
            <a:r>
              <a:rPr lang="zh-TW" altLang="en-US" sz="2400" dirty="0">
                <a:solidFill>
                  <a:schemeClr val="bg1">
                    <a:lumMod val="95000"/>
                  </a:schemeClr>
                </a:solidFill>
                <a:latin typeface="Times New Roman" pitchFamily="18" charset="0"/>
                <a:ea typeface="標楷體" pitchFamily="65" charset="-120"/>
                <a:cs typeface="Times New Roman" pitchFamily="18" charset="0"/>
              </a:rPr>
              <a:t>指導教授：鄭有進、謝金雲</a:t>
            </a:r>
            <a:endParaRPr lang="en-US" altLang="zh-TW" sz="2400" dirty="0">
              <a:solidFill>
                <a:schemeClr val="bg1">
                  <a:lumMod val="95000"/>
                </a:schemeClr>
              </a:solidFill>
              <a:latin typeface="Times New Roman" pitchFamily="18" charset="0"/>
              <a:ea typeface="標楷體" pitchFamily="65" charset="-12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F017DAA5-975F-AF41-A215-18112FE86F6D}"/>
              </a:ext>
            </a:extLst>
          </p:cNvPr>
          <p:cNvSpPr>
            <a:spLocks noGrp="1"/>
          </p:cNvSpPr>
          <p:nvPr>
            <p:ph type="sldNum" sz="quarter" idx="12"/>
          </p:nvPr>
        </p:nvSpPr>
        <p:spPr/>
        <p:txBody>
          <a:bodyP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fld id="{149653C5-FE47-144B-98D6-FD4A24C463D1}" type="slidenum">
              <a:rPr kumimoji="0" lang="zh-TW" altLang="en-US">
                <a:solidFill>
                  <a:srgbClr val="10253F"/>
                </a:solidFill>
                <a:latin typeface="Calibri" panose="020F0502020204030204" pitchFamily="34" charset="0"/>
              </a:rPr>
              <a:pPr eaLnBrk="1" hangingPunct="1"/>
              <a:t>2</a:t>
            </a:fld>
            <a:endParaRPr kumimoji="0" lang="zh-TW" altLang="en-US">
              <a:solidFill>
                <a:srgbClr val="10253F"/>
              </a:solidFill>
              <a:latin typeface="Calibri" panose="020F0502020204030204" pitchFamily="34" charset="0"/>
            </a:endParaRPr>
          </a:p>
        </p:txBody>
      </p:sp>
      <p:sp>
        <p:nvSpPr>
          <p:cNvPr id="5" name="日期版面配置區 4">
            <a:extLst>
              <a:ext uri="{FF2B5EF4-FFF2-40B4-BE49-F238E27FC236}">
                <a16:creationId xmlns:a16="http://schemas.microsoft.com/office/drawing/2014/main" id="{05FBB558-7334-5B4A-8695-44058B960583}"/>
              </a:ext>
            </a:extLst>
          </p:cNvPr>
          <p:cNvSpPr>
            <a:spLocks noGrp="1"/>
          </p:cNvSpPr>
          <p:nvPr>
            <p:ph type="dt" sz="quarter" idx="10"/>
          </p:nvPr>
        </p:nvSpPr>
        <p:spPr/>
        <p:txBody>
          <a:bodyPr/>
          <a:lstStyle/>
          <a:p>
            <a:pPr>
              <a:defRPr/>
            </a:pPr>
            <a:fld id="{8C4365B6-F14D-4045-8E37-64E386527D75}" type="datetime1">
              <a:rPr lang="zh-TW" altLang="en-US"/>
              <a:pPr>
                <a:defRPr/>
              </a:pPr>
              <a:t>2025/11/16</a:t>
            </a:fld>
            <a:endParaRPr lang="zh-TW" altLang="en-US" dirty="0"/>
          </a:p>
        </p:txBody>
      </p:sp>
      <p:sp>
        <p:nvSpPr>
          <p:cNvPr id="7" name="頁尾版面配置區 6">
            <a:extLst>
              <a:ext uri="{FF2B5EF4-FFF2-40B4-BE49-F238E27FC236}">
                <a16:creationId xmlns:a16="http://schemas.microsoft.com/office/drawing/2014/main" id="{C0442A9D-A316-2F45-A251-37F31F617748}"/>
              </a:ext>
            </a:extLst>
          </p:cNvPr>
          <p:cNvSpPr>
            <a:spLocks noGrp="1"/>
          </p:cNvSpPr>
          <p:nvPr>
            <p:ph type="ftr" sz="quarter" idx="11"/>
          </p:nvPr>
        </p:nvSpPr>
        <p:spPr/>
        <p:txBody>
          <a:bodyPr/>
          <a:lstStyle/>
          <a:p>
            <a:pPr>
              <a:defRPr/>
            </a:pPr>
            <a:r>
              <a:rPr lang="zh-TW" altLang="en-US"/>
              <a:t>軟體系統實驗室</a:t>
            </a:r>
          </a:p>
        </p:txBody>
      </p:sp>
      <p:sp>
        <p:nvSpPr>
          <p:cNvPr id="8" name="標題 7">
            <a:extLst>
              <a:ext uri="{FF2B5EF4-FFF2-40B4-BE49-F238E27FC236}">
                <a16:creationId xmlns:a16="http://schemas.microsoft.com/office/drawing/2014/main" id="{C99CC9D9-B252-5F42-BDBF-A4C873E84374}"/>
              </a:ext>
            </a:extLst>
          </p:cNvPr>
          <p:cNvSpPr>
            <a:spLocks noGrp="1"/>
          </p:cNvSpPr>
          <p:nvPr>
            <p:ph type="title"/>
          </p:nvPr>
        </p:nvSpPr>
        <p:spPr/>
        <p:txBody>
          <a:bodyPr/>
          <a:lstStyle/>
          <a:p>
            <a:pPr>
              <a:defRPr/>
            </a:pPr>
            <a:r>
              <a:rPr lang="en-US" altLang="zh-TW" dirty="0"/>
              <a:t>Outline</a:t>
            </a:r>
            <a:endParaRPr lang="zh-TW" altLang="en-US" dirty="0"/>
          </a:p>
        </p:txBody>
      </p:sp>
      <p:sp>
        <p:nvSpPr>
          <p:cNvPr id="9" name="內容版面配置區 8">
            <a:extLst>
              <a:ext uri="{FF2B5EF4-FFF2-40B4-BE49-F238E27FC236}">
                <a16:creationId xmlns:a16="http://schemas.microsoft.com/office/drawing/2014/main" id="{EC445DD7-88C1-394B-A476-56FA5A102AE1}"/>
              </a:ext>
            </a:extLst>
          </p:cNvPr>
          <p:cNvSpPr>
            <a:spLocks noGrp="1"/>
          </p:cNvSpPr>
          <p:nvPr>
            <p:ph idx="1"/>
          </p:nvPr>
        </p:nvSpPr>
        <p:spPr>
          <a:xfrm>
            <a:off x="479376" y="2083656"/>
            <a:ext cx="10972800" cy="3605187"/>
          </a:xfrm>
        </p:spPr>
        <p:txBody>
          <a:bodyPr/>
          <a:lstStyle/>
          <a:p>
            <a:r>
              <a:rPr lang="en-US" altLang="zh-TW" dirty="0"/>
              <a:t>Background</a:t>
            </a:r>
          </a:p>
          <a:p>
            <a:pPr lvl="1"/>
            <a:r>
              <a:rPr lang="en-US" altLang="zh-TW" dirty="0"/>
              <a:t>Model Context Protocol(MCP)</a:t>
            </a:r>
          </a:p>
          <a:p>
            <a:pPr lvl="1"/>
            <a:r>
              <a:rPr lang="en-US" altLang="zh-TW" dirty="0"/>
              <a:t>Retrieval-Augmented Generation(RAG)</a:t>
            </a:r>
          </a:p>
          <a:p>
            <a:r>
              <a:rPr lang="en-US" altLang="zh-TW" dirty="0"/>
              <a:t>Context Provisioning MCP Server</a:t>
            </a:r>
          </a:p>
          <a:p>
            <a:r>
              <a:rPr lang="en-US" altLang="zh-TW" dirty="0"/>
              <a:t>Conclusion</a:t>
            </a:r>
          </a:p>
          <a:p>
            <a:r>
              <a:rPr lang="en-US" altLang="zh-TW" dirty="0"/>
              <a:t>Reference</a:t>
            </a:r>
          </a:p>
          <a:p>
            <a:pPr>
              <a:buFont typeface="Arial" charset="0"/>
              <a:buChar char="•"/>
              <a:defRPr/>
            </a:pPr>
            <a:endParaRPr lang="en-US" altLang="zh-TW"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92B65-0844-0169-4208-9ACA3F279919}"/>
            </a:ext>
          </a:extLst>
        </p:cNvPr>
        <p:cNvGrpSpPr/>
        <p:nvPr/>
      </p:nvGrpSpPr>
      <p:grpSpPr>
        <a:xfrm>
          <a:off x="0" y="0"/>
          <a:ext cx="0" cy="0"/>
          <a:chOff x="0" y="0"/>
          <a:chExt cx="0" cy="0"/>
        </a:xfrm>
      </p:grpSpPr>
      <p:sp>
        <p:nvSpPr>
          <p:cNvPr id="4" name="日期版面配置區 3">
            <a:extLst>
              <a:ext uri="{FF2B5EF4-FFF2-40B4-BE49-F238E27FC236}">
                <a16:creationId xmlns:a16="http://schemas.microsoft.com/office/drawing/2014/main" id="{802826B3-60B6-7D33-8D85-669B15F962B3}"/>
              </a:ext>
            </a:extLst>
          </p:cNvPr>
          <p:cNvSpPr>
            <a:spLocks noGrp="1"/>
          </p:cNvSpPr>
          <p:nvPr>
            <p:ph type="dt" sz="half" idx="10"/>
          </p:nvPr>
        </p:nvSpPr>
        <p:spPr/>
        <p:txBody>
          <a:bodyPr/>
          <a:lstStyle/>
          <a:p>
            <a:pPr>
              <a:defRPr/>
            </a:pPr>
            <a:fld id="{DFE053C5-6C4D-8948-A0B7-F6BA541D276A}" type="datetime1">
              <a:rPr lang="zh-TW" altLang="en-US" smtClean="0"/>
              <a:pPr>
                <a:defRPr/>
              </a:pPr>
              <a:t>2025/11/16</a:t>
            </a:fld>
            <a:endParaRPr lang="zh-TW" altLang="en-US"/>
          </a:p>
        </p:txBody>
      </p:sp>
      <p:sp>
        <p:nvSpPr>
          <p:cNvPr id="5" name="頁尾版面配置區 4">
            <a:extLst>
              <a:ext uri="{FF2B5EF4-FFF2-40B4-BE49-F238E27FC236}">
                <a16:creationId xmlns:a16="http://schemas.microsoft.com/office/drawing/2014/main" id="{0F693BFE-B4B3-E250-03D4-FCBF0DD64352}"/>
              </a:ext>
            </a:extLst>
          </p:cNvPr>
          <p:cNvSpPr>
            <a:spLocks noGrp="1"/>
          </p:cNvSpPr>
          <p:nvPr>
            <p:ph type="ftr" sz="quarter" idx="11"/>
          </p:nvPr>
        </p:nvSpPr>
        <p:spPr/>
        <p:txBody>
          <a:bodyPr/>
          <a:lstStyle/>
          <a:p>
            <a:pPr>
              <a:defRPr/>
            </a:pPr>
            <a:r>
              <a:rPr lang="zh-TW" altLang="en-US"/>
              <a:t>軟體系統實驗室</a:t>
            </a:r>
          </a:p>
        </p:txBody>
      </p:sp>
      <p:sp>
        <p:nvSpPr>
          <p:cNvPr id="6" name="投影片編號版面配置區 5">
            <a:extLst>
              <a:ext uri="{FF2B5EF4-FFF2-40B4-BE49-F238E27FC236}">
                <a16:creationId xmlns:a16="http://schemas.microsoft.com/office/drawing/2014/main" id="{A6611ECE-74F5-8B62-6526-9007DF77CC26}"/>
              </a:ext>
            </a:extLst>
          </p:cNvPr>
          <p:cNvSpPr>
            <a:spLocks noGrp="1"/>
          </p:cNvSpPr>
          <p:nvPr>
            <p:ph type="sldNum" sz="quarter" idx="12"/>
          </p:nvPr>
        </p:nvSpPr>
        <p:spPr/>
        <p:txBody>
          <a:bodyPr/>
          <a:lstStyle/>
          <a:p>
            <a:fld id="{7408114E-E8DD-9044-BC35-9779A826010B}" type="slidenum">
              <a:rPr lang="zh-TW" altLang="en-US" smtClean="0"/>
              <a:pPr/>
              <a:t>3</a:t>
            </a:fld>
            <a:endParaRPr lang="zh-TW" altLang="en-US"/>
          </a:p>
        </p:txBody>
      </p:sp>
      <p:sp>
        <p:nvSpPr>
          <p:cNvPr id="9" name="標題 7">
            <a:extLst>
              <a:ext uri="{FF2B5EF4-FFF2-40B4-BE49-F238E27FC236}">
                <a16:creationId xmlns:a16="http://schemas.microsoft.com/office/drawing/2014/main" id="{99B6B798-D895-202B-0891-EE4AB73A693B}"/>
              </a:ext>
            </a:extLst>
          </p:cNvPr>
          <p:cNvSpPr>
            <a:spLocks noGrp="1"/>
          </p:cNvSpPr>
          <p:nvPr>
            <p:ph type="title"/>
          </p:nvPr>
        </p:nvSpPr>
        <p:spPr>
          <a:xfrm>
            <a:off x="609600" y="274638"/>
            <a:ext cx="10972800" cy="1143000"/>
          </a:xfrm>
        </p:spPr>
        <p:txBody>
          <a:bodyPr/>
          <a:lstStyle/>
          <a:p>
            <a:pPr>
              <a:defRPr/>
            </a:pPr>
            <a:r>
              <a:rPr lang="en-US" altLang="zh-TW" dirty="0"/>
              <a:t>Background-MCP</a:t>
            </a:r>
            <a:endParaRPr lang="zh-TW" altLang="en-US" dirty="0"/>
          </a:p>
        </p:txBody>
      </p:sp>
      <p:sp>
        <p:nvSpPr>
          <p:cNvPr id="8" name="文字方塊 7">
            <a:extLst>
              <a:ext uri="{FF2B5EF4-FFF2-40B4-BE49-F238E27FC236}">
                <a16:creationId xmlns:a16="http://schemas.microsoft.com/office/drawing/2014/main" id="{54CE3B95-61BA-339D-9AB2-1986D3BD27A8}"/>
              </a:ext>
            </a:extLst>
          </p:cNvPr>
          <p:cNvSpPr txBox="1"/>
          <p:nvPr/>
        </p:nvSpPr>
        <p:spPr>
          <a:xfrm>
            <a:off x="263352" y="1859339"/>
            <a:ext cx="11521280" cy="3139321"/>
          </a:xfrm>
          <a:prstGeom prst="rect">
            <a:avLst/>
          </a:prstGeom>
          <a:noFill/>
        </p:spPr>
        <p:txBody>
          <a:bodyPr wrap="square" rtlCol="0">
            <a:spAutoFit/>
          </a:bodyPr>
          <a:lstStyle/>
          <a:p>
            <a:pPr algn="just"/>
            <a:r>
              <a:rPr lang="en-US" altLang="zh-TW" b="1" dirty="0"/>
              <a:t>MCP (Model Context Protocol)</a:t>
            </a:r>
            <a:r>
              <a:rPr lang="en-US" altLang="zh-TW" dirty="0"/>
              <a:t> is an open-source standard that connects AI applications to external systems.</a:t>
            </a:r>
          </a:p>
          <a:p>
            <a:pPr algn="just"/>
            <a:endParaRPr lang="en-US" altLang="zh-TW" dirty="0"/>
          </a:p>
          <a:p>
            <a:pPr algn="just"/>
            <a:r>
              <a:rPr lang="en-US" altLang="zh-TW" dirty="0"/>
              <a:t>Through MCP, AI like Claude or ChatGPT can connect to:</a:t>
            </a:r>
          </a:p>
          <a:p>
            <a:pPr algn="just"/>
            <a:r>
              <a:rPr lang="en-US" altLang="zh-TW" b="1" dirty="0"/>
              <a:t>Data sources</a:t>
            </a:r>
            <a:r>
              <a:rPr lang="en-US" altLang="zh-TW" dirty="0"/>
              <a:t> (local files, databases)</a:t>
            </a:r>
          </a:p>
          <a:p>
            <a:pPr algn="just"/>
            <a:r>
              <a:rPr lang="en-US" altLang="zh-TW" b="1" dirty="0"/>
              <a:t>Tools</a:t>
            </a:r>
            <a:r>
              <a:rPr lang="en-US" altLang="zh-TW" dirty="0"/>
              <a:t> (search engines, calculators)</a:t>
            </a:r>
          </a:p>
          <a:p>
            <a:pPr algn="just"/>
            <a:r>
              <a:rPr lang="en-US" altLang="zh-TW" b="1" dirty="0"/>
              <a:t>Workflows</a:t>
            </a:r>
            <a:r>
              <a:rPr lang="en-US" altLang="zh-TW" dirty="0"/>
              <a:t> (specific prompts)</a:t>
            </a:r>
          </a:p>
          <a:p>
            <a:pPr algn="just"/>
            <a:endParaRPr lang="en-US" altLang="zh-TW" dirty="0"/>
          </a:p>
          <a:p>
            <a:pPr algn="just"/>
            <a:r>
              <a:rPr lang="en-US" altLang="zh-TW" dirty="0"/>
              <a:t>This enables AI to access key information and perform tasks.</a:t>
            </a:r>
          </a:p>
          <a:p>
            <a:pPr algn="just"/>
            <a:endParaRPr lang="en-US" altLang="zh-TW" dirty="0"/>
          </a:p>
          <a:p>
            <a:pPr algn="just"/>
            <a:r>
              <a:rPr lang="en-US" altLang="zh-TW" b="1" dirty="0"/>
              <a:t>Simple analogy:</a:t>
            </a:r>
            <a:r>
              <a:rPr lang="en-US" altLang="zh-TW" dirty="0"/>
              <a:t> MCP is like a </a:t>
            </a:r>
            <a:r>
              <a:rPr lang="en-US" altLang="zh-TW" b="1" dirty="0">
                <a:solidFill>
                  <a:srgbClr val="FF0000"/>
                </a:solidFill>
              </a:rPr>
              <a:t>USB-C port for AI</a:t>
            </a:r>
            <a:r>
              <a:rPr lang="en-US" altLang="zh-TW" dirty="0"/>
              <a:t>—providing a standardized way for AI to plug into various external systems.</a:t>
            </a:r>
          </a:p>
        </p:txBody>
      </p:sp>
    </p:spTree>
    <p:extLst>
      <p:ext uri="{BB962C8B-B14F-4D97-AF65-F5344CB8AC3E}">
        <p14:creationId xmlns:p14="http://schemas.microsoft.com/office/powerpoint/2010/main" val="4212067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3EDB9-382E-E0F3-9AC2-E27AAAD85804}"/>
            </a:ext>
          </a:extLst>
        </p:cNvPr>
        <p:cNvGrpSpPr/>
        <p:nvPr/>
      </p:nvGrpSpPr>
      <p:grpSpPr>
        <a:xfrm>
          <a:off x="0" y="0"/>
          <a:ext cx="0" cy="0"/>
          <a:chOff x="0" y="0"/>
          <a:chExt cx="0" cy="0"/>
        </a:xfrm>
      </p:grpSpPr>
      <p:sp>
        <p:nvSpPr>
          <p:cNvPr id="4" name="日期版面配置區 3">
            <a:extLst>
              <a:ext uri="{FF2B5EF4-FFF2-40B4-BE49-F238E27FC236}">
                <a16:creationId xmlns:a16="http://schemas.microsoft.com/office/drawing/2014/main" id="{7C228018-B419-4DE9-B09B-C342BFDD0D01}"/>
              </a:ext>
            </a:extLst>
          </p:cNvPr>
          <p:cNvSpPr>
            <a:spLocks noGrp="1"/>
          </p:cNvSpPr>
          <p:nvPr>
            <p:ph type="dt" sz="half" idx="10"/>
          </p:nvPr>
        </p:nvSpPr>
        <p:spPr/>
        <p:txBody>
          <a:bodyPr/>
          <a:lstStyle/>
          <a:p>
            <a:pPr>
              <a:defRPr/>
            </a:pPr>
            <a:fld id="{DFE053C5-6C4D-8948-A0B7-F6BA541D276A}" type="datetime1">
              <a:rPr lang="zh-TW" altLang="en-US" smtClean="0"/>
              <a:pPr>
                <a:defRPr/>
              </a:pPr>
              <a:t>2025/11/16</a:t>
            </a:fld>
            <a:endParaRPr lang="zh-TW" altLang="en-US"/>
          </a:p>
        </p:txBody>
      </p:sp>
      <p:sp>
        <p:nvSpPr>
          <p:cNvPr id="5" name="頁尾版面配置區 4">
            <a:extLst>
              <a:ext uri="{FF2B5EF4-FFF2-40B4-BE49-F238E27FC236}">
                <a16:creationId xmlns:a16="http://schemas.microsoft.com/office/drawing/2014/main" id="{4F4C773F-C9CB-B3C4-E808-B2B81CEC877B}"/>
              </a:ext>
            </a:extLst>
          </p:cNvPr>
          <p:cNvSpPr>
            <a:spLocks noGrp="1"/>
          </p:cNvSpPr>
          <p:nvPr>
            <p:ph type="ftr" sz="quarter" idx="11"/>
          </p:nvPr>
        </p:nvSpPr>
        <p:spPr/>
        <p:txBody>
          <a:bodyPr/>
          <a:lstStyle/>
          <a:p>
            <a:pPr>
              <a:defRPr/>
            </a:pPr>
            <a:r>
              <a:rPr lang="zh-TW" altLang="en-US"/>
              <a:t>軟體系統實驗室</a:t>
            </a:r>
          </a:p>
        </p:txBody>
      </p:sp>
      <p:sp>
        <p:nvSpPr>
          <p:cNvPr id="6" name="投影片編號版面配置區 5">
            <a:extLst>
              <a:ext uri="{FF2B5EF4-FFF2-40B4-BE49-F238E27FC236}">
                <a16:creationId xmlns:a16="http://schemas.microsoft.com/office/drawing/2014/main" id="{A8FE9227-BF86-181B-F9F8-6FB9BC8F2A7D}"/>
              </a:ext>
            </a:extLst>
          </p:cNvPr>
          <p:cNvSpPr>
            <a:spLocks noGrp="1"/>
          </p:cNvSpPr>
          <p:nvPr>
            <p:ph type="sldNum" sz="quarter" idx="12"/>
          </p:nvPr>
        </p:nvSpPr>
        <p:spPr/>
        <p:txBody>
          <a:bodyPr/>
          <a:lstStyle/>
          <a:p>
            <a:fld id="{7408114E-E8DD-9044-BC35-9779A826010B}" type="slidenum">
              <a:rPr lang="zh-TW" altLang="en-US" smtClean="0"/>
              <a:pPr/>
              <a:t>4</a:t>
            </a:fld>
            <a:endParaRPr lang="zh-TW" altLang="en-US"/>
          </a:p>
        </p:txBody>
      </p:sp>
      <p:sp>
        <p:nvSpPr>
          <p:cNvPr id="9" name="標題 7">
            <a:extLst>
              <a:ext uri="{FF2B5EF4-FFF2-40B4-BE49-F238E27FC236}">
                <a16:creationId xmlns:a16="http://schemas.microsoft.com/office/drawing/2014/main" id="{FB160B0A-9AAA-86EC-3636-F936072963F7}"/>
              </a:ext>
            </a:extLst>
          </p:cNvPr>
          <p:cNvSpPr>
            <a:spLocks noGrp="1"/>
          </p:cNvSpPr>
          <p:nvPr>
            <p:ph type="title"/>
          </p:nvPr>
        </p:nvSpPr>
        <p:spPr>
          <a:xfrm>
            <a:off x="609600" y="274638"/>
            <a:ext cx="10972800" cy="1143000"/>
          </a:xfrm>
        </p:spPr>
        <p:txBody>
          <a:bodyPr/>
          <a:lstStyle/>
          <a:p>
            <a:pPr>
              <a:defRPr/>
            </a:pPr>
            <a:r>
              <a:rPr lang="en-US" altLang="zh-TW" dirty="0"/>
              <a:t>Background-MCP</a:t>
            </a:r>
            <a:endParaRPr lang="zh-TW" altLang="en-US" dirty="0"/>
          </a:p>
        </p:txBody>
      </p:sp>
      <p:pic>
        <p:nvPicPr>
          <p:cNvPr id="3" name="圖片 2">
            <a:extLst>
              <a:ext uri="{FF2B5EF4-FFF2-40B4-BE49-F238E27FC236}">
                <a16:creationId xmlns:a16="http://schemas.microsoft.com/office/drawing/2014/main" id="{BDF62436-1A14-9009-1DC8-409B93CBA066}"/>
              </a:ext>
            </a:extLst>
          </p:cNvPr>
          <p:cNvPicPr>
            <a:picLocks noChangeAspect="1"/>
          </p:cNvPicPr>
          <p:nvPr/>
        </p:nvPicPr>
        <p:blipFill>
          <a:blip r:embed="rId2"/>
          <a:stretch>
            <a:fillRect/>
          </a:stretch>
        </p:blipFill>
        <p:spPr>
          <a:xfrm>
            <a:off x="131676" y="2132856"/>
            <a:ext cx="11928648" cy="3276472"/>
          </a:xfrm>
          <a:prstGeom prst="rect">
            <a:avLst/>
          </a:prstGeom>
        </p:spPr>
      </p:pic>
    </p:spTree>
    <p:extLst>
      <p:ext uri="{BB962C8B-B14F-4D97-AF65-F5344CB8AC3E}">
        <p14:creationId xmlns:p14="http://schemas.microsoft.com/office/powerpoint/2010/main" val="40933790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3ABC72-DCD0-5494-627D-64A5A2865046}"/>
            </a:ext>
          </a:extLst>
        </p:cNvPr>
        <p:cNvGrpSpPr/>
        <p:nvPr/>
      </p:nvGrpSpPr>
      <p:grpSpPr>
        <a:xfrm>
          <a:off x="0" y="0"/>
          <a:ext cx="0" cy="0"/>
          <a:chOff x="0" y="0"/>
          <a:chExt cx="0" cy="0"/>
        </a:xfrm>
      </p:grpSpPr>
      <p:sp>
        <p:nvSpPr>
          <p:cNvPr id="4" name="日期版面配置區 3">
            <a:extLst>
              <a:ext uri="{FF2B5EF4-FFF2-40B4-BE49-F238E27FC236}">
                <a16:creationId xmlns:a16="http://schemas.microsoft.com/office/drawing/2014/main" id="{B2341DD6-80E3-70DE-3972-49AC38E6D36B}"/>
              </a:ext>
            </a:extLst>
          </p:cNvPr>
          <p:cNvSpPr>
            <a:spLocks noGrp="1"/>
          </p:cNvSpPr>
          <p:nvPr>
            <p:ph type="dt" sz="half" idx="10"/>
          </p:nvPr>
        </p:nvSpPr>
        <p:spPr/>
        <p:txBody>
          <a:bodyPr/>
          <a:lstStyle/>
          <a:p>
            <a:pPr>
              <a:defRPr/>
            </a:pPr>
            <a:fld id="{DFE053C5-6C4D-8948-A0B7-F6BA541D276A}" type="datetime1">
              <a:rPr lang="zh-TW" altLang="en-US" smtClean="0"/>
              <a:pPr>
                <a:defRPr/>
              </a:pPr>
              <a:t>2025/11/16</a:t>
            </a:fld>
            <a:endParaRPr lang="zh-TW" altLang="en-US"/>
          </a:p>
        </p:txBody>
      </p:sp>
      <p:sp>
        <p:nvSpPr>
          <p:cNvPr id="5" name="頁尾版面配置區 4">
            <a:extLst>
              <a:ext uri="{FF2B5EF4-FFF2-40B4-BE49-F238E27FC236}">
                <a16:creationId xmlns:a16="http://schemas.microsoft.com/office/drawing/2014/main" id="{EF86CD0A-FED7-8CD7-D0AD-796530A1476E}"/>
              </a:ext>
            </a:extLst>
          </p:cNvPr>
          <p:cNvSpPr>
            <a:spLocks noGrp="1"/>
          </p:cNvSpPr>
          <p:nvPr>
            <p:ph type="ftr" sz="quarter" idx="11"/>
          </p:nvPr>
        </p:nvSpPr>
        <p:spPr/>
        <p:txBody>
          <a:bodyPr/>
          <a:lstStyle/>
          <a:p>
            <a:pPr>
              <a:defRPr/>
            </a:pPr>
            <a:r>
              <a:rPr lang="zh-TW" altLang="en-US"/>
              <a:t>軟體系統實驗室</a:t>
            </a:r>
          </a:p>
        </p:txBody>
      </p:sp>
      <p:sp>
        <p:nvSpPr>
          <p:cNvPr id="6" name="投影片編號版面配置區 5">
            <a:extLst>
              <a:ext uri="{FF2B5EF4-FFF2-40B4-BE49-F238E27FC236}">
                <a16:creationId xmlns:a16="http://schemas.microsoft.com/office/drawing/2014/main" id="{49BE0747-BA5D-2DAA-1719-72C7693CC91C}"/>
              </a:ext>
            </a:extLst>
          </p:cNvPr>
          <p:cNvSpPr>
            <a:spLocks noGrp="1"/>
          </p:cNvSpPr>
          <p:nvPr>
            <p:ph type="sldNum" sz="quarter" idx="12"/>
          </p:nvPr>
        </p:nvSpPr>
        <p:spPr/>
        <p:txBody>
          <a:bodyPr/>
          <a:lstStyle/>
          <a:p>
            <a:fld id="{7408114E-E8DD-9044-BC35-9779A826010B}" type="slidenum">
              <a:rPr lang="zh-TW" altLang="en-US" smtClean="0"/>
              <a:pPr/>
              <a:t>5</a:t>
            </a:fld>
            <a:endParaRPr lang="zh-TW" altLang="en-US"/>
          </a:p>
        </p:txBody>
      </p:sp>
      <p:sp>
        <p:nvSpPr>
          <p:cNvPr id="9" name="標題 7">
            <a:extLst>
              <a:ext uri="{FF2B5EF4-FFF2-40B4-BE49-F238E27FC236}">
                <a16:creationId xmlns:a16="http://schemas.microsoft.com/office/drawing/2014/main" id="{FB6BE859-7CEE-E2F6-B1FD-43A88D5F115E}"/>
              </a:ext>
            </a:extLst>
          </p:cNvPr>
          <p:cNvSpPr>
            <a:spLocks noGrp="1"/>
          </p:cNvSpPr>
          <p:nvPr>
            <p:ph type="title"/>
          </p:nvPr>
        </p:nvSpPr>
        <p:spPr>
          <a:xfrm>
            <a:off x="609600" y="274638"/>
            <a:ext cx="10972800" cy="1143000"/>
          </a:xfrm>
        </p:spPr>
        <p:txBody>
          <a:bodyPr/>
          <a:lstStyle/>
          <a:p>
            <a:pPr>
              <a:defRPr/>
            </a:pPr>
            <a:r>
              <a:rPr lang="en-US" altLang="zh-TW" dirty="0"/>
              <a:t>Background-MCP</a:t>
            </a:r>
            <a:endParaRPr lang="zh-TW" altLang="en-US" dirty="0"/>
          </a:p>
        </p:txBody>
      </p:sp>
      <p:pic>
        <p:nvPicPr>
          <p:cNvPr id="11" name="圖片 10">
            <a:extLst>
              <a:ext uri="{FF2B5EF4-FFF2-40B4-BE49-F238E27FC236}">
                <a16:creationId xmlns:a16="http://schemas.microsoft.com/office/drawing/2014/main" id="{4969D52A-57D8-DF80-661E-7435AEDA6643}"/>
              </a:ext>
            </a:extLst>
          </p:cNvPr>
          <p:cNvPicPr>
            <a:picLocks noChangeAspect="1"/>
          </p:cNvPicPr>
          <p:nvPr/>
        </p:nvPicPr>
        <p:blipFill>
          <a:blip r:embed="rId3"/>
          <a:stretch>
            <a:fillRect/>
          </a:stretch>
        </p:blipFill>
        <p:spPr>
          <a:xfrm>
            <a:off x="782725" y="1579629"/>
            <a:ext cx="10626549" cy="4778950"/>
          </a:xfrm>
          <a:prstGeom prst="rect">
            <a:avLst/>
          </a:prstGeom>
        </p:spPr>
      </p:pic>
    </p:spTree>
    <p:extLst>
      <p:ext uri="{BB962C8B-B14F-4D97-AF65-F5344CB8AC3E}">
        <p14:creationId xmlns:p14="http://schemas.microsoft.com/office/powerpoint/2010/main" val="39252731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675C8-7176-499C-6994-A307517DDE7F}"/>
            </a:ext>
          </a:extLst>
        </p:cNvPr>
        <p:cNvGrpSpPr/>
        <p:nvPr/>
      </p:nvGrpSpPr>
      <p:grpSpPr>
        <a:xfrm>
          <a:off x="0" y="0"/>
          <a:ext cx="0" cy="0"/>
          <a:chOff x="0" y="0"/>
          <a:chExt cx="0" cy="0"/>
        </a:xfrm>
      </p:grpSpPr>
      <p:sp>
        <p:nvSpPr>
          <p:cNvPr id="4" name="日期版面配置區 3">
            <a:extLst>
              <a:ext uri="{FF2B5EF4-FFF2-40B4-BE49-F238E27FC236}">
                <a16:creationId xmlns:a16="http://schemas.microsoft.com/office/drawing/2014/main" id="{A3FBB027-6B07-53BE-D04D-D33ACACA2C93}"/>
              </a:ext>
            </a:extLst>
          </p:cNvPr>
          <p:cNvSpPr>
            <a:spLocks noGrp="1"/>
          </p:cNvSpPr>
          <p:nvPr>
            <p:ph type="dt" sz="half" idx="10"/>
          </p:nvPr>
        </p:nvSpPr>
        <p:spPr/>
        <p:txBody>
          <a:bodyPr/>
          <a:lstStyle/>
          <a:p>
            <a:pPr>
              <a:defRPr/>
            </a:pPr>
            <a:fld id="{DFE053C5-6C4D-8948-A0B7-F6BA541D276A}" type="datetime1">
              <a:rPr lang="zh-TW" altLang="en-US" smtClean="0"/>
              <a:pPr>
                <a:defRPr/>
              </a:pPr>
              <a:t>2025/11/16</a:t>
            </a:fld>
            <a:endParaRPr lang="zh-TW" altLang="en-US"/>
          </a:p>
        </p:txBody>
      </p:sp>
      <p:sp>
        <p:nvSpPr>
          <p:cNvPr id="5" name="頁尾版面配置區 4">
            <a:extLst>
              <a:ext uri="{FF2B5EF4-FFF2-40B4-BE49-F238E27FC236}">
                <a16:creationId xmlns:a16="http://schemas.microsoft.com/office/drawing/2014/main" id="{2C834590-8FC7-FCD3-B029-A9C28C0B1F37}"/>
              </a:ext>
            </a:extLst>
          </p:cNvPr>
          <p:cNvSpPr>
            <a:spLocks noGrp="1"/>
          </p:cNvSpPr>
          <p:nvPr>
            <p:ph type="ftr" sz="quarter" idx="11"/>
          </p:nvPr>
        </p:nvSpPr>
        <p:spPr/>
        <p:txBody>
          <a:bodyPr/>
          <a:lstStyle/>
          <a:p>
            <a:pPr>
              <a:defRPr/>
            </a:pPr>
            <a:r>
              <a:rPr lang="zh-TW" altLang="en-US"/>
              <a:t>軟體系統實驗室</a:t>
            </a:r>
          </a:p>
        </p:txBody>
      </p:sp>
      <p:sp>
        <p:nvSpPr>
          <p:cNvPr id="6" name="投影片編號版面配置區 5">
            <a:extLst>
              <a:ext uri="{FF2B5EF4-FFF2-40B4-BE49-F238E27FC236}">
                <a16:creationId xmlns:a16="http://schemas.microsoft.com/office/drawing/2014/main" id="{76406610-9FE6-03E3-D816-B60764DC554A}"/>
              </a:ext>
            </a:extLst>
          </p:cNvPr>
          <p:cNvSpPr>
            <a:spLocks noGrp="1"/>
          </p:cNvSpPr>
          <p:nvPr>
            <p:ph type="sldNum" sz="quarter" idx="12"/>
          </p:nvPr>
        </p:nvSpPr>
        <p:spPr/>
        <p:txBody>
          <a:bodyPr/>
          <a:lstStyle/>
          <a:p>
            <a:fld id="{7408114E-E8DD-9044-BC35-9779A826010B}" type="slidenum">
              <a:rPr lang="zh-TW" altLang="en-US" smtClean="0"/>
              <a:pPr/>
              <a:t>6</a:t>
            </a:fld>
            <a:endParaRPr lang="zh-TW" altLang="en-US"/>
          </a:p>
        </p:txBody>
      </p:sp>
      <p:sp>
        <p:nvSpPr>
          <p:cNvPr id="9" name="標題 7">
            <a:extLst>
              <a:ext uri="{FF2B5EF4-FFF2-40B4-BE49-F238E27FC236}">
                <a16:creationId xmlns:a16="http://schemas.microsoft.com/office/drawing/2014/main" id="{618F94AC-5B4C-3898-77E5-9612CD0EC3E5}"/>
              </a:ext>
            </a:extLst>
          </p:cNvPr>
          <p:cNvSpPr>
            <a:spLocks noGrp="1"/>
          </p:cNvSpPr>
          <p:nvPr>
            <p:ph type="title"/>
          </p:nvPr>
        </p:nvSpPr>
        <p:spPr>
          <a:xfrm>
            <a:off x="609600" y="274638"/>
            <a:ext cx="10972800" cy="1143000"/>
          </a:xfrm>
        </p:spPr>
        <p:txBody>
          <a:bodyPr/>
          <a:lstStyle/>
          <a:p>
            <a:pPr>
              <a:defRPr/>
            </a:pPr>
            <a:r>
              <a:rPr lang="en-US" altLang="zh-TW" dirty="0"/>
              <a:t>Background-RAG</a:t>
            </a:r>
            <a:endParaRPr lang="zh-TW" altLang="en-US" dirty="0"/>
          </a:p>
        </p:txBody>
      </p:sp>
      <p:sp>
        <p:nvSpPr>
          <p:cNvPr id="7" name="文字方塊 6">
            <a:extLst>
              <a:ext uri="{FF2B5EF4-FFF2-40B4-BE49-F238E27FC236}">
                <a16:creationId xmlns:a16="http://schemas.microsoft.com/office/drawing/2014/main" id="{85723A21-B52E-EC5C-0659-480E393E8BA6}"/>
              </a:ext>
            </a:extLst>
          </p:cNvPr>
          <p:cNvSpPr txBox="1"/>
          <p:nvPr/>
        </p:nvSpPr>
        <p:spPr>
          <a:xfrm>
            <a:off x="479376" y="1916832"/>
            <a:ext cx="10657184" cy="3323987"/>
          </a:xfrm>
          <a:prstGeom prst="rect">
            <a:avLst/>
          </a:prstGeom>
          <a:noFill/>
        </p:spPr>
        <p:txBody>
          <a:bodyPr wrap="square" rtlCol="0">
            <a:spAutoFit/>
          </a:bodyPr>
          <a:lstStyle/>
          <a:p>
            <a:r>
              <a:rPr lang="en-US" altLang="zh-TW" sz="3000" b="1" dirty="0">
                <a:latin typeface="Times New Roman" panose="02020603050405020304" pitchFamily="18" charset="0"/>
                <a:cs typeface="Times New Roman" panose="02020603050405020304" pitchFamily="18" charset="0"/>
              </a:rPr>
              <a:t>Retrieval-Augmented Generation (RAG)</a:t>
            </a:r>
            <a:r>
              <a:rPr lang="en-US" altLang="zh-TW" sz="3000" dirty="0">
                <a:latin typeface="Times New Roman" panose="02020603050405020304" pitchFamily="18" charset="0"/>
                <a:cs typeface="Times New Roman" panose="02020603050405020304" pitchFamily="18" charset="0"/>
              </a:rPr>
              <a:t> is a technology that combines information retrieval (Retrieval) and generative AI (Generation). Its primary goal is to address the issue of Large Language Models (LLMs) potentially producing inaccurate, outdated information, or "hallucinations," by retrieving relevant factual information from external knowledge sources to enhance the accuracy and reliability of the responses.</a:t>
            </a:r>
            <a:endParaRPr lang="zh-TW" altLang="en-US"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12494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260C9-8EE3-0EE7-CD6D-D4436A168300}"/>
            </a:ext>
          </a:extLst>
        </p:cNvPr>
        <p:cNvGrpSpPr/>
        <p:nvPr/>
      </p:nvGrpSpPr>
      <p:grpSpPr>
        <a:xfrm>
          <a:off x="0" y="0"/>
          <a:ext cx="0" cy="0"/>
          <a:chOff x="0" y="0"/>
          <a:chExt cx="0" cy="0"/>
        </a:xfrm>
      </p:grpSpPr>
      <p:sp>
        <p:nvSpPr>
          <p:cNvPr id="4" name="日期版面配置區 3">
            <a:extLst>
              <a:ext uri="{FF2B5EF4-FFF2-40B4-BE49-F238E27FC236}">
                <a16:creationId xmlns:a16="http://schemas.microsoft.com/office/drawing/2014/main" id="{9F16C1D9-1E6F-8B15-7B34-EA0F3077D640}"/>
              </a:ext>
            </a:extLst>
          </p:cNvPr>
          <p:cNvSpPr>
            <a:spLocks noGrp="1"/>
          </p:cNvSpPr>
          <p:nvPr>
            <p:ph type="dt" sz="half" idx="10"/>
          </p:nvPr>
        </p:nvSpPr>
        <p:spPr/>
        <p:txBody>
          <a:bodyPr/>
          <a:lstStyle/>
          <a:p>
            <a:pPr>
              <a:defRPr/>
            </a:pPr>
            <a:fld id="{DFE053C5-6C4D-8948-A0B7-F6BA541D276A}" type="datetime1">
              <a:rPr lang="zh-TW" altLang="en-US" smtClean="0"/>
              <a:pPr>
                <a:defRPr/>
              </a:pPr>
              <a:t>2025/11/16</a:t>
            </a:fld>
            <a:endParaRPr lang="zh-TW" altLang="en-US"/>
          </a:p>
        </p:txBody>
      </p:sp>
      <p:sp>
        <p:nvSpPr>
          <p:cNvPr id="5" name="頁尾版面配置區 4">
            <a:extLst>
              <a:ext uri="{FF2B5EF4-FFF2-40B4-BE49-F238E27FC236}">
                <a16:creationId xmlns:a16="http://schemas.microsoft.com/office/drawing/2014/main" id="{622E2899-9014-425D-C0A9-65F4510C3F3D}"/>
              </a:ext>
            </a:extLst>
          </p:cNvPr>
          <p:cNvSpPr>
            <a:spLocks noGrp="1"/>
          </p:cNvSpPr>
          <p:nvPr>
            <p:ph type="ftr" sz="quarter" idx="11"/>
          </p:nvPr>
        </p:nvSpPr>
        <p:spPr/>
        <p:txBody>
          <a:bodyPr/>
          <a:lstStyle/>
          <a:p>
            <a:pPr>
              <a:defRPr/>
            </a:pPr>
            <a:r>
              <a:rPr lang="zh-TW" altLang="en-US"/>
              <a:t>軟體系統實驗室</a:t>
            </a:r>
          </a:p>
        </p:txBody>
      </p:sp>
      <p:sp>
        <p:nvSpPr>
          <p:cNvPr id="6" name="投影片編號版面配置區 5">
            <a:extLst>
              <a:ext uri="{FF2B5EF4-FFF2-40B4-BE49-F238E27FC236}">
                <a16:creationId xmlns:a16="http://schemas.microsoft.com/office/drawing/2014/main" id="{61A645D4-9459-620F-A41B-D18B90294324}"/>
              </a:ext>
            </a:extLst>
          </p:cNvPr>
          <p:cNvSpPr>
            <a:spLocks noGrp="1"/>
          </p:cNvSpPr>
          <p:nvPr>
            <p:ph type="sldNum" sz="quarter" idx="12"/>
          </p:nvPr>
        </p:nvSpPr>
        <p:spPr/>
        <p:txBody>
          <a:bodyPr/>
          <a:lstStyle/>
          <a:p>
            <a:fld id="{7408114E-E8DD-9044-BC35-9779A826010B}" type="slidenum">
              <a:rPr lang="zh-TW" altLang="en-US" smtClean="0"/>
              <a:pPr/>
              <a:t>7</a:t>
            </a:fld>
            <a:endParaRPr lang="zh-TW" altLang="en-US"/>
          </a:p>
        </p:txBody>
      </p:sp>
      <p:sp>
        <p:nvSpPr>
          <p:cNvPr id="9" name="標題 7">
            <a:extLst>
              <a:ext uri="{FF2B5EF4-FFF2-40B4-BE49-F238E27FC236}">
                <a16:creationId xmlns:a16="http://schemas.microsoft.com/office/drawing/2014/main" id="{9A2A47C4-7B84-DCC0-EFC0-F3F909B82E63}"/>
              </a:ext>
            </a:extLst>
          </p:cNvPr>
          <p:cNvSpPr>
            <a:spLocks noGrp="1"/>
          </p:cNvSpPr>
          <p:nvPr>
            <p:ph type="title"/>
          </p:nvPr>
        </p:nvSpPr>
        <p:spPr>
          <a:xfrm>
            <a:off x="609600" y="274638"/>
            <a:ext cx="10972800" cy="1143000"/>
          </a:xfrm>
        </p:spPr>
        <p:txBody>
          <a:bodyPr/>
          <a:lstStyle/>
          <a:p>
            <a:pPr>
              <a:defRPr/>
            </a:pPr>
            <a:r>
              <a:rPr lang="en-US" altLang="zh-TW" dirty="0"/>
              <a:t>Background-RAG</a:t>
            </a:r>
            <a:endParaRPr lang="zh-TW" altLang="en-US" dirty="0"/>
          </a:p>
        </p:txBody>
      </p:sp>
      <p:pic>
        <p:nvPicPr>
          <p:cNvPr id="3" name="圖片 2">
            <a:extLst>
              <a:ext uri="{FF2B5EF4-FFF2-40B4-BE49-F238E27FC236}">
                <a16:creationId xmlns:a16="http://schemas.microsoft.com/office/drawing/2014/main" id="{6AD3E46F-33CF-6AE2-634B-F57DA0D2A965}"/>
              </a:ext>
            </a:extLst>
          </p:cNvPr>
          <p:cNvPicPr>
            <a:picLocks noChangeAspect="1"/>
          </p:cNvPicPr>
          <p:nvPr/>
        </p:nvPicPr>
        <p:blipFill>
          <a:blip r:embed="rId3"/>
          <a:stretch>
            <a:fillRect/>
          </a:stretch>
        </p:blipFill>
        <p:spPr>
          <a:xfrm>
            <a:off x="1145228" y="1330223"/>
            <a:ext cx="9901544" cy="5113544"/>
          </a:xfrm>
          <a:prstGeom prst="rect">
            <a:avLst/>
          </a:prstGeom>
        </p:spPr>
      </p:pic>
    </p:spTree>
    <p:extLst>
      <p:ext uri="{BB962C8B-B14F-4D97-AF65-F5344CB8AC3E}">
        <p14:creationId xmlns:p14="http://schemas.microsoft.com/office/powerpoint/2010/main" val="20206492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28E20-DD71-2E3D-CA67-A03B07703F4B}"/>
            </a:ext>
          </a:extLst>
        </p:cNvPr>
        <p:cNvGrpSpPr/>
        <p:nvPr/>
      </p:nvGrpSpPr>
      <p:grpSpPr>
        <a:xfrm>
          <a:off x="0" y="0"/>
          <a:ext cx="0" cy="0"/>
          <a:chOff x="0" y="0"/>
          <a:chExt cx="0" cy="0"/>
        </a:xfrm>
      </p:grpSpPr>
      <p:sp>
        <p:nvSpPr>
          <p:cNvPr id="4" name="日期版面配置區 3">
            <a:extLst>
              <a:ext uri="{FF2B5EF4-FFF2-40B4-BE49-F238E27FC236}">
                <a16:creationId xmlns:a16="http://schemas.microsoft.com/office/drawing/2014/main" id="{9F9DA7A8-A490-57A7-CAE3-50DFD497B9E2}"/>
              </a:ext>
            </a:extLst>
          </p:cNvPr>
          <p:cNvSpPr>
            <a:spLocks noGrp="1"/>
          </p:cNvSpPr>
          <p:nvPr>
            <p:ph type="dt" sz="half" idx="10"/>
          </p:nvPr>
        </p:nvSpPr>
        <p:spPr/>
        <p:txBody>
          <a:bodyPr/>
          <a:lstStyle/>
          <a:p>
            <a:pPr>
              <a:defRPr/>
            </a:pPr>
            <a:fld id="{DFE053C5-6C4D-8948-A0B7-F6BA541D276A}" type="datetime1">
              <a:rPr lang="zh-TW" altLang="en-US" smtClean="0"/>
              <a:pPr>
                <a:defRPr/>
              </a:pPr>
              <a:t>2025/11/16</a:t>
            </a:fld>
            <a:endParaRPr lang="zh-TW" altLang="en-US" dirty="0"/>
          </a:p>
        </p:txBody>
      </p:sp>
      <p:sp>
        <p:nvSpPr>
          <p:cNvPr id="5" name="頁尾版面配置區 4">
            <a:extLst>
              <a:ext uri="{FF2B5EF4-FFF2-40B4-BE49-F238E27FC236}">
                <a16:creationId xmlns:a16="http://schemas.microsoft.com/office/drawing/2014/main" id="{80B087C8-DB6D-A8C4-B093-DAC8F7702322}"/>
              </a:ext>
            </a:extLst>
          </p:cNvPr>
          <p:cNvSpPr>
            <a:spLocks noGrp="1"/>
          </p:cNvSpPr>
          <p:nvPr>
            <p:ph type="ftr" sz="quarter" idx="11"/>
          </p:nvPr>
        </p:nvSpPr>
        <p:spPr/>
        <p:txBody>
          <a:bodyPr/>
          <a:lstStyle/>
          <a:p>
            <a:pPr>
              <a:defRPr/>
            </a:pPr>
            <a:r>
              <a:rPr lang="zh-TW" altLang="en-US" dirty="0"/>
              <a:t>軟體系統實驗室</a:t>
            </a:r>
          </a:p>
        </p:txBody>
      </p:sp>
      <p:sp>
        <p:nvSpPr>
          <p:cNvPr id="6" name="投影片編號版面配置區 5">
            <a:extLst>
              <a:ext uri="{FF2B5EF4-FFF2-40B4-BE49-F238E27FC236}">
                <a16:creationId xmlns:a16="http://schemas.microsoft.com/office/drawing/2014/main" id="{1D6E6B25-DB16-1755-8FED-98F205B29B61}"/>
              </a:ext>
            </a:extLst>
          </p:cNvPr>
          <p:cNvSpPr>
            <a:spLocks noGrp="1"/>
          </p:cNvSpPr>
          <p:nvPr>
            <p:ph type="sldNum" sz="quarter" idx="12"/>
          </p:nvPr>
        </p:nvSpPr>
        <p:spPr/>
        <p:txBody>
          <a:bodyPr/>
          <a:lstStyle/>
          <a:p>
            <a:fld id="{7408114E-E8DD-9044-BC35-9779A826010B}" type="slidenum">
              <a:rPr lang="zh-TW" altLang="en-US" smtClean="0"/>
              <a:pPr/>
              <a:t>8</a:t>
            </a:fld>
            <a:endParaRPr lang="zh-TW" altLang="en-US"/>
          </a:p>
        </p:txBody>
      </p:sp>
      <p:sp>
        <p:nvSpPr>
          <p:cNvPr id="9" name="標題 7">
            <a:extLst>
              <a:ext uri="{FF2B5EF4-FFF2-40B4-BE49-F238E27FC236}">
                <a16:creationId xmlns:a16="http://schemas.microsoft.com/office/drawing/2014/main" id="{D03B803D-58EF-8602-26DA-586C139F83E6}"/>
              </a:ext>
            </a:extLst>
          </p:cNvPr>
          <p:cNvSpPr>
            <a:spLocks noGrp="1"/>
          </p:cNvSpPr>
          <p:nvPr>
            <p:ph type="title"/>
          </p:nvPr>
        </p:nvSpPr>
        <p:spPr>
          <a:xfrm>
            <a:off x="609600" y="274638"/>
            <a:ext cx="10972800" cy="1143000"/>
          </a:xfrm>
        </p:spPr>
        <p:txBody>
          <a:bodyPr/>
          <a:lstStyle/>
          <a:p>
            <a:r>
              <a:rPr lang="en-US" altLang="zh-TW" dirty="0"/>
              <a:t>Context Provisioning MCP Server </a:t>
            </a:r>
          </a:p>
        </p:txBody>
      </p:sp>
      <p:sp>
        <p:nvSpPr>
          <p:cNvPr id="2" name="文字方塊 1">
            <a:extLst>
              <a:ext uri="{FF2B5EF4-FFF2-40B4-BE49-F238E27FC236}">
                <a16:creationId xmlns:a16="http://schemas.microsoft.com/office/drawing/2014/main" id="{1CEEC0F4-0896-0223-BF44-61CAFB62713B}"/>
              </a:ext>
            </a:extLst>
          </p:cNvPr>
          <p:cNvSpPr txBox="1"/>
          <p:nvPr/>
        </p:nvSpPr>
        <p:spPr>
          <a:xfrm>
            <a:off x="191344" y="1486337"/>
            <a:ext cx="11449272" cy="3785652"/>
          </a:xfrm>
          <a:prstGeom prst="rect">
            <a:avLst/>
          </a:prstGeom>
          <a:noFill/>
        </p:spPr>
        <p:txBody>
          <a:bodyPr wrap="square" rtlCol="0">
            <a:spAutoFit/>
          </a:bodyPr>
          <a:lstStyle/>
          <a:p>
            <a:pPr algn="just"/>
            <a:r>
              <a:rPr lang="en-US" altLang="zh-TW" sz="4000" b="1" dirty="0">
                <a:solidFill>
                  <a:srgbClr val="FF0000"/>
                </a:solidFill>
                <a:latin typeface="Times New Roman" panose="02020603050405020304" pitchFamily="18" charset="0"/>
                <a:cs typeface="Times New Roman" panose="02020603050405020304" pitchFamily="18" charset="0"/>
              </a:rPr>
              <a:t>Context</a:t>
            </a:r>
          </a:p>
          <a:p>
            <a:pPr algn="just"/>
            <a:endParaRPr lang="en-US" altLang="zh-TW" sz="4000" b="1" dirty="0">
              <a:solidFill>
                <a:srgbClr val="FF0000"/>
              </a:solidFill>
              <a:latin typeface="Times New Roman" panose="02020603050405020304" pitchFamily="18" charset="0"/>
              <a:cs typeface="Times New Roman" panose="02020603050405020304" pitchFamily="18" charset="0"/>
            </a:endParaRPr>
          </a:p>
          <a:p>
            <a:pPr algn="just"/>
            <a:r>
              <a:rPr lang="en-US" altLang="zh-TW" sz="4000" dirty="0">
                <a:latin typeface="Times New Roman" panose="02020603050405020304" pitchFamily="18" charset="0"/>
                <a:cs typeface="Times New Roman" panose="02020603050405020304" pitchFamily="18" charset="0"/>
              </a:rPr>
              <a:t>	I am using ai coding with Claude code. And I hope all of my projects share a </a:t>
            </a:r>
            <a:r>
              <a:rPr lang="en-US" altLang="zh-TW" sz="4000" b="1" dirty="0">
                <a:latin typeface="Times New Roman" panose="02020603050405020304" pitchFamily="18" charset="0"/>
                <a:cs typeface="Times New Roman" panose="02020603050405020304" pitchFamily="18" charset="0"/>
              </a:rPr>
              <a:t>common</a:t>
            </a:r>
            <a:r>
              <a:rPr lang="en-US" altLang="zh-TW" sz="4000" dirty="0">
                <a:latin typeface="Times New Roman" panose="02020603050405020304" pitchFamily="18" charset="0"/>
                <a:cs typeface="Times New Roman" panose="02020603050405020304" pitchFamily="18" charset="0"/>
              </a:rPr>
              <a:t> set of development principles (</a:t>
            </a:r>
            <a:r>
              <a:rPr lang="en-US" altLang="zh-TW" sz="4000" dirty="0" err="1">
                <a:latin typeface="Times New Roman" panose="02020603050405020304" pitchFamily="18" charset="0"/>
                <a:cs typeface="Times New Roman" panose="02020603050405020304" pitchFamily="18" charset="0"/>
              </a:rPr>
              <a:t>e.g.,DDD</a:t>
            </a:r>
            <a:r>
              <a:rPr lang="en-US" altLang="zh-TW" sz="4000" dirty="0">
                <a:latin typeface="Times New Roman" panose="02020603050405020304" pitchFamily="18" charset="0"/>
                <a:cs typeface="Times New Roman" panose="02020603050405020304" pitchFamily="18" charset="0"/>
              </a:rPr>
              <a:t>, CA, Event Sourcing, CQRS) as a context while Claude code design a complex system.</a:t>
            </a:r>
            <a:endParaRPr lang="zh-TW" altLang="en-US"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509620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3AA54-A461-DC1B-E1A5-E32352469547}"/>
            </a:ext>
          </a:extLst>
        </p:cNvPr>
        <p:cNvGrpSpPr/>
        <p:nvPr/>
      </p:nvGrpSpPr>
      <p:grpSpPr>
        <a:xfrm>
          <a:off x="0" y="0"/>
          <a:ext cx="0" cy="0"/>
          <a:chOff x="0" y="0"/>
          <a:chExt cx="0" cy="0"/>
        </a:xfrm>
      </p:grpSpPr>
      <p:sp>
        <p:nvSpPr>
          <p:cNvPr id="4" name="日期版面配置區 3">
            <a:extLst>
              <a:ext uri="{FF2B5EF4-FFF2-40B4-BE49-F238E27FC236}">
                <a16:creationId xmlns:a16="http://schemas.microsoft.com/office/drawing/2014/main" id="{1468F826-D318-4D71-0F43-B55F867142CA}"/>
              </a:ext>
            </a:extLst>
          </p:cNvPr>
          <p:cNvSpPr>
            <a:spLocks noGrp="1"/>
          </p:cNvSpPr>
          <p:nvPr>
            <p:ph type="dt" sz="half" idx="10"/>
          </p:nvPr>
        </p:nvSpPr>
        <p:spPr/>
        <p:txBody>
          <a:bodyPr/>
          <a:lstStyle/>
          <a:p>
            <a:pPr>
              <a:defRPr/>
            </a:pPr>
            <a:fld id="{DFE053C5-6C4D-8948-A0B7-F6BA541D276A}" type="datetime1">
              <a:rPr lang="zh-TW" altLang="en-US" smtClean="0"/>
              <a:pPr>
                <a:defRPr/>
              </a:pPr>
              <a:t>2025/11/16</a:t>
            </a:fld>
            <a:endParaRPr lang="zh-TW" altLang="en-US" dirty="0"/>
          </a:p>
        </p:txBody>
      </p:sp>
      <p:sp>
        <p:nvSpPr>
          <p:cNvPr id="5" name="頁尾版面配置區 4">
            <a:extLst>
              <a:ext uri="{FF2B5EF4-FFF2-40B4-BE49-F238E27FC236}">
                <a16:creationId xmlns:a16="http://schemas.microsoft.com/office/drawing/2014/main" id="{FE75B83E-92F3-6EE9-C934-FBCCBE492EE2}"/>
              </a:ext>
            </a:extLst>
          </p:cNvPr>
          <p:cNvSpPr>
            <a:spLocks noGrp="1"/>
          </p:cNvSpPr>
          <p:nvPr>
            <p:ph type="ftr" sz="quarter" idx="11"/>
          </p:nvPr>
        </p:nvSpPr>
        <p:spPr/>
        <p:txBody>
          <a:bodyPr/>
          <a:lstStyle/>
          <a:p>
            <a:pPr>
              <a:defRPr/>
            </a:pPr>
            <a:r>
              <a:rPr lang="zh-TW" altLang="en-US" dirty="0"/>
              <a:t>軟體系統實驗室</a:t>
            </a:r>
          </a:p>
        </p:txBody>
      </p:sp>
      <p:sp>
        <p:nvSpPr>
          <p:cNvPr id="6" name="投影片編號版面配置區 5">
            <a:extLst>
              <a:ext uri="{FF2B5EF4-FFF2-40B4-BE49-F238E27FC236}">
                <a16:creationId xmlns:a16="http://schemas.microsoft.com/office/drawing/2014/main" id="{1E8FAF27-4DCD-2022-3E78-C8F26D32D509}"/>
              </a:ext>
            </a:extLst>
          </p:cNvPr>
          <p:cNvSpPr>
            <a:spLocks noGrp="1"/>
          </p:cNvSpPr>
          <p:nvPr>
            <p:ph type="sldNum" sz="quarter" idx="12"/>
          </p:nvPr>
        </p:nvSpPr>
        <p:spPr/>
        <p:txBody>
          <a:bodyPr/>
          <a:lstStyle/>
          <a:p>
            <a:fld id="{7408114E-E8DD-9044-BC35-9779A826010B}" type="slidenum">
              <a:rPr lang="zh-TW" altLang="en-US" smtClean="0"/>
              <a:pPr/>
              <a:t>9</a:t>
            </a:fld>
            <a:endParaRPr lang="zh-TW" altLang="en-US"/>
          </a:p>
        </p:txBody>
      </p:sp>
      <p:sp>
        <p:nvSpPr>
          <p:cNvPr id="9" name="標題 7">
            <a:extLst>
              <a:ext uri="{FF2B5EF4-FFF2-40B4-BE49-F238E27FC236}">
                <a16:creationId xmlns:a16="http://schemas.microsoft.com/office/drawing/2014/main" id="{0C87530A-53DA-1D6C-2FDD-C5594A10EDFD}"/>
              </a:ext>
            </a:extLst>
          </p:cNvPr>
          <p:cNvSpPr>
            <a:spLocks noGrp="1"/>
          </p:cNvSpPr>
          <p:nvPr>
            <p:ph type="title"/>
          </p:nvPr>
        </p:nvSpPr>
        <p:spPr>
          <a:xfrm>
            <a:off x="609600" y="274638"/>
            <a:ext cx="10972800" cy="1143000"/>
          </a:xfrm>
        </p:spPr>
        <p:txBody>
          <a:bodyPr/>
          <a:lstStyle/>
          <a:p>
            <a:r>
              <a:rPr lang="en-US" altLang="zh-TW" dirty="0"/>
              <a:t>Context Provisioning MCP Server </a:t>
            </a:r>
          </a:p>
        </p:txBody>
      </p:sp>
      <p:sp>
        <p:nvSpPr>
          <p:cNvPr id="2" name="文字方塊 1">
            <a:extLst>
              <a:ext uri="{FF2B5EF4-FFF2-40B4-BE49-F238E27FC236}">
                <a16:creationId xmlns:a16="http://schemas.microsoft.com/office/drawing/2014/main" id="{ED17112F-4F39-5288-8470-14700E1E916C}"/>
              </a:ext>
            </a:extLst>
          </p:cNvPr>
          <p:cNvSpPr txBox="1"/>
          <p:nvPr/>
        </p:nvSpPr>
        <p:spPr>
          <a:xfrm>
            <a:off x="263352" y="1417638"/>
            <a:ext cx="11449272" cy="3970318"/>
          </a:xfrm>
          <a:prstGeom prst="rect">
            <a:avLst/>
          </a:prstGeom>
          <a:noFill/>
        </p:spPr>
        <p:txBody>
          <a:bodyPr wrap="square" rtlCol="0">
            <a:spAutoFit/>
          </a:bodyPr>
          <a:lstStyle/>
          <a:p>
            <a:pPr algn="just"/>
            <a:r>
              <a:rPr lang="en-US" altLang="zh-TW" sz="4000" b="1" dirty="0">
                <a:solidFill>
                  <a:srgbClr val="FF0000"/>
                </a:solidFill>
                <a:latin typeface="Times New Roman" panose="02020603050405020304" pitchFamily="18" charset="0"/>
                <a:cs typeface="Times New Roman" panose="02020603050405020304" pitchFamily="18" charset="0"/>
              </a:rPr>
              <a:t>Problem</a:t>
            </a:r>
          </a:p>
          <a:p>
            <a:pPr algn="just"/>
            <a:r>
              <a:rPr lang="en-US" altLang="zh-TW" sz="4000" dirty="0">
                <a:latin typeface="Times New Roman" panose="02020603050405020304" pitchFamily="18" charset="0"/>
                <a:cs typeface="Times New Roman" panose="02020603050405020304" pitchFamily="18" charset="0"/>
              </a:rPr>
              <a:t>	How do we build a scalable, efficient, and reusable Context Provisioning System for an AI (Gemini CLI), enabling it to acquire the precise, relevant knowledge needed for a task without exceeding its Token Limit?</a:t>
            </a:r>
          </a:p>
          <a:p>
            <a:endParaRPr lang="zh-TW" alt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21910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7E708-C257-8AF8-19A1-C9F40D106B24}"/>
            </a:ext>
          </a:extLst>
        </p:cNvPr>
        <p:cNvGrpSpPr/>
        <p:nvPr/>
      </p:nvGrpSpPr>
      <p:grpSpPr>
        <a:xfrm>
          <a:off x="0" y="0"/>
          <a:ext cx="0" cy="0"/>
          <a:chOff x="0" y="0"/>
          <a:chExt cx="0" cy="0"/>
        </a:xfrm>
      </p:grpSpPr>
      <p:sp>
        <p:nvSpPr>
          <p:cNvPr id="4" name="日期版面配置區 3">
            <a:extLst>
              <a:ext uri="{FF2B5EF4-FFF2-40B4-BE49-F238E27FC236}">
                <a16:creationId xmlns:a16="http://schemas.microsoft.com/office/drawing/2014/main" id="{CA5F61CE-7C48-948D-32A3-2656FB43F6E6}"/>
              </a:ext>
            </a:extLst>
          </p:cNvPr>
          <p:cNvSpPr>
            <a:spLocks noGrp="1"/>
          </p:cNvSpPr>
          <p:nvPr>
            <p:ph type="dt" sz="half" idx="10"/>
          </p:nvPr>
        </p:nvSpPr>
        <p:spPr/>
        <p:txBody>
          <a:bodyPr/>
          <a:lstStyle/>
          <a:p>
            <a:pPr>
              <a:defRPr/>
            </a:pPr>
            <a:fld id="{DFE053C5-6C4D-8948-A0B7-F6BA541D276A}" type="datetime1">
              <a:rPr lang="zh-TW" altLang="en-US" smtClean="0"/>
              <a:pPr>
                <a:defRPr/>
              </a:pPr>
              <a:t>2025/11/16</a:t>
            </a:fld>
            <a:endParaRPr lang="zh-TW" altLang="en-US"/>
          </a:p>
        </p:txBody>
      </p:sp>
      <p:sp>
        <p:nvSpPr>
          <p:cNvPr id="5" name="頁尾版面配置區 4">
            <a:extLst>
              <a:ext uri="{FF2B5EF4-FFF2-40B4-BE49-F238E27FC236}">
                <a16:creationId xmlns:a16="http://schemas.microsoft.com/office/drawing/2014/main" id="{9CF264BA-0FFF-957B-8AD9-088BC304235D}"/>
              </a:ext>
            </a:extLst>
          </p:cNvPr>
          <p:cNvSpPr>
            <a:spLocks noGrp="1"/>
          </p:cNvSpPr>
          <p:nvPr>
            <p:ph type="ftr" sz="quarter" idx="11"/>
          </p:nvPr>
        </p:nvSpPr>
        <p:spPr/>
        <p:txBody>
          <a:bodyPr/>
          <a:lstStyle/>
          <a:p>
            <a:pPr>
              <a:defRPr/>
            </a:pPr>
            <a:r>
              <a:rPr lang="zh-TW" altLang="en-US" dirty="0"/>
              <a:t>軟體系統實驗室</a:t>
            </a:r>
          </a:p>
        </p:txBody>
      </p:sp>
      <p:sp>
        <p:nvSpPr>
          <p:cNvPr id="6" name="投影片編號版面配置區 5">
            <a:extLst>
              <a:ext uri="{FF2B5EF4-FFF2-40B4-BE49-F238E27FC236}">
                <a16:creationId xmlns:a16="http://schemas.microsoft.com/office/drawing/2014/main" id="{60EC9E5A-080F-148D-6823-F056C8ECED83}"/>
              </a:ext>
            </a:extLst>
          </p:cNvPr>
          <p:cNvSpPr>
            <a:spLocks noGrp="1"/>
          </p:cNvSpPr>
          <p:nvPr>
            <p:ph type="sldNum" sz="quarter" idx="12"/>
          </p:nvPr>
        </p:nvSpPr>
        <p:spPr/>
        <p:txBody>
          <a:bodyPr/>
          <a:lstStyle/>
          <a:p>
            <a:fld id="{7408114E-E8DD-9044-BC35-9779A826010B}" type="slidenum">
              <a:rPr lang="zh-TW" altLang="en-US" smtClean="0"/>
              <a:pPr/>
              <a:t>10</a:t>
            </a:fld>
            <a:endParaRPr lang="zh-TW" altLang="en-US"/>
          </a:p>
        </p:txBody>
      </p:sp>
      <p:sp>
        <p:nvSpPr>
          <p:cNvPr id="9" name="標題 7">
            <a:extLst>
              <a:ext uri="{FF2B5EF4-FFF2-40B4-BE49-F238E27FC236}">
                <a16:creationId xmlns:a16="http://schemas.microsoft.com/office/drawing/2014/main" id="{EDEAF219-A966-EF7F-90D2-45D7D3D84581}"/>
              </a:ext>
            </a:extLst>
          </p:cNvPr>
          <p:cNvSpPr>
            <a:spLocks noGrp="1"/>
          </p:cNvSpPr>
          <p:nvPr>
            <p:ph type="title"/>
          </p:nvPr>
        </p:nvSpPr>
        <p:spPr>
          <a:xfrm>
            <a:off x="609600" y="274638"/>
            <a:ext cx="10972800" cy="1143000"/>
          </a:xfrm>
        </p:spPr>
        <p:txBody>
          <a:bodyPr/>
          <a:lstStyle/>
          <a:p>
            <a:r>
              <a:rPr lang="en-US" altLang="zh-TW" dirty="0"/>
              <a:t>Context Provisioning MCP Server </a:t>
            </a:r>
          </a:p>
        </p:txBody>
      </p:sp>
      <p:sp>
        <p:nvSpPr>
          <p:cNvPr id="2" name="文字方塊 1">
            <a:extLst>
              <a:ext uri="{FF2B5EF4-FFF2-40B4-BE49-F238E27FC236}">
                <a16:creationId xmlns:a16="http://schemas.microsoft.com/office/drawing/2014/main" id="{3E6CB783-E027-4FD7-DCFC-3D9DDA12039B}"/>
              </a:ext>
            </a:extLst>
          </p:cNvPr>
          <p:cNvSpPr txBox="1"/>
          <p:nvPr/>
        </p:nvSpPr>
        <p:spPr>
          <a:xfrm>
            <a:off x="371364" y="1417638"/>
            <a:ext cx="11449272" cy="4185761"/>
          </a:xfrm>
          <a:prstGeom prst="rect">
            <a:avLst/>
          </a:prstGeom>
          <a:noFill/>
        </p:spPr>
        <p:txBody>
          <a:bodyPr wrap="square" rtlCol="0">
            <a:spAutoFit/>
          </a:bodyPr>
          <a:lstStyle/>
          <a:p>
            <a:pPr algn="just"/>
            <a:r>
              <a:rPr lang="en-US" altLang="zh-TW" sz="3500" b="1" dirty="0">
                <a:solidFill>
                  <a:srgbClr val="FF0000"/>
                </a:solidFill>
                <a:latin typeface="Times New Roman" panose="02020603050405020304" pitchFamily="18" charset="0"/>
                <a:cs typeface="Times New Roman" panose="02020603050405020304" pitchFamily="18" charset="0"/>
              </a:rPr>
              <a:t>Forces</a:t>
            </a:r>
          </a:p>
          <a:p>
            <a:pPr lvl="1" algn="just"/>
            <a:r>
              <a:rPr lang="en-US" altLang="zh-TW" sz="2100" b="1" dirty="0">
                <a:latin typeface="Times New Roman" panose="02020603050405020304" pitchFamily="18" charset="0"/>
                <a:cs typeface="Times New Roman" panose="02020603050405020304" pitchFamily="18" charset="0"/>
              </a:rPr>
              <a:t>1. Shareability vs. Duplication</a:t>
            </a:r>
          </a:p>
          <a:p>
            <a:pPr lvl="1" algn="just"/>
            <a:r>
              <a:rPr lang="en-US" altLang="zh-TW" sz="2100" dirty="0">
                <a:latin typeface="Times New Roman" panose="02020603050405020304" pitchFamily="18" charset="0"/>
                <a:cs typeface="Times New Roman" panose="02020603050405020304" pitchFamily="18" charset="0"/>
              </a:rPr>
              <a:t>Every project needs the same principles, but copying files creates wasteful duplicates across N repositories.</a:t>
            </a:r>
          </a:p>
          <a:p>
            <a:pPr lvl="1" algn="just"/>
            <a:r>
              <a:rPr lang="en-US" altLang="zh-TW" sz="2100" b="1" dirty="0">
                <a:latin typeface="Times New Roman" panose="02020603050405020304" pitchFamily="18" charset="0"/>
                <a:cs typeface="Times New Roman" panose="02020603050405020304" pitchFamily="18" charset="0"/>
              </a:rPr>
              <a:t>2. Maintainability vs. Consistency</a:t>
            </a:r>
          </a:p>
          <a:p>
            <a:pPr lvl="1" algn="just"/>
            <a:r>
              <a:rPr lang="en-US" altLang="zh-TW" sz="2100" dirty="0">
                <a:latin typeface="Times New Roman" panose="02020603050405020304" pitchFamily="18" charset="0"/>
                <a:cs typeface="Times New Roman" panose="02020603050405020304" pitchFamily="18" charset="0"/>
              </a:rPr>
              <a:t>When principles evolve, you must update N copies manually, causing version drift and inconsistency.</a:t>
            </a:r>
          </a:p>
          <a:p>
            <a:pPr lvl="1" algn="just"/>
            <a:r>
              <a:rPr lang="en-US" altLang="zh-TW" sz="2100" b="1" dirty="0">
                <a:latin typeface="Times New Roman" panose="02020603050405020304" pitchFamily="18" charset="0"/>
                <a:cs typeface="Times New Roman" panose="02020603050405020304" pitchFamily="18" charset="0"/>
              </a:rPr>
              <a:t>3. Context Completeness vs. Token Limits</a:t>
            </a:r>
          </a:p>
          <a:p>
            <a:pPr lvl="1" algn="just"/>
            <a:r>
              <a:rPr lang="en-US" altLang="zh-TW" sz="2100" dirty="0">
                <a:latin typeface="Times New Roman" panose="02020603050405020304" pitchFamily="18" charset="0"/>
                <a:cs typeface="Times New Roman" panose="02020603050405020304" pitchFamily="18" charset="0"/>
              </a:rPr>
              <a:t>AI needs comprehensive principles to generate correct code, but loading all documentation may exceed token limits.</a:t>
            </a:r>
          </a:p>
          <a:p>
            <a:pPr lvl="1" algn="just"/>
            <a:r>
              <a:rPr lang="en-US" altLang="zh-TW" sz="2100" b="1" dirty="0">
                <a:latin typeface="Times New Roman" panose="02020603050405020304" pitchFamily="18" charset="0"/>
                <a:cs typeface="Times New Roman" panose="02020603050405020304" pitchFamily="18" charset="0"/>
              </a:rPr>
              <a:t>4. Relevance vs. Noise</a:t>
            </a:r>
          </a:p>
          <a:p>
            <a:pPr lvl="1" algn="just"/>
            <a:r>
              <a:rPr lang="en-US" altLang="zh-TW" sz="2100" dirty="0">
                <a:latin typeface="Times New Roman" panose="02020603050405020304" pitchFamily="18" charset="0"/>
                <a:cs typeface="Times New Roman" panose="02020603050405020304" pitchFamily="18" charset="0"/>
              </a:rPr>
              <a:t>Most stored principles are irrelevant for specific tasks, and loading everything reduces AI effectiveness.</a:t>
            </a:r>
          </a:p>
        </p:txBody>
      </p:sp>
    </p:spTree>
    <p:extLst>
      <p:ext uri="{BB962C8B-B14F-4D97-AF65-F5344CB8AC3E}">
        <p14:creationId xmlns:p14="http://schemas.microsoft.com/office/powerpoint/2010/main" val="39984954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DB849-62D5-9A51-0C49-19EAAE114685}"/>
            </a:ext>
          </a:extLst>
        </p:cNvPr>
        <p:cNvGrpSpPr/>
        <p:nvPr/>
      </p:nvGrpSpPr>
      <p:grpSpPr>
        <a:xfrm>
          <a:off x="0" y="0"/>
          <a:ext cx="0" cy="0"/>
          <a:chOff x="0" y="0"/>
          <a:chExt cx="0" cy="0"/>
        </a:xfrm>
      </p:grpSpPr>
      <p:sp>
        <p:nvSpPr>
          <p:cNvPr id="4" name="日期版面配置區 3">
            <a:extLst>
              <a:ext uri="{FF2B5EF4-FFF2-40B4-BE49-F238E27FC236}">
                <a16:creationId xmlns:a16="http://schemas.microsoft.com/office/drawing/2014/main" id="{7BF9C532-EDCB-43B6-1DA3-95C39EA530E0}"/>
              </a:ext>
            </a:extLst>
          </p:cNvPr>
          <p:cNvSpPr>
            <a:spLocks noGrp="1"/>
          </p:cNvSpPr>
          <p:nvPr>
            <p:ph type="dt" sz="half" idx="10"/>
          </p:nvPr>
        </p:nvSpPr>
        <p:spPr/>
        <p:txBody>
          <a:bodyPr/>
          <a:lstStyle/>
          <a:p>
            <a:pPr>
              <a:defRPr/>
            </a:pPr>
            <a:fld id="{DFE053C5-6C4D-8948-A0B7-F6BA541D276A}" type="datetime1">
              <a:rPr lang="zh-TW" altLang="en-US" smtClean="0"/>
              <a:pPr>
                <a:defRPr/>
              </a:pPr>
              <a:t>2025/11/16</a:t>
            </a:fld>
            <a:endParaRPr lang="zh-TW" altLang="en-US"/>
          </a:p>
        </p:txBody>
      </p:sp>
      <p:sp>
        <p:nvSpPr>
          <p:cNvPr id="5" name="頁尾版面配置區 4">
            <a:extLst>
              <a:ext uri="{FF2B5EF4-FFF2-40B4-BE49-F238E27FC236}">
                <a16:creationId xmlns:a16="http://schemas.microsoft.com/office/drawing/2014/main" id="{5CB84834-6E20-192E-8D69-3BCF4838BF1E}"/>
              </a:ext>
            </a:extLst>
          </p:cNvPr>
          <p:cNvSpPr>
            <a:spLocks noGrp="1"/>
          </p:cNvSpPr>
          <p:nvPr>
            <p:ph type="ftr" sz="quarter" idx="11"/>
          </p:nvPr>
        </p:nvSpPr>
        <p:spPr/>
        <p:txBody>
          <a:bodyPr/>
          <a:lstStyle/>
          <a:p>
            <a:pPr>
              <a:defRPr/>
            </a:pPr>
            <a:r>
              <a:rPr lang="zh-TW" altLang="en-US" dirty="0"/>
              <a:t>軟體系統實驗室</a:t>
            </a:r>
          </a:p>
        </p:txBody>
      </p:sp>
      <p:sp>
        <p:nvSpPr>
          <p:cNvPr id="6" name="投影片編號版面配置區 5">
            <a:extLst>
              <a:ext uri="{FF2B5EF4-FFF2-40B4-BE49-F238E27FC236}">
                <a16:creationId xmlns:a16="http://schemas.microsoft.com/office/drawing/2014/main" id="{D0AC830E-F56D-ADAA-B07F-E6551A46B333}"/>
              </a:ext>
            </a:extLst>
          </p:cNvPr>
          <p:cNvSpPr>
            <a:spLocks noGrp="1"/>
          </p:cNvSpPr>
          <p:nvPr>
            <p:ph type="sldNum" sz="quarter" idx="12"/>
          </p:nvPr>
        </p:nvSpPr>
        <p:spPr/>
        <p:txBody>
          <a:bodyPr/>
          <a:lstStyle/>
          <a:p>
            <a:fld id="{7408114E-E8DD-9044-BC35-9779A826010B}" type="slidenum">
              <a:rPr lang="zh-TW" altLang="en-US" smtClean="0"/>
              <a:pPr/>
              <a:t>11</a:t>
            </a:fld>
            <a:endParaRPr lang="zh-TW" altLang="en-US"/>
          </a:p>
        </p:txBody>
      </p:sp>
      <p:sp>
        <p:nvSpPr>
          <p:cNvPr id="9" name="標題 7">
            <a:extLst>
              <a:ext uri="{FF2B5EF4-FFF2-40B4-BE49-F238E27FC236}">
                <a16:creationId xmlns:a16="http://schemas.microsoft.com/office/drawing/2014/main" id="{87949EF1-DED7-EB57-4CB7-A4368F7E08BC}"/>
              </a:ext>
            </a:extLst>
          </p:cNvPr>
          <p:cNvSpPr>
            <a:spLocks noGrp="1"/>
          </p:cNvSpPr>
          <p:nvPr>
            <p:ph type="title"/>
          </p:nvPr>
        </p:nvSpPr>
        <p:spPr>
          <a:xfrm>
            <a:off x="609600" y="274638"/>
            <a:ext cx="10972800" cy="1143000"/>
          </a:xfrm>
        </p:spPr>
        <p:txBody>
          <a:bodyPr/>
          <a:lstStyle/>
          <a:p>
            <a:r>
              <a:rPr lang="en-US" altLang="zh-TW" dirty="0"/>
              <a:t>Context Provisioning MCP Server </a:t>
            </a:r>
          </a:p>
        </p:txBody>
      </p:sp>
      <p:sp>
        <p:nvSpPr>
          <p:cNvPr id="2" name="文字方塊 1">
            <a:extLst>
              <a:ext uri="{FF2B5EF4-FFF2-40B4-BE49-F238E27FC236}">
                <a16:creationId xmlns:a16="http://schemas.microsoft.com/office/drawing/2014/main" id="{81F8935B-3971-C78C-D036-CBD6EA887B94}"/>
              </a:ext>
            </a:extLst>
          </p:cNvPr>
          <p:cNvSpPr txBox="1"/>
          <p:nvPr/>
        </p:nvSpPr>
        <p:spPr>
          <a:xfrm>
            <a:off x="371364" y="1767006"/>
            <a:ext cx="11449272" cy="2846933"/>
          </a:xfrm>
          <a:prstGeom prst="rect">
            <a:avLst/>
          </a:prstGeom>
          <a:noFill/>
        </p:spPr>
        <p:txBody>
          <a:bodyPr wrap="square" rtlCol="0">
            <a:spAutoFit/>
          </a:bodyPr>
          <a:lstStyle/>
          <a:p>
            <a:pPr algn="just"/>
            <a:r>
              <a:rPr lang="en-US" altLang="zh-TW" sz="3500" b="1" dirty="0">
                <a:solidFill>
                  <a:srgbClr val="FF0000"/>
                </a:solidFill>
                <a:latin typeface="Times New Roman" panose="02020603050405020304" pitchFamily="18" charset="0"/>
                <a:cs typeface="Times New Roman" panose="02020603050405020304" pitchFamily="18" charset="0"/>
              </a:rPr>
              <a:t>Solution</a:t>
            </a:r>
            <a:endParaRPr lang="en-US" altLang="zh-TW" sz="3500" dirty="0">
              <a:solidFill>
                <a:srgbClr val="FF0000"/>
              </a:solidFill>
              <a:latin typeface="Times New Roman" panose="02020603050405020304" pitchFamily="18" charset="0"/>
              <a:cs typeface="Times New Roman" panose="02020603050405020304" pitchFamily="18" charset="0"/>
            </a:endParaRPr>
          </a:p>
          <a:p>
            <a:pPr algn="just"/>
            <a:r>
              <a:rPr lang="en-US" altLang="zh-TW" sz="3500" dirty="0">
                <a:latin typeface="Times New Roman" panose="02020603050405020304" pitchFamily="18" charset="0"/>
                <a:cs typeface="Times New Roman" panose="02020603050405020304" pitchFamily="18" charset="0"/>
              </a:rPr>
              <a:t>	</a:t>
            </a:r>
            <a:r>
              <a:rPr lang="en-US" altLang="zh-TW" sz="3600" dirty="0">
                <a:latin typeface="Times New Roman" panose="02020603050405020304" pitchFamily="18" charset="0"/>
                <a:cs typeface="Times New Roman" panose="02020603050405020304" pitchFamily="18" charset="0"/>
              </a:rPr>
              <a:t>Create a RAG (Retrieval-Augmented Generation) MCP Server that centralizes all common development principles and provides semantic search capabilities for on-demand, selective context retrieval.</a:t>
            </a:r>
            <a:endParaRPr lang="zh-TW" altLang="en-US" sz="3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038893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AC5683-0126-51A1-EC9A-C3744963C638}"/>
            </a:ext>
          </a:extLst>
        </p:cNvPr>
        <p:cNvGrpSpPr/>
        <p:nvPr/>
      </p:nvGrpSpPr>
      <p:grpSpPr>
        <a:xfrm>
          <a:off x="0" y="0"/>
          <a:ext cx="0" cy="0"/>
          <a:chOff x="0" y="0"/>
          <a:chExt cx="0" cy="0"/>
        </a:xfrm>
      </p:grpSpPr>
      <p:sp>
        <p:nvSpPr>
          <p:cNvPr id="4" name="日期版面配置區 3">
            <a:extLst>
              <a:ext uri="{FF2B5EF4-FFF2-40B4-BE49-F238E27FC236}">
                <a16:creationId xmlns:a16="http://schemas.microsoft.com/office/drawing/2014/main" id="{1F0DACDD-65DF-3456-1476-0C472FD034DB}"/>
              </a:ext>
            </a:extLst>
          </p:cNvPr>
          <p:cNvSpPr>
            <a:spLocks noGrp="1"/>
          </p:cNvSpPr>
          <p:nvPr>
            <p:ph type="dt" sz="half" idx="10"/>
          </p:nvPr>
        </p:nvSpPr>
        <p:spPr/>
        <p:txBody>
          <a:bodyPr/>
          <a:lstStyle/>
          <a:p>
            <a:pPr>
              <a:defRPr/>
            </a:pPr>
            <a:fld id="{DFE053C5-6C4D-8948-A0B7-F6BA541D276A}" type="datetime1">
              <a:rPr lang="zh-TW" altLang="en-US" smtClean="0"/>
              <a:pPr>
                <a:defRPr/>
              </a:pPr>
              <a:t>2025/11/16</a:t>
            </a:fld>
            <a:endParaRPr lang="zh-TW" altLang="en-US"/>
          </a:p>
        </p:txBody>
      </p:sp>
      <p:sp>
        <p:nvSpPr>
          <p:cNvPr id="5" name="頁尾版面配置區 4">
            <a:extLst>
              <a:ext uri="{FF2B5EF4-FFF2-40B4-BE49-F238E27FC236}">
                <a16:creationId xmlns:a16="http://schemas.microsoft.com/office/drawing/2014/main" id="{D97304B4-1922-41C6-FCD8-ACFDBA78DFA1}"/>
              </a:ext>
            </a:extLst>
          </p:cNvPr>
          <p:cNvSpPr>
            <a:spLocks noGrp="1"/>
          </p:cNvSpPr>
          <p:nvPr>
            <p:ph type="ftr" sz="quarter" idx="11"/>
          </p:nvPr>
        </p:nvSpPr>
        <p:spPr/>
        <p:txBody>
          <a:bodyPr/>
          <a:lstStyle/>
          <a:p>
            <a:pPr>
              <a:defRPr/>
            </a:pPr>
            <a:r>
              <a:rPr lang="zh-TW" altLang="en-US" dirty="0"/>
              <a:t>軟體系統實驗室</a:t>
            </a:r>
          </a:p>
        </p:txBody>
      </p:sp>
      <p:sp>
        <p:nvSpPr>
          <p:cNvPr id="6" name="投影片編號版面配置區 5">
            <a:extLst>
              <a:ext uri="{FF2B5EF4-FFF2-40B4-BE49-F238E27FC236}">
                <a16:creationId xmlns:a16="http://schemas.microsoft.com/office/drawing/2014/main" id="{42BE2A39-099E-0C1F-608A-2B666FDDC908}"/>
              </a:ext>
            </a:extLst>
          </p:cNvPr>
          <p:cNvSpPr>
            <a:spLocks noGrp="1"/>
          </p:cNvSpPr>
          <p:nvPr>
            <p:ph type="sldNum" sz="quarter" idx="12"/>
          </p:nvPr>
        </p:nvSpPr>
        <p:spPr/>
        <p:txBody>
          <a:bodyPr/>
          <a:lstStyle/>
          <a:p>
            <a:fld id="{7408114E-E8DD-9044-BC35-9779A826010B}" type="slidenum">
              <a:rPr lang="zh-TW" altLang="en-US" smtClean="0"/>
              <a:pPr/>
              <a:t>12</a:t>
            </a:fld>
            <a:endParaRPr lang="zh-TW" altLang="en-US"/>
          </a:p>
        </p:txBody>
      </p:sp>
      <p:sp>
        <p:nvSpPr>
          <p:cNvPr id="9" name="標題 7">
            <a:extLst>
              <a:ext uri="{FF2B5EF4-FFF2-40B4-BE49-F238E27FC236}">
                <a16:creationId xmlns:a16="http://schemas.microsoft.com/office/drawing/2014/main" id="{36DF14F0-68EC-EF69-5AD5-A4E010490947}"/>
              </a:ext>
            </a:extLst>
          </p:cNvPr>
          <p:cNvSpPr>
            <a:spLocks noGrp="1"/>
          </p:cNvSpPr>
          <p:nvPr>
            <p:ph type="title"/>
          </p:nvPr>
        </p:nvSpPr>
        <p:spPr>
          <a:xfrm>
            <a:off x="609600" y="274638"/>
            <a:ext cx="10972800" cy="1143000"/>
          </a:xfrm>
        </p:spPr>
        <p:txBody>
          <a:bodyPr/>
          <a:lstStyle/>
          <a:p>
            <a:r>
              <a:rPr lang="en-US" altLang="zh-TW" dirty="0"/>
              <a:t>Context Provisioning MCP Server </a:t>
            </a:r>
          </a:p>
        </p:txBody>
      </p:sp>
      <p:sp>
        <p:nvSpPr>
          <p:cNvPr id="2" name="文字方塊 1">
            <a:extLst>
              <a:ext uri="{FF2B5EF4-FFF2-40B4-BE49-F238E27FC236}">
                <a16:creationId xmlns:a16="http://schemas.microsoft.com/office/drawing/2014/main" id="{C980DCE8-01BE-52E0-8642-E901384BEF3A}"/>
              </a:ext>
            </a:extLst>
          </p:cNvPr>
          <p:cNvSpPr txBox="1"/>
          <p:nvPr/>
        </p:nvSpPr>
        <p:spPr>
          <a:xfrm>
            <a:off x="371364" y="1448457"/>
            <a:ext cx="11449272" cy="3323987"/>
          </a:xfrm>
          <a:prstGeom prst="rect">
            <a:avLst/>
          </a:prstGeom>
          <a:noFill/>
        </p:spPr>
        <p:txBody>
          <a:bodyPr wrap="square" rtlCol="0">
            <a:spAutoFit/>
          </a:bodyPr>
          <a:lstStyle/>
          <a:p>
            <a:pPr algn="just"/>
            <a:r>
              <a:rPr lang="en-US" altLang="zh-TW" sz="3000" b="1" dirty="0">
                <a:solidFill>
                  <a:srgbClr val="FF0000"/>
                </a:solidFill>
                <a:latin typeface="Times New Roman" panose="02020603050405020304" pitchFamily="18" charset="0"/>
                <a:cs typeface="Times New Roman" panose="02020603050405020304" pitchFamily="18" charset="0"/>
              </a:rPr>
              <a:t>Resulting Context (Consequence)</a:t>
            </a:r>
          </a:p>
          <a:p>
            <a:pPr algn="just"/>
            <a:endParaRPr lang="en-US" altLang="zh-TW" sz="3000" dirty="0">
              <a:solidFill>
                <a:srgbClr val="FF0000"/>
              </a:solidFill>
              <a:latin typeface="Times New Roman" panose="02020603050405020304" pitchFamily="18" charset="0"/>
              <a:cs typeface="Times New Roman" panose="02020603050405020304" pitchFamily="18" charset="0"/>
            </a:endParaRPr>
          </a:p>
          <a:p>
            <a:pPr lvl="1" algn="just"/>
            <a:r>
              <a:rPr lang="en-US" altLang="zh-TW" sz="3000" b="1" dirty="0">
                <a:latin typeface="Times New Roman" panose="02020603050405020304" pitchFamily="18" charset="0"/>
                <a:cs typeface="Times New Roman" panose="02020603050405020304" pitchFamily="18" charset="0"/>
              </a:rPr>
              <a:t>-  </a:t>
            </a:r>
            <a:r>
              <a:rPr lang="en-US" altLang="zh-TW" sz="3000" dirty="0">
                <a:latin typeface="Times New Roman" panose="02020603050405020304" pitchFamily="18" charset="0"/>
                <a:cs typeface="Times New Roman" panose="02020603050405020304" pitchFamily="18" charset="0"/>
              </a:rPr>
              <a:t>The repetition problem is eliminated. Common principles are now centralized, shareable, and easy to maintain.</a:t>
            </a:r>
          </a:p>
          <a:p>
            <a:pPr marL="914400" lvl="1" indent="-457200" algn="just">
              <a:buFontTx/>
              <a:buChar char="-"/>
            </a:pPr>
            <a:r>
              <a:rPr lang="en-US" altLang="zh-TW" sz="3000" dirty="0">
                <a:latin typeface="Times New Roman" panose="02020603050405020304" pitchFamily="18" charset="0"/>
                <a:cs typeface="Times New Roman" panose="02020603050405020304" pitchFamily="18" charset="0"/>
              </a:rPr>
              <a:t>The ”Spec”(common principles) and "Production Code" are now successfully decoupled. </a:t>
            </a:r>
          </a:p>
          <a:p>
            <a:pPr marL="914400" lvl="1" indent="-457200" algn="just">
              <a:buFontTx/>
              <a:buChar char="-"/>
            </a:pPr>
            <a:r>
              <a:rPr lang="en-US" altLang="zh-TW" sz="3200" dirty="0">
                <a:latin typeface="Times New Roman" panose="02020603050405020304" pitchFamily="18" charset="0"/>
                <a:cs typeface="Times New Roman" panose="02020603050405020304" pitchFamily="18" charset="0"/>
              </a:rPr>
              <a:t>Retrieval precision determines code quality</a:t>
            </a:r>
            <a:endParaRPr lang="en-US" altLang="zh-TW"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718977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14D58-B4B6-B18E-7C7B-53545A266D65}"/>
            </a:ext>
          </a:extLst>
        </p:cNvPr>
        <p:cNvGrpSpPr/>
        <p:nvPr/>
      </p:nvGrpSpPr>
      <p:grpSpPr>
        <a:xfrm>
          <a:off x="0" y="0"/>
          <a:ext cx="0" cy="0"/>
          <a:chOff x="0" y="0"/>
          <a:chExt cx="0" cy="0"/>
        </a:xfrm>
      </p:grpSpPr>
      <p:sp>
        <p:nvSpPr>
          <p:cNvPr id="4" name="日期版面配置區 3">
            <a:extLst>
              <a:ext uri="{FF2B5EF4-FFF2-40B4-BE49-F238E27FC236}">
                <a16:creationId xmlns:a16="http://schemas.microsoft.com/office/drawing/2014/main" id="{CE696A1E-6DAA-5CDD-CB75-A4259435A52D}"/>
              </a:ext>
            </a:extLst>
          </p:cNvPr>
          <p:cNvSpPr>
            <a:spLocks noGrp="1"/>
          </p:cNvSpPr>
          <p:nvPr>
            <p:ph type="dt" sz="half" idx="10"/>
          </p:nvPr>
        </p:nvSpPr>
        <p:spPr/>
        <p:txBody>
          <a:bodyPr/>
          <a:lstStyle/>
          <a:p>
            <a:pPr>
              <a:defRPr/>
            </a:pPr>
            <a:fld id="{DFE053C5-6C4D-8948-A0B7-F6BA541D276A}" type="datetime1">
              <a:rPr lang="zh-TW" altLang="en-US" smtClean="0"/>
              <a:pPr>
                <a:defRPr/>
              </a:pPr>
              <a:t>2025/11/16</a:t>
            </a:fld>
            <a:endParaRPr lang="zh-TW" altLang="en-US"/>
          </a:p>
        </p:txBody>
      </p:sp>
      <p:sp>
        <p:nvSpPr>
          <p:cNvPr id="5" name="頁尾版面配置區 4">
            <a:extLst>
              <a:ext uri="{FF2B5EF4-FFF2-40B4-BE49-F238E27FC236}">
                <a16:creationId xmlns:a16="http://schemas.microsoft.com/office/drawing/2014/main" id="{058316A2-64C8-4904-80C1-A86D0C6956AF}"/>
              </a:ext>
            </a:extLst>
          </p:cNvPr>
          <p:cNvSpPr>
            <a:spLocks noGrp="1"/>
          </p:cNvSpPr>
          <p:nvPr>
            <p:ph type="ftr" sz="quarter" idx="11"/>
          </p:nvPr>
        </p:nvSpPr>
        <p:spPr/>
        <p:txBody>
          <a:bodyPr/>
          <a:lstStyle/>
          <a:p>
            <a:pPr>
              <a:defRPr/>
            </a:pPr>
            <a:r>
              <a:rPr lang="zh-TW" altLang="en-US"/>
              <a:t>軟體系統實驗室</a:t>
            </a:r>
          </a:p>
        </p:txBody>
      </p:sp>
      <p:sp>
        <p:nvSpPr>
          <p:cNvPr id="6" name="投影片編號版面配置區 5">
            <a:extLst>
              <a:ext uri="{FF2B5EF4-FFF2-40B4-BE49-F238E27FC236}">
                <a16:creationId xmlns:a16="http://schemas.microsoft.com/office/drawing/2014/main" id="{C2FC2B12-4394-E2B3-F66B-D26FD9897365}"/>
              </a:ext>
            </a:extLst>
          </p:cNvPr>
          <p:cNvSpPr>
            <a:spLocks noGrp="1"/>
          </p:cNvSpPr>
          <p:nvPr>
            <p:ph type="sldNum" sz="quarter" idx="12"/>
          </p:nvPr>
        </p:nvSpPr>
        <p:spPr/>
        <p:txBody>
          <a:bodyPr/>
          <a:lstStyle/>
          <a:p>
            <a:fld id="{7408114E-E8DD-9044-BC35-9779A826010B}" type="slidenum">
              <a:rPr lang="zh-TW" altLang="en-US" smtClean="0"/>
              <a:pPr/>
              <a:t>13</a:t>
            </a:fld>
            <a:endParaRPr lang="zh-TW" altLang="en-US"/>
          </a:p>
        </p:txBody>
      </p:sp>
      <p:sp>
        <p:nvSpPr>
          <p:cNvPr id="9" name="標題 7">
            <a:extLst>
              <a:ext uri="{FF2B5EF4-FFF2-40B4-BE49-F238E27FC236}">
                <a16:creationId xmlns:a16="http://schemas.microsoft.com/office/drawing/2014/main" id="{AD6793DF-5C76-4ECC-940F-FEBFDEEEADFC}"/>
              </a:ext>
            </a:extLst>
          </p:cNvPr>
          <p:cNvSpPr>
            <a:spLocks noGrp="1"/>
          </p:cNvSpPr>
          <p:nvPr>
            <p:ph type="title"/>
          </p:nvPr>
        </p:nvSpPr>
        <p:spPr>
          <a:xfrm>
            <a:off x="609600" y="274638"/>
            <a:ext cx="10972800" cy="1143000"/>
          </a:xfrm>
        </p:spPr>
        <p:txBody>
          <a:bodyPr/>
          <a:lstStyle/>
          <a:p>
            <a:r>
              <a:rPr lang="en-US" altLang="zh-TW" dirty="0"/>
              <a:t>Context Provisioning MCP Server </a:t>
            </a:r>
          </a:p>
        </p:txBody>
      </p:sp>
      <p:pic>
        <p:nvPicPr>
          <p:cNvPr id="3" name="圖片 2">
            <a:extLst>
              <a:ext uri="{FF2B5EF4-FFF2-40B4-BE49-F238E27FC236}">
                <a16:creationId xmlns:a16="http://schemas.microsoft.com/office/drawing/2014/main" id="{9669C619-E5FA-798B-21B0-AFBDD2244BC5}"/>
              </a:ext>
            </a:extLst>
          </p:cNvPr>
          <p:cNvPicPr>
            <a:picLocks noChangeAspect="1"/>
          </p:cNvPicPr>
          <p:nvPr/>
        </p:nvPicPr>
        <p:blipFill>
          <a:blip r:embed="rId2"/>
          <a:stretch>
            <a:fillRect/>
          </a:stretch>
        </p:blipFill>
        <p:spPr>
          <a:xfrm>
            <a:off x="517848" y="1556792"/>
            <a:ext cx="11122768" cy="4502354"/>
          </a:xfrm>
          <a:prstGeom prst="rect">
            <a:avLst/>
          </a:prstGeom>
        </p:spPr>
      </p:pic>
    </p:spTree>
    <p:extLst>
      <p:ext uri="{BB962C8B-B14F-4D97-AF65-F5344CB8AC3E}">
        <p14:creationId xmlns:p14="http://schemas.microsoft.com/office/powerpoint/2010/main" val="18032137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36347-76C8-B7C5-E221-AB2E35E573BD}"/>
            </a:ext>
          </a:extLst>
        </p:cNvPr>
        <p:cNvGrpSpPr/>
        <p:nvPr/>
      </p:nvGrpSpPr>
      <p:grpSpPr>
        <a:xfrm>
          <a:off x="0" y="0"/>
          <a:ext cx="0" cy="0"/>
          <a:chOff x="0" y="0"/>
          <a:chExt cx="0" cy="0"/>
        </a:xfrm>
      </p:grpSpPr>
      <p:sp>
        <p:nvSpPr>
          <p:cNvPr id="4" name="日期版面配置區 3">
            <a:extLst>
              <a:ext uri="{FF2B5EF4-FFF2-40B4-BE49-F238E27FC236}">
                <a16:creationId xmlns:a16="http://schemas.microsoft.com/office/drawing/2014/main" id="{88C2908F-9294-243E-D968-E74A5056253D}"/>
              </a:ext>
            </a:extLst>
          </p:cNvPr>
          <p:cNvSpPr>
            <a:spLocks noGrp="1"/>
          </p:cNvSpPr>
          <p:nvPr>
            <p:ph type="dt" sz="half" idx="10"/>
          </p:nvPr>
        </p:nvSpPr>
        <p:spPr/>
        <p:txBody>
          <a:bodyPr/>
          <a:lstStyle/>
          <a:p>
            <a:pPr>
              <a:defRPr/>
            </a:pPr>
            <a:fld id="{DFE053C5-6C4D-8948-A0B7-F6BA541D276A}" type="datetime1">
              <a:rPr lang="zh-TW" altLang="en-US" smtClean="0"/>
              <a:pPr>
                <a:defRPr/>
              </a:pPr>
              <a:t>2025/11/16</a:t>
            </a:fld>
            <a:endParaRPr lang="zh-TW" altLang="en-US"/>
          </a:p>
        </p:txBody>
      </p:sp>
      <p:sp>
        <p:nvSpPr>
          <p:cNvPr id="5" name="頁尾版面配置區 4">
            <a:extLst>
              <a:ext uri="{FF2B5EF4-FFF2-40B4-BE49-F238E27FC236}">
                <a16:creationId xmlns:a16="http://schemas.microsoft.com/office/drawing/2014/main" id="{EF157F9D-1C7A-437A-AC8F-979BD4EE82E0}"/>
              </a:ext>
            </a:extLst>
          </p:cNvPr>
          <p:cNvSpPr>
            <a:spLocks noGrp="1"/>
          </p:cNvSpPr>
          <p:nvPr>
            <p:ph type="ftr" sz="quarter" idx="11"/>
          </p:nvPr>
        </p:nvSpPr>
        <p:spPr/>
        <p:txBody>
          <a:bodyPr/>
          <a:lstStyle/>
          <a:p>
            <a:pPr>
              <a:defRPr/>
            </a:pPr>
            <a:r>
              <a:rPr lang="zh-TW" altLang="en-US"/>
              <a:t>軟體系統實驗室</a:t>
            </a:r>
          </a:p>
        </p:txBody>
      </p:sp>
      <p:sp>
        <p:nvSpPr>
          <p:cNvPr id="6" name="投影片編號版面配置區 5">
            <a:extLst>
              <a:ext uri="{FF2B5EF4-FFF2-40B4-BE49-F238E27FC236}">
                <a16:creationId xmlns:a16="http://schemas.microsoft.com/office/drawing/2014/main" id="{05FF8415-8B00-4332-5334-9C0F993B9CD2}"/>
              </a:ext>
            </a:extLst>
          </p:cNvPr>
          <p:cNvSpPr>
            <a:spLocks noGrp="1"/>
          </p:cNvSpPr>
          <p:nvPr>
            <p:ph type="sldNum" sz="quarter" idx="12"/>
          </p:nvPr>
        </p:nvSpPr>
        <p:spPr/>
        <p:txBody>
          <a:bodyPr/>
          <a:lstStyle/>
          <a:p>
            <a:fld id="{7408114E-E8DD-9044-BC35-9779A826010B}" type="slidenum">
              <a:rPr lang="zh-TW" altLang="en-US" smtClean="0"/>
              <a:pPr/>
              <a:t>14</a:t>
            </a:fld>
            <a:endParaRPr lang="zh-TW" altLang="en-US"/>
          </a:p>
        </p:txBody>
      </p:sp>
      <p:sp>
        <p:nvSpPr>
          <p:cNvPr id="9" name="標題 7">
            <a:extLst>
              <a:ext uri="{FF2B5EF4-FFF2-40B4-BE49-F238E27FC236}">
                <a16:creationId xmlns:a16="http://schemas.microsoft.com/office/drawing/2014/main" id="{05A5E9EA-3E57-7205-1119-4CC97544362A}"/>
              </a:ext>
            </a:extLst>
          </p:cNvPr>
          <p:cNvSpPr>
            <a:spLocks noGrp="1"/>
          </p:cNvSpPr>
          <p:nvPr>
            <p:ph type="title"/>
          </p:nvPr>
        </p:nvSpPr>
        <p:spPr>
          <a:xfrm>
            <a:off x="609600" y="274638"/>
            <a:ext cx="10972800" cy="1143000"/>
          </a:xfrm>
        </p:spPr>
        <p:txBody>
          <a:bodyPr/>
          <a:lstStyle/>
          <a:p>
            <a:r>
              <a:rPr lang="en-US" altLang="zh-TW" dirty="0"/>
              <a:t>Conclusion</a:t>
            </a:r>
          </a:p>
        </p:txBody>
      </p:sp>
      <p:sp>
        <p:nvSpPr>
          <p:cNvPr id="2" name="文字方塊 1">
            <a:extLst>
              <a:ext uri="{FF2B5EF4-FFF2-40B4-BE49-F238E27FC236}">
                <a16:creationId xmlns:a16="http://schemas.microsoft.com/office/drawing/2014/main" id="{1AA1A332-DE57-8253-E61D-23043A1C2A2F}"/>
              </a:ext>
            </a:extLst>
          </p:cNvPr>
          <p:cNvSpPr txBox="1"/>
          <p:nvPr/>
        </p:nvSpPr>
        <p:spPr>
          <a:xfrm>
            <a:off x="557349" y="1593533"/>
            <a:ext cx="10887000" cy="4247317"/>
          </a:xfrm>
          <a:prstGeom prst="rect">
            <a:avLst/>
          </a:prstGeom>
          <a:noFill/>
        </p:spPr>
        <p:txBody>
          <a:bodyPr wrap="square" rtlCol="0">
            <a:spAutoFit/>
          </a:bodyPr>
          <a:lstStyle/>
          <a:p>
            <a:r>
              <a:rPr lang="en-US" altLang="zh-TW" sz="3000" dirty="0">
                <a:latin typeface="Times New Roman" panose="02020603050405020304" pitchFamily="18" charset="0"/>
                <a:cs typeface="Times New Roman" panose="02020603050405020304" pitchFamily="18" charset="0"/>
              </a:rPr>
              <a:t>How to Verify Context Provisioning </a:t>
            </a:r>
            <a:r>
              <a:rPr lang="en-US" altLang="zh-TW" sz="3000" dirty="0" err="1">
                <a:latin typeface="Times New Roman" panose="02020603050405020304" pitchFamily="18" charset="0"/>
                <a:cs typeface="Times New Roman" panose="02020603050405020304" pitchFamily="18" charset="0"/>
              </a:rPr>
              <a:t>Mcp</a:t>
            </a:r>
            <a:r>
              <a:rPr lang="en-US" altLang="zh-TW" sz="3000" dirty="0">
                <a:latin typeface="Times New Roman" panose="02020603050405020304" pitchFamily="18" charset="0"/>
                <a:cs typeface="Times New Roman" panose="02020603050405020304" pitchFamily="18" charset="0"/>
              </a:rPr>
              <a:t> Server  is Better Than Traditional Methods?</a:t>
            </a:r>
          </a:p>
          <a:p>
            <a:endParaRPr lang="en-US" altLang="zh-TW" sz="3000" dirty="0">
              <a:latin typeface="Times New Roman" panose="02020603050405020304" pitchFamily="18" charset="0"/>
              <a:cs typeface="Times New Roman" panose="02020603050405020304" pitchFamily="18" charset="0"/>
            </a:endParaRPr>
          </a:p>
          <a:p>
            <a:pPr marL="342900" indent="-342900">
              <a:buAutoNum type="arabicPeriod"/>
            </a:pPr>
            <a:r>
              <a:rPr lang="en-US" altLang="zh-TW" sz="3000" dirty="0">
                <a:latin typeface="Times New Roman" panose="02020603050405020304" pitchFamily="18" charset="0"/>
                <a:cs typeface="Times New Roman" panose="02020603050405020304" pitchFamily="18" charset="0"/>
              </a:rPr>
              <a:t>Architecture Compliance</a:t>
            </a:r>
          </a:p>
          <a:p>
            <a:pPr lvl="1"/>
            <a:r>
              <a:rPr lang="en-US" altLang="zh-TW" sz="3000" dirty="0">
                <a:latin typeface="Times New Roman" panose="02020603050405020304" pitchFamily="18" charset="0"/>
                <a:cs typeface="Times New Roman" panose="02020603050405020304" pitchFamily="18" charset="0"/>
              </a:rPr>
              <a:t>Under the </a:t>
            </a:r>
            <a:r>
              <a:rPr lang="en-US" altLang="zh-TW" sz="3000" b="1" dirty="0">
                <a:latin typeface="Times New Roman" panose="02020603050405020304" pitchFamily="18" charset="0"/>
                <a:cs typeface="Times New Roman" panose="02020603050405020304" pitchFamily="18" charset="0"/>
              </a:rPr>
              <a:t>same prompt</a:t>
            </a:r>
            <a:r>
              <a:rPr lang="en-US" altLang="zh-TW" sz="3000" dirty="0">
                <a:latin typeface="Times New Roman" panose="02020603050405020304" pitchFamily="18" charset="0"/>
                <a:cs typeface="Times New Roman" panose="02020603050405020304" pitchFamily="18" charset="0"/>
              </a:rPr>
              <a:t>, compare the generated </a:t>
            </a:r>
            <a:r>
              <a:rPr lang="en-US" altLang="zh-TW" sz="3000" dirty="0" err="1">
                <a:latin typeface="Times New Roman" panose="02020603050405020304" pitchFamily="18" charset="0"/>
                <a:cs typeface="Times New Roman" panose="02020603050405020304" pitchFamily="18" charset="0"/>
              </a:rPr>
              <a:t>ezKanban</a:t>
            </a:r>
            <a:r>
              <a:rPr lang="en-US" altLang="zh-TW" sz="3000" dirty="0">
                <a:latin typeface="Times New Roman" panose="02020603050405020304" pitchFamily="18" charset="0"/>
                <a:cs typeface="Times New Roman" panose="02020603050405020304" pitchFamily="18" charset="0"/>
              </a:rPr>
              <a:t> architecture quality.</a:t>
            </a:r>
          </a:p>
          <a:p>
            <a:pPr marL="342900" indent="-342900">
              <a:buAutoNum type="arabicPeriod"/>
            </a:pPr>
            <a:r>
              <a:rPr lang="en-US" altLang="zh-TW" sz="3000" dirty="0">
                <a:latin typeface="Times New Roman" panose="02020603050405020304" pitchFamily="18" charset="0"/>
                <a:cs typeface="Times New Roman" panose="02020603050405020304" pitchFamily="18" charset="0"/>
              </a:rPr>
              <a:t>Token Efficiency</a:t>
            </a:r>
          </a:p>
          <a:p>
            <a:pPr lvl="1"/>
            <a:r>
              <a:rPr lang="en-US" altLang="zh-TW" sz="3000" dirty="0">
                <a:latin typeface="Times New Roman" panose="02020603050405020304" pitchFamily="18" charset="0"/>
                <a:cs typeface="Times New Roman" panose="02020603050405020304" pitchFamily="18" charset="0"/>
              </a:rPr>
              <a:t>When implementing the </a:t>
            </a:r>
            <a:r>
              <a:rPr lang="en-US" altLang="zh-TW" sz="3000" b="1" dirty="0">
                <a:latin typeface="Times New Roman" panose="02020603050405020304" pitchFamily="18" charset="0"/>
                <a:cs typeface="Times New Roman" panose="02020603050405020304" pitchFamily="18" charset="0"/>
              </a:rPr>
              <a:t>same use case</a:t>
            </a:r>
            <a:r>
              <a:rPr lang="en-US" altLang="zh-TW" sz="3000" dirty="0">
                <a:latin typeface="Times New Roman" panose="02020603050405020304" pitchFamily="18" charset="0"/>
                <a:cs typeface="Times New Roman" panose="02020603050405020304" pitchFamily="18" charset="0"/>
              </a:rPr>
              <a:t>, observe token consumption differences.</a:t>
            </a:r>
            <a:endParaRPr lang="zh-TW" altLang="en-US"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057394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53E9FB-6B5B-F5A6-E625-C65D3A91E1D5}"/>
            </a:ext>
          </a:extLst>
        </p:cNvPr>
        <p:cNvGrpSpPr/>
        <p:nvPr/>
      </p:nvGrpSpPr>
      <p:grpSpPr>
        <a:xfrm>
          <a:off x="0" y="0"/>
          <a:ext cx="0" cy="0"/>
          <a:chOff x="0" y="0"/>
          <a:chExt cx="0" cy="0"/>
        </a:xfrm>
      </p:grpSpPr>
      <p:sp>
        <p:nvSpPr>
          <p:cNvPr id="4" name="日期版面配置區 3">
            <a:extLst>
              <a:ext uri="{FF2B5EF4-FFF2-40B4-BE49-F238E27FC236}">
                <a16:creationId xmlns:a16="http://schemas.microsoft.com/office/drawing/2014/main" id="{E5E25568-1229-FBCB-077C-DBC9E2BCD8DC}"/>
              </a:ext>
            </a:extLst>
          </p:cNvPr>
          <p:cNvSpPr>
            <a:spLocks noGrp="1"/>
          </p:cNvSpPr>
          <p:nvPr>
            <p:ph type="dt" sz="half" idx="10"/>
          </p:nvPr>
        </p:nvSpPr>
        <p:spPr/>
        <p:txBody>
          <a:bodyPr/>
          <a:lstStyle/>
          <a:p>
            <a:pPr>
              <a:defRPr/>
            </a:pPr>
            <a:fld id="{DFE053C5-6C4D-8948-A0B7-F6BA541D276A}" type="datetime1">
              <a:rPr lang="zh-TW" altLang="en-US" smtClean="0"/>
              <a:pPr>
                <a:defRPr/>
              </a:pPr>
              <a:t>2025/11/16</a:t>
            </a:fld>
            <a:endParaRPr lang="zh-TW" altLang="en-US"/>
          </a:p>
        </p:txBody>
      </p:sp>
      <p:sp>
        <p:nvSpPr>
          <p:cNvPr id="5" name="頁尾版面配置區 4">
            <a:extLst>
              <a:ext uri="{FF2B5EF4-FFF2-40B4-BE49-F238E27FC236}">
                <a16:creationId xmlns:a16="http://schemas.microsoft.com/office/drawing/2014/main" id="{71367FB1-C36D-C328-5D32-A0EC764AED9A}"/>
              </a:ext>
            </a:extLst>
          </p:cNvPr>
          <p:cNvSpPr>
            <a:spLocks noGrp="1"/>
          </p:cNvSpPr>
          <p:nvPr>
            <p:ph type="ftr" sz="quarter" idx="11"/>
          </p:nvPr>
        </p:nvSpPr>
        <p:spPr/>
        <p:txBody>
          <a:bodyPr/>
          <a:lstStyle/>
          <a:p>
            <a:pPr>
              <a:defRPr/>
            </a:pPr>
            <a:r>
              <a:rPr lang="zh-TW" altLang="en-US"/>
              <a:t>軟體系統實驗室</a:t>
            </a:r>
          </a:p>
        </p:txBody>
      </p:sp>
      <p:sp>
        <p:nvSpPr>
          <p:cNvPr id="6" name="投影片編號版面配置區 5">
            <a:extLst>
              <a:ext uri="{FF2B5EF4-FFF2-40B4-BE49-F238E27FC236}">
                <a16:creationId xmlns:a16="http://schemas.microsoft.com/office/drawing/2014/main" id="{52302320-10A2-D26A-FA16-E91CC6291A0A}"/>
              </a:ext>
            </a:extLst>
          </p:cNvPr>
          <p:cNvSpPr>
            <a:spLocks noGrp="1"/>
          </p:cNvSpPr>
          <p:nvPr>
            <p:ph type="sldNum" sz="quarter" idx="12"/>
          </p:nvPr>
        </p:nvSpPr>
        <p:spPr/>
        <p:txBody>
          <a:bodyPr/>
          <a:lstStyle/>
          <a:p>
            <a:fld id="{7408114E-E8DD-9044-BC35-9779A826010B}" type="slidenum">
              <a:rPr lang="zh-TW" altLang="en-US" smtClean="0"/>
              <a:pPr/>
              <a:t>15</a:t>
            </a:fld>
            <a:endParaRPr lang="zh-TW" altLang="en-US"/>
          </a:p>
        </p:txBody>
      </p:sp>
      <p:sp>
        <p:nvSpPr>
          <p:cNvPr id="8" name="標題 1">
            <a:extLst>
              <a:ext uri="{FF2B5EF4-FFF2-40B4-BE49-F238E27FC236}">
                <a16:creationId xmlns:a16="http://schemas.microsoft.com/office/drawing/2014/main" id="{30060E68-E5E5-5E63-BB6B-5C817A022DBF}"/>
              </a:ext>
            </a:extLst>
          </p:cNvPr>
          <p:cNvSpPr>
            <a:spLocks noGrp="1"/>
          </p:cNvSpPr>
          <p:nvPr>
            <p:ph type="title"/>
          </p:nvPr>
        </p:nvSpPr>
        <p:spPr>
          <a:xfrm>
            <a:off x="609600" y="274638"/>
            <a:ext cx="10972800" cy="1143000"/>
          </a:xfrm>
        </p:spPr>
        <p:txBody>
          <a:bodyPr/>
          <a:lstStyle/>
          <a:p>
            <a:r>
              <a:rPr lang="en-US" altLang="zh-TW" dirty="0"/>
              <a:t>Reference</a:t>
            </a:r>
            <a:endParaRPr lang="zh-TW" altLang="en-US" dirty="0"/>
          </a:p>
        </p:txBody>
      </p:sp>
      <p:sp>
        <p:nvSpPr>
          <p:cNvPr id="10" name="內容版面配置區 2">
            <a:extLst>
              <a:ext uri="{FF2B5EF4-FFF2-40B4-BE49-F238E27FC236}">
                <a16:creationId xmlns:a16="http://schemas.microsoft.com/office/drawing/2014/main" id="{7AFDD2E0-324F-7C1F-4CF0-2678CA608A7C}"/>
              </a:ext>
            </a:extLst>
          </p:cNvPr>
          <p:cNvSpPr>
            <a:spLocks noGrp="1"/>
          </p:cNvSpPr>
          <p:nvPr>
            <p:ph idx="1"/>
          </p:nvPr>
        </p:nvSpPr>
        <p:spPr>
          <a:xfrm>
            <a:off x="737327" y="1844824"/>
            <a:ext cx="10717345" cy="2736304"/>
          </a:xfrm>
        </p:spPr>
        <p:txBody>
          <a:bodyPr/>
          <a:lstStyle/>
          <a:p>
            <a:pPr algn="just"/>
            <a:r>
              <a:rPr lang="zh-TW" altLang="en-US" b="1" dirty="0">
                <a:hlinkClick r:id="rId2"/>
              </a:rPr>
              <a:t>搞笑談軟工 什麼是</a:t>
            </a:r>
            <a:r>
              <a:rPr lang="en-US" altLang="zh-TW" b="1" dirty="0">
                <a:hlinkClick r:id="rId2"/>
              </a:rPr>
              <a:t>Pattern</a:t>
            </a:r>
            <a:r>
              <a:rPr lang="zh-TW" altLang="en-US" b="1" dirty="0">
                <a:hlinkClick r:id="rId2"/>
              </a:rPr>
              <a:t>（</a:t>
            </a:r>
            <a:r>
              <a:rPr lang="en-US" altLang="zh-TW" b="1" dirty="0">
                <a:hlinkClick r:id="rId2"/>
              </a:rPr>
              <a:t>5</a:t>
            </a:r>
            <a:r>
              <a:rPr lang="zh-TW" altLang="en-US" b="1" dirty="0">
                <a:hlinkClick r:id="rId2"/>
              </a:rPr>
              <a:t>）：加入</a:t>
            </a:r>
            <a:r>
              <a:rPr lang="en-US" altLang="zh-TW" b="1" dirty="0">
                <a:hlinkClick r:id="rId2"/>
              </a:rPr>
              <a:t>Force</a:t>
            </a:r>
            <a:endParaRPr lang="en-US" altLang="zh-TW" dirty="0">
              <a:hlinkClick r:id="rId3"/>
            </a:endParaRPr>
          </a:p>
          <a:p>
            <a:pPr algn="just"/>
            <a:r>
              <a:rPr lang="en-US" altLang="zh-TW" dirty="0">
                <a:hlinkClick r:id="rId3"/>
              </a:rPr>
              <a:t>Model Context Protocol (MCP) an overview</a:t>
            </a:r>
            <a:endParaRPr lang="en-US" altLang="zh-TW" dirty="0"/>
          </a:p>
          <a:p>
            <a:pPr algn="just"/>
            <a:r>
              <a:rPr lang="en-US" altLang="zh-TW" dirty="0">
                <a:hlinkClick r:id="rId4"/>
              </a:rPr>
              <a:t>Introducing the Model Context Protocol</a:t>
            </a:r>
            <a:endParaRPr lang="en-US" altLang="zh-TW" dirty="0"/>
          </a:p>
          <a:p>
            <a:pPr algn="just"/>
            <a:r>
              <a:rPr lang="en-US" altLang="zh-TW" dirty="0">
                <a:solidFill>
                  <a:srgbClr val="000100"/>
                </a:solidFill>
                <a:latin typeface="Helvetica Neue"/>
                <a:hlinkClick r:id="rId5"/>
              </a:rPr>
              <a:t>https://github.com/modelcontextprotocol/servers</a:t>
            </a:r>
            <a:endParaRPr lang="en-US" altLang="zh-TW" dirty="0">
              <a:solidFill>
                <a:srgbClr val="000100"/>
              </a:solidFill>
              <a:latin typeface="Helvetica Neue"/>
            </a:endParaRPr>
          </a:p>
          <a:p>
            <a:pPr algn="just"/>
            <a:r>
              <a:rPr lang="en-US" altLang="zh-TW" dirty="0">
                <a:hlinkClick r:id="rId6"/>
              </a:rPr>
              <a:t>Azure Databricks </a:t>
            </a:r>
            <a:r>
              <a:rPr lang="zh-TW" altLang="en-US" dirty="0">
                <a:hlinkClick r:id="rId6"/>
              </a:rPr>
              <a:t>上的 </a:t>
            </a:r>
            <a:r>
              <a:rPr lang="en-US" altLang="zh-TW" dirty="0">
                <a:hlinkClick r:id="rId6"/>
              </a:rPr>
              <a:t>RAG (</a:t>
            </a:r>
            <a:r>
              <a:rPr lang="zh-TW" altLang="en-US" dirty="0">
                <a:hlinkClick r:id="rId6"/>
              </a:rPr>
              <a:t>檢索增強生成</a:t>
            </a:r>
            <a:r>
              <a:rPr lang="en-US" altLang="zh-TW" dirty="0">
                <a:hlinkClick r:id="rId6"/>
              </a:rPr>
              <a:t>)</a:t>
            </a:r>
            <a:endParaRPr lang="en-US" altLang="zh-TW" dirty="0"/>
          </a:p>
          <a:p>
            <a:pPr algn="just"/>
            <a:endParaRPr lang="en-US" altLang="zh-TW" i="0" dirty="0">
              <a:solidFill>
                <a:srgbClr val="000100"/>
              </a:solidFill>
              <a:effectLst/>
              <a:latin typeface="Helvetica Neue"/>
            </a:endParaRPr>
          </a:p>
          <a:p>
            <a:pPr>
              <a:spcBef>
                <a:spcPts val="1050"/>
              </a:spcBef>
              <a:spcAft>
                <a:spcPts val="750"/>
              </a:spcAft>
            </a:pPr>
            <a:endParaRPr lang="en-US" altLang="zh-TW" b="1" i="0" dirty="0">
              <a:solidFill>
                <a:srgbClr val="000100"/>
              </a:solidFill>
              <a:effectLst/>
              <a:latin typeface="Helvetica Neue"/>
            </a:endParaRPr>
          </a:p>
          <a:p>
            <a:pPr algn="l">
              <a:spcBef>
                <a:spcPts val="1050"/>
              </a:spcBef>
              <a:spcAft>
                <a:spcPts val="750"/>
              </a:spcAft>
            </a:pPr>
            <a:endParaRPr lang="en-US" altLang="zh-TW" b="1" i="0" dirty="0">
              <a:solidFill>
                <a:srgbClr val="000100"/>
              </a:solidFill>
              <a:effectLst/>
              <a:latin typeface="Helvetica Neue"/>
            </a:endParaRPr>
          </a:p>
        </p:txBody>
      </p:sp>
    </p:spTree>
    <p:extLst>
      <p:ext uri="{BB962C8B-B14F-4D97-AF65-F5344CB8AC3E}">
        <p14:creationId xmlns:p14="http://schemas.microsoft.com/office/powerpoint/2010/main" val="39484143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6">
            <a:extLst>
              <a:ext uri="{FF2B5EF4-FFF2-40B4-BE49-F238E27FC236}">
                <a16:creationId xmlns:a16="http://schemas.microsoft.com/office/drawing/2014/main" id="{49428EBB-52F3-DCDA-004A-C121C19FD1AB}"/>
              </a:ext>
            </a:extLst>
          </p:cNvPr>
          <p:cNvSpPr>
            <a:spLocks noGrp="1"/>
          </p:cNvSpPr>
          <p:nvPr>
            <p:ph type="ctrTitle"/>
          </p:nvPr>
        </p:nvSpPr>
        <p:spPr>
          <a:xfrm>
            <a:off x="914400" y="620688"/>
            <a:ext cx="10363200" cy="1470025"/>
          </a:xfrm>
        </p:spPr>
        <p:txBody>
          <a:bodyPr/>
          <a:lstStyle/>
          <a:p>
            <a:r>
              <a:rPr lang="en-US" altLang="zh-TW" sz="5000" dirty="0"/>
              <a:t>Thanks for listening</a:t>
            </a:r>
            <a:endParaRPr lang="zh-TW" altLang="en-US" sz="5000" dirty="0"/>
          </a:p>
        </p:txBody>
      </p:sp>
      <p:sp>
        <p:nvSpPr>
          <p:cNvPr id="4" name="日期版面配置區 3">
            <a:extLst>
              <a:ext uri="{FF2B5EF4-FFF2-40B4-BE49-F238E27FC236}">
                <a16:creationId xmlns:a16="http://schemas.microsoft.com/office/drawing/2014/main" id="{D92E1E64-631A-4CB4-4C7F-5278B2528B24}"/>
              </a:ext>
            </a:extLst>
          </p:cNvPr>
          <p:cNvSpPr>
            <a:spLocks noGrp="1"/>
          </p:cNvSpPr>
          <p:nvPr>
            <p:ph type="dt" sz="half" idx="10"/>
          </p:nvPr>
        </p:nvSpPr>
        <p:spPr/>
        <p:txBody>
          <a:bodyPr/>
          <a:lstStyle/>
          <a:p>
            <a:pPr>
              <a:defRPr/>
            </a:pPr>
            <a:fld id="{DFE053C5-6C4D-8948-A0B7-F6BA541D276A}" type="datetime1">
              <a:rPr lang="zh-TW" altLang="en-US" smtClean="0"/>
              <a:pPr>
                <a:defRPr/>
              </a:pPr>
              <a:t>2025/11/16</a:t>
            </a:fld>
            <a:endParaRPr lang="zh-TW" altLang="en-US"/>
          </a:p>
        </p:txBody>
      </p:sp>
      <p:sp>
        <p:nvSpPr>
          <p:cNvPr id="5" name="頁尾版面配置區 4">
            <a:extLst>
              <a:ext uri="{FF2B5EF4-FFF2-40B4-BE49-F238E27FC236}">
                <a16:creationId xmlns:a16="http://schemas.microsoft.com/office/drawing/2014/main" id="{9F72B136-F273-B303-3F68-096C82558D91}"/>
              </a:ext>
            </a:extLst>
          </p:cNvPr>
          <p:cNvSpPr>
            <a:spLocks noGrp="1"/>
          </p:cNvSpPr>
          <p:nvPr>
            <p:ph type="ftr" sz="quarter" idx="11"/>
          </p:nvPr>
        </p:nvSpPr>
        <p:spPr/>
        <p:txBody>
          <a:bodyPr/>
          <a:lstStyle/>
          <a:p>
            <a:pPr>
              <a:defRPr/>
            </a:pPr>
            <a:r>
              <a:rPr lang="zh-TW" altLang="en-US"/>
              <a:t>軟體系統實驗室</a:t>
            </a:r>
          </a:p>
        </p:txBody>
      </p:sp>
      <p:sp>
        <p:nvSpPr>
          <p:cNvPr id="6" name="投影片編號版面配置區 5">
            <a:extLst>
              <a:ext uri="{FF2B5EF4-FFF2-40B4-BE49-F238E27FC236}">
                <a16:creationId xmlns:a16="http://schemas.microsoft.com/office/drawing/2014/main" id="{B8DADF54-8EE1-BE91-465C-6E328C35B6AE}"/>
              </a:ext>
            </a:extLst>
          </p:cNvPr>
          <p:cNvSpPr>
            <a:spLocks noGrp="1"/>
          </p:cNvSpPr>
          <p:nvPr>
            <p:ph type="sldNum" sz="quarter" idx="12"/>
          </p:nvPr>
        </p:nvSpPr>
        <p:spPr/>
        <p:txBody>
          <a:bodyPr/>
          <a:lstStyle/>
          <a:p>
            <a:fld id="{7408114E-E8DD-9044-BC35-9779A826010B}" type="slidenum">
              <a:rPr lang="zh-TW" altLang="en-US" smtClean="0"/>
              <a:pPr/>
              <a:t>16</a:t>
            </a:fld>
            <a:endParaRPr lang="zh-TW" altLang="en-US"/>
          </a:p>
        </p:txBody>
      </p:sp>
      <p:sp>
        <p:nvSpPr>
          <p:cNvPr id="3" name="標題 6">
            <a:extLst>
              <a:ext uri="{FF2B5EF4-FFF2-40B4-BE49-F238E27FC236}">
                <a16:creationId xmlns:a16="http://schemas.microsoft.com/office/drawing/2014/main" id="{7D9634B2-F690-A2CC-DD02-66A27A8C291F}"/>
              </a:ext>
            </a:extLst>
          </p:cNvPr>
          <p:cNvSpPr txBox="1">
            <a:spLocks/>
          </p:cNvSpPr>
          <p:nvPr/>
        </p:nvSpPr>
        <p:spPr bwMode="auto">
          <a:xfrm>
            <a:off x="931161" y="2276872"/>
            <a:ext cx="10363200"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400" b="0" kern="1200" cap="none" spc="0">
                <a:ln w="18415" cmpd="sng">
                  <a:solidFill>
                    <a:srgbClr val="FFFFFF"/>
                  </a:solidFill>
                  <a:prstDash val="solid"/>
                </a:ln>
                <a:solidFill>
                  <a:schemeClr val="bg1"/>
                </a:solidFill>
                <a:effectLst>
                  <a:outerShdw blurRad="63500" dir="3600000" algn="tl" rotWithShape="0">
                    <a:srgbClr val="000000">
                      <a:alpha val="70000"/>
                    </a:srgbClr>
                  </a:outerShdw>
                </a:effectLst>
                <a:latin typeface="微軟正黑體" pitchFamily="34" charset="-120"/>
                <a:ea typeface="微軟正黑體" pitchFamily="34" charset="-120"/>
                <a:cs typeface="+mj-cs"/>
              </a:defRPr>
            </a:lvl1pPr>
            <a:lvl2pPr algn="ctr" rtl="0" eaLnBrk="1" fontAlgn="base" hangingPunct="1">
              <a:spcBef>
                <a:spcPct val="0"/>
              </a:spcBef>
              <a:spcAft>
                <a:spcPct val="0"/>
              </a:spcAft>
              <a:defRPr sz="4400">
                <a:solidFill>
                  <a:srgbClr val="FFFFFF"/>
                </a:solidFill>
                <a:latin typeface="微軟正黑體" pitchFamily="34" charset="-120"/>
                <a:ea typeface="微軟正黑體" pitchFamily="34" charset="-120"/>
              </a:defRPr>
            </a:lvl2pPr>
            <a:lvl3pPr algn="ctr" rtl="0" eaLnBrk="1" fontAlgn="base" hangingPunct="1">
              <a:spcBef>
                <a:spcPct val="0"/>
              </a:spcBef>
              <a:spcAft>
                <a:spcPct val="0"/>
              </a:spcAft>
              <a:defRPr sz="4400">
                <a:solidFill>
                  <a:srgbClr val="FFFFFF"/>
                </a:solidFill>
                <a:latin typeface="微軟正黑體" pitchFamily="34" charset="-120"/>
                <a:ea typeface="微軟正黑體" pitchFamily="34" charset="-120"/>
              </a:defRPr>
            </a:lvl3pPr>
            <a:lvl4pPr algn="ctr" rtl="0" eaLnBrk="1" fontAlgn="base" hangingPunct="1">
              <a:spcBef>
                <a:spcPct val="0"/>
              </a:spcBef>
              <a:spcAft>
                <a:spcPct val="0"/>
              </a:spcAft>
              <a:defRPr sz="4400">
                <a:solidFill>
                  <a:srgbClr val="FFFFFF"/>
                </a:solidFill>
                <a:latin typeface="微軟正黑體" pitchFamily="34" charset="-120"/>
                <a:ea typeface="微軟正黑體" pitchFamily="34" charset="-120"/>
              </a:defRPr>
            </a:lvl4pPr>
            <a:lvl5pPr algn="ctr" rtl="0" eaLnBrk="1" fontAlgn="base" hangingPunct="1">
              <a:spcBef>
                <a:spcPct val="0"/>
              </a:spcBef>
              <a:spcAft>
                <a:spcPct val="0"/>
              </a:spcAft>
              <a:defRPr sz="4400">
                <a:solidFill>
                  <a:srgbClr val="FFFFFF"/>
                </a:solidFill>
                <a:latin typeface="微軟正黑體" pitchFamily="34" charset="-120"/>
                <a:ea typeface="微軟正黑體" pitchFamily="34" charset="-120"/>
              </a:defRPr>
            </a:lvl5pPr>
            <a:lvl6pPr marL="457200" algn="ctr" rtl="0" eaLnBrk="1" fontAlgn="base" hangingPunct="1">
              <a:spcBef>
                <a:spcPct val="0"/>
              </a:spcBef>
              <a:spcAft>
                <a:spcPct val="0"/>
              </a:spcAft>
              <a:defRPr sz="4400">
                <a:solidFill>
                  <a:schemeClr val="bg1"/>
                </a:solidFill>
                <a:latin typeface="Calibri" pitchFamily="34" charset="0"/>
                <a:ea typeface="新細明體" charset="-120"/>
              </a:defRPr>
            </a:lvl6pPr>
            <a:lvl7pPr marL="914400" algn="ctr" rtl="0" eaLnBrk="1" fontAlgn="base" hangingPunct="1">
              <a:spcBef>
                <a:spcPct val="0"/>
              </a:spcBef>
              <a:spcAft>
                <a:spcPct val="0"/>
              </a:spcAft>
              <a:defRPr sz="4400">
                <a:solidFill>
                  <a:schemeClr val="bg1"/>
                </a:solidFill>
                <a:latin typeface="Calibri" pitchFamily="34" charset="0"/>
                <a:ea typeface="新細明體" charset="-120"/>
              </a:defRPr>
            </a:lvl7pPr>
            <a:lvl8pPr marL="1371600" algn="ctr" rtl="0" eaLnBrk="1" fontAlgn="base" hangingPunct="1">
              <a:spcBef>
                <a:spcPct val="0"/>
              </a:spcBef>
              <a:spcAft>
                <a:spcPct val="0"/>
              </a:spcAft>
              <a:defRPr sz="4400">
                <a:solidFill>
                  <a:schemeClr val="bg1"/>
                </a:solidFill>
                <a:latin typeface="Calibri" pitchFamily="34" charset="0"/>
                <a:ea typeface="新細明體" charset="-120"/>
              </a:defRPr>
            </a:lvl8pPr>
            <a:lvl9pPr marL="1828800" algn="ctr" rtl="0" eaLnBrk="1" fontAlgn="base" hangingPunct="1">
              <a:spcBef>
                <a:spcPct val="0"/>
              </a:spcBef>
              <a:spcAft>
                <a:spcPct val="0"/>
              </a:spcAft>
              <a:defRPr sz="4400">
                <a:solidFill>
                  <a:schemeClr val="bg1"/>
                </a:solidFill>
                <a:latin typeface="Calibri" pitchFamily="34" charset="0"/>
                <a:ea typeface="新細明體" charset="-120"/>
              </a:defRPr>
            </a:lvl9pPr>
          </a:lstStyle>
          <a:p>
            <a:r>
              <a:rPr lang="en-US" altLang="zh-TW" sz="3000" dirty="0">
                <a:hlinkClick r:id="rId2"/>
              </a:rPr>
              <a:t>https://github.com/chun-wei0413/mcp-registry</a:t>
            </a:r>
            <a:endParaRPr lang="zh-TW" altLang="en-US" sz="3000" dirty="0"/>
          </a:p>
        </p:txBody>
      </p:sp>
      <p:pic>
        <p:nvPicPr>
          <p:cNvPr id="2050" name="Picture 2" descr="耀西- 維基百科，自由的百科全書">
            <a:extLst>
              <a:ext uri="{FF2B5EF4-FFF2-40B4-BE49-F238E27FC236}">
                <a16:creationId xmlns:a16="http://schemas.microsoft.com/office/drawing/2014/main" id="{F87140DD-78EA-AF05-830F-D116FF6667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9912424" y="2492896"/>
            <a:ext cx="943103" cy="1403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1251244"/>
      </p:ext>
    </p:extLst>
  </p:cSld>
  <p:clrMapOvr>
    <a:masterClrMapping/>
  </p:clrMapOvr>
</p:sld>
</file>

<file path=ppt/theme/theme1.xml><?xml version="1.0" encoding="utf-8"?>
<a:theme xmlns:a="http://schemas.openxmlformats.org/drawingml/2006/main" name="blue_w">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簡報11" id="{6922D46F-0F15-BD4E-912F-2E75D1E2E774}" vid="{92D0F2A3-209E-254B-B530-A3E9B9D9A732}"/>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blue_w</Template>
  <TotalTime>8430</TotalTime>
  <Words>1288</Words>
  <Application>Microsoft Office PowerPoint</Application>
  <PresentationFormat>寬螢幕</PresentationFormat>
  <Paragraphs>151</Paragraphs>
  <Slides>16</Slides>
  <Notes>10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16</vt:i4>
      </vt:variant>
    </vt:vector>
  </HeadingPairs>
  <TitlesOfParts>
    <vt:vector size="22" baseType="lpstr">
      <vt:lpstr>Helvetica Neue</vt:lpstr>
      <vt:lpstr>微軟正黑體</vt:lpstr>
      <vt:lpstr>Arial</vt:lpstr>
      <vt:lpstr>Calibri</vt:lpstr>
      <vt:lpstr>Times New Roman</vt:lpstr>
      <vt:lpstr>blue_w</vt:lpstr>
      <vt:lpstr>Solving the AI Context Crisis: A RAG-Based Context Provisioning MCP Server</vt:lpstr>
      <vt:lpstr>Outline</vt:lpstr>
      <vt:lpstr>Background-MCP</vt:lpstr>
      <vt:lpstr>Background-MCP</vt:lpstr>
      <vt:lpstr>Background-MCP</vt:lpstr>
      <vt:lpstr>Background-RAG</vt:lpstr>
      <vt:lpstr>Background-RAG</vt:lpstr>
      <vt:lpstr>Context Provisioning MCP Server </vt:lpstr>
      <vt:lpstr>Context Provisioning MCP Server </vt:lpstr>
      <vt:lpstr>Context Provisioning MCP Server </vt:lpstr>
      <vt:lpstr>Context Provisioning MCP Server </vt:lpstr>
      <vt:lpstr>Context Provisioning MCP Server </vt:lpstr>
      <vt:lpstr>Context Provisioning MCP Server </vt:lpstr>
      <vt:lpstr>Conclusion</vt:lpstr>
      <vt:lpstr>Reference</vt:lpstr>
      <vt:lpstr>Thanks for listening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Clean Architecture</dc:title>
  <dc:creator>李俊威</dc:creator>
  <cp:lastModifiedBy>Frank Li</cp:lastModifiedBy>
  <cp:revision>326</cp:revision>
  <dcterms:created xsi:type="dcterms:W3CDTF">2024-11-04T15:08:33Z</dcterms:created>
  <dcterms:modified xsi:type="dcterms:W3CDTF">2025-11-16T16:10:44Z</dcterms:modified>
</cp:coreProperties>
</file>