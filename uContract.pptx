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21"/>
  </p:notesMasterIdLst>
  <p:handoutMasterIdLst>
    <p:handoutMasterId r:id="rId22"/>
  </p:handoutMasterIdLst>
  <p:sldIdLst>
    <p:sldId id="256" r:id="rId2"/>
    <p:sldId id="257" r:id="rId3"/>
    <p:sldId id="301" r:id="rId4"/>
    <p:sldId id="303" r:id="rId5"/>
    <p:sldId id="305" r:id="rId6"/>
    <p:sldId id="306" r:id="rId7"/>
    <p:sldId id="308" r:id="rId8"/>
    <p:sldId id="307" r:id="rId9"/>
    <p:sldId id="309" r:id="rId10"/>
    <p:sldId id="310" r:id="rId11"/>
    <p:sldId id="311" r:id="rId12"/>
    <p:sldId id="318" r:id="rId13"/>
    <p:sldId id="319" r:id="rId14"/>
    <p:sldId id="282" r:id="rId15"/>
    <p:sldId id="283" r:id="rId16"/>
    <p:sldId id="315" r:id="rId17"/>
    <p:sldId id="316" r:id="rId18"/>
    <p:sldId id="317" r:id="rId19"/>
    <p:sldId id="312" r:id="rId20"/>
  </p:sldIdLst>
  <p:sldSz cx="12192000" cy="6858000"/>
  <p:notesSz cx="7099300" cy="10234613"/>
  <p:defaultTex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B2BCC7-BA44-2B2A-85DF-CDA8C59980A1}" name="喻翔 胡" initials="喻胡" userId="bce98f34b5dff7b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0" autoAdjust="0"/>
    <p:restoredTop sz="65747" autoAdjust="0"/>
  </p:normalViewPr>
  <p:slideViewPr>
    <p:cSldViewPr>
      <p:cViewPr varScale="1">
        <p:scale>
          <a:sx n="108" d="100"/>
          <a:sy n="108" d="100"/>
        </p:scale>
        <p:origin x="2676" y="11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773510F1-8AE8-2943-BE76-1CC3E099172E}"/>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kumimoji="0" sz="1300">
                <a:latin typeface="+mn-lt"/>
                <a:ea typeface="+mn-ea"/>
              </a:defRPr>
            </a:lvl1pPr>
          </a:lstStyle>
          <a:p>
            <a:pPr>
              <a:defRPr/>
            </a:pPr>
            <a:endParaRPr lang="zh-TW" altLang="en-US"/>
          </a:p>
        </p:txBody>
      </p:sp>
      <p:sp>
        <p:nvSpPr>
          <p:cNvPr id="4" name="頁尾版面配置區 3">
            <a:extLst>
              <a:ext uri="{FF2B5EF4-FFF2-40B4-BE49-F238E27FC236}">
                <a16:creationId xmlns:a16="http://schemas.microsoft.com/office/drawing/2014/main" id="{B04CFB7D-18F5-E84C-A05B-9A0B0FE5B1C5}"/>
              </a:ext>
            </a:extLst>
          </p:cNvPr>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kumimoji="0" sz="1300">
                <a:latin typeface="+mn-lt"/>
                <a:ea typeface="+mn-ea"/>
              </a:defRPr>
            </a:lvl1pPr>
          </a:lstStyle>
          <a:p>
            <a:pPr>
              <a:defRPr/>
            </a:pPr>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1E759A3-0E5A-3743-85D7-197A568D4A79}"/>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ea typeface="新細明體" charset="-120"/>
              </a:defRPr>
            </a:lvl1pPr>
          </a:lstStyle>
          <a:p>
            <a:pPr>
              <a:defRPr/>
            </a:pPr>
            <a:endParaRPr lang="zh-TW" altLang="en-US"/>
          </a:p>
        </p:txBody>
      </p:sp>
      <p:sp>
        <p:nvSpPr>
          <p:cNvPr id="3" name="日期版面配置區 2">
            <a:extLst>
              <a:ext uri="{FF2B5EF4-FFF2-40B4-BE49-F238E27FC236}">
                <a16:creationId xmlns:a16="http://schemas.microsoft.com/office/drawing/2014/main" id="{7BF9B35B-3E7C-C046-B431-B878F2FB5E40}"/>
              </a:ext>
            </a:extLst>
          </p:cNvPr>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ea typeface="新細明體" charset="-120"/>
              </a:defRPr>
            </a:lvl1pPr>
          </a:lstStyle>
          <a:p>
            <a:pPr>
              <a:defRPr/>
            </a:pPr>
            <a:fld id="{813B3F78-9AD1-7E42-BBA8-A48702909C03}" type="datetimeFigureOut">
              <a:rPr lang="zh-TW" altLang="en-US"/>
              <a:pPr>
                <a:defRPr/>
              </a:pPr>
              <a:t>2025/8/25</a:t>
            </a:fld>
            <a:endParaRPr lang="zh-TW" altLang="en-US"/>
          </a:p>
        </p:txBody>
      </p:sp>
      <p:sp>
        <p:nvSpPr>
          <p:cNvPr id="4" name="投影片圖像版面配置區 3">
            <a:extLst>
              <a:ext uri="{FF2B5EF4-FFF2-40B4-BE49-F238E27FC236}">
                <a16:creationId xmlns:a16="http://schemas.microsoft.com/office/drawing/2014/main" id="{53632CAF-4F0B-834F-A6D4-B7662DC514E1}"/>
              </a:ext>
            </a:extLst>
          </p:cNvPr>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pPr lvl="0"/>
            <a:endParaRPr lang="zh-TW" altLang="en-US" noProof="0"/>
          </a:p>
        </p:txBody>
      </p:sp>
      <p:sp>
        <p:nvSpPr>
          <p:cNvPr id="5" name="備忘稿版面配置區 4">
            <a:extLst>
              <a:ext uri="{FF2B5EF4-FFF2-40B4-BE49-F238E27FC236}">
                <a16:creationId xmlns:a16="http://schemas.microsoft.com/office/drawing/2014/main" id="{0C5B9BBA-B26F-AC4E-AEB9-999CA2B8A956}"/>
              </a:ext>
            </a:extLst>
          </p:cNvPr>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a:extLst>
              <a:ext uri="{FF2B5EF4-FFF2-40B4-BE49-F238E27FC236}">
                <a16:creationId xmlns:a16="http://schemas.microsoft.com/office/drawing/2014/main" id="{EFAB9033-8F48-4C42-B89C-AAB2F45C086A}"/>
              </a:ext>
            </a:extLst>
          </p:cNvPr>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ea typeface="新細明體" charset="-120"/>
              </a:defRPr>
            </a:lvl1pPr>
          </a:lstStyle>
          <a:p>
            <a:pPr>
              <a:defRPr/>
            </a:pPr>
            <a:endParaRPr lang="zh-TW" altLang="en-US"/>
          </a:p>
        </p:txBody>
      </p:sp>
      <p:sp>
        <p:nvSpPr>
          <p:cNvPr id="7" name="投影片編號版面配置區 6">
            <a:extLst>
              <a:ext uri="{FF2B5EF4-FFF2-40B4-BE49-F238E27FC236}">
                <a16:creationId xmlns:a16="http://schemas.microsoft.com/office/drawing/2014/main" id="{D64BCDAF-0B06-0B43-856C-A71F5361F0FD}"/>
              </a:ext>
            </a:extLst>
          </p:cNvPr>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73967E60-74AC-7544-A9E1-2DF949A6356E}" type="slidenum">
              <a:rPr lang="zh-TW" altLang="en-US"/>
              <a:pPr/>
              <a:t>‹#›</a:t>
            </a:fld>
            <a:endParaRPr lang="zh-TW"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a:t>
            </a:fld>
            <a:endParaRPr lang="zh-TW" altLang="en-US"/>
          </a:p>
        </p:txBody>
      </p:sp>
    </p:spTree>
    <p:extLst>
      <p:ext uri="{BB962C8B-B14F-4D97-AF65-F5344CB8AC3E}">
        <p14:creationId xmlns:p14="http://schemas.microsoft.com/office/powerpoint/2010/main" val="103243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2</a:t>
            </a:fld>
            <a:endParaRPr lang="zh-TW" altLang="en-US"/>
          </a:p>
        </p:txBody>
      </p:sp>
    </p:spTree>
    <p:extLst>
      <p:ext uri="{BB962C8B-B14F-4D97-AF65-F5344CB8AC3E}">
        <p14:creationId xmlns:p14="http://schemas.microsoft.com/office/powerpoint/2010/main" val="382225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我們常常看到教科書上寫物件導向程式的核心是</a:t>
            </a:r>
            <a:r>
              <a:rPr lang="en-US" altLang="zh-TW" dirty="0"/>
              <a:t>reuse</a:t>
            </a:r>
            <a:r>
              <a:rPr lang="zh-TW" altLang="en-US" dirty="0"/>
              <a:t>，一個</a:t>
            </a:r>
            <a:r>
              <a:rPr lang="en-US" altLang="zh-TW" dirty="0"/>
              <a:t>class or component</a:t>
            </a:r>
            <a:r>
              <a:rPr lang="zh-TW" altLang="en-US" dirty="0"/>
              <a:t>可能被數百數千個</a:t>
            </a:r>
            <a:r>
              <a:rPr lang="en-US" altLang="zh-TW" dirty="0"/>
              <a:t>Client</a:t>
            </a:r>
            <a:r>
              <a:rPr lang="zh-TW" altLang="en-US" dirty="0"/>
              <a:t>使用，所以如果它存在錯誤的行為，他影響的是所有使用到它的</a:t>
            </a:r>
            <a:r>
              <a:rPr lang="en-US" altLang="zh-TW" dirty="0"/>
              <a:t>client</a:t>
            </a:r>
            <a:r>
              <a:rPr lang="zh-TW" altLang="en-US" dirty="0"/>
              <a:t>。那寫</a:t>
            </a:r>
            <a:r>
              <a:rPr lang="en-US" altLang="zh-TW" dirty="0"/>
              <a:t>OOP</a:t>
            </a:r>
            <a:r>
              <a:rPr lang="zh-TW" altLang="en-US" dirty="0"/>
              <a:t>的人常說</a:t>
            </a:r>
            <a:r>
              <a:rPr lang="en-US" altLang="zh-TW" dirty="0"/>
              <a:t>OOP</a:t>
            </a:r>
            <a:r>
              <a:rPr lang="zh-TW" altLang="en-US" dirty="0"/>
              <a:t>可以提升軟體的</a:t>
            </a:r>
            <a:r>
              <a:rPr lang="en-US" altLang="zh-TW" dirty="0"/>
              <a:t>quality</a:t>
            </a:r>
            <a:r>
              <a:rPr lang="zh-TW" altLang="en-US" dirty="0"/>
              <a:t>，但是可靠性又是</a:t>
            </a:r>
            <a:r>
              <a:rPr lang="en-US" altLang="zh-TW" dirty="0"/>
              <a:t>software quality</a:t>
            </a:r>
            <a:r>
              <a:rPr lang="zh-TW" altLang="en-US" dirty="0"/>
              <a:t>的核心要素，所以我想談談怎麼提升軟體可靠性。「</a:t>
            </a:r>
            <a:r>
              <a:rPr lang="en-US" altLang="zh-TW" dirty="0"/>
              <a:t>Design by Contract </a:t>
            </a:r>
            <a:r>
              <a:rPr lang="zh-TW" altLang="en-US" dirty="0"/>
              <a:t>是由法國的一位計算機科學家</a:t>
            </a:r>
            <a:r>
              <a:rPr lang="en-US" altLang="zh-TW" dirty="0"/>
              <a:t>Bertrand Meyer</a:t>
            </a:r>
            <a:r>
              <a:rPr lang="zh-TW" altLang="en-US" dirty="0"/>
              <a:t>提出，就是一種讓軟體更可靠的方法。</a:t>
            </a:r>
            <a:br>
              <a:rPr lang="zh-TW" altLang="en-US" dirty="0"/>
            </a:br>
            <a:r>
              <a:rPr lang="zh-TW" altLang="en-US" dirty="0"/>
              <a:t>就像現實世界的契約一樣，他把軟體元件也就是程式碼模組間的互動看作是一種契約關係。不是模糊的假設，而是用清楚的契約去規範軟體元件的權利和義務。</a:t>
            </a:r>
            <a:endParaRPr lang="en-US" altLang="zh-TW"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3</a:t>
            </a:fld>
            <a:endParaRPr lang="zh-TW" altLang="en-US"/>
          </a:p>
        </p:txBody>
      </p:sp>
    </p:spTree>
    <p:extLst>
      <p:ext uri="{BB962C8B-B14F-4D97-AF65-F5344CB8AC3E}">
        <p14:creationId xmlns:p14="http://schemas.microsoft.com/office/powerpoint/2010/main" val="3791403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B6113-C8D1-826F-5588-09DDC8FC93C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F197F1-FF1C-B429-1FED-B69C9D5A7EB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F67C7AF-6F0B-5397-12BC-593F4106557F}"/>
              </a:ext>
            </a:extLst>
          </p:cNvPr>
          <p:cNvSpPr>
            <a:spLocks noGrp="1"/>
          </p:cNvSpPr>
          <p:nvPr>
            <p:ph type="body" idx="1"/>
          </p:nvPr>
        </p:nvSpPr>
        <p:spPr/>
        <p:txBody>
          <a:bodyPr/>
          <a:lstStyle/>
          <a:p>
            <a:r>
              <a:rPr lang="zh-TW" altLang="en-US" dirty="0"/>
              <a:t>如果你是客戶你要記一個包裹，你的義務就是付運費還有確保你的包裹符合快遞公司的規定</a:t>
            </a:r>
            <a:r>
              <a:rPr lang="en-US" altLang="zh-TW" dirty="0"/>
              <a:t>(</a:t>
            </a:r>
            <a:r>
              <a:rPr lang="zh-TW" altLang="en-US" dirty="0"/>
              <a:t>像是重量、尺寸不能超標</a:t>
            </a:r>
            <a:r>
              <a:rPr lang="en-US" altLang="zh-TW" dirty="0"/>
              <a:t>)</a:t>
            </a:r>
            <a:r>
              <a:rPr lang="zh-TW" altLang="en-US" dirty="0"/>
              <a:t>。你的權利就是你能預期快遞公司也就是供應商能在他們承諾的時間內收到包裹。</a:t>
            </a:r>
            <a:endParaRPr lang="en-US" altLang="zh-TW" dirty="0"/>
          </a:p>
          <a:p>
            <a:r>
              <a:rPr lang="zh-TW" altLang="en-US" dirty="0"/>
              <a:t>從快遞公司有就是供應商來看，他們的義務就是把符合規定的包裹在時間內送達，他的權利就是如果來的包裹沒付錢或規格不符，他可以拒絕處理，他不需要為這些不合規定的情況負責。</a:t>
            </a:r>
            <a:endParaRPr lang="en-US" altLang="zh-TW" dirty="0"/>
          </a:p>
          <a:p>
            <a:r>
              <a:rPr lang="zh-TW" altLang="en-US" dirty="0"/>
              <a:t>這個例子的核心就是合作的雙方都有明確的義務和權利，這些都要清楚地寫在契約裡面。</a:t>
            </a:r>
            <a:endParaRPr lang="en-US" altLang="zh-TW" dirty="0"/>
          </a:p>
          <a:p>
            <a:r>
              <a:rPr lang="en-US" altLang="zh-TW" dirty="0"/>
              <a:t>Paper</a:t>
            </a:r>
            <a:r>
              <a:rPr lang="zh-TW" altLang="en-US" dirty="0"/>
              <a:t>裡面也提到一個原則叫</a:t>
            </a:r>
            <a:r>
              <a:rPr lang="en-US" altLang="zh-TW" dirty="0"/>
              <a:t>No Hidden Clauses</a:t>
            </a:r>
            <a:r>
              <a:rPr lang="zh-TW" altLang="en-US" dirty="0"/>
              <a:t>，意思是指要客戶履行契約上的義務，供應商就必須提供契約上承諾的服務，供應商不能事後增加新條件。反過來說供應上也只需要作出契約上承諾的事</a:t>
            </a:r>
            <a:endParaRPr lang="en-US" altLang="zh-TW" dirty="0"/>
          </a:p>
          <a:p>
            <a:r>
              <a:rPr lang="zh-TW" altLang="en-US" dirty="0"/>
              <a:t>，不用作契約外的事。</a:t>
            </a:r>
            <a:endParaRPr lang="en-US" altLang="zh-TW" dirty="0"/>
          </a:p>
          <a:p>
            <a:endParaRPr lang="en-US" altLang="zh-TW" dirty="0"/>
          </a:p>
          <a:p>
            <a:endParaRPr lang="en-US" altLang="zh-TW" dirty="0"/>
          </a:p>
        </p:txBody>
      </p:sp>
      <p:sp>
        <p:nvSpPr>
          <p:cNvPr id="4" name="投影片編號版面配置區 3">
            <a:extLst>
              <a:ext uri="{FF2B5EF4-FFF2-40B4-BE49-F238E27FC236}">
                <a16:creationId xmlns:a16="http://schemas.microsoft.com/office/drawing/2014/main" id="{3533BC6F-AE59-6FAF-C08C-0CA1722D1BBB}"/>
              </a:ext>
            </a:extLst>
          </p:cNvPr>
          <p:cNvSpPr>
            <a:spLocks noGrp="1"/>
          </p:cNvSpPr>
          <p:nvPr>
            <p:ph type="sldNum" sz="quarter" idx="5"/>
          </p:nvPr>
        </p:nvSpPr>
        <p:spPr/>
        <p:txBody>
          <a:bodyPr/>
          <a:lstStyle/>
          <a:p>
            <a:fld id="{73967E60-74AC-7544-A9E1-2DF949A6356E}" type="slidenum">
              <a:rPr lang="zh-TW" altLang="en-US" smtClean="0"/>
              <a:pPr/>
              <a:t>4</a:t>
            </a:fld>
            <a:endParaRPr lang="zh-TW" altLang="en-US"/>
          </a:p>
        </p:txBody>
      </p:sp>
    </p:spTree>
    <p:extLst>
      <p:ext uri="{BB962C8B-B14F-4D97-AF65-F5344CB8AC3E}">
        <p14:creationId xmlns:p14="http://schemas.microsoft.com/office/powerpoint/2010/main" val="494551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4812-0441-1B45-ECD5-A73FB40E760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9C6C0DB-4ED4-60E5-8206-EE3656AB25C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7841C3-479F-D12D-075A-84DB94FCD483}"/>
              </a:ext>
            </a:extLst>
          </p:cNvPr>
          <p:cNvSpPr>
            <a:spLocks noGrp="1"/>
          </p:cNvSpPr>
          <p:nvPr>
            <p:ph type="body" idx="1"/>
          </p:nvPr>
        </p:nvSpPr>
        <p:spPr/>
        <p:txBody>
          <a:bodyPr/>
          <a:lstStyle/>
          <a:p>
            <a:r>
              <a:rPr lang="zh-TW" altLang="en-US" dirty="0"/>
              <a:t>那你可能會好奇在軟體裡面，誰是客戶、誰是供應商</a:t>
            </a:r>
            <a:r>
              <a:rPr lang="en-US" altLang="zh-TW" dirty="0"/>
              <a:t>?</a:t>
            </a:r>
          </a:p>
          <a:p>
            <a:r>
              <a:rPr lang="zh-TW" altLang="en-US" dirty="0"/>
              <a:t>當呼叫者</a:t>
            </a:r>
            <a:r>
              <a:rPr lang="en-US" altLang="zh-TW" dirty="0"/>
              <a:t>caller</a:t>
            </a:r>
            <a:r>
              <a:rPr lang="zh-TW" altLang="en-US" dirty="0"/>
              <a:t>去呼叫另一個</a:t>
            </a:r>
            <a:r>
              <a:rPr lang="en-US" altLang="zh-TW" dirty="0"/>
              <a:t>method</a:t>
            </a:r>
            <a:r>
              <a:rPr lang="zh-TW" altLang="en-US" dirty="0"/>
              <a:t>，呼叫者就是客戶，而被呼叫的</a:t>
            </a:r>
            <a:r>
              <a:rPr lang="en-US" altLang="zh-TW" dirty="0"/>
              <a:t>callee</a:t>
            </a:r>
            <a:r>
              <a:rPr lang="zh-TW" altLang="en-US" dirty="0"/>
              <a:t>就是供應商。</a:t>
            </a:r>
            <a:endParaRPr lang="en-US" altLang="zh-TW" dirty="0"/>
          </a:p>
          <a:p>
            <a:r>
              <a:rPr lang="zh-TW" altLang="en-US" dirty="0"/>
              <a:t>那在</a:t>
            </a:r>
            <a:r>
              <a:rPr lang="en-US" altLang="zh-TW" dirty="0"/>
              <a:t>Design by contract</a:t>
            </a:r>
            <a:r>
              <a:rPr lang="zh-TW" altLang="en-US" dirty="0"/>
              <a:t>裡面，用來把軟體契約具體寫下來的工具就叫斷言</a:t>
            </a:r>
            <a:r>
              <a:rPr lang="en-US" altLang="zh-TW" dirty="0"/>
              <a:t>assertion</a:t>
            </a:r>
            <a:r>
              <a:rPr lang="zh-TW" altLang="en-US" dirty="0"/>
              <a:t>，</a:t>
            </a:r>
            <a:r>
              <a:rPr lang="en-US" altLang="zh-TW" dirty="0"/>
              <a:t>paper</a:t>
            </a:r>
            <a:r>
              <a:rPr lang="zh-TW" altLang="en-US" dirty="0"/>
              <a:t>裡提到有三種主要的斷言類型</a:t>
            </a:r>
            <a:r>
              <a:rPr lang="en-US" altLang="zh-TW" dirty="0"/>
              <a:t>:</a:t>
            </a:r>
          </a:p>
          <a:p>
            <a:pPr marL="228600" indent="-228600">
              <a:buAutoNum type="arabicPeriod"/>
            </a:pPr>
            <a:r>
              <a:rPr lang="en-US" altLang="zh-TW" dirty="0"/>
              <a:t>precondition: </a:t>
            </a:r>
            <a:r>
              <a:rPr lang="zh-TW" altLang="en-US" dirty="0"/>
              <a:t>就是對客戶也就是呼叫者的要求，是客戶的義務。在供應商開始執行程式之前，某些條件必須先滿足。</a:t>
            </a:r>
            <a:endParaRPr lang="en-US" altLang="zh-TW" dirty="0"/>
          </a:p>
          <a:p>
            <a:pPr marL="228600" indent="-228600">
              <a:buAutoNum type="arabicPeriod"/>
            </a:pPr>
            <a:r>
              <a:rPr lang="en-US" altLang="zh-TW" dirty="0"/>
              <a:t>Postcondition: </a:t>
            </a:r>
            <a:r>
              <a:rPr lang="zh-TW" altLang="en-US" dirty="0"/>
              <a:t>供應商就是</a:t>
            </a:r>
            <a:r>
              <a:rPr lang="en-US" altLang="zh-TW" dirty="0"/>
              <a:t>callee</a:t>
            </a:r>
            <a:r>
              <a:rPr lang="zh-TW" altLang="en-US" dirty="0"/>
              <a:t>的</a:t>
            </a:r>
            <a:r>
              <a:rPr lang="en-US" altLang="zh-TW" dirty="0"/>
              <a:t>method</a:t>
            </a:r>
            <a:r>
              <a:rPr lang="zh-TW" altLang="en-US" dirty="0"/>
              <a:t>，對於自己程式執行結果的承諾和保證，是供應商的義務。也是客戶的權利。</a:t>
            </a:r>
            <a:endParaRPr lang="en-US" altLang="zh-TW" dirty="0"/>
          </a:p>
          <a:p>
            <a:pPr marL="228600" indent="-228600">
              <a:buAutoNum type="arabicPeriod"/>
            </a:pPr>
            <a:r>
              <a:rPr lang="en-US" altLang="zh-TW" dirty="0"/>
              <a:t>Class Invariants</a:t>
            </a:r>
            <a:r>
              <a:rPr lang="zh-TW" altLang="en-US" dirty="0"/>
              <a:t>和先前兩個不太依樣，它不是針對某一次呼叫，而是一個</a:t>
            </a:r>
            <a:r>
              <a:rPr lang="en-US" altLang="zh-TW" dirty="0"/>
              <a:t>Class</a:t>
            </a:r>
            <a:r>
              <a:rPr lang="zh-TW" altLang="en-US" dirty="0"/>
              <a:t>所建立出的</a:t>
            </a:r>
            <a:r>
              <a:rPr lang="en-US" altLang="zh-TW" dirty="0"/>
              <a:t>Instants</a:t>
            </a:r>
            <a:r>
              <a:rPr lang="zh-TW" altLang="en-US" dirty="0"/>
              <a:t>在它存在的期間，只要是穩定狀態下，某些條件必須永遠保持為真的特性。</a:t>
            </a:r>
            <a:endParaRPr lang="en-US" altLang="zh-TW" dirty="0"/>
          </a:p>
          <a:p>
            <a:endParaRPr lang="en-US" altLang="zh-TW" dirty="0"/>
          </a:p>
          <a:p>
            <a:endParaRPr lang="en-US" altLang="zh-TW" dirty="0"/>
          </a:p>
          <a:p>
            <a:r>
              <a:rPr lang="en-US" altLang="zh-TW" dirty="0"/>
              <a:t>There are 2 assertion violations may occur:</a:t>
            </a:r>
          </a:p>
          <a:p>
            <a:r>
              <a:rPr lang="en-US" altLang="zh-TW" dirty="0"/>
              <a:t>A precondition violation indicates a bug in the client. The client didn't observe the conditions imposed on correct calls.</a:t>
            </a:r>
          </a:p>
          <a:p>
            <a:r>
              <a:rPr lang="en-US" altLang="zh-TW" dirty="0"/>
              <a:t>A postcondition violation indicates a bug in the supplier. The method failed to deliver on its promises.</a:t>
            </a:r>
          </a:p>
          <a:p>
            <a:r>
              <a:rPr lang="en-US" altLang="zh-TW" dirty="0"/>
              <a:t>According to precondition and postcondition, the method can check the input is valid and the output is computed correctly.</a:t>
            </a:r>
          </a:p>
          <a:p>
            <a:endParaRPr lang="en-US" altLang="zh-TW" dirty="0"/>
          </a:p>
          <a:p>
            <a:endParaRPr lang="en-US" altLang="zh-TW" dirty="0"/>
          </a:p>
        </p:txBody>
      </p:sp>
      <p:sp>
        <p:nvSpPr>
          <p:cNvPr id="4" name="投影片編號版面配置區 3">
            <a:extLst>
              <a:ext uri="{FF2B5EF4-FFF2-40B4-BE49-F238E27FC236}">
                <a16:creationId xmlns:a16="http://schemas.microsoft.com/office/drawing/2014/main" id="{DCF17865-C17D-9062-206A-86BF68E8D1A9}"/>
              </a:ext>
            </a:extLst>
          </p:cNvPr>
          <p:cNvSpPr>
            <a:spLocks noGrp="1"/>
          </p:cNvSpPr>
          <p:nvPr>
            <p:ph type="sldNum" sz="quarter" idx="5"/>
          </p:nvPr>
        </p:nvSpPr>
        <p:spPr/>
        <p:txBody>
          <a:bodyPr/>
          <a:lstStyle/>
          <a:p>
            <a:fld id="{73967E60-74AC-7544-A9E1-2DF949A6356E}" type="slidenum">
              <a:rPr lang="zh-TW" altLang="en-US" smtClean="0"/>
              <a:pPr/>
              <a:t>5</a:t>
            </a:fld>
            <a:endParaRPr lang="zh-TW" altLang="en-US"/>
          </a:p>
        </p:txBody>
      </p:sp>
    </p:spTree>
    <p:extLst>
      <p:ext uri="{BB962C8B-B14F-4D97-AF65-F5344CB8AC3E}">
        <p14:creationId xmlns:p14="http://schemas.microsoft.com/office/powerpoint/2010/main" val="4250000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3904E-6CEF-355A-DB8A-CDCC4C141F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354068-017B-3BA2-12BF-DFE343BEF02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3C62453-1700-529C-4430-5921F38B9A6E}"/>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A2D7C9B6-3B25-9722-742B-F78164977F45}"/>
              </a:ext>
            </a:extLst>
          </p:cNvPr>
          <p:cNvSpPr>
            <a:spLocks noGrp="1"/>
          </p:cNvSpPr>
          <p:nvPr>
            <p:ph type="sldNum" sz="quarter" idx="5"/>
          </p:nvPr>
        </p:nvSpPr>
        <p:spPr/>
        <p:txBody>
          <a:bodyPr/>
          <a:lstStyle/>
          <a:p>
            <a:fld id="{73967E60-74AC-7544-A9E1-2DF949A6356E}" type="slidenum">
              <a:rPr lang="zh-TW" altLang="en-US" smtClean="0"/>
              <a:pPr/>
              <a:t>6</a:t>
            </a:fld>
            <a:endParaRPr lang="zh-TW" altLang="en-US"/>
          </a:p>
        </p:txBody>
      </p:sp>
    </p:spTree>
    <p:extLst>
      <p:ext uri="{BB962C8B-B14F-4D97-AF65-F5344CB8AC3E}">
        <p14:creationId xmlns:p14="http://schemas.microsoft.com/office/powerpoint/2010/main" val="2110850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25D1-8E92-90CB-06A8-C17B05C62C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3FE4FF-72FE-359E-2C35-5FAC578458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5AF2FD8-8B8F-B754-69A0-7204D72AEDD2}"/>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11411293-75CA-3DB5-092C-C637EF050E49}"/>
              </a:ext>
            </a:extLst>
          </p:cNvPr>
          <p:cNvSpPr>
            <a:spLocks noGrp="1"/>
          </p:cNvSpPr>
          <p:nvPr>
            <p:ph type="sldNum" sz="quarter" idx="5"/>
          </p:nvPr>
        </p:nvSpPr>
        <p:spPr/>
        <p:txBody>
          <a:bodyPr/>
          <a:lstStyle/>
          <a:p>
            <a:fld id="{73967E60-74AC-7544-A9E1-2DF949A6356E}" type="slidenum">
              <a:rPr lang="zh-TW" altLang="en-US" smtClean="0"/>
              <a:pPr/>
              <a:t>7</a:t>
            </a:fld>
            <a:endParaRPr lang="zh-TW" altLang="en-US"/>
          </a:p>
        </p:txBody>
      </p:sp>
    </p:spTree>
    <p:extLst>
      <p:ext uri="{BB962C8B-B14F-4D97-AF65-F5344CB8AC3E}">
        <p14:creationId xmlns:p14="http://schemas.microsoft.com/office/powerpoint/2010/main" val="475342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4718C-BE34-EC3C-8474-6C37E8E1234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175C2C1-3670-7803-ACD0-49B8F5492F3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968F0F4-FF24-1ECE-72EB-B13A44CBA432}"/>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8538BED4-F338-FD49-0906-053B362A4B5B}"/>
              </a:ext>
            </a:extLst>
          </p:cNvPr>
          <p:cNvSpPr>
            <a:spLocks noGrp="1"/>
          </p:cNvSpPr>
          <p:nvPr>
            <p:ph type="sldNum" sz="quarter" idx="5"/>
          </p:nvPr>
        </p:nvSpPr>
        <p:spPr/>
        <p:txBody>
          <a:bodyPr/>
          <a:lstStyle/>
          <a:p>
            <a:fld id="{73967E60-74AC-7544-A9E1-2DF949A6356E}" type="slidenum">
              <a:rPr lang="zh-TW" altLang="en-US" smtClean="0"/>
              <a:pPr/>
              <a:t>8</a:t>
            </a:fld>
            <a:endParaRPr lang="zh-TW" altLang="en-US"/>
          </a:p>
        </p:txBody>
      </p:sp>
    </p:spTree>
    <p:extLst>
      <p:ext uri="{BB962C8B-B14F-4D97-AF65-F5344CB8AC3E}">
        <p14:creationId xmlns:p14="http://schemas.microsoft.com/office/powerpoint/2010/main" val="892768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645-FC25-3541-B882-8C58B2199B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D92017F-782B-17A3-13D7-9E07B4B95A1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2F3B133-5C24-833C-954A-769B615DF50E}"/>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A8414F9D-88FE-B999-CF59-D7261C0ACB9F}"/>
              </a:ext>
            </a:extLst>
          </p:cNvPr>
          <p:cNvSpPr>
            <a:spLocks noGrp="1"/>
          </p:cNvSpPr>
          <p:nvPr>
            <p:ph type="sldNum" sz="quarter" idx="5"/>
          </p:nvPr>
        </p:nvSpPr>
        <p:spPr/>
        <p:txBody>
          <a:bodyPr/>
          <a:lstStyle/>
          <a:p>
            <a:fld id="{73967E60-74AC-7544-A9E1-2DF949A6356E}" type="slidenum">
              <a:rPr lang="zh-TW" altLang="en-US" smtClean="0"/>
              <a:pPr/>
              <a:t>9</a:t>
            </a:fld>
            <a:endParaRPr lang="zh-TW" altLang="en-US"/>
          </a:p>
        </p:txBody>
      </p:sp>
    </p:spTree>
    <p:extLst>
      <p:ext uri="{BB962C8B-B14F-4D97-AF65-F5344CB8AC3E}">
        <p14:creationId xmlns:p14="http://schemas.microsoft.com/office/powerpoint/2010/main" val="3699312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496B-23EE-0D71-31D8-3F7585D4B71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A34FBC-2F6A-EFBC-1263-89C1835F848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46BBB43-B5F9-451B-CEFE-66DF44492C1E}"/>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A551394D-3E3C-41DE-4A10-169CAAD16147}"/>
              </a:ext>
            </a:extLst>
          </p:cNvPr>
          <p:cNvSpPr>
            <a:spLocks noGrp="1"/>
          </p:cNvSpPr>
          <p:nvPr>
            <p:ph type="sldNum" sz="quarter" idx="5"/>
          </p:nvPr>
        </p:nvSpPr>
        <p:spPr/>
        <p:txBody>
          <a:bodyPr/>
          <a:lstStyle/>
          <a:p>
            <a:fld id="{73967E60-74AC-7544-A9E1-2DF949A6356E}" type="slidenum">
              <a:rPr lang="zh-TW" altLang="en-US" smtClean="0"/>
              <a:pPr/>
              <a:t>10</a:t>
            </a:fld>
            <a:endParaRPr lang="zh-TW" altLang="en-US"/>
          </a:p>
        </p:txBody>
      </p:sp>
    </p:spTree>
    <p:extLst>
      <p:ext uri="{BB962C8B-B14F-4D97-AF65-F5344CB8AC3E}">
        <p14:creationId xmlns:p14="http://schemas.microsoft.com/office/powerpoint/2010/main" val="3893507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4C7A-64D3-4C09-7561-E65ADBEE733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19EAF60-BEB8-90A7-D61E-CD847BAA00D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7D14B7D-A3D4-E6F0-162A-970F950F1DC3}"/>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6A80960A-2E63-89AB-276E-649D3C22669C}"/>
              </a:ext>
            </a:extLst>
          </p:cNvPr>
          <p:cNvSpPr>
            <a:spLocks noGrp="1"/>
          </p:cNvSpPr>
          <p:nvPr>
            <p:ph type="sldNum" sz="quarter" idx="5"/>
          </p:nvPr>
        </p:nvSpPr>
        <p:spPr/>
        <p:txBody>
          <a:bodyPr/>
          <a:lstStyle/>
          <a:p>
            <a:fld id="{73967E60-74AC-7544-A9E1-2DF949A6356E}" type="slidenum">
              <a:rPr lang="zh-TW" altLang="en-US" smtClean="0"/>
              <a:pPr/>
              <a:t>11</a:t>
            </a:fld>
            <a:endParaRPr lang="zh-TW" altLang="en-US"/>
          </a:p>
        </p:txBody>
      </p:sp>
    </p:spTree>
    <p:extLst>
      <p:ext uri="{BB962C8B-B14F-4D97-AF65-F5344CB8AC3E}">
        <p14:creationId xmlns:p14="http://schemas.microsoft.com/office/powerpoint/2010/main" val="327224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ADB38-D238-8A9A-1BE2-9F24CE2A5F7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DB68D81-AEDF-83CA-1C4A-E0E40768468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148C8B6-4820-D732-D496-A069A2AD930C}"/>
              </a:ext>
            </a:extLst>
          </p:cNvPr>
          <p:cNvSpPr>
            <a:spLocks noGrp="1"/>
          </p:cNvSpPr>
          <p:nvPr>
            <p:ph type="body" idx="1"/>
          </p:nvPr>
        </p:nvSpPr>
        <p:spPr/>
        <p:txBody>
          <a:bodyPr>
            <a:normAutofit fontScale="85000" lnSpcReduction="10000"/>
          </a:bodyPr>
          <a:lstStyle/>
          <a:p>
            <a:r>
              <a:rPr lang="zh-TW" altLang="en-US" b="1" dirty="0">
                <a:effectLst/>
              </a:rPr>
              <a:t>「繼承、多型與動態綁定：契約式設計如何確保軟體可靠性與行為相容性」</a:t>
            </a:r>
            <a:endParaRPr lang="zh-TW" altLang="en-US" dirty="0">
              <a:effectLst/>
            </a:endParaRPr>
          </a:p>
          <a:p>
            <a:r>
              <a:rPr lang="zh-TW" altLang="en-US" dirty="0">
                <a:effectLst/>
              </a:rPr>
              <a:t>這個主題涵蓋了該段落所探討的幾個關鍵概念與其目的：</a:t>
            </a:r>
          </a:p>
          <a:p>
            <a:r>
              <a:rPr lang="en-US" altLang="zh-TW" dirty="0">
                <a:effectLst/>
              </a:rPr>
              <a:t>• </a:t>
            </a:r>
            <a:r>
              <a:rPr lang="zh-TW" altLang="en-US" b="1" dirty="0">
                <a:effectLst/>
              </a:rPr>
              <a:t>繼承 </a:t>
            </a:r>
            <a:r>
              <a:rPr lang="en-US" altLang="zh-TW" b="1" dirty="0">
                <a:effectLst/>
              </a:rPr>
              <a:t>(Inheritance)</a:t>
            </a:r>
            <a:r>
              <a:rPr lang="zh-TW" altLang="en-US" dirty="0">
                <a:effectLst/>
              </a:rPr>
              <a:t>：作為物件導向技術的基石，它允許定義新類別時重用現有類別的功能。</a:t>
            </a:r>
          </a:p>
          <a:p>
            <a:r>
              <a:rPr lang="en-US" altLang="zh-TW" dirty="0">
                <a:effectLst/>
              </a:rPr>
              <a:t>• </a:t>
            </a:r>
            <a:r>
              <a:rPr lang="zh-TW" altLang="en-US" b="1" dirty="0">
                <a:effectLst/>
              </a:rPr>
              <a:t>多型 </a:t>
            </a:r>
            <a:r>
              <a:rPr lang="en-US" altLang="zh-TW" b="1" dirty="0">
                <a:effectLst/>
              </a:rPr>
              <a:t>(Polymorphism)</a:t>
            </a:r>
            <a:r>
              <a:rPr lang="zh-TW" altLang="en-US" dirty="0">
                <a:effectLst/>
              </a:rPr>
              <a:t>：透過繼承實現的類型適應性，允許一個變數在執行時繫結到其宣告類型或其子類型的實例。</a:t>
            </a:r>
          </a:p>
          <a:p>
            <a:r>
              <a:rPr lang="en-US" altLang="zh-TW" dirty="0">
                <a:effectLst/>
              </a:rPr>
              <a:t>• </a:t>
            </a:r>
            <a:r>
              <a:rPr lang="zh-TW" altLang="en-US" b="1" dirty="0">
                <a:effectLst/>
              </a:rPr>
              <a:t>動態綁定 </a:t>
            </a:r>
            <a:r>
              <a:rPr lang="en-US" altLang="zh-TW" b="1" dirty="0">
                <a:effectLst/>
              </a:rPr>
              <a:t>(Dynamic Binding)</a:t>
            </a:r>
            <a:r>
              <a:rPr lang="zh-TW" altLang="en-US" dirty="0">
                <a:effectLst/>
              </a:rPr>
              <a:t>：確保在多型情況下，呼叫一個例程時，會使用實際物件（而非宣告類型）中「</a:t>
            </a:r>
            <a:r>
              <a:rPr lang="zh-TW" altLang="en-US" b="1" dirty="0">
                <a:effectLst/>
              </a:rPr>
              <a:t>適當的版本</a:t>
            </a:r>
            <a:r>
              <a:rPr lang="zh-TW" altLang="en-US" dirty="0">
                <a:effectLst/>
              </a:rPr>
              <a:t>」。這提供了極大的彈性與威力。</a:t>
            </a:r>
          </a:p>
          <a:p>
            <a:r>
              <a:rPr lang="en-US" altLang="zh-TW" dirty="0">
                <a:effectLst/>
              </a:rPr>
              <a:t>• </a:t>
            </a:r>
            <a:r>
              <a:rPr lang="zh-TW" altLang="en-US" b="1" dirty="0">
                <a:effectLst/>
              </a:rPr>
              <a:t>潛在的誤用與挑戰</a:t>
            </a:r>
            <a:r>
              <a:rPr lang="zh-TW" altLang="en-US" dirty="0">
                <a:effectLst/>
              </a:rPr>
              <a:t>：雖然這些技術帶來強大的能力與彈性，但也引發了關於「</a:t>
            </a:r>
            <a:r>
              <a:rPr lang="zh-TW" altLang="en-US" b="1" dirty="0">
                <a:effectLst/>
              </a:rPr>
              <a:t>誤用</a:t>
            </a:r>
            <a:r>
              <a:rPr lang="zh-TW" altLang="en-US" dirty="0">
                <a:effectLst/>
              </a:rPr>
              <a:t>」的擔憂，特別是當重新宣告後的例程可能產生與原始語義不相容的效果時，這可能會「</a:t>
            </a:r>
            <a:r>
              <a:rPr lang="zh-TW" altLang="en-US" b="1" dirty="0">
                <a:effectLst/>
              </a:rPr>
              <a:t>欺騙客戶端</a:t>
            </a:r>
            <a:r>
              <a:rPr lang="zh-TW" altLang="en-US" dirty="0">
                <a:effectLst/>
              </a:rPr>
              <a:t>」。</a:t>
            </a:r>
          </a:p>
          <a:p>
            <a:r>
              <a:rPr lang="en-US" altLang="zh-TW" dirty="0">
                <a:effectLst/>
              </a:rPr>
              <a:t>• </a:t>
            </a:r>
            <a:r>
              <a:rPr lang="zh-TW" altLang="en-US" b="1" dirty="0">
                <a:effectLst/>
              </a:rPr>
              <a:t>契約式設計的解決方案</a:t>
            </a:r>
            <a:r>
              <a:rPr lang="zh-TW" altLang="en-US" dirty="0">
                <a:effectLst/>
              </a:rPr>
              <a:t>：來源指出，「</a:t>
            </a:r>
            <a:r>
              <a:rPr lang="zh-TW" altLang="en-US" b="1" dirty="0">
                <a:effectLst/>
              </a:rPr>
              <a:t>契約理論提供了正確的視角</a:t>
            </a:r>
            <a:r>
              <a:rPr lang="zh-TW" altLang="en-US" dirty="0">
                <a:effectLst/>
              </a:rPr>
              <a:t>」來解決這個問題。它將重新宣告和動態綁定視為「</a:t>
            </a:r>
            <a:r>
              <a:rPr lang="zh-TW" altLang="en-US" b="1" dirty="0">
                <a:effectLst/>
              </a:rPr>
              <a:t>任務的分包</a:t>
            </a:r>
            <a:r>
              <a:rPr lang="zh-TW" altLang="en-US" dirty="0">
                <a:effectLst/>
              </a:rPr>
              <a:t>」，並要求「</a:t>
            </a:r>
            <a:r>
              <a:rPr lang="zh-TW" altLang="en-US" b="1" dirty="0">
                <a:effectLst/>
              </a:rPr>
              <a:t>分包商必須遵守主承包商在原始契約中的承諾</a:t>
            </a:r>
            <a:r>
              <a:rPr lang="zh-TW" altLang="en-US" dirty="0">
                <a:effectLst/>
              </a:rPr>
              <a:t>」。</a:t>
            </a:r>
          </a:p>
          <a:p>
            <a:r>
              <a:rPr lang="en-US" altLang="zh-TW" dirty="0">
                <a:effectLst/>
              </a:rPr>
              <a:t>• </a:t>
            </a:r>
            <a:r>
              <a:rPr lang="zh-TW" altLang="en-US" b="1" dirty="0">
                <a:effectLst/>
              </a:rPr>
              <a:t>契約規則的執行</a:t>
            </a:r>
            <a:r>
              <a:rPr lang="zh-TW" altLang="en-US" dirty="0">
                <a:effectLst/>
              </a:rPr>
              <a:t>：為避免誤用，契約式設計制定了具體規則：</a:t>
            </a:r>
          </a:p>
          <a:p>
            <a:r>
              <a:rPr lang="zh-TW" altLang="en-US" dirty="0">
                <a:effectLst/>
              </a:rPr>
              <a:t>    ◦ 重新宣告時，</a:t>
            </a:r>
            <a:r>
              <a:rPr lang="zh-TW" altLang="en-US" b="1" dirty="0">
                <a:effectLst/>
              </a:rPr>
              <a:t>前置條件 </a:t>
            </a:r>
            <a:r>
              <a:rPr lang="en-US" altLang="zh-TW" b="1" dirty="0">
                <a:effectLst/>
              </a:rPr>
              <a:t>(Precondition) </a:t>
            </a:r>
            <a:r>
              <a:rPr lang="zh-TW" altLang="en-US" b="1" dirty="0">
                <a:effectLst/>
              </a:rPr>
              <a:t>不能變得更強</a:t>
            </a:r>
            <a:r>
              <a:rPr lang="zh-TW" altLang="en-US" dirty="0">
                <a:effectLst/>
              </a:rPr>
              <a:t>，以避免增加客戶端的負擔。</a:t>
            </a:r>
          </a:p>
          <a:p>
            <a:r>
              <a:rPr lang="zh-TW" altLang="en-US" dirty="0">
                <a:effectLst/>
              </a:rPr>
              <a:t>    ◦ </a:t>
            </a:r>
            <a:r>
              <a:rPr lang="zh-TW" altLang="en-US" b="1" dirty="0">
                <a:effectLst/>
              </a:rPr>
              <a:t>後置條件 </a:t>
            </a:r>
            <a:r>
              <a:rPr lang="en-US" altLang="zh-TW" b="1" dirty="0">
                <a:effectLst/>
              </a:rPr>
              <a:t>(Postcondition) </a:t>
            </a:r>
            <a:r>
              <a:rPr lang="zh-TW" altLang="en-US" b="1" dirty="0">
                <a:effectLst/>
              </a:rPr>
              <a:t>不能變得更弱</a:t>
            </a:r>
            <a:r>
              <a:rPr lang="zh-TW" altLang="en-US" dirty="0">
                <a:effectLst/>
              </a:rPr>
              <a:t>，以避免降低對客戶端的承諾。</a:t>
            </a:r>
          </a:p>
          <a:p>
            <a:r>
              <a:rPr lang="zh-TW" altLang="en-US" dirty="0">
                <a:effectLst/>
              </a:rPr>
              <a:t>    ◦ 相反，弱化前置條件或強化後置條件是允許的，這代表分包商的工作表現優於原始承包商。</a:t>
            </a:r>
          </a:p>
          <a:p>
            <a:r>
              <a:rPr lang="en-US" altLang="zh-TW" dirty="0">
                <a:effectLst/>
              </a:rPr>
              <a:t>• </a:t>
            </a:r>
            <a:r>
              <a:rPr lang="zh-TW" altLang="en-US" b="1" dirty="0">
                <a:effectLst/>
              </a:rPr>
              <a:t>類別不變項 </a:t>
            </a:r>
            <a:r>
              <a:rPr lang="en-US" altLang="zh-TW" b="1" dirty="0">
                <a:effectLst/>
              </a:rPr>
              <a:t>(Class Invariants) </a:t>
            </a:r>
            <a:r>
              <a:rPr lang="zh-TW" altLang="en-US" b="1" dirty="0">
                <a:effectLst/>
              </a:rPr>
              <a:t>的重要性</a:t>
            </a:r>
            <a:r>
              <a:rPr lang="zh-TW" altLang="en-US" dirty="0">
                <a:effectLst/>
              </a:rPr>
              <a:t>：除了前置條件和後置條件，類別不變項也與繼承緊密相關。</a:t>
            </a:r>
            <a:r>
              <a:rPr lang="zh-TW" altLang="en-US" b="1" dirty="0">
                <a:effectLst/>
              </a:rPr>
              <a:t>不變項會傳遞給所有子孫類別</a:t>
            </a:r>
            <a:r>
              <a:rPr lang="zh-TW" altLang="en-US" dirty="0">
                <a:effectLst/>
              </a:rPr>
              <a:t>，並且子類別的不變項必須「</a:t>
            </a:r>
            <a:r>
              <a:rPr lang="zh-TW" altLang="en-US" b="1" dirty="0">
                <a:effectLst/>
              </a:rPr>
              <a:t>強於或等於</a:t>
            </a:r>
            <a:r>
              <a:rPr lang="zh-TW" altLang="en-US" dirty="0">
                <a:effectLst/>
              </a:rPr>
              <a:t>」其父類別的不變項。如果採用靜態綁定，則可能導致物件不滿足其自身類別的不變項，造成災難性的後果。這進一步證明了動態綁定對於保持物件導向系統一致性和可靠性的關鍵作用。</a:t>
            </a:r>
          </a:p>
          <a:p>
            <a:r>
              <a:rPr lang="zh-TW" altLang="en-US" dirty="0">
                <a:effectLst/>
              </a:rPr>
              <a:t>總結來說，這個主題旨在強調，在物件導向程式設計中，繼承、多型和動態綁定所帶來的強大彈性必須透過契約式設計的明確規範（包含前置條件、後置條件和不變項的規則）來加以管理，才能確保軟體組件的行為相容性與整體系統的可靠性。</a:t>
            </a:r>
            <a:endParaRPr lang="en-US" altLang="zh-TW" dirty="0">
              <a:effectLst/>
            </a:endParaRPr>
          </a:p>
          <a:p>
            <a:endParaRPr lang="en-US" altLang="zh-TW" dirty="0">
              <a:effectLst/>
            </a:endParaRPr>
          </a:p>
          <a:p>
            <a:r>
              <a:rPr lang="zh-TW" altLang="en-US" dirty="0"/>
              <a:t>「父類別像總承包商，對客戶簽約並負責；子類別像轉包商，負責執行，但必須遵守原本的合約規範，不能給客戶更苛刻的要求，也不能交出更差的成果。」</a:t>
            </a:r>
            <a:endParaRPr lang="en-US" altLang="zh-TW" dirty="0"/>
          </a:p>
          <a:p>
            <a:r>
              <a:rPr lang="zh-TW" altLang="en-US" b="1" dirty="0"/>
              <a:t>為什麼要這樣限制？</a:t>
            </a:r>
          </a:p>
          <a:p>
            <a:r>
              <a:rPr lang="zh-TW" altLang="en-US" dirty="0"/>
              <a:t>確保 **多型（</a:t>
            </a:r>
            <a:r>
              <a:rPr lang="en-US" altLang="zh-TW" dirty="0"/>
              <a:t>Polymorphism</a:t>
            </a:r>
            <a:r>
              <a:rPr lang="zh-TW" altLang="en-US" dirty="0"/>
              <a:t>）**安全：客戶端只依賴父類別的契約，但實際執行的是子類別，必須保證行為不會背叛客戶端預期。</a:t>
            </a:r>
          </a:p>
          <a:p>
            <a:r>
              <a:rPr lang="zh-TW" altLang="en-US" dirty="0"/>
              <a:t>避免 </a:t>
            </a:r>
            <a:r>
              <a:rPr lang="en-US" altLang="zh-TW" b="1" dirty="0"/>
              <a:t>"</a:t>
            </a:r>
            <a:r>
              <a:rPr lang="en-US" altLang="zh-TW" b="1" dirty="0" err="1"/>
              <a:t>Liskov</a:t>
            </a:r>
            <a:r>
              <a:rPr lang="en-US" altLang="zh-TW" b="1" dirty="0"/>
              <a:t> Substitution Principle (LSP)"</a:t>
            </a:r>
            <a:r>
              <a:rPr lang="zh-TW" altLang="en-US" dirty="0"/>
              <a:t> 違反，即「子類別應該可以完全取代父類別</a:t>
            </a:r>
            <a:r>
              <a:rPr lang="zh-TW" altLang="en-US" sz="1200" b="0" i="0" kern="1200" dirty="0">
                <a:solidFill>
                  <a:schemeClr val="tx1"/>
                </a:solidFill>
                <a:effectLst/>
                <a:latin typeface="+mn-lt"/>
                <a:ea typeface="+mn-ea"/>
                <a:cs typeface="+mn-cs"/>
              </a:rPr>
              <a:t>而不會破壞程式原有的行為</a:t>
            </a:r>
            <a:r>
              <a:rPr lang="zh-TW" altLang="en-US" dirty="0"/>
              <a:t>」。</a:t>
            </a:r>
          </a:p>
          <a:p>
            <a:endParaRPr lang="zh-TW" altLang="en-US" dirty="0">
              <a:effectLst/>
            </a:endParaRPr>
          </a:p>
          <a:p>
            <a:endParaRPr lang="en-US" altLang="zh-TW" dirty="0"/>
          </a:p>
        </p:txBody>
      </p:sp>
      <p:sp>
        <p:nvSpPr>
          <p:cNvPr id="4" name="投影片編號版面配置區 3">
            <a:extLst>
              <a:ext uri="{FF2B5EF4-FFF2-40B4-BE49-F238E27FC236}">
                <a16:creationId xmlns:a16="http://schemas.microsoft.com/office/drawing/2014/main" id="{2003D657-9B7A-2D31-F13A-765144BF73D7}"/>
              </a:ext>
            </a:extLst>
          </p:cNvPr>
          <p:cNvSpPr>
            <a:spLocks noGrp="1"/>
          </p:cNvSpPr>
          <p:nvPr>
            <p:ph type="sldNum" sz="quarter" idx="5"/>
          </p:nvPr>
        </p:nvSpPr>
        <p:spPr/>
        <p:txBody>
          <a:bodyPr/>
          <a:lstStyle/>
          <a:p>
            <a:fld id="{73967E60-74AC-7544-A9E1-2DF949A6356E}" type="slidenum">
              <a:rPr lang="zh-TW" altLang="en-US" smtClean="0"/>
              <a:pPr/>
              <a:t>12</a:t>
            </a:fld>
            <a:endParaRPr lang="zh-TW" altLang="en-US"/>
          </a:p>
        </p:txBody>
      </p:sp>
    </p:spTree>
    <p:extLst>
      <p:ext uri="{BB962C8B-B14F-4D97-AF65-F5344CB8AC3E}">
        <p14:creationId xmlns:p14="http://schemas.microsoft.com/office/powerpoint/2010/main" val="2014542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9FFAD-05C2-2127-1B7B-98CF5781B03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9DC862-7196-1830-E1DD-04CFFB048BA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1CD9297-367D-B943-26A2-EAFC37830D70}"/>
              </a:ext>
            </a:extLst>
          </p:cNvPr>
          <p:cNvSpPr>
            <a:spLocks noGrp="1"/>
          </p:cNvSpPr>
          <p:nvPr>
            <p:ph type="body" idx="1"/>
          </p:nvPr>
        </p:nvSpPr>
        <p:spPr/>
        <p:txBody>
          <a:bodyPr>
            <a:normAutofit fontScale="85000" lnSpcReduction="20000"/>
          </a:bodyPr>
          <a:lstStyle/>
          <a:p>
            <a:endParaRPr lang="en-US" altLang="zh-TW" dirty="0"/>
          </a:p>
        </p:txBody>
      </p:sp>
      <p:sp>
        <p:nvSpPr>
          <p:cNvPr id="4" name="投影片編號版面配置區 3">
            <a:extLst>
              <a:ext uri="{FF2B5EF4-FFF2-40B4-BE49-F238E27FC236}">
                <a16:creationId xmlns:a16="http://schemas.microsoft.com/office/drawing/2014/main" id="{E366D56B-8404-1F5D-34B3-129B0A994AB8}"/>
              </a:ext>
            </a:extLst>
          </p:cNvPr>
          <p:cNvSpPr>
            <a:spLocks noGrp="1"/>
          </p:cNvSpPr>
          <p:nvPr>
            <p:ph type="sldNum" sz="quarter" idx="5"/>
          </p:nvPr>
        </p:nvSpPr>
        <p:spPr/>
        <p:txBody>
          <a:bodyPr/>
          <a:lstStyle/>
          <a:p>
            <a:fld id="{73967E60-74AC-7544-A9E1-2DF949A6356E}" type="slidenum">
              <a:rPr lang="zh-TW" altLang="en-US" smtClean="0"/>
              <a:pPr/>
              <a:t>13</a:t>
            </a:fld>
            <a:endParaRPr lang="zh-TW" altLang="en-US"/>
          </a:p>
        </p:txBody>
      </p:sp>
    </p:spTree>
    <p:extLst>
      <p:ext uri="{BB962C8B-B14F-4D97-AF65-F5344CB8AC3E}">
        <p14:creationId xmlns:p14="http://schemas.microsoft.com/office/powerpoint/2010/main" val="3827859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14</a:t>
            </a:fld>
            <a:endParaRPr lang="zh-TW" altLang="en-US"/>
          </a:p>
        </p:txBody>
      </p:sp>
    </p:spTree>
    <p:extLst>
      <p:ext uri="{BB962C8B-B14F-4D97-AF65-F5344CB8AC3E}">
        <p14:creationId xmlns:p14="http://schemas.microsoft.com/office/powerpoint/2010/main" val="1276917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F461-E324-5FE7-9E44-EE62C8954D7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C6F245B-9D07-062D-F4E1-D9489CD1715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91541C5-1958-228F-4509-EF5BCA2B0A6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t>那相較於使用</a:t>
            </a:r>
            <a:r>
              <a:rPr lang="en-US" altLang="zh-TW" b="1" dirty="0"/>
              <a:t>Design by Contract</a:t>
            </a:r>
            <a:r>
              <a:rPr lang="zh-TW" altLang="en-US" dirty="0"/>
              <a:t>這個概念，我們常常會使用</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的方式去寫程式，那</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的概念就是不相信任何人，也就是從外部進來的東西都要檢查。</a:t>
            </a:r>
            <a:endParaRPr lang="en-US" altLang="zh-TW" sz="12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sz="1200" b="0" i="0" kern="1200" dirty="0">
                <a:solidFill>
                  <a:schemeClr val="tx1"/>
                </a:solidFill>
                <a:effectLst/>
                <a:latin typeface="+mn-lt"/>
                <a:ea typeface="+mn-ea"/>
                <a:cs typeface="+mn-cs"/>
              </a:rPr>
              <a:t>那</a:t>
            </a:r>
            <a:r>
              <a:rPr lang="en-US" altLang="zh-TW" sz="1200" b="1" i="0" kern="1200" dirty="0">
                <a:solidFill>
                  <a:schemeClr val="tx1"/>
                </a:solidFill>
                <a:effectLst/>
                <a:latin typeface="+mn-lt"/>
                <a:ea typeface="+mn-ea"/>
                <a:cs typeface="+mn-cs"/>
              </a:rPr>
              <a:t>Design by Contract</a:t>
            </a:r>
            <a:r>
              <a:rPr lang="zh-TW" altLang="en-US" sz="1200" b="0" i="0" kern="1200" dirty="0">
                <a:solidFill>
                  <a:schemeClr val="tx1"/>
                </a:solidFill>
                <a:effectLst/>
                <a:latin typeface="+mn-lt"/>
                <a:ea typeface="+mn-ea"/>
                <a:cs typeface="+mn-cs"/>
              </a:rPr>
              <a:t>的概念是軟體應該被視為為了滿足明確規範而設計的實作，而不是任意可執行的程式。</a:t>
            </a:r>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24015BE5-0000-37AE-DF81-B660888D169B}"/>
              </a:ext>
            </a:extLst>
          </p:cNvPr>
          <p:cNvSpPr>
            <a:spLocks noGrp="1"/>
          </p:cNvSpPr>
          <p:nvPr>
            <p:ph type="sldNum" sz="quarter" idx="5"/>
          </p:nvPr>
        </p:nvSpPr>
        <p:spPr/>
        <p:txBody>
          <a:bodyPr/>
          <a:lstStyle/>
          <a:p>
            <a:fld id="{73967E60-74AC-7544-A9E1-2DF949A6356E}" type="slidenum">
              <a:rPr lang="zh-TW" altLang="en-US" smtClean="0"/>
              <a:pPr/>
              <a:t>16</a:t>
            </a:fld>
            <a:endParaRPr lang="zh-TW" altLang="en-US"/>
          </a:p>
        </p:txBody>
      </p:sp>
    </p:spTree>
    <p:extLst>
      <p:ext uri="{BB962C8B-B14F-4D97-AF65-F5344CB8AC3E}">
        <p14:creationId xmlns:p14="http://schemas.microsoft.com/office/powerpoint/2010/main" val="1439786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9DEC-16D4-1C02-91D3-7ECF1F8DD86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462D625-9937-F0C1-2F26-DFA5D1C139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19A2F5-7BE3-37A6-4F10-DD7344C4F3E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t>那相較於使用</a:t>
            </a:r>
            <a:r>
              <a:rPr lang="en-US" altLang="zh-TW" b="1" dirty="0"/>
              <a:t>Design by Contract</a:t>
            </a:r>
            <a:r>
              <a:rPr lang="zh-TW" altLang="en-US" dirty="0"/>
              <a:t>這個概念，我們常常會使用</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的方式去寫程式，那</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的概念就是不相信任何人，也就是從外部進來的東西都要檢查。</a:t>
            </a:r>
            <a:endParaRPr lang="en-US" altLang="zh-TW" sz="12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sz="1200" b="0" i="0" kern="1200" dirty="0">
                <a:solidFill>
                  <a:schemeClr val="tx1"/>
                </a:solidFill>
                <a:effectLst/>
                <a:latin typeface="+mn-lt"/>
                <a:ea typeface="+mn-ea"/>
                <a:cs typeface="+mn-cs"/>
              </a:rPr>
              <a:t>那</a:t>
            </a:r>
            <a:r>
              <a:rPr lang="en-US" altLang="zh-TW" sz="1200" b="1" i="0" kern="1200" dirty="0">
                <a:solidFill>
                  <a:schemeClr val="tx1"/>
                </a:solidFill>
                <a:effectLst/>
                <a:latin typeface="+mn-lt"/>
                <a:ea typeface="+mn-ea"/>
                <a:cs typeface="+mn-cs"/>
              </a:rPr>
              <a:t>Design by Contract</a:t>
            </a:r>
            <a:r>
              <a:rPr lang="zh-TW" altLang="en-US" sz="1200" b="0" i="0" kern="1200" dirty="0">
                <a:solidFill>
                  <a:schemeClr val="tx1"/>
                </a:solidFill>
                <a:effectLst/>
                <a:latin typeface="+mn-lt"/>
                <a:ea typeface="+mn-ea"/>
                <a:cs typeface="+mn-cs"/>
              </a:rPr>
              <a:t>的概念是軟體應該被視為為了滿足明確規範而設計的實作，而不是任意可執行的程式。</a:t>
            </a:r>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4AC5A56A-40E0-7498-5211-81E2E644700B}"/>
              </a:ext>
            </a:extLst>
          </p:cNvPr>
          <p:cNvSpPr>
            <a:spLocks noGrp="1"/>
          </p:cNvSpPr>
          <p:nvPr>
            <p:ph type="sldNum" sz="quarter" idx="5"/>
          </p:nvPr>
        </p:nvSpPr>
        <p:spPr/>
        <p:txBody>
          <a:bodyPr/>
          <a:lstStyle/>
          <a:p>
            <a:fld id="{73967E60-74AC-7544-A9E1-2DF949A6356E}" type="slidenum">
              <a:rPr lang="zh-TW" altLang="en-US" smtClean="0"/>
              <a:pPr/>
              <a:t>17</a:t>
            </a:fld>
            <a:endParaRPr lang="zh-TW" altLang="en-US"/>
          </a:p>
        </p:txBody>
      </p:sp>
    </p:spTree>
    <p:extLst>
      <p:ext uri="{BB962C8B-B14F-4D97-AF65-F5344CB8AC3E}">
        <p14:creationId xmlns:p14="http://schemas.microsoft.com/office/powerpoint/2010/main" val="833960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8B7A6-2BE2-09CA-021C-0A4FAB3DEA6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AFC321-8FE0-4A10-12AC-3DA780017C9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C492DB6-C776-8E2B-6E10-D14633F2A55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dirty="0"/>
              <a:t>那相較於使用</a:t>
            </a:r>
            <a:r>
              <a:rPr lang="en-US" altLang="zh-TW" b="1" dirty="0"/>
              <a:t>Design by Contract</a:t>
            </a:r>
            <a:r>
              <a:rPr lang="zh-TW" altLang="en-US" dirty="0"/>
              <a:t>這個概念，我們常常會使用</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的方式去寫程式，那</a:t>
            </a:r>
            <a:r>
              <a:rPr lang="en-US" altLang="zh-TW" sz="1200" b="1" i="0" kern="1200" dirty="0">
                <a:solidFill>
                  <a:schemeClr val="tx1"/>
                </a:solidFill>
                <a:effectLst/>
                <a:latin typeface="+mn-lt"/>
                <a:ea typeface="+mn-ea"/>
                <a:cs typeface="+mn-cs"/>
              </a:rPr>
              <a:t>Defensive programming</a:t>
            </a:r>
            <a:r>
              <a:rPr lang="zh-TW" altLang="en-US" sz="1200" b="0" i="0" kern="1200" dirty="0">
                <a:solidFill>
                  <a:schemeClr val="tx1"/>
                </a:solidFill>
                <a:effectLst/>
                <a:latin typeface="+mn-lt"/>
                <a:ea typeface="+mn-ea"/>
                <a:cs typeface="+mn-cs"/>
              </a:rPr>
              <a:t>的概念就是不相信任何人，也就是從外部進來的東西都要檢查。</a:t>
            </a:r>
            <a:endParaRPr lang="en-US" altLang="zh-TW" sz="12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TW" altLang="en-US" sz="1200" b="0" i="0" kern="1200" dirty="0">
                <a:solidFill>
                  <a:schemeClr val="tx1"/>
                </a:solidFill>
                <a:effectLst/>
                <a:latin typeface="+mn-lt"/>
                <a:ea typeface="+mn-ea"/>
                <a:cs typeface="+mn-cs"/>
              </a:rPr>
              <a:t>那</a:t>
            </a:r>
            <a:r>
              <a:rPr lang="en-US" altLang="zh-TW" sz="1200" b="1" i="0" kern="1200" dirty="0">
                <a:solidFill>
                  <a:schemeClr val="tx1"/>
                </a:solidFill>
                <a:effectLst/>
                <a:latin typeface="+mn-lt"/>
                <a:ea typeface="+mn-ea"/>
                <a:cs typeface="+mn-cs"/>
              </a:rPr>
              <a:t>Design by Contract</a:t>
            </a:r>
            <a:r>
              <a:rPr lang="zh-TW" altLang="en-US" sz="1200" b="0" i="0" kern="1200" dirty="0">
                <a:solidFill>
                  <a:schemeClr val="tx1"/>
                </a:solidFill>
                <a:effectLst/>
                <a:latin typeface="+mn-lt"/>
                <a:ea typeface="+mn-ea"/>
                <a:cs typeface="+mn-cs"/>
              </a:rPr>
              <a:t>的概念是軟體應該被視為為了滿足明確規範而設計的實作，而不是任意可執行的程式。</a:t>
            </a:r>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5D80FA87-E872-6406-4EF0-F0A3039424B6}"/>
              </a:ext>
            </a:extLst>
          </p:cNvPr>
          <p:cNvSpPr>
            <a:spLocks noGrp="1"/>
          </p:cNvSpPr>
          <p:nvPr>
            <p:ph type="sldNum" sz="quarter" idx="5"/>
          </p:nvPr>
        </p:nvSpPr>
        <p:spPr/>
        <p:txBody>
          <a:bodyPr/>
          <a:lstStyle/>
          <a:p>
            <a:fld id="{73967E60-74AC-7544-A9E1-2DF949A6356E}" type="slidenum">
              <a:rPr lang="zh-TW" altLang="en-US" smtClean="0"/>
              <a:pPr/>
              <a:t>18</a:t>
            </a:fld>
            <a:endParaRPr lang="zh-TW" altLang="en-US"/>
          </a:p>
        </p:txBody>
      </p:sp>
    </p:spTree>
    <p:extLst>
      <p:ext uri="{BB962C8B-B14F-4D97-AF65-F5344CB8AC3E}">
        <p14:creationId xmlns:p14="http://schemas.microsoft.com/office/powerpoint/2010/main" val="3949217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2C1A-F4D6-C4B2-FEAD-3463EEF3359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6AC0FA1-E804-AAC6-0066-4FE6743E70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F3E647D-B032-411B-0FB7-B14F3308F125}"/>
              </a:ext>
            </a:extLst>
          </p:cNvPr>
          <p:cNvSpPr>
            <a:spLocks noGrp="1"/>
          </p:cNvSpPr>
          <p:nvPr>
            <p:ph type="body" idx="1"/>
          </p:nvPr>
        </p:nvSpPr>
        <p:spPr/>
        <p:txBody>
          <a:bodyPr/>
          <a:lstStyle/>
          <a:p>
            <a:endParaRPr lang="en-US" altLang="zh-TW" dirty="0"/>
          </a:p>
        </p:txBody>
      </p:sp>
      <p:sp>
        <p:nvSpPr>
          <p:cNvPr id="4" name="投影片編號版面配置區 3">
            <a:extLst>
              <a:ext uri="{FF2B5EF4-FFF2-40B4-BE49-F238E27FC236}">
                <a16:creationId xmlns:a16="http://schemas.microsoft.com/office/drawing/2014/main" id="{5A869D87-F091-5859-79FF-83561C31E7E4}"/>
              </a:ext>
            </a:extLst>
          </p:cNvPr>
          <p:cNvSpPr>
            <a:spLocks noGrp="1"/>
          </p:cNvSpPr>
          <p:nvPr>
            <p:ph type="sldNum" sz="quarter" idx="5"/>
          </p:nvPr>
        </p:nvSpPr>
        <p:spPr/>
        <p:txBody>
          <a:bodyPr/>
          <a:lstStyle/>
          <a:p>
            <a:fld id="{73967E60-74AC-7544-A9E1-2DF949A6356E}" type="slidenum">
              <a:rPr lang="zh-TW" altLang="en-US" smtClean="0"/>
              <a:pPr/>
              <a:t>19</a:t>
            </a:fld>
            <a:endParaRPr lang="zh-TW" altLang="en-US"/>
          </a:p>
        </p:txBody>
      </p:sp>
    </p:spTree>
    <p:extLst>
      <p:ext uri="{BB962C8B-B14F-4D97-AF65-F5344CB8AC3E}">
        <p14:creationId xmlns:p14="http://schemas.microsoft.com/office/powerpoint/2010/main" val="38249963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1523968" y="1285861"/>
            <a:ext cx="10363200" cy="1470025"/>
          </a:xfrm>
        </p:spPr>
        <p:txBody>
          <a:bodyPr/>
          <a:lstStyle>
            <a:lvl1pPr algn="l">
              <a:defRPr b="0" cap="none" spc="0">
                <a:ln w="18415" cmpd="sng">
                  <a:solidFill>
                    <a:srgbClr val="FFFFFF"/>
                  </a:solidFill>
                  <a:prstDash val="solid"/>
                </a:ln>
                <a:solidFill>
                  <a:schemeClr val="bg1"/>
                </a:solidFill>
                <a:effectLst>
                  <a:outerShdw blurRad="63500" dir="3600000" algn="tl" rotWithShape="0">
                    <a:srgbClr val="000000">
                      <a:alpha val="70000"/>
                    </a:srgbClr>
                  </a:outerShdw>
                </a:effectLst>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523968" y="3071810"/>
            <a:ext cx="8534400" cy="1752600"/>
          </a:xfrm>
        </p:spPr>
        <p:txBody>
          <a:bodyPr/>
          <a:lstStyle>
            <a:lvl1pPr marL="0" indent="0" algn="l">
              <a:buNone/>
              <a:defRPr>
                <a:solidFill>
                  <a:schemeClr val="bg1">
                    <a:lumMod val="9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4" name="日期版面配置區 3">
            <a:extLst>
              <a:ext uri="{FF2B5EF4-FFF2-40B4-BE49-F238E27FC236}">
                <a16:creationId xmlns:a16="http://schemas.microsoft.com/office/drawing/2014/main" id="{6786EB08-6256-4A4E-9021-4782D6BD6E6A}"/>
              </a:ext>
            </a:extLst>
          </p:cNvPr>
          <p:cNvSpPr>
            <a:spLocks noGrp="1"/>
          </p:cNvSpPr>
          <p:nvPr>
            <p:ph type="dt" sz="half" idx="10"/>
          </p:nvPr>
        </p:nvSpPr>
        <p:spPr/>
        <p:txBody>
          <a:bodyPr/>
          <a:lstStyle>
            <a:lvl1pPr>
              <a:defRPr/>
            </a:lvl1pPr>
          </a:lstStyle>
          <a:p>
            <a:pPr>
              <a:defRPr/>
            </a:pPr>
            <a:fld id="{94C54D8F-BB97-7D40-BDB2-3676B44FD685}"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906179E8-903E-D84C-9018-F2BBCC144D8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1DB79C2A-EC4D-F745-8427-A7526A359C9D}"/>
              </a:ext>
            </a:extLst>
          </p:cNvPr>
          <p:cNvSpPr>
            <a:spLocks noGrp="1"/>
          </p:cNvSpPr>
          <p:nvPr>
            <p:ph type="sldNum" sz="quarter" idx="12"/>
          </p:nvPr>
        </p:nvSpPr>
        <p:spPr/>
        <p:txBody>
          <a:bodyPr/>
          <a:lstStyle>
            <a:lvl1pPr>
              <a:defRPr/>
            </a:lvl1pPr>
          </a:lstStyle>
          <a:p>
            <a:fld id="{8DAA59C6-B4B9-564A-B53A-FBF02A05FB77}" type="slidenum">
              <a:rPr lang="zh-TW" altLang="en-US"/>
              <a:pPr/>
              <a:t>‹#›</a:t>
            </a:fld>
            <a:endParaRPr lang="zh-TW" altLang="en-US"/>
          </a:p>
        </p:txBody>
      </p:sp>
    </p:spTree>
    <p:extLst>
      <p:ext uri="{BB962C8B-B14F-4D97-AF65-F5344CB8AC3E}">
        <p14:creationId xmlns:p14="http://schemas.microsoft.com/office/powerpoint/2010/main" val="222274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bg1"/>
                </a:solidFill>
              </a:defRPr>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a:extLst>
              <a:ext uri="{FF2B5EF4-FFF2-40B4-BE49-F238E27FC236}">
                <a16:creationId xmlns:a16="http://schemas.microsoft.com/office/drawing/2014/main" id="{45548F8C-46EE-4F4A-9409-6FEB08CD059F}"/>
              </a:ext>
            </a:extLst>
          </p:cNvPr>
          <p:cNvSpPr>
            <a:spLocks noGrp="1"/>
          </p:cNvSpPr>
          <p:nvPr>
            <p:ph type="dt" sz="half" idx="10"/>
          </p:nvPr>
        </p:nvSpPr>
        <p:spPr/>
        <p:txBody>
          <a:bodyPr/>
          <a:lstStyle>
            <a:lvl1pPr>
              <a:defRPr/>
            </a:lvl1pPr>
          </a:lstStyle>
          <a:p>
            <a:pPr>
              <a:defRPr/>
            </a:pPr>
            <a:fld id="{DFE053C5-6C4D-8948-A0B7-F6BA541D276A}"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393A62EA-78D6-254F-8955-BDC79FCD5836}"/>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5647FE38-E818-A244-9BB6-E569B310FE40}"/>
              </a:ext>
            </a:extLst>
          </p:cNvPr>
          <p:cNvSpPr>
            <a:spLocks noGrp="1"/>
          </p:cNvSpPr>
          <p:nvPr>
            <p:ph type="sldNum" sz="quarter" idx="12"/>
          </p:nvPr>
        </p:nvSpPr>
        <p:spPr/>
        <p:txBody>
          <a:bodyPr/>
          <a:lstStyle>
            <a:lvl1pPr>
              <a:defRPr/>
            </a:lvl1pPr>
          </a:lstStyle>
          <a:p>
            <a:fld id="{7408114E-E8DD-9044-BC35-9779A826010B}" type="slidenum">
              <a:rPr lang="zh-TW" altLang="en-US"/>
              <a:pPr/>
              <a:t>‹#›</a:t>
            </a:fld>
            <a:endParaRPr lang="zh-TW" altLang="en-US"/>
          </a:p>
        </p:txBody>
      </p:sp>
    </p:spTree>
    <p:extLst>
      <p:ext uri="{BB962C8B-B14F-4D97-AF65-F5344CB8AC3E}">
        <p14:creationId xmlns:p14="http://schemas.microsoft.com/office/powerpoint/2010/main" val="13972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0" cap="all"/>
            </a:lvl1pPr>
          </a:lstStyle>
          <a:p>
            <a:r>
              <a:rPr lang="zh-TW" altLang="en-US"/>
              <a:t>按一下以編輯母片標題樣式</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872FE18-7C6B-0144-B367-02789F67D3F1}"/>
              </a:ext>
            </a:extLst>
          </p:cNvPr>
          <p:cNvSpPr>
            <a:spLocks noGrp="1"/>
          </p:cNvSpPr>
          <p:nvPr>
            <p:ph type="dt" sz="half" idx="10"/>
          </p:nvPr>
        </p:nvSpPr>
        <p:spPr/>
        <p:txBody>
          <a:bodyPr/>
          <a:lstStyle>
            <a:lvl1pPr>
              <a:defRPr/>
            </a:lvl1pPr>
          </a:lstStyle>
          <a:p>
            <a:pPr>
              <a:defRPr/>
            </a:pPr>
            <a:fld id="{D4CCFA25-A1A1-6E4A-B6DB-A5D23E4209C0}"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6B8365DD-17C7-2D4C-8FE8-8FEB5E6CA19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92522C6-ADE6-C245-8EA8-0F38BC38ACAA}"/>
              </a:ext>
            </a:extLst>
          </p:cNvPr>
          <p:cNvSpPr>
            <a:spLocks noGrp="1"/>
          </p:cNvSpPr>
          <p:nvPr>
            <p:ph type="sldNum" sz="quarter" idx="12"/>
          </p:nvPr>
        </p:nvSpPr>
        <p:spPr/>
        <p:txBody>
          <a:bodyPr/>
          <a:lstStyle>
            <a:lvl1pPr>
              <a:defRPr/>
            </a:lvl1pPr>
          </a:lstStyle>
          <a:p>
            <a:fld id="{03B1DD0D-936E-EE40-A44C-CBC2431D0812}" type="slidenum">
              <a:rPr lang="zh-TW" altLang="en-US"/>
              <a:pPr/>
              <a:t>‹#›</a:t>
            </a:fld>
            <a:endParaRPr lang="zh-TW" altLang="en-US"/>
          </a:p>
        </p:txBody>
      </p:sp>
    </p:spTree>
    <p:extLst>
      <p:ext uri="{BB962C8B-B14F-4D97-AF65-F5344CB8AC3E}">
        <p14:creationId xmlns:p14="http://schemas.microsoft.com/office/powerpoint/2010/main" val="367117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a:extLst>
              <a:ext uri="{FF2B5EF4-FFF2-40B4-BE49-F238E27FC236}">
                <a16:creationId xmlns:a16="http://schemas.microsoft.com/office/drawing/2014/main" id="{DCE94036-239E-DC44-962B-3195286ABAF5}"/>
              </a:ext>
            </a:extLst>
          </p:cNvPr>
          <p:cNvSpPr>
            <a:spLocks noGrp="1"/>
          </p:cNvSpPr>
          <p:nvPr>
            <p:ph type="dt" sz="half" idx="10"/>
          </p:nvPr>
        </p:nvSpPr>
        <p:spPr/>
        <p:txBody>
          <a:bodyPr/>
          <a:lstStyle>
            <a:lvl1pPr>
              <a:defRPr/>
            </a:lvl1pPr>
          </a:lstStyle>
          <a:p>
            <a:pPr>
              <a:defRPr/>
            </a:pPr>
            <a:fld id="{C34F742B-D7CF-ED4A-8E92-BB72B3477EDA}" type="datetime1">
              <a:rPr lang="zh-TW" altLang="en-US"/>
              <a:pPr>
                <a:defRPr/>
              </a:pPr>
              <a:t>2025/8/25</a:t>
            </a:fld>
            <a:endParaRPr lang="zh-TW" altLang="en-US"/>
          </a:p>
        </p:txBody>
      </p:sp>
      <p:sp>
        <p:nvSpPr>
          <p:cNvPr id="6" name="頁尾版面配置區 4">
            <a:extLst>
              <a:ext uri="{FF2B5EF4-FFF2-40B4-BE49-F238E27FC236}">
                <a16:creationId xmlns:a16="http://schemas.microsoft.com/office/drawing/2014/main" id="{4C11FDE5-261B-E646-9E6B-1B934665DE7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230567DF-5C55-874A-9A29-994170111E8B}"/>
              </a:ext>
            </a:extLst>
          </p:cNvPr>
          <p:cNvSpPr>
            <a:spLocks noGrp="1"/>
          </p:cNvSpPr>
          <p:nvPr>
            <p:ph type="sldNum" sz="quarter" idx="12"/>
          </p:nvPr>
        </p:nvSpPr>
        <p:spPr/>
        <p:txBody>
          <a:bodyPr/>
          <a:lstStyle>
            <a:lvl1pPr>
              <a:defRPr/>
            </a:lvl1pPr>
          </a:lstStyle>
          <a:p>
            <a:fld id="{1AF76522-9632-F54C-A224-CA4B5D733566}" type="slidenum">
              <a:rPr lang="zh-TW" altLang="en-US"/>
              <a:pPr/>
              <a:t>‹#›</a:t>
            </a:fld>
            <a:endParaRPr lang="zh-TW" altLang="en-US"/>
          </a:p>
        </p:txBody>
      </p:sp>
    </p:spTree>
    <p:extLst>
      <p:ext uri="{BB962C8B-B14F-4D97-AF65-F5344CB8AC3E}">
        <p14:creationId xmlns:p14="http://schemas.microsoft.com/office/powerpoint/2010/main" val="177119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a:extLst>
              <a:ext uri="{FF2B5EF4-FFF2-40B4-BE49-F238E27FC236}">
                <a16:creationId xmlns:a16="http://schemas.microsoft.com/office/drawing/2014/main" id="{07B2D94B-5010-7D4B-92D5-88A19B75B741}"/>
              </a:ext>
            </a:extLst>
          </p:cNvPr>
          <p:cNvSpPr>
            <a:spLocks noGrp="1"/>
          </p:cNvSpPr>
          <p:nvPr>
            <p:ph type="dt" sz="half" idx="10"/>
          </p:nvPr>
        </p:nvSpPr>
        <p:spPr/>
        <p:txBody>
          <a:bodyPr/>
          <a:lstStyle>
            <a:lvl1pPr>
              <a:defRPr/>
            </a:lvl1pPr>
          </a:lstStyle>
          <a:p>
            <a:pPr>
              <a:defRPr/>
            </a:pPr>
            <a:fld id="{CAB70403-D632-DF46-9E91-7B75E81182C0}" type="datetime1">
              <a:rPr lang="zh-TW" altLang="en-US"/>
              <a:pPr>
                <a:defRPr/>
              </a:pPr>
              <a:t>2025/8/25</a:t>
            </a:fld>
            <a:endParaRPr lang="zh-TW" altLang="en-US"/>
          </a:p>
        </p:txBody>
      </p:sp>
      <p:sp>
        <p:nvSpPr>
          <p:cNvPr id="8" name="頁尾版面配置區 4">
            <a:extLst>
              <a:ext uri="{FF2B5EF4-FFF2-40B4-BE49-F238E27FC236}">
                <a16:creationId xmlns:a16="http://schemas.microsoft.com/office/drawing/2014/main" id="{1D2C3C2D-F1CB-1947-9D57-85BDB6F6A58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9" name="投影片編號版面配置區 5">
            <a:extLst>
              <a:ext uri="{FF2B5EF4-FFF2-40B4-BE49-F238E27FC236}">
                <a16:creationId xmlns:a16="http://schemas.microsoft.com/office/drawing/2014/main" id="{671207E0-3A26-2D45-9077-130B7F1E71ED}"/>
              </a:ext>
            </a:extLst>
          </p:cNvPr>
          <p:cNvSpPr>
            <a:spLocks noGrp="1"/>
          </p:cNvSpPr>
          <p:nvPr>
            <p:ph type="sldNum" sz="quarter" idx="12"/>
          </p:nvPr>
        </p:nvSpPr>
        <p:spPr/>
        <p:txBody>
          <a:bodyPr/>
          <a:lstStyle>
            <a:lvl1pPr>
              <a:defRPr/>
            </a:lvl1pPr>
          </a:lstStyle>
          <a:p>
            <a:fld id="{C88EF28A-A00B-164C-8258-F5A62DAE54CD}" type="slidenum">
              <a:rPr lang="zh-TW" altLang="en-US"/>
              <a:pPr/>
              <a:t>‹#›</a:t>
            </a:fld>
            <a:endParaRPr lang="zh-TW" altLang="en-US"/>
          </a:p>
        </p:txBody>
      </p:sp>
    </p:spTree>
    <p:extLst>
      <p:ext uri="{BB962C8B-B14F-4D97-AF65-F5344CB8AC3E}">
        <p14:creationId xmlns:p14="http://schemas.microsoft.com/office/powerpoint/2010/main" val="363673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3">
            <a:extLst>
              <a:ext uri="{FF2B5EF4-FFF2-40B4-BE49-F238E27FC236}">
                <a16:creationId xmlns:a16="http://schemas.microsoft.com/office/drawing/2014/main" id="{8E3937A3-9726-7C47-A636-BAFA0E1847A9}"/>
              </a:ext>
            </a:extLst>
          </p:cNvPr>
          <p:cNvSpPr>
            <a:spLocks noGrp="1"/>
          </p:cNvSpPr>
          <p:nvPr>
            <p:ph type="dt" sz="half" idx="10"/>
          </p:nvPr>
        </p:nvSpPr>
        <p:spPr/>
        <p:txBody>
          <a:bodyPr/>
          <a:lstStyle>
            <a:lvl1pPr>
              <a:defRPr/>
            </a:lvl1pPr>
          </a:lstStyle>
          <a:p>
            <a:pPr>
              <a:defRPr/>
            </a:pPr>
            <a:fld id="{D4207772-2337-D346-925D-889AC70BF3B0}" type="datetime1">
              <a:rPr lang="zh-TW" altLang="en-US"/>
              <a:pPr>
                <a:defRPr/>
              </a:pPr>
              <a:t>2025/8/25</a:t>
            </a:fld>
            <a:endParaRPr lang="zh-TW" altLang="en-US"/>
          </a:p>
        </p:txBody>
      </p:sp>
      <p:sp>
        <p:nvSpPr>
          <p:cNvPr id="4" name="頁尾版面配置區 4">
            <a:extLst>
              <a:ext uri="{FF2B5EF4-FFF2-40B4-BE49-F238E27FC236}">
                <a16:creationId xmlns:a16="http://schemas.microsoft.com/office/drawing/2014/main" id="{B9079D60-3595-8A4D-BE79-236774F1AB3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5" name="投影片編號版面配置區 5">
            <a:extLst>
              <a:ext uri="{FF2B5EF4-FFF2-40B4-BE49-F238E27FC236}">
                <a16:creationId xmlns:a16="http://schemas.microsoft.com/office/drawing/2014/main" id="{41939247-32AE-AB4A-8985-23446EE2A92B}"/>
              </a:ext>
            </a:extLst>
          </p:cNvPr>
          <p:cNvSpPr>
            <a:spLocks noGrp="1"/>
          </p:cNvSpPr>
          <p:nvPr>
            <p:ph type="sldNum" sz="quarter" idx="12"/>
          </p:nvPr>
        </p:nvSpPr>
        <p:spPr/>
        <p:txBody>
          <a:bodyPr/>
          <a:lstStyle>
            <a:lvl1pPr>
              <a:defRPr/>
            </a:lvl1pPr>
          </a:lstStyle>
          <a:p>
            <a:fld id="{CFC49D30-CAF4-414B-97A1-37ED46EB9A5F}" type="slidenum">
              <a:rPr lang="zh-TW" altLang="en-US"/>
              <a:pPr/>
              <a:t>‹#›</a:t>
            </a:fld>
            <a:endParaRPr lang="zh-TW" altLang="en-US"/>
          </a:p>
        </p:txBody>
      </p:sp>
    </p:spTree>
    <p:extLst>
      <p:ext uri="{BB962C8B-B14F-4D97-AF65-F5344CB8AC3E}">
        <p14:creationId xmlns:p14="http://schemas.microsoft.com/office/powerpoint/2010/main" val="184459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a:extLst>
              <a:ext uri="{FF2B5EF4-FFF2-40B4-BE49-F238E27FC236}">
                <a16:creationId xmlns:a16="http://schemas.microsoft.com/office/drawing/2014/main" id="{8D9E443E-4F0B-5E43-8061-E17531D9CA85}"/>
              </a:ext>
            </a:extLst>
          </p:cNvPr>
          <p:cNvSpPr>
            <a:spLocks noGrp="1"/>
          </p:cNvSpPr>
          <p:nvPr>
            <p:ph type="dt" sz="half" idx="10"/>
          </p:nvPr>
        </p:nvSpPr>
        <p:spPr/>
        <p:txBody>
          <a:bodyPr/>
          <a:lstStyle>
            <a:lvl1pPr>
              <a:defRPr/>
            </a:lvl1pPr>
          </a:lstStyle>
          <a:p>
            <a:pPr>
              <a:defRPr/>
            </a:pPr>
            <a:fld id="{1B814998-86E4-F54C-A317-837D958D52C5}" type="datetime1">
              <a:rPr lang="zh-TW" altLang="en-US"/>
              <a:pPr>
                <a:defRPr/>
              </a:pPr>
              <a:t>2025/8/25</a:t>
            </a:fld>
            <a:endParaRPr lang="zh-TW" altLang="en-US"/>
          </a:p>
        </p:txBody>
      </p:sp>
      <p:sp>
        <p:nvSpPr>
          <p:cNvPr id="3" name="頁尾版面配置區 4">
            <a:extLst>
              <a:ext uri="{FF2B5EF4-FFF2-40B4-BE49-F238E27FC236}">
                <a16:creationId xmlns:a16="http://schemas.microsoft.com/office/drawing/2014/main" id="{C98D269C-3BF2-CB48-9F85-E585AC864B0B}"/>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4" name="投影片編號版面配置區 5">
            <a:extLst>
              <a:ext uri="{FF2B5EF4-FFF2-40B4-BE49-F238E27FC236}">
                <a16:creationId xmlns:a16="http://schemas.microsoft.com/office/drawing/2014/main" id="{7F83B7BE-CDCE-9646-8DD3-70B8F3B8AB44}"/>
              </a:ext>
            </a:extLst>
          </p:cNvPr>
          <p:cNvSpPr>
            <a:spLocks noGrp="1"/>
          </p:cNvSpPr>
          <p:nvPr>
            <p:ph type="sldNum" sz="quarter" idx="12"/>
          </p:nvPr>
        </p:nvSpPr>
        <p:spPr/>
        <p:txBody>
          <a:bodyPr/>
          <a:lstStyle>
            <a:lvl1pPr>
              <a:defRPr/>
            </a:lvl1pPr>
          </a:lstStyle>
          <a:p>
            <a:fld id="{D3F3EEED-CE98-6D44-B9BB-B57A2469ED34}" type="slidenum">
              <a:rPr lang="zh-TW" altLang="en-US"/>
              <a:pPr/>
              <a:t>‹#›</a:t>
            </a:fld>
            <a:endParaRPr lang="zh-TW" altLang="en-US"/>
          </a:p>
        </p:txBody>
      </p:sp>
    </p:spTree>
    <p:extLst>
      <p:ext uri="{BB962C8B-B14F-4D97-AF65-F5344CB8AC3E}">
        <p14:creationId xmlns:p14="http://schemas.microsoft.com/office/powerpoint/2010/main" val="928905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0"/>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A76E2415-B555-E54A-8BBB-2A8CCB325817}"/>
              </a:ext>
            </a:extLst>
          </p:cNvPr>
          <p:cNvSpPr>
            <a:spLocks noGrp="1"/>
          </p:cNvSpPr>
          <p:nvPr>
            <p:ph type="dt" sz="half" idx="10"/>
          </p:nvPr>
        </p:nvSpPr>
        <p:spPr/>
        <p:txBody>
          <a:bodyPr/>
          <a:lstStyle>
            <a:lvl1pPr>
              <a:defRPr/>
            </a:lvl1pPr>
          </a:lstStyle>
          <a:p>
            <a:pPr>
              <a:defRPr/>
            </a:pPr>
            <a:fld id="{27622D31-D2F6-B442-BABD-0A4562A69D7C}" type="datetime1">
              <a:rPr lang="zh-TW" altLang="en-US"/>
              <a:pPr>
                <a:defRPr/>
              </a:pPr>
              <a:t>2025/8/25</a:t>
            </a:fld>
            <a:endParaRPr lang="zh-TW" altLang="en-US"/>
          </a:p>
        </p:txBody>
      </p:sp>
      <p:sp>
        <p:nvSpPr>
          <p:cNvPr id="6" name="頁尾版面配置區 4">
            <a:extLst>
              <a:ext uri="{FF2B5EF4-FFF2-40B4-BE49-F238E27FC236}">
                <a16:creationId xmlns:a16="http://schemas.microsoft.com/office/drawing/2014/main" id="{EA85740B-AEF6-F54F-87B7-026EDDA6821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1B5626D5-3FBA-9948-8B6C-9C75A1150ED7}"/>
              </a:ext>
            </a:extLst>
          </p:cNvPr>
          <p:cNvSpPr>
            <a:spLocks noGrp="1"/>
          </p:cNvSpPr>
          <p:nvPr>
            <p:ph type="sldNum" sz="quarter" idx="12"/>
          </p:nvPr>
        </p:nvSpPr>
        <p:spPr/>
        <p:txBody>
          <a:bodyPr/>
          <a:lstStyle>
            <a:lvl1pPr>
              <a:defRPr/>
            </a:lvl1pPr>
          </a:lstStyle>
          <a:p>
            <a:fld id="{D33BB35E-2B1B-A84A-83C8-8751BB988801}" type="slidenum">
              <a:rPr lang="zh-TW" altLang="en-US"/>
              <a:pPr/>
              <a:t>‹#›</a:t>
            </a:fld>
            <a:endParaRPr lang="zh-TW" altLang="en-US"/>
          </a:p>
        </p:txBody>
      </p:sp>
    </p:spTree>
    <p:extLst>
      <p:ext uri="{BB962C8B-B14F-4D97-AF65-F5344CB8AC3E}">
        <p14:creationId xmlns:p14="http://schemas.microsoft.com/office/powerpoint/2010/main" val="138854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0"/>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CEEE04EE-CB2B-DB4B-B5C9-F213F01F84FD}"/>
              </a:ext>
            </a:extLst>
          </p:cNvPr>
          <p:cNvSpPr>
            <a:spLocks noGrp="1"/>
          </p:cNvSpPr>
          <p:nvPr>
            <p:ph type="dt" sz="half" idx="10"/>
          </p:nvPr>
        </p:nvSpPr>
        <p:spPr/>
        <p:txBody>
          <a:bodyPr/>
          <a:lstStyle>
            <a:lvl1pPr>
              <a:defRPr/>
            </a:lvl1pPr>
          </a:lstStyle>
          <a:p>
            <a:pPr>
              <a:defRPr/>
            </a:pPr>
            <a:fld id="{3E817BD0-E9BD-D64A-9A1B-4D8D27389E80}" type="datetime1">
              <a:rPr lang="zh-TW" altLang="en-US"/>
              <a:pPr>
                <a:defRPr/>
              </a:pPr>
              <a:t>2025/8/25</a:t>
            </a:fld>
            <a:endParaRPr lang="zh-TW" altLang="en-US"/>
          </a:p>
        </p:txBody>
      </p:sp>
      <p:sp>
        <p:nvSpPr>
          <p:cNvPr id="6" name="頁尾版面配置區 4">
            <a:extLst>
              <a:ext uri="{FF2B5EF4-FFF2-40B4-BE49-F238E27FC236}">
                <a16:creationId xmlns:a16="http://schemas.microsoft.com/office/drawing/2014/main" id="{1640405F-18F5-A244-A0A9-B26A1B2882EC}"/>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9DD3C7A4-4412-FF4D-91EB-6DF257B43355}"/>
              </a:ext>
            </a:extLst>
          </p:cNvPr>
          <p:cNvSpPr>
            <a:spLocks noGrp="1"/>
          </p:cNvSpPr>
          <p:nvPr>
            <p:ph type="sldNum" sz="quarter" idx="12"/>
          </p:nvPr>
        </p:nvSpPr>
        <p:spPr/>
        <p:txBody>
          <a:bodyPr/>
          <a:lstStyle>
            <a:lvl1pPr>
              <a:defRPr/>
            </a:lvl1pPr>
          </a:lstStyle>
          <a:p>
            <a:fld id="{1BA7C781-276C-5943-A06C-3E7B1580FC3E}" type="slidenum">
              <a:rPr lang="zh-TW" altLang="en-US"/>
              <a:pPr/>
              <a:t>‹#›</a:t>
            </a:fld>
            <a:endParaRPr lang="zh-TW" altLang="en-US"/>
          </a:p>
        </p:txBody>
      </p:sp>
    </p:spTree>
    <p:extLst>
      <p:ext uri="{BB962C8B-B14F-4D97-AF65-F5344CB8AC3E}">
        <p14:creationId xmlns:p14="http://schemas.microsoft.com/office/powerpoint/2010/main" val="1797095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892FEBB-25F0-B648-A81F-099879214D6C}"/>
              </a:ext>
            </a:extLst>
          </p:cNvPr>
          <p:cNvSpPr>
            <a:spLocks noGrp="1"/>
          </p:cNvSpPr>
          <p:nvPr>
            <p:ph type="dt" sz="half" idx="10"/>
          </p:nvPr>
        </p:nvSpPr>
        <p:spPr/>
        <p:txBody>
          <a:bodyPr/>
          <a:lstStyle>
            <a:lvl1pPr>
              <a:defRPr/>
            </a:lvl1pPr>
          </a:lstStyle>
          <a:p>
            <a:pPr>
              <a:defRPr/>
            </a:pPr>
            <a:fld id="{43B0D650-1C51-F34B-AD48-0FDABC6C81DE}"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DD011164-54FB-E64A-BBAE-79167F7F3A6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7AB86921-318C-CE4D-8EB1-4CA5E3407511}"/>
              </a:ext>
            </a:extLst>
          </p:cNvPr>
          <p:cNvSpPr>
            <a:spLocks noGrp="1"/>
          </p:cNvSpPr>
          <p:nvPr>
            <p:ph type="sldNum" sz="quarter" idx="12"/>
          </p:nvPr>
        </p:nvSpPr>
        <p:spPr/>
        <p:txBody>
          <a:bodyPr/>
          <a:lstStyle>
            <a:lvl1pPr>
              <a:defRPr/>
            </a:lvl1pPr>
          </a:lstStyle>
          <a:p>
            <a:fld id="{325FAFE3-E558-174E-B392-8469FA5B9F62}" type="slidenum">
              <a:rPr lang="zh-TW" altLang="en-US"/>
              <a:pPr/>
              <a:t>‹#›</a:t>
            </a:fld>
            <a:endParaRPr lang="zh-TW" altLang="en-US"/>
          </a:p>
        </p:txBody>
      </p:sp>
    </p:spTree>
    <p:extLst>
      <p:ext uri="{BB962C8B-B14F-4D97-AF65-F5344CB8AC3E}">
        <p14:creationId xmlns:p14="http://schemas.microsoft.com/office/powerpoint/2010/main" val="4097312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249D1E1-093E-4F44-9477-48896B63EA0D}"/>
              </a:ext>
            </a:extLst>
          </p:cNvPr>
          <p:cNvSpPr>
            <a:spLocks noGrp="1"/>
          </p:cNvSpPr>
          <p:nvPr>
            <p:ph type="dt" sz="half" idx="10"/>
          </p:nvPr>
        </p:nvSpPr>
        <p:spPr/>
        <p:txBody>
          <a:bodyPr/>
          <a:lstStyle>
            <a:lvl1pPr>
              <a:defRPr/>
            </a:lvl1pPr>
          </a:lstStyle>
          <a:p>
            <a:pPr>
              <a:defRPr/>
            </a:pPr>
            <a:fld id="{E1EECA2B-BFE1-B84C-82C1-E6839E512827}"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40839CAD-E49D-894C-A0A5-F93DC7E0BA05}"/>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96854EB5-8045-D240-9FF8-639FCD595111}"/>
              </a:ext>
            </a:extLst>
          </p:cNvPr>
          <p:cNvSpPr>
            <a:spLocks noGrp="1"/>
          </p:cNvSpPr>
          <p:nvPr>
            <p:ph type="sldNum" sz="quarter" idx="12"/>
          </p:nvPr>
        </p:nvSpPr>
        <p:spPr/>
        <p:txBody>
          <a:bodyPr/>
          <a:lstStyle>
            <a:lvl1pPr>
              <a:defRPr/>
            </a:lvl1pPr>
          </a:lstStyle>
          <a:p>
            <a:fld id="{DB8BCEF1-9BBD-3548-8601-644E174525DB}" type="slidenum">
              <a:rPr lang="zh-TW" altLang="en-US"/>
              <a:pPr/>
              <a:t>‹#›</a:t>
            </a:fld>
            <a:endParaRPr lang="zh-TW" altLang="en-US"/>
          </a:p>
        </p:txBody>
      </p:sp>
    </p:spTree>
    <p:extLst>
      <p:ext uri="{BB962C8B-B14F-4D97-AF65-F5344CB8AC3E}">
        <p14:creationId xmlns:p14="http://schemas.microsoft.com/office/powerpoint/2010/main" val="184546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標題版面配置區 1">
            <a:extLst>
              <a:ext uri="{FF2B5EF4-FFF2-40B4-BE49-F238E27FC236}">
                <a16:creationId xmlns:a16="http://schemas.microsoft.com/office/drawing/2014/main" id="{281B8F0B-D6E6-B341-BDAE-BC91CC7A502B}"/>
              </a:ext>
            </a:extLst>
          </p:cNvPr>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7" name="文字版面配置區 2">
            <a:extLst>
              <a:ext uri="{FF2B5EF4-FFF2-40B4-BE49-F238E27FC236}">
                <a16:creationId xmlns:a16="http://schemas.microsoft.com/office/drawing/2014/main" id="{DE492205-464F-A747-80E6-22310BAE99AF}"/>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C46677B-127B-D147-AB39-5EBA8F06CA0B}"/>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2">
                    <a:lumMod val="50000"/>
                  </a:schemeClr>
                </a:solidFill>
                <a:latin typeface="+mn-lt"/>
                <a:ea typeface="+mn-ea"/>
              </a:defRPr>
            </a:lvl1pPr>
          </a:lstStyle>
          <a:p>
            <a:pPr>
              <a:defRPr/>
            </a:pPr>
            <a:fld id="{97B58209-8791-EF4E-89D4-43D500B40DDD}" type="datetime1">
              <a:rPr lang="zh-TW" altLang="en-US"/>
              <a:pPr>
                <a:defRPr/>
              </a:pPr>
              <a:t>2025/8/25</a:t>
            </a:fld>
            <a:endParaRPr lang="zh-TW" altLang="en-US"/>
          </a:p>
        </p:txBody>
      </p:sp>
      <p:sp>
        <p:nvSpPr>
          <p:cNvPr id="5" name="頁尾版面配置區 4">
            <a:extLst>
              <a:ext uri="{FF2B5EF4-FFF2-40B4-BE49-F238E27FC236}">
                <a16:creationId xmlns:a16="http://schemas.microsoft.com/office/drawing/2014/main" id="{FE112E12-33E5-5540-9AAE-30EAEDC7EFCF}"/>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2">
                    <a:lumMod val="50000"/>
                  </a:schemeClr>
                </a:solidFill>
                <a:latin typeface="+mn-lt"/>
                <a:ea typeface="+mn-ea"/>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EEB2081-EF2E-AA43-B886-39C3918CD136}"/>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kumimoji="0" sz="1200">
                <a:solidFill>
                  <a:srgbClr val="10253F"/>
                </a:solidFill>
                <a:latin typeface="Calibri" panose="020F0502020204030204" pitchFamily="34" charset="0"/>
              </a:defRPr>
            </a:lvl1pPr>
          </a:lstStyle>
          <a:p>
            <a:fld id="{9D7DFB71-712F-5248-B39F-18DB1FF16B86}" type="slidenum">
              <a:rPr lang="zh-TW" altLang="en-US"/>
              <a:pPr/>
              <a:t>‹#›</a:t>
            </a:fld>
            <a:endParaRPr lang="zh-TW" altLang="en-US"/>
          </a:p>
        </p:txBody>
      </p:sp>
    </p:spTree>
  </p:cSld>
  <p:clrMap bg1="lt1" tx1="dk1" bg2="lt2" tx2="dk2" accent1="accent1" accent2="accent2" accent3="accent3" accent4="accent4" accent5="accent5" accent6="accent6" hlink="hlink" folHlink="folHlink"/>
  <p:sldLayoutIdLst>
    <p:sldLayoutId id="2147483930"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hf hdr="0"/>
  <p:txStyles>
    <p:titleStyle>
      <a:lvl1pPr algn="ctr" rtl="0" eaLnBrk="1" fontAlgn="base" hangingPunct="1">
        <a:spcBef>
          <a:spcPct val="0"/>
        </a:spcBef>
        <a:spcAft>
          <a:spcPct val="0"/>
        </a:spcAft>
        <a:defRPr sz="4400" kern="1200">
          <a:ln w="18415" cmpd="sng">
            <a:solidFill>
              <a:srgbClr val="FFFFFF"/>
            </a:solidFill>
            <a:prstDash val="solid"/>
          </a:ln>
          <a:solidFill>
            <a:srgbClr val="FFFFFF"/>
          </a:solidFill>
          <a:effectLst>
            <a:outerShdw blurRad="63500" dir="3600000" algn="tl" rotWithShape="0">
              <a:srgbClr val="000000">
                <a:alpha val="70000"/>
              </a:srgbClr>
            </a:outerShdw>
          </a:effectLst>
          <a:latin typeface="微軟正黑體" pitchFamily="34" charset="-120"/>
          <a:ea typeface="微軟正黑體" pitchFamily="34" charset="-120"/>
          <a:cs typeface="+mj-cs"/>
        </a:defRPr>
      </a:lvl1pPr>
      <a:lvl2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2pPr>
      <a:lvl3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3pPr>
      <a:lvl4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4pPr>
      <a:lvl5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5pPr>
      <a:lvl6pPr marL="457200" algn="ctr" rtl="0" eaLnBrk="1" fontAlgn="base" hangingPunct="1">
        <a:spcBef>
          <a:spcPct val="0"/>
        </a:spcBef>
        <a:spcAft>
          <a:spcPct val="0"/>
        </a:spcAft>
        <a:defRPr sz="4400">
          <a:solidFill>
            <a:schemeClr val="bg1"/>
          </a:solidFill>
          <a:latin typeface="Calibri" pitchFamily="34" charset="0"/>
          <a:ea typeface="新細明體" charset="-120"/>
        </a:defRPr>
      </a:lvl6pPr>
      <a:lvl7pPr marL="914400" algn="ctr" rtl="0" eaLnBrk="1" fontAlgn="base" hangingPunct="1">
        <a:spcBef>
          <a:spcPct val="0"/>
        </a:spcBef>
        <a:spcAft>
          <a:spcPct val="0"/>
        </a:spcAft>
        <a:defRPr sz="4400">
          <a:solidFill>
            <a:schemeClr val="bg1"/>
          </a:solidFill>
          <a:latin typeface="Calibri" pitchFamily="34" charset="0"/>
          <a:ea typeface="新細明體" charset="-120"/>
        </a:defRPr>
      </a:lvl7pPr>
      <a:lvl8pPr marL="1371600" algn="ctr" rtl="0" eaLnBrk="1" fontAlgn="base" hangingPunct="1">
        <a:spcBef>
          <a:spcPct val="0"/>
        </a:spcBef>
        <a:spcAft>
          <a:spcPct val="0"/>
        </a:spcAft>
        <a:defRPr sz="4400">
          <a:solidFill>
            <a:schemeClr val="bg1"/>
          </a:solidFill>
          <a:latin typeface="Calibri" pitchFamily="34" charset="0"/>
          <a:ea typeface="新細明體" charset="-120"/>
        </a:defRPr>
      </a:lvl8pPr>
      <a:lvl9pPr marL="1828800" algn="ctr" rtl="0" eaLnBrk="1" fontAlgn="base" hangingPunct="1">
        <a:spcBef>
          <a:spcPct val="0"/>
        </a:spcBef>
        <a:spcAft>
          <a:spcPct val="0"/>
        </a:spcAft>
        <a:defRPr sz="4400">
          <a:solidFill>
            <a:schemeClr val="bg1"/>
          </a:solidFill>
          <a:latin typeface="Calibri" pitchFamily="34" charset="0"/>
          <a:ea typeface="新細明體" charset="-12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10253F"/>
          </a:solidFill>
          <a:latin typeface="Times New Roman" pitchFamily="18" charset="0"/>
          <a:ea typeface="標楷體" pitchFamily="65" charset="-120"/>
          <a:cs typeface="Times New Roman"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rgbClr val="10253F"/>
          </a:solidFill>
          <a:latin typeface="Times New Roman" pitchFamily="18" charset="0"/>
          <a:ea typeface="標楷體" pitchFamily="65" charset="-120"/>
          <a:cs typeface="Times New Roman"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10253F"/>
          </a:solidFill>
          <a:latin typeface="Times New Roman" pitchFamily="18" charset="0"/>
          <a:ea typeface="標楷體" pitchFamily="65" charset="-120"/>
          <a:cs typeface="Times New Roman"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entral.sonatype.com/artifact/tw.teddysoft.ucontract/uContract" TargetMode="External"/><Relationship Id="rId7" Type="http://schemas.openxmlformats.org/officeDocument/2006/relationships/hyperlink" Target="https://ithelp.ithome.com.tw/articles/1035921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teddy-chen-tw.blogspot.com/2022/07/8cqrs.html" TargetMode="External"/><Relationship Id="rId5" Type="http://schemas.openxmlformats.org/officeDocument/2006/relationships/hyperlink" Target="https://teddy-chen-tw.blogspot.com/2021/03/blog-post_10.html" TargetMode="External"/><Relationship Id="rId4" Type="http://schemas.openxmlformats.org/officeDocument/2006/relationships/hyperlink" Target="https://teddy-chen-tw.blogspot.com/2021/03/blog-post.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298BE-2A98-A94F-98A2-4F0602CE47C7}"/>
              </a:ext>
            </a:extLst>
          </p:cNvPr>
          <p:cNvSpPr>
            <a:spLocks noGrp="1"/>
          </p:cNvSpPr>
          <p:nvPr>
            <p:ph type="ctrTitle"/>
          </p:nvPr>
        </p:nvSpPr>
        <p:spPr>
          <a:xfrm>
            <a:off x="695400" y="1426168"/>
            <a:ext cx="10801200" cy="1470025"/>
          </a:xfrm>
        </p:spPr>
        <p:txBody>
          <a:bodyPr/>
          <a:lstStyle/>
          <a:p>
            <a:pPr algn="ctr">
              <a:defRPr/>
            </a:pPr>
            <a:r>
              <a:rPr lang="en-US" altLang="zh-TW" dirty="0"/>
              <a:t>Make Your Domain Keep Its</a:t>
            </a:r>
            <a:r>
              <a:rPr lang="zh-TW" altLang="en-US" dirty="0"/>
              <a:t> </a:t>
            </a:r>
            <a:r>
              <a:rPr lang="en-US" altLang="zh-TW" dirty="0"/>
              <a:t>Promises!</a:t>
            </a:r>
            <a:endParaRPr lang="zh-TW" altLang="en-US" dirty="0"/>
          </a:p>
        </p:txBody>
      </p:sp>
      <p:sp>
        <p:nvSpPr>
          <p:cNvPr id="3" name="副標題 2">
            <a:extLst>
              <a:ext uri="{FF2B5EF4-FFF2-40B4-BE49-F238E27FC236}">
                <a16:creationId xmlns:a16="http://schemas.microsoft.com/office/drawing/2014/main" id="{15B61164-EE9C-4B41-BC07-29061A98CCC5}"/>
              </a:ext>
            </a:extLst>
          </p:cNvPr>
          <p:cNvSpPr>
            <a:spLocks noGrp="1"/>
          </p:cNvSpPr>
          <p:nvPr>
            <p:ph type="subTitle" idx="1"/>
          </p:nvPr>
        </p:nvSpPr>
        <p:spPr>
          <a:xfrm>
            <a:off x="2667000" y="3071813"/>
            <a:ext cx="6400800" cy="1752600"/>
          </a:xfrm>
        </p:spPr>
        <p:txBody>
          <a:bodyPr/>
          <a:lstStyle/>
          <a:p>
            <a:pPr>
              <a:buFont typeface="Arial" charset="0"/>
              <a:buNone/>
              <a:defRPr/>
            </a:pPr>
            <a:r>
              <a:rPr lang="zh-TW" altLang="en-US" dirty="0"/>
              <a:t>演講者：</a:t>
            </a:r>
            <a:r>
              <a:rPr lang="en-US" altLang="zh-TW" dirty="0"/>
              <a:t>Frank</a:t>
            </a:r>
          </a:p>
          <a:p>
            <a:pPr>
              <a:buFont typeface="Arial" charset="0"/>
              <a:buNone/>
              <a:defRPr/>
            </a:pPr>
            <a:r>
              <a:rPr lang="en-US" altLang="zh-TW" dirty="0"/>
              <a:t>2025/08/26</a:t>
            </a:r>
          </a:p>
        </p:txBody>
      </p:sp>
      <p:sp>
        <p:nvSpPr>
          <p:cNvPr id="6" name="矩形 5">
            <a:extLst>
              <a:ext uri="{FF2B5EF4-FFF2-40B4-BE49-F238E27FC236}">
                <a16:creationId xmlns:a16="http://schemas.microsoft.com/office/drawing/2014/main" id="{C7B8B7A0-6627-2E4D-B940-F09CEFD8AD1B}"/>
              </a:ext>
            </a:extLst>
          </p:cNvPr>
          <p:cNvSpPr/>
          <p:nvPr/>
        </p:nvSpPr>
        <p:spPr>
          <a:xfrm>
            <a:off x="2667001" y="4500564"/>
            <a:ext cx="6715125" cy="904875"/>
          </a:xfrm>
          <a:prstGeom prst="rect">
            <a:avLst/>
          </a:prstGeom>
        </p:spPr>
        <p:txBody>
          <a:bodyPr>
            <a:spAutoFit/>
          </a:bodyPr>
          <a:lstStyle/>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國立台北科技大學　資訊工程系</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指導教授：鄭有進、謝金雲</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017DAA5-975F-AF41-A215-18112FE86F6D}"/>
              </a:ext>
            </a:extLst>
          </p:cNvPr>
          <p:cNvSpPr>
            <a:spLocks noGrp="1"/>
          </p:cNvSpPr>
          <p:nvPr>
            <p:ph type="sldNum" sz="quarter" idx="12"/>
          </p:nvPr>
        </p:nvSpPr>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fld id="{149653C5-FE47-144B-98D6-FD4A24C463D1}" type="slidenum">
              <a:rPr kumimoji="0" lang="zh-TW" altLang="en-US">
                <a:solidFill>
                  <a:srgbClr val="10253F"/>
                </a:solidFill>
                <a:latin typeface="Calibri" panose="020F0502020204030204" pitchFamily="34" charset="0"/>
              </a:rPr>
              <a:pPr eaLnBrk="1" hangingPunct="1"/>
              <a:t>2</a:t>
            </a:fld>
            <a:endParaRPr kumimoji="0" lang="zh-TW" altLang="en-US">
              <a:solidFill>
                <a:srgbClr val="10253F"/>
              </a:solidFill>
              <a:latin typeface="Calibri" panose="020F0502020204030204" pitchFamily="34" charset="0"/>
            </a:endParaRPr>
          </a:p>
        </p:txBody>
      </p:sp>
      <p:sp>
        <p:nvSpPr>
          <p:cNvPr id="5" name="日期版面配置區 4">
            <a:extLst>
              <a:ext uri="{FF2B5EF4-FFF2-40B4-BE49-F238E27FC236}">
                <a16:creationId xmlns:a16="http://schemas.microsoft.com/office/drawing/2014/main" id="{05FBB558-7334-5B4A-8695-44058B960583}"/>
              </a:ext>
            </a:extLst>
          </p:cNvPr>
          <p:cNvSpPr>
            <a:spLocks noGrp="1"/>
          </p:cNvSpPr>
          <p:nvPr>
            <p:ph type="dt" sz="quarter" idx="10"/>
          </p:nvPr>
        </p:nvSpPr>
        <p:spPr/>
        <p:txBody>
          <a:bodyPr/>
          <a:lstStyle/>
          <a:p>
            <a:pPr>
              <a:defRPr/>
            </a:pPr>
            <a:fld id="{8C4365B6-F14D-4045-8E37-64E386527D75}" type="datetime1">
              <a:rPr lang="zh-TW" altLang="en-US"/>
              <a:pPr>
                <a:defRPr/>
              </a:pPr>
              <a:t>2025/8/25</a:t>
            </a:fld>
            <a:endParaRPr lang="zh-TW" altLang="en-US" dirty="0"/>
          </a:p>
        </p:txBody>
      </p:sp>
      <p:sp>
        <p:nvSpPr>
          <p:cNvPr id="7" name="頁尾版面配置區 6">
            <a:extLst>
              <a:ext uri="{FF2B5EF4-FFF2-40B4-BE49-F238E27FC236}">
                <a16:creationId xmlns:a16="http://schemas.microsoft.com/office/drawing/2014/main" id="{C0442A9D-A316-2F45-A251-37F31F617748}"/>
              </a:ext>
            </a:extLst>
          </p:cNvPr>
          <p:cNvSpPr>
            <a:spLocks noGrp="1"/>
          </p:cNvSpPr>
          <p:nvPr>
            <p:ph type="ftr" sz="quarter" idx="11"/>
          </p:nvPr>
        </p:nvSpPr>
        <p:spPr/>
        <p:txBody>
          <a:bodyPr/>
          <a:lstStyle/>
          <a:p>
            <a:pPr>
              <a:defRPr/>
            </a:pPr>
            <a:r>
              <a:rPr lang="zh-TW" altLang="en-US"/>
              <a:t>軟體系統實驗室</a:t>
            </a:r>
          </a:p>
        </p:txBody>
      </p:sp>
      <p:sp>
        <p:nvSpPr>
          <p:cNvPr id="8" name="標題 7">
            <a:extLst>
              <a:ext uri="{FF2B5EF4-FFF2-40B4-BE49-F238E27FC236}">
                <a16:creationId xmlns:a16="http://schemas.microsoft.com/office/drawing/2014/main" id="{C99CC9D9-B252-5F42-BDBF-A4C873E84374}"/>
              </a:ext>
            </a:extLst>
          </p:cNvPr>
          <p:cNvSpPr>
            <a:spLocks noGrp="1"/>
          </p:cNvSpPr>
          <p:nvPr>
            <p:ph type="title"/>
          </p:nvPr>
        </p:nvSpPr>
        <p:spPr/>
        <p:txBody>
          <a:bodyPr/>
          <a:lstStyle/>
          <a:p>
            <a:pPr>
              <a:defRPr/>
            </a:pPr>
            <a:r>
              <a:rPr lang="en-US" altLang="zh-TW" dirty="0"/>
              <a:t>Outline</a:t>
            </a:r>
            <a:endParaRPr lang="zh-TW" altLang="en-US" dirty="0"/>
          </a:p>
        </p:txBody>
      </p:sp>
      <p:sp>
        <p:nvSpPr>
          <p:cNvPr id="9" name="內容版面配置區 8">
            <a:extLst>
              <a:ext uri="{FF2B5EF4-FFF2-40B4-BE49-F238E27FC236}">
                <a16:creationId xmlns:a16="http://schemas.microsoft.com/office/drawing/2014/main" id="{EC445DD7-88C1-394B-A476-56FA5A102AE1}"/>
              </a:ext>
            </a:extLst>
          </p:cNvPr>
          <p:cNvSpPr>
            <a:spLocks noGrp="1"/>
          </p:cNvSpPr>
          <p:nvPr>
            <p:ph idx="1"/>
          </p:nvPr>
        </p:nvSpPr>
        <p:spPr>
          <a:xfrm>
            <a:off x="609600" y="1989138"/>
            <a:ext cx="10972800" cy="3605187"/>
          </a:xfrm>
        </p:spPr>
        <p:txBody>
          <a:bodyPr/>
          <a:lstStyle/>
          <a:p>
            <a:pPr>
              <a:buFont typeface="Arial" charset="0"/>
              <a:buChar char="•"/>
              <a:defRPr/>
            </a:pPr>
            <a:r>
              <a:rPr lang="en-US" altLang="zh-TW" dirty="0"/>
              <a:t>Design by contract</a:t>
            </a:r>
          </a:p>
          <a:p>
            <a:pPr>
              <a:buFont typeface="Arial" charset="0"/>
              <a:buChar char="•"/>
              <a:defRPr/>
            </a:pPr>
            <a:r>
              <a:rPr lang="en-US" altLang="zh-TW" dirty="0"/>
              <a:t>The Three Pillars: Preconditions, Postconditions, Invariants</a:t>
            </a:r>
          </a:p>
          <a:p>
            <a:pPr>
              <a:buFont typeface="Arial" charset="0"/>
              <a:buChar char="•"/>
              <a:defRPr/>
            </a:pPr>
            <a:r>
              <a:rPr lang="en-US" altLang="zh-TW" dirty="0"/>
              <a:t>Meet </a:t>
            </a:r>
            <a:r>
              <a:rPr lang="en-US" altLang="zh-TW" dirty="0" err="1"/>
              <a:t>uContract</a:t>
            </a:r>
            <a:r>
              <a:rPr lang="en-US" altLang="zh-TW" dirty="0"/>
              <a:t>: DBC for Java</a:t>
            </a:r>
          </a:p>
          <a:p>
            <a:pPr>
              <a:buFont typeface="Arial" charset="0"/>
              <a:buChar char="•"/>
              <a:defRPr/>
            </a:pPr>
            <a:r>
              <a:rPr lang="en-US" altLang="zh-TW" dirty="0"/>
              <a:t>Case Study: </a:t>
            </a:r>
            <a:r>
              <a:rPr lang="en-US" altLang="zh-TW" dirty="0" err="1"/>
              <a:t>ezKanban</a:t>
            </a:r>
            <a:r>
              <a:rPr lang="en-US" altLang="zh-TW" dirty="0"/>
              <a:t> Example</a:t>
            </a:r>
          </a:p>
          <a:p>
            <a:pPr>
              <a:buFont typeface="Arial" charset="0"/>
              <a:buChar char="•"/>
              <a:defRPr/>
            </a:pPr>
            <a:r>
              <a:rPr lang="en-US" altLang="zh-TW" dirty="0"/>
              <a:t>DBC and OOP</a:t>
            </a:r>
          </a:p>
          <a:p>
            <a:pPr>
              <a:buFont typeface="Arial" charset="0"/>
              <a:buChar char="•"/>
              <a:defRPr/>
            </a:pPr>
            <a:r>
              <a:rPr lang="en-US" altLang="zh-TW"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646BD-9583-662B-7EA1-93228F74C89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2C58910-E41B-B9DF-7ABD-733009C91443}"/>
              </a:ext>
            </a:extLst>
          </p:cNvPr>
          <p:cNvSpPr>
            <a:spLocks noGrp="1"/>
          </p:cNvSpPr>
          <p:nvPr>
            <p:ph type="title"/>
          </p:nvPr>
        </p:nvSpPr>
        <p:spPr>
          <a:xfrm>
            <a:off x="609600" y="260648"/>
            <a:ext cx="10972800" cy="1143000"/>
          </a:xfrm>
        </p:spPr>
        <p:txBody>
          <a:bodyPr/>
          <a:lstStyle/>
          <a:p>
            <a:pPr>
              <a:defRPr/>
            </a:pPr>
            <a:r>
              <a:rPr lang="en-US" altLang="zh-TW" dirty="0"/>
              <a:t>Design by contract</a:t>
            </a:r>
          </a:p>
        </p:txBody>
      </p:sp>
      <p:sp>
        <p:nvSpPr>
          <p:cNvPr id="4" name="日期版面配置區 3">
            <a:extLst>
              <a:ext uri="{FF2B5EF4-FFF2-40B4-BE49-F238E27FC236}">
                <a16:creationId xmlns:a16="http://schemas.microsoft.com/office/drawing/2014/main" id="{8FA66E3B-3F96-F63E-FE96-B670BEA11476}"/>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7B33AFB5-AC65-D14B-91D9-ED85E8FBEF4B}"/>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4DE40299-CD0B-6ECF-830E-BB628CAD9140}"/>
              </a:ext>
            </a:extLst>
          </p:cNvPr>
          <p:cNvSpPr>
            <a:spLocks noGrp="1"/>
          </p:cNvSpPr>
          <p:nvPr>
            <p:ph type="sldNum" sz="quarter" idx="12"/>
          </p:nvPr>
        </p:nvSpPr>
        <p:spPr/>
        <p:txBody>
          <a:bodyPr/>
          <a:lstStyle/>
          <a:p>
            <a:fld id="{7408114E-E8DD-9044-BC35-9779A826010B}" type="slidenum">
              <a:rPr lang="zh-TW" altLang="en-US" smtClean="0"/>
              <a:pPr/>
              <a:t>3</a:t>
            </a:fld>
            <a:endParaRPr lang="zh-TW" altLang="en-US"/>
          </a:p>
        </p:txBody>
      </p:sp>
      <p:sp>
        <p:nvSpPr>
          <p:cNvPr id="3" name="文字方塊 2">
            <a:extLst>
              <a:ext uri="{FF2B5EF4-FFF2-40B4-BE49-F238E27FC236}">
                <a16:creationId xmlns:a16="http://schemas.microsoft.com/office/drawing/2014/main" id="{43FFACC4-6C65-7308-4989-472CB71193EB}"/>
              </a:ext>
            </a:extLst>
          </p:cNvPr>
          <p:cNvSpPr txBox="1"/>
          <p:nvPr/>
        </p:nvSpPr>
        <p:spPr>
          <a:xfrm>
            <a:off x="901074" y="1384739"/>
            <a:ext cx="8647868" cy="2062103"/>
          </a:xfrm>
          <a:prstGeom prst="rect">
            <a:avLst/>
          </a:prstGeom>
          <a:noFill/>
        </p:spPr>
        <p:txBody>
          <a:bodyPr wrap="square" rtlCol="0">
            <a:spAutoFit/>
          </a:bodyPr>
          <a:lstStyle/>
          <a:p>
            <a:pPr algn="just"/>
            <a:r>
              <a:rPr lang="en-US" altLang="zh-TW" sz="3200" dirty="0"/>
              <a:t>Design by Contract, is a software correctness methodology in which software components interact through explicit agreements that define their responsibilities and guarantees.</a:t>
            </a:r>
            <a:endParaRPr lang="zh-TW" altLang="en-US" sz="3200" dirty="0"/>
          </a:p>
        </p:txBody>
      </p:sp>
      <p:pic>
        <p:nvPicPr>
          <p:cNvPr id="1026" name="Picture 2" descr="Bertrand Meyer">
            <a:extLst>
              <a:ext uri="{FF2B5EF4-FFF2-40B4-BE49-F238E27FC236}">
                <a16:creationId xmlns:a16="http://schemas.microsoft.com/office/drawing/2014/main" id="{C3E1C302-56E8-57B1-DF7F-5E91142FA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6360" y="3110204"/>
            <a:ext cx="1954566" cy="2666028"/>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18C80D81-7C70-BD7B-5C49-FEC30B8C1620}"/>
              </a:ext>
            </a:extLst>
          </p:cNvPr>
          <p:cNvSpPr txBox="1"/>
          <p:nvPr/>
        </p:nvSpPr>
        <p:spPr>
          <a:xfrm>
            <a:off x="9336360" y="5877272"/>
            <a:ext cx="1954566" cy="276999"/>
          </a:xfrm>
          <a:prstGeom prst="rect">
            <a:avLst/>
          </a:prstGeom>
          <a:noFill/>
        </p:spPr>
        <p:txBody>
          <a:bodyPr wrap="square" rtlCol="0">
            <a:spAutoFit/>
          </a:bodyPr>
          <a:lstStyle/>
          <a:p>
            <a:pPr algn="ctr"/>
            <a:r>
              <a:rPr lang="en-US" altLang="zh-TW" sz="1200" dirty="0"/>
              <a:t>Bertrand Meyer</a:t>
            </a:r>
            <a:endParaRPr lang="zh-TW" altLang="en-US" sz="1200" dirty="0"/>
          </a:p>
        </p:txBody>
      </p:sp>
      <p:sp>
        <p:nvSpPr>
          <p:cNvPr id="9" name="矩形: 圓角 8">
            <a:extLst>
              <a:ext uri="{FF2B5EF4-FFF2-40B4-BE49-F238E27FC236}">
                <a16:creationId xmlns:a16="http://schemas.microsoft.com/office/drawing/2014/main" id="{3DE343C2-F72B-0560-451F-E24730407890}"/>
              </a:ext>
            </a:extLst>
          </p:cNvPr>
          <p:cNvSpPr/>
          <p:nvPr/>
        </p:nvSpPr>
        <p:spPr>
          <a:xfrm>
            <a:off x="5746636" y="3645263"/>
            <a:ext cx="2160240" cy="5549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Obligations</a:t>
            </a:r>
            <a:endParaRPr lang="zh-TW" altLang="en-US" dirty="0"/>
          </a:p>
        </p:txBody>
      </p:sp>
      <p:pic>
        <p:nvPicPr>
          <p:cNvPr id="11" name="圖片 10">
            <a:extLst>
              <a:ext uri="{FF2B5EF4-FFF2-40B4-BE49-F238E27FC236}">
                <a16:creationId xmlns:a16="http://schemas.microsoft.com/office/drawing/2014/main" id="{F0E64E3D-A281-9B3F-8B49-99B860769C04}"/>
              </a:ext>
            </a:extLst>
          </p:cNvPr>
          <p:cNvPicPr>
            <a:picLocks noChangeAspect="1"/>
          </p:cNvPicPr>
          <p:nvPr/>
        </p:nvPicPr>
        <p:blipFill>
          <a:blip r:embed="rId4"/>
          <a:stretch>
            <a:fillRect/>
          </a:stretch>
        </p:blipFill>
        <p:spPr>
          <a:xfrm>
            <a:off x="4339276" y="4594133"/>
            <a:ext cx="1433216" cy="1433216"/>
          </a:xfrm>
          <a:prstGeom prst="rect">
            <a:avLst/>
          </a:prstGeom>
        </p:spPr>
      </p:pic>
      <p:sp>
        <p:nvSpPr>
          <p:cNvPr id="12" name="矩形: 圓角 11">
            <a:extLst>
              <a:ext uri="{FF2B5EF4-FFF2-40B4-BE49-F238E27FC236}">
                <a16:creationId xmlns:a16="http://schemas.microsoft.com/office/drawing/2014/main" id="{378667F1-E74C-7313-7D93-020F585AAD85}"/>
              </a:ext>
            </a:extLst>
          </p:cNvPr>
          <p:cNvSpPr/>
          <p:nvPr/>
        </p:nvSpPr>
        <p:spPr>
          <a:xfrm>
            <a:off x="2032000" y="3645263"/>
            <a:ext cx="2160240" cy="5549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Benefits</a:t>
            </a:r>
            <a:endParaRPr lang="zh-TW" altLang="en-US" dirty="0"/>
          </a:p>
        </p:txBody>
      </p:sp>
      <p:cxnSp>
        <p:nvCxnSpPr>
          <p:cNvPr id="14" name="接點: 弧形 13">
            <a:extLst>
              <a:ext uri="{FF2B5EF4-FFF2-40B4-BE49-F238E27FC236}">
                <a16:creationId xmlns:a16="http://schemas.microsoft.com/office/drawing/2014/main" id="{14B1D872-E77C-042E-E273-924F1AA4CB65}"/>
              </a:ext>
            </a:extLst>
          </p:cNvPr>
          <p:cNvCxnSpPr>
            <a:stCxn id="9" idx="2"/>
            <a:endCxn id="11" idx="3"/>
          </p:cNvCxnSpPr>
          <p:nvPr/>
        </p:nvCxnSpPr>
        <p:spPr>
          <a:xfrm rot="5400000">
            <a:off x="5744349" y="4228333"/>
            <a:ext cx="1110551" cy="1054264"/>
          </a:xfrm>
          <a:prstGeom prst="curvedConnector2">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接點: 弧形 15">
            <a:extLst>
              <a:ext uri="{FF2B5EF4-FFF2-40B4-BE49-F238E27FC236}">
                <a16:creationId xmlns:a16="http://schemas.microsoft.com/office/drawing/2014/main" id="{7F54869D-09F7-1142-2079-1360FF3DC7BD}"/>
              </a:ext>
            </a:extLst>
          </p:cNvPr>
          <p:cNvCxnSpPr>
            <a:stCxn id="12" idx="2"/>
            <a:endCxn id="11" idx="1"/>
          </p:cNvCxnSpPr>
          <p:nvPr/>
        </p:nvCxnSpPr>
        <p:spPr>
          <a:xfrm rot="16200000" flipH="1">
            <a:off x="3170423" y="4141887"/>
            <a:ext cx="1110551" cy="1227156"/>
          </a:xfrm>
          <a:prstGeom prst="curvedConnector2">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25798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CE5E2-7934-E47D-4B2D-16C15A21A8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F6A2587-E65F-1025-070C-C17069583202}"/>
              </a:ext>
            </a:extLst>
          </p:cNvPr>
          <p:cNvSpPr>
            <a:spLocks noGrp="1"/>
          </p:cNvSpPr>
          <p:nvPr>
            <p:ph type="title"/>
          </p:nvPr>
        </p:nvSpPr>
        <p:spPr>
          <a:xfrm>
            <a:off x="609600" y="260648"/>
            <a:ext cx="10972800" cy="1143000"/>
          </a:xfrm>
        </p:spPr>
        <p:txBody>
          <a:bodyPr/>
          <a:lstStyle/>
          <a:p>
            <a:pPr>
              <a:defRPr/>
            </a:pPr>
            <a:r>
              <a:rPr lang="en-US" altLang="zh-TW" dirty="0"/>
              <a:t>Design by contract</a:t>
            </a:r>
          </a:p>
        </p:txBody>
      </p:sp>
      <p:sp>
        <p:nvSpPr>
          <p:cNvPr id="4" name="日期版面配置區 3">
            <a:extLst>
              <a:ext uri="{FF2B5EF4-FFF2-40B4-BE49-F238E27FC236}">
                <a16:creationId xmlns:a16="http://schemas.microsoft.com/office/drawing/2014/main" id="{2BA5479D-4F94-01CA-3A6A-EF5FFDF6BC0E}"/>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662E2E4D-6396-6E5A-94C2-FB354A939228}"/>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503E21D9-13BC-26D1-6EB8-1878E4418995}"/>
              </a:ext>
            </a:extLst>
          </p:cNvPr>
          <p:cNvSpPr>
            <a:spLocks noGrp="1"/>
          </p:cNvSpPr>
          <p:nvPr>
            <p:ph type="sldNum" sz="quarter" idx="12"/>
          </p:nvPr>
        </p:nvSpPr>
        <p:spPr/>
        <p:txBody>
          <a:bodyPr/>
          <a:lstStyle/>
          <a:p>
            <a:fld id="{7408114E-E8DD-9044-BC35-9779A826010B}" type="slidenum">
              <a:rPr lang="zh-TW" altLang="en-US" smtClean="0"/>
              <a:pPr/>
              <a:t>4</a:t>
            </a:fld>
            <a:endParaRPr lang="zh-TW" altLang="en-US"/>
          </a:p>
        </p:txBody>
      </p:sp>
      <p:graphicFrame>
        <p:nvGraphicFramePr>
          <p:cNvPr id="8" name="表格 7">
            <a:extLst>
              <a:ext uri="{FF2B5EF4-FFF2-40B4-BE49-F238E27FC236}">
                <a16:creationId xmlns:a16="http://schemas.microsoft.com/office/drawing/2014/main" id="{80C7D8B9-BFD5-1997-8376-7B587C0DEB17}"/>
              </a:ext>
            </a:extLst>
          </p:cNvPr>
          <p:cNvGraphicFramePr>
            <a:graphicFrameLocks noGrp="1"/>
          </p:cNvGraphicFramePr>
          <p:nvPr>
            <p:extLst>
              <p:ext uri="{D42A27DB-BD31-4B8C-83A1-F6EECF244321}">
                <p14:modId xmlns:p14="http://schemas.microsoft.com/office/powerpoint/2010/main" val="1860196100"/>
              </p:ext>
            </p:extLst>
          </p:nvPr>
        </p:nvGraphicFramePr>
        <p:xfrm>
          <a:off x="551385" y="1628800"/>
          <a:ext cx="11089230" cy="4176465"/>
        </p:xfrm>
        <a:graphic>
          <a:graphicData uri="http://schemas.openxmlformats.org/drawingml/2006/table">
            <a:tbl>
              <a:tblPr firstRow="1" bandRow="1">
                <a:tableStyleId>{5C22544A-7EE6-4342-B048-85BDC9FD1C3A}</a:tableStyleId>
              </a:tblPr>
              <a:tblGrid>
                <a:gridCol w="3696410">
                  <a:extLst>
                    <a:ext uri="{9D8B030D-6E8A-4147-A177-3AD203B41FA5}">
                      <a16:colId xmlns:a16="http://schemas.microsoft.com/office/drawing/2014/main" val="3094153059"/>
                    </a:ext>
                  </a:extLst>
                </a:gridCol>
                <a:gridCol w="3696410">
                  <a:extLst>
                    <a:ext uri="{9D8B030D-6E8A-4147-A177-3AD203B41FA5}">
                      <a16:colId xmlns:a16="http://schemas.microsoft.com/office/drawing/2014/main" val="4256579700"/>
                    </a:ext>
                  </a:extLst>
                </a:gridCol>
                <a:gridCol w="3696410">
                  <a:extLst>
                    <a:ext uri="{9D8B030D-6E8A-4147-A177-3AD203B41FA5}">
                      <a16:colId xmlns:a16="http://schemas.microsoft.com/office/drawing/2014/main" val="3450159768"/>
                    </a:ext>
                  </a:extLst>
                </a:gridCol>
              </a:tblGrid>
              <a:tr h="1334990">
                <a:tc>
                  <a:txBody>
                    <a:bodyPr/>
                    <a:lstStyle/>
                    <a:p>
                      <a:pPr algn="ctr"/>
                      <a:endParaRPr lang="en-US" altLang="zh-TW" dirty="0"/>
                    </a:p>
                    <a:p>
                      <a:pPr algn="ctr"/>
                      <a:r>
                        <a:rPr lang="en-US" altLang="zh-TW" dirty="0"/>
                        <a:t>Party</a:t>
                      </a:r>
                      <a:endParaRPr lang="zh-TW" altLang="en-US" dirty="0"/>
                    </a:p>
                  </a:txBody>
                  <a:tcPr/>
                </a:tc>
                <a:tc>
                  <a:txBody>
                    <a:bodyPr/>
                    <a:lstStyle/>
                    <a:p>
                      <a:pPr algn="ctr"/>
                      <a:endParaRPr lang="en-US" altLang="zh-TW" dirty="0"/>
                    </a:p>
                    <a:p>
                      <a:pPr algn="ctr"/>
                      <a:r>
                        <a:rPr lang="en-US" altLang="zh-TW" dirty="0"/>
                        <a:t>Obligations</a:t>
                      </a:r>
                      <a:endParaRPr lang="zh-TW" altLang="en-US" dirty="0"/>
                    </a:p>
                  </a:txBody>
                  <a:tcPr/>
                </a:tc>
                <a:tc>
                  <a:txBody>
                    <a:bodyPr/>
                    <a:lstStyle/>
                    <a:p>
                      <a:pPr algn="ctr"/>
                      <a:endParaRPr lang="en-US" altLang="zh-TW" dirty="0"/>
                    </a:p>
                    <a:p>
                      <a:pPr algn="ctr"/>
                      <a:r>
                        <a:rPr lang="en-US" altLang="zh-TW" dirty="0"/>
                        <a:t>Benefits</a:t>
                      </a:r>
                      <a:endParaRPr lang="zh-TW" altLang="en-US" dirty="0"/>
                    </a:p>
                  </a:txBody>
                  <a:tcPr/>
                </a:tc>
                <a:extLst>
                  <a:ext uri="{0D108BD9-81ED-4DB2-BD59-A6C34878D82A}">
                    <a16:rowId xmlns:a16="http://schemas.microsoft.com/office/drawing/2014/main" val="1969624614"/>
                  </a:ext>
                </a:extLst>
              </a:tr>
              <a:tr h="1578493">
                <a:tc>
                  <a:txBody>
                    <a:bodyPr/>
                    <a:lstStyle/>
                    <a:p>
                      <a:pPr algn="ctr"/>
                      <a:endParaRPr lang="en-US" altLang="zh-TW" dirty="0"/>
                    </a:p>
                    <a:p>
                      <a:pPr algn="ctr"/>
                      <a:endParaRPr lang="en-US" altLang="zh-TW" dirty="0"/>
                    </a:p>
                    <a:p>
                      <a:pPr algn="ctr"/>
                      <a:r>
                        <a:rPr lang="en-US" altLang="zh-TW" dirty="0"/>
                        <a:t>Client</a:t>
                      </a:r>
                      <a:endParaRPr lang="zh-TW" altLang="en-US" dirty="0"/>
                    </a:p>
                  </a:txBody>
                  <a:tcPr/>
                </a:tc>
                <a:tc>
                  <a:txBody>
                    <a:bodyPr/>
                    <a:lstStyle/>
                    <a:p>
                      <a:pPr algn="just"/>
                      <a:r>
                        <a:rPr lang="en-US" altLang="zh-TW" dirty="0"/>
                        <a:t>Provide letter or package of no more than 5 kgs. each dimension no more than 2 meters. </a:t>
                      </a:r>
                    </a:p>
                    <a:p>
                      <a:pPr algn="just"/>
                      <a:r>
                        <a:rPr lang="en-US" altLang="zh-TW" dirty="0"/>
                        <a:t>Pay 200 NTD. </a:t>
                      </a:r>
                      <a:endParaRPr lang="zh-TW" altLang="en-US" dirty="0"/>
                    </a:p>
                  </a:txBody>
                  <a:tcPr/>
                </a:tc>
                <a:tc>
                  <a:txBody>
                    <a:bodyPr/>
                    <a:lstStyle/>
                    <a:p>
                      <a:pPr algn="just"/>
                      <a:r>
                        <a:rPr lang="en-US" altLang="zh-TW" dirty="0"/>
                        <a:t>Get package delivered to recipient in 5 hours or less. </a:t>
                      </a:r>
                      <a:endParaRPr lang="zh-TW" altLang="en-US" dirty="0"/>
                    </a:p>
                  </a:txBody>
                  <a:tcPr/>
                </a:tc>
                <a:extLst>
                  <a:ext uri="{0D108BD9-81ED-4DB2-BD59-A6C34878D82A}">
                    <a16:rowId xmlns:a16="http://schemas.microsoft.com/office/drawing/2014/main" val="2090202875"/>
                  </a:ext>
                </a:extLst>
              </a:tr>
              <a:tr h="1262982">
                <a:tc>
                  <a:txBody>
                    <a:bodyPr/>
                    <a:lstStyle/>
                    <a:p>
                      <a:pPr algn="ctr"/>
                      <a:endParaRPr lang="en-US" altLang="zh-TW" dirty="0"/>
                    </a:p>
                    <a:p>
                      <a:pPr algn="ctr"/>
                      <a:r>
                        <a:rPr lang="en-US" altLang="zh-TW" dirty="0"/>
                        <a:t>Supplier</a:t>
                      </a:r>
                      <a:endParaRPr lang="zh-TW" altLang="en-US" dirty="0"/>
                    </a:p>
                  </a:txBody>
                  <a:tcPr/>
                </a:tc>
                <a:tc>
                  <a:txBody>
                    <a:bodyPr/>
                    <a:lstStyle/>
                    <a:p>
                      <a:pPr algn="just"/>
                      <a:r>
                        <a:rPr lang="en-US" altLang="zh-TW" dirty="0"/>
                        <a:t>Deliver package to recipient in 5 hours or less. </a:t>
                      </a:r>
                      <a:endParaRPr lang="zh-TW" altLang="en-US" dirty="0"/>
                    </a:p>
                  </a:txBody>
                  <a:tcPr/>
                </a:tc>
                <a:tc>
                  <a:txBody>
                    <a:bodyPr/>
                    <a:lstStyle/>
                    <a:p>
                      <a:pPr algn="just"/>
                      <a:r>
                        <a:rPr lang="en-US" altLang="zh-TW" dirty="0"/>
                        <a:t>No need to deal with deliveries too big, too heavy, or unpaid. </a:t>
                      </a:r>
                      <a:endParaRPr lang="zh-TW" altLang="en-US" dirty="0"/>
                    </a:p>
                  </a:txBody>
                  <a:tcPr/>
                </a:tc>
                <a:extLst>
                  <a:ext uri="{0D108BD9-81ED-4DB2-BD59-A6C34878D82A}">
                    <a16:rowId xmlns:a16="http://schemas.microsoft.com/office/drawing/2014/main" val="658154976"/>
                  </a:ext>
                </a:extLst>
              </a:tr>
            </a:tbl>
          </a:graphicData>
        </a:graphic>
      </p:graphicFrame>
    </p:spTree>
    <p:extLst>
      <p:ext uri="{BB962C8B-B14F-4D97-AF65-F5344CB8AC3E}">
        <p14:creationId xmlns:p14="http://schemas.microsoft.com/office/powerpoint/2010/main" val="1698964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EBCC-E5EC-DCA2-9044-B12B009931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6D20276-F25B-0F31-0EC3-123A01385DB9}"/>
              </a:ext>
            </a:extLst>
          </p:cNvPr>
          <p:cNvSpPr>
            <a:spLocks noGrp="1"/>
          </p:cNvSpPr>
          <p:nvPr>
            <p:ph type="title"/>
          </p:nvPr>
        </p:nvSpPr>
        <p:spPr>
          <a:xfrm>
            <a:off x="609600" y="260648"/>
            <a:ext cx="10972800" cy="1143000"/>
          </a:xfrm>
        </p:spPr>
        <p:txBody>
          <a:bodyPr/>
          <a:lstStyle/>
          <a:p>
            <a:pPr>
              <a:defRPr/>
            </a:pPr>
            <a:r>
              <a:rPr lang="en-US" altLang="zh-TW" dirty="0"/>
              <a:t>The Three Pillars</a:t>
            </a:r>
          </a:p>
        </p:txBody>
      </p:sp>
      <p:sp>
        <p:nvSpPr>
          <p:cNvPr id="4" name="日期版面配置區 3">
            <a:extLst>
              <a:ext uri="{FF2B5EF4-FFF2-40B4-BE49-F238E27FC236}">
                <a16:creationId xmlns:a16="http://schemas.microsoft.com/office/drawing/2014/main" id="{9F973DCC-1776-A871-10CD-6733D434330E}"/>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ED2A1B0D-162D-3133-472A-0DE1BA745F52}"/>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8F1308DC-A360-68A8-CE69-AA22EDB98A26}"/>
              </a:ext>
            </a:extLst>
          </p:cNvPr>
          <p:cNvSpPr>
            <a:spLocks noGrp="1"/>
          </p:cNvSpPr>
          <p:nvPr>
            <p:ph type="sldNum" sz="quarter" idx="12"/>
          </p:nvPr>
        </p:nvSpPr>
        <p:spPr/>
        <p:txBody>
          <a:bodyPr/>
          <a:lstStyle/>
          <a:p>
            <a:fld id="{7408114E-E8DD-9044-BC35-9779A826010B}" type="slidenum">
              <a:rPr lang="zh-TW" altLang="en-US" smtClean="0"/>
              <a:pPr/>
              <a:t>5</a:t>
            </a:fld>
            <a:endParaRPr lang="zh-TW" altLang="en-US"/>
          </a:p>
        </p:txBody>
      </p:sp>
      <p:sp>
        <p:nvSpPr>
          <p:cNvPr id="11" name="Rectangle 4">
            <a:extLst>
              <a:ext uri="{FF2B5EF4-FFF2-40B4-BE49-F238E27FC236}">
                <a16:creationId xmlns:a16="http://schemas.microsoft.com/office/drawing/2014/main" id="{962E44CD-CDF8-7832-DD76-3F0536956F5D}"/>
              </a:ext>
            </a:extLst>
          </p:cNvPr>
          <p:cNvSpPr>
            <a:spLocks noChangeArrowheads="1"/>
          </p:cNvSpPr>
          <p:nvPr/>
        </p:nvSpPr>
        <p:spPr bwMode="auto">
          <a:xfrm rot="10800000" flipV="1">
            <a:off x="226123" y="1988840"/>
            <a:ext cx="825624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TW" altLang="zh-TW" sz="2500" b="1" i="0" u="none" strike="noStrike" cap="none" normalizeH="0" baseline="0" dirty="0">
                <a:ln>
                  <a:noFill/>
                </a:ln>
                <a:solidFill>
                  <a:schemeClr val="tx1"/>
                </a:solidFill>
                <a:effectLst/>
                <a:latin typeface="Arial" panose="020B0604020202020204" pitchFamily="34" charset="0"/>
              </a:rPr>
              <a:t>Preconditions</a:t>
            </a:r>
            <a:br>
              <a:rPr kumimoji="0" lang="zh-TW" altLang="zh-TW" sz="2500" b="0" i="0" u="none" strike="noStrike" cap="none" normalizeH="0" baseline="0" dirty="0">
                <a:ln>
                  <a:noFill/>
                </a:ln>
                <a:solidFill>
                  <a:schemeClr val="tx1"/>
                </a:solidFill>
                <a:effectLst/>
                <a:latin typeface="Arial" panose="020B0604020202020204" pitchFamily="34" charset="0"/>
              </a:rPr>
            </a:br>
            <a:r>
              <a:rPr kumimoji="0" lang="zh-TW" altLang="zh-TW" sz="2500" b="0" i="0" u="none" strike="noStrike" cap="none" normalizeH="0" baseline="0" dirty="0">
                <a:ln>
                  <a:noFill/>
                </a:ln>
                <a:solidFill>
                  <a:schemeClr val="tx1"/>
                </a:solidFill>
                <a:effectLst/>
                <a:latin typeface="Arial" panose="020B0604020202020204" pitchFamily="34" charset="0"/>
              </a:rPr>
              <a:t>Conditions that must be true </a:t>
            </a:r>
            <a:r>
              <a:rPr kumimoji="0" lang="zh-TW" altLang="zh-TW" sz="2500" b="1" i="0" u="none" strike="noStrike" cap="none" normalizeH="0" baseline="0" dirty="0">
                <a:ln>
                  <a:noFill/>
                </a:ln>
                <a:solidFill>
                  <a:schemeClr val="tx1"/>
                </a:solidFill>
                <a:effectLst/>
                <a:latin typeface="Arial" panose="020B0604020202020204" pitchFamily="34" charset="0"/>
              </a:rPr>
              <a:t>before</a:t>
            </a:r>
            <a:r>
              <a:rPr kumimoji="0" lang="zh-TW" altLang="zh-TW" sz="2500" b="0" i="0" u="none" strike="noStrike" cap="none" normalizeH="0" baseline="0" dirty="0">
                <a:ln>
                  <a:noFill/>
                </a:ln>
                <a:solidFill>
                  <a:schemeClr val="tx1"/>
                </a:solidFill>
                <a:effectLst/>
                <a:latin typeface="Arial" panose="020B0604020202020204" pitchFamily="34" charset="0"/>
              </a:rPr>
              <a:t> a method is executed. </a:t>
            </a:r>
            <a:endParaRPr kumimoji="0" lang="en-US" altLang="zh-TW"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TW" altLang="zh-TW" sz="2500" b="1" i="0" u="none" strike="noStrike" cap="none" normalizeH="0" baseline="0" dirty="0">
                <a:ln>
                  <a:noFill/>
                </a:ln>
                <a:solidFill>
                  <a:schemeClr val="tx1"/>
                </a:solidFill>
                <a:effectLst/>
                <a:latin typeface="Arial" panose="020B0604020202020204" pitchFamily="34" charset="0"/>
              </a:rPr>
              <a:t>Postconditions</a:t>
            </a:r>
            <a:br>
              <a:rPr kumimoji="0" lang="zh-TW" altLang="zh-TW" sz="2500" b="0" i="0" u="none" strike="noStrike" cap="none" normalizeH="0" baseline="0" dirty="0">
                <a:ln>
                  <a:noFill/>
                </a:ln>
                <a:solidFill>
                  <a:schemeClr val="tx1"/>
                </a:solidFill>
                <a:effectLst/>
                <a:latin typeface="Arial" panose="020B0604020202020204" pitchFamily="34" charset="0"/>
              </a:rPr>
            </a:br>
            <a:r>
              <a:rPr kumimoji="0" lang="zh-TW" altLang="zh-TW" sz="2500" b="0" i="0" u="none" strike="noStrike" cap="none" normalizeH="0" baseline="0" dirty="0">
                <a:ln>
                  <a:noFill/>
                </a:ln>
                <a:solidFill>
                  <a:schemeClr val="tx1"/>
                </a:solidFill>
                <a:effectLst/>
                <a:latin typeface="Arial" panose="020B0604020202020204" pitchFamily="34" charset="0"/>
              </a:rPr>
              <a:t>Conditions that are guaranteed to be true </a:t>
            </a:r>
            <a:r>
              <a:rPr kumimoji="0" lang="zh-TW" altLang="zh-TW" sz="2500" b="1" i="0" u="none" strike="noStrike" cap="none" normalizeH="0" baseline="0" dirty="0">
                <a:ln>
                  <a:noFill/>
                </a:ln>
                <a:solidFill>
                  <a:schemeClr val="tx1"/>
                </a:solidFill>
                <a:effectLst/>
                <a:latin typeface="Arial" panose="020B0604020202020204" pitchFamily="34" charset="0"/>
              </a:rPr>
              <a:t>after</a:t>
            </a:r>
            <a:r>
              <a:rPr kumimoji="0" lang="zh-TW" altLang="zh-TW" sz="2500" b="0" i="0" u="none" strike="noStrike" cap="none" normalizeH="0" baseline="0" dirty="0">
                <a:ln>
                  <a:noFill/>
                </a:ln>
                <a:solidFill>
                  <a:schemeClr val="tx1"/>
                </a:solidFill>
                <a:effectLst/>
                <a:latin typeface="Arial" panose="020B0604020202020204" pitchFamily="34" charset="0"/>
              </a:rPr>
              <a:t> the method finishes. </a:t>
            </a:r>
            <a:endParaRPr kumimoji="0" lang="en-US" altLang="zh-TW"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TW" altLang="zh-TW" sz="2500" b="1" i="0" u="none" strike="noStrike" cap="none" normalizeH="0" baseline="0" dirty="0">
                <a:ln>
                  <a:noFill/>
                </a:ln>
                <a:solidFill>
                  <a:schemeClr val="tx1"/>
                </a:solidFill>
                <a:effectLst/>
                <a:latin typeface="Arial" panose="020B0604020202020204" pitchFamily="34" charset="0"/>
              </a:rPr>
              <a:t>Invariants</a:t>
            </a:r>
            <a:br>
              <a:rPr kumimoji="0" lang="zh-TW" altLang="zh-TW" sz="2500" b="0" i="0" u="none" strike="noStrike" cap="none" normalizeH="0" baseline="0" dirty="0">
                <a:ln>
                  <a:noFill/>
                </a:ln>
                <a:solidFill>
                  <a:schemeClr val="tx1"/>
                </a:solidFill>
                <a:effectLst/>
                <a:latin typeface="Arial" panose="020B0604020202020204" pitchFamily="34" charset="0"/>
              </a:rPr>
            </a:br>
            <a:r>
              <a:rPr kumimoji="0" lang="zh-TW" altLang="zh-TW" sz="2500" b="0" i="0" u="none" strike="noStrike" cap="none" normalizeH="0" baseline="0" dirty="0">
                <a:ln>
                  <a:noFill/>
                </a:ln>
                <a:solidFill>
                  <a:schemeClr val="tx1"/>
                </a:solidFill>
                <a:effectLst/>
                <a:latin typeface="Arial" panose="020B0604020202020204" pitchFamily="34" charset="0"/>
              </a:rPr>
              <a:t>Conditions that must </a:t>
            </a:r>
            <a:r>
              <a:rPr kumimoji="0" lang="zh-TW" altLang="zh-TW" sz="2500" b="1" i="0" u="none" strike="noStrike" cap="none" normalizeH="0" baseline="0" dirty="0">
                <a:ln>
                  <a:noFill/>
                </a:ln>
                <a:solidFill>
                  <a:schemeClr val="tx1"/>
                </a:solidFill>
                <a:effectLst/>
                <a:latin typeface="Arial" panose="020B0604020202020204" pitchFamily="34" charset="0"/>
              </a:rPr>
              <a:t>always hold true</a:t>
            </a:r>
            <a:r>
              <a:rPr kumimoji="0" lang="zh-TW" altLang="zh-TW" sz="2500" b="0" i="0" u="none" strike="noStrike" cap="none" normalizeH="0" baseline="0" dirty="0">
                <a:ln>
                  <a:noFill/>
                </a:ln>
                <a:solidFill>
                  <a:schemeClr val="tx1"/>
                </a:solidFill>
                <a:effectLst/>
                <a:latin typeface="Arial" panose="020B0604020202020204" pitchFamily="34" charset="0"/>
              </a:rPr>
              <a:t> during the </a:t>
            </a:r>
            <a:endParaRPr kumimoji="0" lang="en-US" altLang="zh-TW"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TW" altLang="zh-TW" sz="2500" b="0" i="0" u="none" strike="noStrike" cap="none" normalizeH="0" baseline="0" dirty="0">
                <a:ln>
                  <a:noFill/>
                </a:ln>
                <a:solidFill>
                  <a:schemeClr val="tx1"/>
                </a:solidFill>
                <a:effectLst/>
                <a:latin typeface="Arial" panose="020B0604020202020204" pitchFamily="34" charset="0"/>
              </a:rPr>
              <a:t>lifetime of an object.</a:t>
            </a:r>
          </a:p>
        </p:txBody>
      </p:sp>
      <p:pic>
        <p:nvPicPr>
          <p:cNvPr id="7" name="圖片 6">
            <a:extLst>
              <a:ext uri="{FF2B5EF4-FFF2-40B4-BE49-F238E27FC236}">
                <a16:creationId xmlns:a16="http://schemas.microsoft.com/office/drawing/2014/main" id="{392334E9-DB2E-64AF-A7A3-9715F9261BFF}"/>
              </a:ext>
            </a:extLst>
          </p:cNvPr>
          <p:cNvPicPr>
            <a:picLocks noChangeAspect="1"/>
          </p:cNvPicPr>
          <p:nvPr/>
        </p:nvPicPr>
        <p:blipFill>
          <a:blip r:embed="rId3"/>
          <a:stretch>
            <a:fillRect/>
          </a:stretch>
        </p:blipFill>
        <p:spPr>
          <a:xfrm>
            <a:off x="7667578" y="1314340"/>
            <a:ext cx="3540989" cy="5468768"/>
          </a:xfrm>
          <a:prstGeom prst="rect">
            <a:avLst/>
          </a:prstGeom>
        </p:spPr>
      </p:pic>
    </p:spTree>
    <p:extLst>
      <p:ext uri="{BB962C8B-B14F-4D97-AF65-F5344CB8AC3E}">
        <p14:creationId xmlns:p14="http://schemas.microsoft.com/office/powerpoint/2010/main" val="2459460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BAD6-8BAE-8ED5-62C1-BD25162320F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D4C6B32-450E-420C-1DB9-1140AFA0BE3A}"/>
              </a:ext>
            </a:extLst>
          </p:cNvPr>
          <p:cNvSpPr>
            <a:spLocks noGrp="1"/>
          </p:cNvSpPr>
          <p:nvPr>
            <p:ph type="title"/>
          </p:nvPr>
        </p:nvSpPr>
        <p:spPr>
          <a:xfrm>
            <a:off x="609600" y="260648"/>
            <a:ext cx="10972800" cy="1143000"/>
          </a:xfrm>
        </p:spPr>
        <p:txBody>
          <a:bodyPr/>
          <a:lstStyle/>
          <a:p>
            <a:pPr>
              <a:defRPr/>
            </a:pPr>
            <a:r>
              <a:rPr lang="en-US" altLang="zh-TW" dirty="0"/>
              <a:t>Meet </a:t>
            </a:r>
            <a:r>
              <a:rPr lang="en-US" altLang="zh-TW" dirty="0" err="1"/>
              <a:t>uContract</a:t>
            </a:r>
            <a:endParaRPr lang="en-US" altLang="zh-TW" dirty="0"/>
          </a:p>
        </p:txBody>
      </p:sp>
      <p:sp>
        <p:nvSpPr>
          <p:cNvPr id="4" name="日期版面配置區 3">
            <a:extLst>
              <a:ext uri="{FF2B5EF4-FFF2-40B4-BE49-F238E27FC236}">
                <a16:creationId xmlns:a16="http://schemas.microsoft.com/office/drawing/2014/main" id="{1C150AA5-62BB-3ABF-BA74-3A504A04EDF2}"/>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73223F52-6DA1-7EF0-6735-F4D244179655}"/>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00756AFE-7D9B-DFFF-7C13-6A7E5B6CD60E}"/>
              </a:ext>
            </a:extLst>
          </p:cNvPr>
          <p:cNvSpPr>
            <a:spLocks noGrp="1"/>
          </p:cNvSpPr>
          <p:nvPr>
            <p:ph type="sldNum" sz="quarter" idx="12"/>
          </p:nvPr>
        </p:nvSpPr>
        <p:spPr/>
        <p:txBody>
          <a:bodyPr/>
          <a:lstStyle/>
          <a:p>
            <a:fld id="{7408114E-E8DD-9044-BC35-9779A826010B}" type="slidenum">
              <a:rPr lang="zh-TW" altLang="en-US" smtClean="0"/>
              <a:pPr/>
              <a:t>6</a:t>
            </a:fld>
            <a:endParaRPr lang="zh-TW" altLang="en-US"/>
          </a:p>
        </p:txBody>
      </p:sp>
      <p:sp>
        <p:nvSpPr>
          <p:cNvPr id="13" name="文字方塊 12">
            <a:extLst>
              <a:ext uri="{FF2B5EF4-FFF2-40B4-BE49-F238E27FC236}">
                <a16:creationId xmlns:a16="http://schemas.microsoft.com/office/drawing/2014/main" id="{16F03503-50D9-1E35-B9B5-BD9446A646CA}"/>
              </a:ext>
            </a:extLst>
          </p:cNvPr>
          <p:cNvSpPr txBox="1"/>
          <p:nvPr/>
        </p:nvSpPr>
        <p:spPr>
          <a:xfrm>
            <a:off x="789596" y="1844824"/>
            <a:ext cx="10441160" cy="3554819"/>
          </a:xfrm>
          <a:prstGeom prst="rect">
            <a:avLst/>
          </a:prstGeom>
          <a:noFill/>
        </p:spPr>
        <p:txBody>
          <a:bodyPr wrap="square" rtlCol="0">
            <a:spAutoFit/>
          </a:bodyPr>
          <a:lstStyle/>
          <a:p>
            <a:r>
              <a:rPr lang="en-US" altLang="zh-TW" sz="2500" b="1" dirty="0" err="1"/>
              <a:t>uContract</a:t>
            </a:r>
            <a:r>
              <a:rPr lang="en-US" altLang="zh-TW" sz="2500" dirty="0"/>
              <a:t> is a </a:t>
            </a:r>
            <a:r>
              <a:rPr lang="en-US" altLang="zh-TW" sz="2500" b="1" dirty="0"/>
              <a:t>Design By Contract (DBC) </a:t>
            </a:r>
            <a:r>
              <a:rPr lang="en-US" altLang="zh-TW" sz="2500" dirty="0"/>
              <a:t>tool implemented in Java. It is designed for writing contracts for event sourced aggregate roots in Domain-Driven Design (DDD). For implementing event sourced aggregate roots.</a:t>
            </a:r>
          </a:p>
          <a:p>
            <a:endParaRPr lang="en-US" altLang="zh-TW" sz="2500" dirty="0"/>
          </a:p>
          <a:p>
            <a:r>
              <a:rPr lang="en-US" altLang="zh-TW" sz="2500" dirty="0"/>
              <a:t>The preconditions are written before applying domain event, and the postconditions are written after applying domain event. The aggregate invariants are checked in the apply method of event sourced aggregate, as </a:t>
            </a:r>
            <a:r>
              <a:rPr lang="en-US" altLang="zh-TW" sz="2500" dirty="0" err="1"/>
              <a:t>EsAggregateRoot</a:t>
            </a:r>
            <a:r>
              <a:rPr lang="en-US" altLang="zh-TW" sz="2500" dirty="0"/>
              <a:t>. </a:t>
            </a:r>
            <a:endParaRPr lang="zh-TW" altLang="en-US" sz="2500" dirty="0"/>
          </a:p>
        </p:txBody>
      </p:sp>
    </p:spTree>
    <p:extLst>
      <p:ext uri="{BB962C8B-B14F-4D97-AF65-F5344CB8AC3E}">
        <p14:creationId xmlns:p14="http://schemas.microsoft.com/office/powerpoint/2010/main" val="1460798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82610-A448-3029-D42B-EB49B3A17F6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C3176D9-DB66-B165-BEB3-A229DACEAC7B}"/>
              </a:ext>
            </a:extLst>
          </p:cNvPr>
          <p:cNvSpPr>
            <a:spLocks noGrp="1"/>
          </p:cNvSpPr>
          <p:nvPr>
            <p:ph type="title"/>
          </p:nvPr>
        </p:nvSpPr>
        <p:spPr>
          <a:xfrm>
            <a:off x="609600" y="260648"/>
            <a:ext cx="10972800" cy="1143000"/>
          </a:xfrm>
        </p:spPr>
        <p:txBody>
          <a:bodyPr/>
          <a:lstStyle/>
          <a:p>
            <a:pPr>
              <a:defRPr/>
            </a:pPr>
            <a:r>
              <a:rPr lang="en-US" altLang="zh-TW" dirty="0"/>
              <a:t>Meet </a:t>
            </a:r>
            <a:r>
              <a:rPr lang="en-US" altLang="zh-TW" dirty="0" err="1"/>
              <a:t>uContract</a:t>
            </a:r>
            <a:endParaRPr lang="en-US" altLang="zh-TW" dirty="0"/>
          </a:p>
        </p:txBody>
      </p:sp>
      <p:sp>
        <p:nvSpPr>
          <p:cNvPr id="4" name="日期版面配置區 3">
            <a:extLst>
              <a:ext uri="{FF2B5EF4-FFF2-40B4-BE49-F238E27FC236}">
                <a16:creationId xmlns:a16="http://schemas.microsoft.com/office/drawing/2014/main" id="{DA00E60A-C3BC-3AFC-8B39-DA7FDBDE4A08}"/>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1D8C48B1-84A6-1B78-3BA0-51834A34992D}"/>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0E3F63B3-E984-1F94-367D-C49371EB6B6D}"/>
              </a:ext>
            </a:extLst>
          </p:cNvPr>
          <p:cNvSpPr>
            <a:spLocks noGrp="1"/>
          </p:cNvSpPr>
          <p:nvPr>
            <p:ph type="sldNum" sz="quarter" idx="12"/>
          </p:nvPr>
        </p:nvSpPr>
        <p:spPr/>
        <p:txBody>
          <a:bodyPr/>
          <a:lstStyle/>
          <a:p>
            <a:fld id="{7408114E-E8DD-9044-BC35-9779A826010B}" type="slidenum">
              <a:rPr lang="zh-TW" altLang="en-US" smtClean="0"/>
              <a:pPr/>
              <a:t>7</a:t>
            </a:fld>
            <a:endParaRPr lang="zh-TW" altLang="en-US"/>
          </a:p>
        </p:txBody>
      </p:sp>
      <p:pic>
        <p:nvPicPr>
          <p:cNvPr id="12" name="圖片 11">
            <a:extLst>
              <a:ext uri="{FF2B5EF4-FFF2-40B4-BE49-F238E27FC236}">
                <a16:creationId xmlns:a16="http://schemas.microsoft.com/office/drawing/2014/main" id="{71B81839-44B9-3C68-5A07-3AD29C52F348}"/>
              </a:ext>
            </a:extLst>
          </p:cNvPr>
          <p:cNvPicPr>
            <a:picLocks noChangeAspect="1"/>
          </p:cNvPicPr>
          <p:nvPr/>
        </p:nvPicPr>
        <p:blipFill>
          <a:blip r:embed="rId3"/>
          <a:stretch>
            <a:fillRect/>
          </a:stretch>
        </p:blipFill>
        <p:spPr>
          <a:xfrm>
            <a:off x="438348" y="1844824"/>
            <a:ext cx="11315304" cy="4176464"/>
          </a:xfrm>
          <a:prstGeom prst="rect">
            <a:avLst/>
          </a:prstGeom>
        </p:spPr>
      </p:pic>
    </p:spTree>
    <p:extLst>
      <p:ext uri="{BB962C8B-B14F-4D97-AF65-F5344CB8AC3E}">
        <p14:creationId xmlns:p14="http://schemas.microsoft.com/office/powerpoint/2010/main" val="2511018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05F6-F303-919C-F5B1-1B348E4E773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7633FE2-10C9-4B06-4CD2-D5DB8182CD4C}"/>
              </a:ext>
            </a:extLst>
          </p:cNvPr>
          <p:cNvSpPr>
            <a:spLocks noGrp="1"/>
          </p:cNvSpPr>
          <p:nvPr>
            <p:ph type="title"/>
          </p:nvPr>
        </p:nvSpPr>
        <p:spPr>
          <a:xfrm>
            <a:off x="609600" y="260648"/>
            <a:ext cx="10972800" cy="1143000"/>
          </a:xfrm>
        </p:spPr>
        <p:txBody>
          <a:bodyPr/>
          <a:lstStyle/>
          <a:p>
            <a:pPr>
              <a:defRPr/>
            </a:pPr>
            <a:r>
              <a:rPr lang="en-US" altLang="zh-TW" dirty="0"/>
              <a:t>Meet </a:t>
            </a:r>
            <a:r>
              <a:rPr lang="en-US" altLang="zh-TW" dirty="0" err="1"/>
              <a:t>uContract</a:t>
            </a:r>
            <a:endParaRPr lang="en-US" altLang="zh-TW" dirty="0"/>
          </a:p>
        </p:txBody>
      </p:sp>
      <p:sp>
        <p:nvSpPr>
          <p:cNvPr id="4" name="日期版面配置區 3">
            <a:extLst>
              <a:ext uri="{FF2B5EF4-FFF2-40B4-BE49-F238E27FC236}">
                <a16:creationId xmlns:a16="http://schemas.microsoft.com/office/drawing/2014/main" id="{32AB752F-5BB2-D945-DFC1-0D718ED3CFCB}"/>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E1EF402A-C4C8-BC90-9010-718195F9B329}"/>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5B71DC85-9103-DE07-B440-992F89C9A1E0}"/>
              </a:ext>
            </a:extLst>
          </p:cNvPr>
          <p:cNvSpPr>
            <a:spLocks noGrp="1"/>
          </p:cNvSpPr>
          <p:nvPr>
            <p:ph type="sldNum" sz="quarter" idx="12"/>
          </p:nvPr>
        </p:nvSpPr>
        <p:spPr/>
        <p:txBody>
          <a:bodyPr/>
          <a:lstStyle/>
          <a:p>
            <a:fld id="{7408114E-E8DD-9044-BC35-9779A826010B}" type="slidenum">
              <a:rPr lang="zh-TW" altLang="en-US" smtClean="0"/>
              <a:pPr/>
              <a:t>8</a:t>
            </a:fld>
            <a:endParaRPr lang="zh-TW" altLang="en-US"/>
          </a:p>
        </p:txBody>
      </p:sp>
      <p:pic>
        <p:nvPicPr>
          <p:cNvPr id="7" name="圖片 6">
            <a:extLst>
              <a:ext uri="{FF2B5EF4-FFF2-40B4-BE49-F238E27FC236}">
                <a16:creationId xmlns:a16="http://schemas.microsoft.com/office/drawing/2014/main" id="{2D54D391-3C5F-8CE7-9EDA-1480DB4BCC53}"/>
              </a:ext>
            </a:extLst>
          </p:cNvPr>
          <p:cNvPicPr>
            <a:picLocks noChangeAspect="1"/>
          </p:cNvPicPr>
          <p:nvPr/>
        </p:nvPicPr>
        <p:blipFill>
          <a:blip r:embed="rId3"/>
          <a:stretch>
            <a:fillRect/>
          </a:stretch>
        </p:blipFill>
        <p:spPr>
          <a:xfrm>
            <a:off x="387676" y="1988840"/>
            <a:ext cx="11416647" cy="3754172"/>
          </a:xfrm>
          <a:prstGeom prst="rect">
            <a:avLst/>
          </a:prstGeom>
        </p:spPr>
      </p:pic>
    </p:spTree>
    <p:extLst>
      <p:ext uri="{BB962C8B-B14F-4D97-AF65-F5344CB8AC3E}">
        <p14:creationId xmlns:p14="http://schemas.microsoft.com/office/powerpoint/2010/main" val="3266795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BFC5F-2A52-8F18-A6C7-B69DAC7746A5}"/>
            </a:ext>
          </a:extLst>
        </p:cNvPr>
        <p:cNvGrpSpPr/>
        <p:nvPr/>
      </p:nvGrpSpPr>
      <p:grpSpPr>
        <a:xfrm>
          <a:off x="0" y="0"/>
          <a:ext cx="0" cy="0"/>
          <a:chOff x="0" y="0"/>
          <a:chExt cx="0" cy="0"/>
        </a:xfrm>
      </p:grpSpPr>
      <p:pic>
        <p:nvPicPr>
          <p:cNvPr id="7" name="圖片 6">
            <a:extLst>
              <a:ext uri="{FF2B5EF4-FFF2-40B4-BE49-F238E27FC236}">
                <a16:creationId xmlns:a16="http://schemas.microsoft.com/office/drawing/2014/main" id="{7427BEF1-BAA1-EF9D-5A88-A8BCBC04634B}"/>
              </a:ext>
            </a:extLst>
          </p:cNvPr>
          <p:cNvPicPr>
            <a:picLocks noChangeAspect="1"/>
          </p:cNvPicPr>
          <p:nvPr/>
        </p:nvPicPr>
        <p:blipFill>
          <a:blip r:embed="rId3"/>
          <a:stretch>
            <a:fillRect/>
          </a:stretch>
        </p:blipFill>
        <p:spPr>
          <a:xfrm>
            <a:off x="1441810" y="1377315"/>
            <a:ext cx="9308381" cy="5161598"/>
          </a:xfrm>
          <a:prstGeom prst="rect">
            <a:avLst/>
          </a:prstGeom>
        </p:spPr>
      </p:pic>
      <p:sp>
        <p:nvSpPr>
          <p:cNvPr id="2" name="標題 1">
            <a:extLst>
              <a:ext uri="{FF2B5EF4-FFF2-40B4-BE49-F238E27FC236}">
                <a16:creationId xmlns:a16="http://schemas.microsoft.com/office/drawing/2014/main" id="{2110FF67-9F8B-55B7-9ED7-9C4E52975007}"/>
              </a:ext>
            </a:extLst>
          </p:cNvPr>
          <p:cNvSpPr>
            <a:spLocks noGrp="1"/>
          </p:cNvSpPr>
          <p:nvPr>
            <p:ph type="title"/>
          </p:nvPr>
        </p:nvSpPr>
        <p:spPr>
          <a:xfrm>
            <a:off x="609600" y="260648"/>
            <a:ext cx="10972800" cy="1143000"/>
          </a:xfrm>
        </p:spPr>
        <p:txBody>
          <a:bodyPr/>
          <a:lstStyle/>
          <a:p>
            <a:pPr>
              <a:defRPr/>
            </a:pPr>
            <a:r>
              <a:rPr lang="en-US" altLang="zh-TW" dirty="0"/>
              <a:t>Case Study</a:t>
            </a:r>
          </a:p>
        </p:txBody>
      </p:sp>
      <p:sp>
        <p:nvSpPr>
          <p:cNvPr id="4" name="日期版面配置區 3">
            <a:extLst>
              <a:ext uri="{FF2B5EF4-FFF2-40B4-BE49-F238E27FC236}">
                <a16:creationId xmlns:a16="http://schemas.microsoft.com/office/drawing/2014/main" id="{E9391989-375F-8A42-8F3E-FE50C90B45C8}"/>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1E388D97-BA52-DA20-E751-58B264FFEEA0}"/>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C3425FC1-9EA7-EFDB-CB28-86A8C3B0A98F}"/>
              </a:ext>
            </a:extLst>
          </p:cNvPr>
          <p:cNvSpPr>
            <a:spLocks noGrp="1"/>
          </p:cNvSpPr>
          <p:nvPr>
            <p:ph type="sldNum" sz="quarter" idx="12"/>
          </p:nvPr>
        </p:nvSpPr>
        <p:spPr/>
        <p:txBody>
          <a:bodyPr/>
          <a:lstStyle/>
          <a:p>
            <a:fld id="{7408114E-E8DD-9044-BC35-9779A826010B}" type="slidenum">
              <a:rPr lang="zh-TW" altLang="en-US" smtClean="0"/>
              <a:pPr/>
              <a:t>9</a:t>
            </a:fld>
            <a:endParaRPr lang="zh-TW" altLang="en-US"/>
          </a:p>
        </p:txBody>
      </p:sp>
      <p:sp>
        <p:nvSpPr>
          <p:cNvPr id="9" name="矩形 8">
            <a:extLst>
              <a:ext uri="{FF2B5EF4-FFF2-40B4-BE49-F238E27FC236}">
                <a16:creationId xmlns:a16="http://schemas.microsoft.com/office/drawing/2014/main" id="{AD7985CD-2D53-8495-419F-58F3BCE8D52F}"/>
              </a:ext>
            </a:extLst>
          </p:cNvPr>
          <p:cNvSpPr/>
          <p:nvPr/>
        </p:nvSpPr>
        <p:spPr>
          <a:xfrm>
            <a:off x="2315580" y="1700808"/>
            <a:ext cx="8388932" cy="17612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noFill/>
            </a:endParaRPr>
          </a:p>
        </p:txBody>
      </p:sp>
      <p:sp>
        <p:nvSpPr>
          <p:cNvPr id="10" name="矩形 9">
            <a:extLst>
              <a:ext uri="{FF2B5EF4-FFF2-40B4-BE49-F238E27FC236}">
                <a16:creationId xmlns:a16="http://schemas.microsoft.com/office/drawing/2014/main" id="{71372EC2-3FB2-1D49-D16B-6C197028AFD7}"/>
              </a:ext>
            </a:extLst>
          </p:cNvPr>
          <p:cNvSpPr/>
          <p:nvPr/>
        </p:nvSpPr>
        <p:spPr>
          <a:xfrm>
            <a:off x="2315580" y="3540512"/>
            <a:ext cx="6660740" cy="10406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noFill/>
            </a:endParaRPr>
          </a:p>
        </p:txBody>
      </p:sp>
      <p:sp>
        <p:nvSpPr>
          <p:cNvPr id="11" name="矩形 10">
            <a:extLst>
              <a:ext uri="{FF2B5EF4-FFF2-40B4-BE49-F238E27FC236}">
                <a16:creationId xmlns:a16="http://schemas.microsoft.com/office/drawing/2014/main" id="{55345E96-A034-DAD0-FC89-079898D6C61B}"/>
              </a:ext>
            </a:extLst>
          </p:cNvPr>
          <p:cNvSpPr/>
          <p:nvPr/>
        </p:nvSpPr>
        <p:spPr>
          <a:xfrm>
            <a:off x="2315580" y="4659572"/>
            <a:ext cx="7740860" cy="18333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noFill/>
            </a:endParaRPr>
          </a:p>
        </p:txBody>
      </p:sp>
    </p:spTree>
    <p:extLst>
      <p:ext uri="{BB962C8B-B14F-4D97-AF65-F5344CB8AC3E}">
        <p14:creationId xmlns:p14="http://schemas.microsoft.com/office/powerpoint/2010/main" val="208184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96545-47A3-22D6-B3FD-19D453576C0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187C90E-07B9-29D7-32F4-705DD6CBD3D1}"/>
              </a:ext>
            </a:extLst>
          </p:cNvPr>
          <p:cNvSpPr>
            <a:spLocks noGrp="1"/>
          </p:cNvSpPr>
          <p:nvPr>
            <p:ph type="title"/>
          </p:nvPr>
        </p:nvSpPr>
        <p:spPr>
          <a:xfrm>
            <a:off x="609600" y="260648"/>
            <a:ext cx="10972800" cy="1143000"/>
          </a:xfrm>
        </p:spPr>
        <p:txBody>
          <a:bodyPr/>
          <a:lstStyle/>
          <a:p>
            <a:pPr>
              <a:defRPr/>
            </a:pPr>
            <a:r>
              <a:rPr lang="en-US" altLang="zh-TW" dirty="0"/>
              <a:t>Case Study</a:t>
            </a:r>
          </a:p>
        </p:txBody>
      </p:sp>
      <p:sp>
        <p:nvSpPr>
          <p:cNvPr id="4" name="日期版面配置區 3">
            <a:extLst>
              <a:ext uri="{FF2B5EF4-FFF2-40B4-BE49-F238E27FC236}">
                <a16:creationId xmlns:a16="http://schemas.microsoft.com/office/drawing/2014/main" id="{964466EE-77C8-039A-95FB-38286C7251E9}"/>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BB4D1F90-0326-BC26-A293-7E6B946380E0}"/>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7CAFD24B-DBB9-2369-D7A5-7876B23EF887}"/>
              </a:ext>
            </a:extLst>
          </p:cNvPr>
          <p:cNvSpPr>
            <a:spLocks noGrp="1"/>
          </p:cNvSpPr>
          <p:nvPr>
            <p:ph type="sldNum" sz="quarter" idx="12"/>
          </p:nvPr>
        </p:nvSpPr>
        <p:spPr/>
        <p:txBody>
          <a:bodyPr/>
          <a:lstStyle/>
          <a:p>
            <a:fld id="{7408114E-E8DD-9044-BC35-9779A826010B}" type="slidenum">
              <a:rPr lang="zh-TW" altLang="en-US" smtClean="0"/>
              <a:pPr/>
              <a:t>10</a:t>
            </a:fld>
            <a:endParaRPr lang="zh-TW" altLang="en-US"/>
          </a:p>
        </p:txBody>
      </p:sp>
      <p:pic>
        <p:nvPicPr>
          <p:cNvPr id="8" name="圖片 7">
            <a:extLst>
              <a:ext uri="{FF2B5EF4-FFF2-40B4-BE49-F238E27FC236}">
                <a16:creationId xmlns:a16="http://schemas.microsoft.com/office/drawing/2014/main" id="{EB42EA01-E770-6B47-ECA5-CEDD1609EF15}"/>
              </a:ext>
            </a:extLst>
          </p:cNvPr>
          <p:cNvPicPr>
            <a:picLocks noChangeAspect="1"/>
          </p:cNvPicPr>
          <p:nvPr/>
        </p:nvPicPr>
        <p:blipFill>
          <a:blip r:embed="rId3"/>
          <a:stretch>
            <a:fillRect/>
          </a:stretch>
        </p:blipFill>
        <p:spPr>
          <a:xfrm>
            <a:off x="1775520" y="1332051"/>
            <a:ext cx="9073008" cy="5095898"/>
          </a:xfrm>
          <a:prstGeom prst="rect">
            <a:avLst/>
          </a:prstGeom>
        </p:spPr>
      </p:pic>
    </p:spTree>
    <p:extLst>
      <p:ext uri="{BB962C8B-B14F-4D97-AF65-F5344CB8AC3E}">
        <p14:creationId xmlns:p14="http://schemas.microsoft.com/office/powerpoint/2010/main" val="2509447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ABF6-9F94-2749-CD6C-849D671EDA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EED7229-A4EE-FF33-17F9-E0E927EE6800}"/>
              </a:ext>
            </a:extLst>
          </p:cNvPr>
          <p:cNvSpPr>
            <a:spLocks noGrp="1"/>
          </p:cNvSpPr>
          <p:nvPr>
            <p:ph type="title"/>
          </p:nvPr>
        </p:nvSpPr>
        <p:spPr>
          <a:xfrm>
            <a:off x="609600" y="260648"/>
            <a:ext cx="10972800" cy="1143000"/>
          </a:xfrm>
        </p:spPr>
        <p:txBody>
          <a:bodyPr/>
          <a:lstStyle/>
          <a:p>
            <a:pPr>
              <a:defRPr/>
            </a:pPr>
            <a:r>
              <a:rPr lang="en-US" altLang="zh-TW" dirty="0"/>
              <a:t>Case Study</a:t>
            </a:r>
          </a:p>
        </p:txBody>
      </p:sp>
      <p:sp>
        <p:nvSpPr>
          <p:cNvPr id="4" name="日期版面配置區 3">
            <a:extLst>
              <a:ext uri="{FF2B5EF4-FFF2-40B4-BE49-F238E27FC236}">
                <a16:creationId xmlns:a16="http://schemas.microsoft.com/office/drawing/2014/main" id="{D4F8453C-FEBB-220B-2314-B4681EA6A6CB}"/>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5DD4F6A9-F2FB-081F-3E51-94C8BFE88FFA}"/>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8DE17AD4-7C09-5F1F-69D9-F8925320B183}"/>
              </a:ext>
            </a:extLst>
          </p:cNvPr>
          <p:cNvSpPr>
            <a:spLocks noGrp="1"/>
          </p:cNvSpPr>
          <p:nvPr>
            <p:ph type="sldNum" sz="quarter" idx="12"/>
          </p:nvPr>
        </p:nvSpPr>
        <p:spPr/>
        <p:txBody>
          <a:bodyPr/>
          <a:lstStyle/>
          <a:p>
            <a:fld id="{7408114E-E8DD-9044-BC35-9779A826010B}" type="slidenum">
              <a:rPr lang="zh-TW" altLang="en-US" smtClean="0"/>
              <a:pPr/>
              <a:t>11</a:t>
            </a:fld>
            <a:endParaRPr lang="zh-TW" altLang="en-US"/>
          </a:p>
        </p:txBody>
      </p:sp>
      <p:pic>
        <p:nvPicPr>
          <p:cNvPr id="8" name="圖片 7">
            <a:extLst>
              <a:ext uri="{FF2B5EF4-FFF2-40B4-BE49-F238E27FC236}">
                <a16:creationId xmlns:a16="http://schemas.microsoft.com/office/drawing/2014/main" id="{355159B9-4FEF-6558-9F7F-C0C9E684190E}"/>
              </a:ext>
            </a:extLst>
          </p:cNvPr>
          <p:cNvPicPr>
            <a:picLocks noChangeAspect="1"/>
          </p:cNvPicPr>
          <p:nvPr/>
        </p:nvPicPr>
        <p:blipFill>
          <a:blip r:embed="rId3"/>
          <a:stretch>
            <a:fillRect/>
          </a:stretch>
        </p:blipFill>
        <p:spPr>
          <a:xfrm>
            <a:off x="263352" y="2420888"/>
            <a:ext cx="11665296" cy="2918867"/>
          </a:xfrm>
          <a:prstGeom prst="rect">
            <a:avLst/>
          </a:prstGeom>
        </p:spPr>
      </p:pic>
    </p:spTree>
    <p:extLst>
      <p:ext uri="{BB962C8B-B14F-4D97-AF65-F5344CB8AC3E}">
        <p14:creationId xmlns:p14="http://schemas.microsoft.com/office/powerpoint/2010/main" val="958300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2BD4-F4AA-AD23-7FFF-9A635851C258}"/>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9F2D3421-F143-85B6-C561-16F8B1D33279}"/>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1DF4F40C-8398-76C2-1314-285AB6DE57F9}"/>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BE3BC016-1106-3BC2-D8B5-8D087EC9CFE9}"/>
              </a:ext>
            </a:extLst>
          </p:cNvPr>
          <p:cNvSpPr>
            <a:spLocks noGrp="1"/>
          </p:cNvSpPr>
          <p:nvPr>
            <p:ph type="sldNum" sz="quarter" idx="12"/>
          </p:nvPr>
        </p:nvSpPr>
        <p:spPr/>
        <p:txBody>
          <a:bodyPr/>
          <a:lstStyle/>
          <a:p>
            <a:fld id="{7408114E-E8DD-9044-BC35-9779A826010B}" type="slidenum">
              <a:rPr lang="zh-TW" altLang="en-US" smtClean="0"/>
              <a:pPr/>
              <a:t>12</a:t>
            </a:fld>
            <a:endParaRPr lang="zh-TW" altLang="en-US"/>
          </a:p>
        </p:txBody>
      </p:sp>
      <p:sp>
        <p:nvSpPr>
          <p:cNvPr id="11" name="標題 1">
            <a:extLst>
              <a:ext uri="{FF2B5EF4-FFF2-40B4-BE49-F238E27FC236}">
                <a16:creationId xmlns:a16="http://schemas.microsoft.com/office/drawing/2014/main" id="{D2933E66-2C6D-80FD-2F09-5D7678D734D7}"/>
              </a:ext>
            </a:extLst>
          </p:cNvPr>
          <p:cNvSpPr>
            <a:spLocks noGrp="1"/>
          </p:cNvSpPr>
          <p:nvPr>
            <p:ph type="title"/>
          </p:nvPr>
        </p:nvSpPr>
        <p:spPr>
          <a:xfrm>
            <a:off x="839416" y="279390"/>
            <a:ext cx="10972800" cy="1143000"/>
          </a:xfrm>
        </p:spPr>
        <p:txBody>
          <a:bodyPr/>
          <a:lstStyle/>
          <a:p>
            <a:pPr>
              <a:defRPr/>
            </a:pPr>
            <a:r>
              <a:rPr lang="en-US" altLang="zh-TW" sz="3200" dirty="0"/>
              <a:t>DBC and OOP</a:t>
            </a:r>
          </a:p>
        </p:txBody>
      </p:sp>
      <p:pic>
        <p:nvPicPr>
          <p:cNvPr id="16" name="圖片 15">
            <a:extLst>
              <a:ext uri="{FF2B5EF4-FFF2-40B4-BE49-F238E27FC236}">
                <a16:creationId xmlns:a16="http://schemas.microsoft.com/office/drawing/2014/main" id="{BB3CBD38-203F-C7B9-E684-05E290E9EE54}"/>
              </a:ext>
            </a:extLst>
          </p:cNvPr>
          <p:cNvPicPr>
            <a:picLocks noChangeAspect="1"/>
          </p:cNvPicPr>
          <p:nvPr/>
        </p:nvPicPr>
        <p:blipFill>
          <a:blip r:embed="rId3"/>
          <a:stretch>
            <a:fillRect/>
          </a:stretch>
        </p:blipFill>
        <p:spPr>
          <a:xfrm>
            <a:off x="1847528" y="1297109"/>
            <a:ext cx="8242501" cy="5281501"/>
          </a:xfrm>
          <a:prstGeom prst="rect">
            <a:avLst/>
          </a:prstGeom>
        </p:spPr>
      </p:pic>
    </p:spTree>
    <p:extLst>
      <p:ext uri="{BB962C8B-B14F-4D97-AF65-F5344CB8AC3E}">
        <p14:creationId xmlns:p14="http://schemas.microsoft.com/office/powerpoint/2010/main" val="1143775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8325-C8FE-0747-A121-763D833F60E9}"/>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54EB7DB8-CAC8-B01D-AE69-E566D28B1AE2}"/>
              </a:ext>
            </a:extLst>
          </p:cNvPr>
          <p:cNvSpPr>
            <a:spLocks noGrp="1"/>
          </p:cNvSpPr>
          <p:nvPr>
            <p:ph type="dt" sz="half" idx="10"/>
          </p:nvPr>
        </p:nvSpPr>
        <p:spPr/>
        <p:txBody>
          <a:bodyPr/>
          <a:lstStyle/>
          <a:p>
            <a:pPr>
              <a:defRPr/>
            </a:pPr>
            <a:fld id="{DFE053C5-6C4D-8948-A0B7-F6BA541D276A}" type="datetime1">
              <a:rPr lang="zh-TW" altLang="en-US" smtClean="0"/>
              <a:pPr>
                <a:defRPr/>
              </a:pPr>
              <a:t>2025/8/26</a:t>
            </a:fld>
            <a:endParaRPr lang="zh-TW" altLang="en-US" dirty="0"/>
          </a:p>
        </p:txBody>
      </p:sp>
      <p:sp>
        <p:nvSpPr>
          <p:cNvPr id="5" name="頁尾版面配置區 4">
            <a:extLst>
              <a:ext uri="{FF2B5EF4-FFF2-40B4-BE49-F238E27FC236}">
                <a16:creationId xmlns:a16="http://schemas.microsoft.com/office/drawing/2014/main" id="{899814A7-CDEB-0BCA-F4EE-3CFCC15C71E1}"/>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B85FAE1B-29AD-F820-1CF2-456B74F484E1}"/>
              </a:ext>
            </a:extLst>
          </p:cNvPr>
          <p:cNvSpPr>
            <a:spLocks noGrp="1"/>
          </p:cNvSpPr>
          <p:nvPr>
            <p:ph type="sldNum" sz="quarter" idx="12"/>
          </p:nvPr>
        </p:nvSpPr>
        <p:spPr/>
        <p:txBody>
          <a:bodyPr/>
          <a:lstStyle/>
          <a:p>
            <a:fld id="{7408114E-E8DD-9044-BC35-9779A826010B}" type="slidenum">
              <a:rPr lang="zh-TW" altLang="en-US" smtClean="0"/>
              <a:pPr/>
              <a:t>13</a:t>
            </a:fld>
            <a:endParaRPr lang="zh-TW" altLang="en-US"/>
          </a:p>
        </p:txBody>
      </p:sp>
      <p:sp>
        <p:nvSpPr>
          <p:cNvPr id="11" name="標題 1">
            <a:extLst>
              <a:ext uri="{FF2B5EF4-FFF2-40B4-BE49-F238E27FC236}">
                <a16:creationId xmlns:a16="http://schemas.microsoft.com/office/drawing/2014/main" id="{DB33CB1B-730F-B775-B811-F213BF71519A}"/>
              </a:ext>
            </a:extLst>
          </p:cNvPr>
          <p:cNvSpPr>
            <a:spLocks noGrp="1"/>
          </p:cNvSpPr>
          <p:nvPr>
            <p:ph type="title"/>
          </p:nvPr>
        </p:nvSpPr>
        <p:spPr>
          <a:xfrm>
            <a:off x="839416" y="279390"/>
            <a:ext cx="10972800" cy="1143000"/>
          </a:xfrm>
        </p:spPr>
        <p:txBody>
          <a:bodyPr/>
          <a:lstStyle/>
          <a:p>
            <a:pPr>
              <a:defRPr/>
            </a:pPr>
            <a:r>
              <a:rPr lang="en-US" altLang="zh-TW" sz="3200" dirty="0"/>
              <a:t>Conclusion</a:t>
            </a:r>
          </a:p>
        </p:txBody>
      </p:sp>
      <p:sp>
        <p:nvSpPr>
          <p:cNvPr id="7" name="文字方塊 6">
            <a:extLst>
              <a:ext uri="{FF2B5EF4-FFF2-40B4-BE49-F238E27FC236}">
                <a16:creationId xmlns:a16="http://schemas.microsoft.com/office/drawing/2014/main" id="{DC91260E-3676-3F2F-F112-F7347E5DD979}"/>
              </a:ext>
            </a:extLst>
          </p:cNvPr>
          <p:cNvSpPr txBox="1"/>
          <p:nvPr/>
        </p:nvSpPr>
        <p:spPr>
          <a:xfrm>
            <a:off x="947428" y="1406597"/>
            <a:ext cx="10297144" cy="4324261"/>
          </a:xfrm>
          <a:prstGeom prst="rect">
            <a:avLst/>
          </a:prstGeom>
          <a:noFill/>
        </p:spPr>
        <p:txBody>
          <a:bodyPr wrap="square" rtlCol="0">
            <a:spAutoFit/>
          </a:bodyPr>
          <a:lstStyle/>
          <a:p>
            <a:r>
              <a:rPr lang="zh-TW" altLang="en-US" sz="2500" b="1" dirty="0">
                <a:latin typeface="標楷體" panose="03000509000000000000" pitchFamily="65" charset="-120"/>
                <a:ea typeface="標楷體" panose="03000509000000000000" pitchFamily="65" charset="-120"/>
              </a:rPr>
              <a:t>核心理念：</a:t>
            </a:r>
            <a:r>
              <a:rPr lang="zh-TW" altLang="en-US" sz="2500" dirty="0">
                <a:latin typeface="標楷體" panose="03000509000000000000" pitchFamily="65" charset="-120"/>
                <a:ea typeface="標楷體" panose="03000509000000000000" pitchFamily="65" charset="-120"/>
              </a:rPr>
              <a:t>軟體元件之間以「契約」互動，明確規範雙方責任與權利。</a:t>
            </a:r>
          </a:p>
          <a:p>
            <a:r>
              <a:rPr lang="zh-TW" altLang="en-US" sz="2500" b="1" dirty="0">
                <a:latin typeface="標楷體" panose="03000509000000000000" pitchFamily="65" charset="-120"/>
                <a:ea typeface="標楷體" panose="03000509000000000000" pitchFamily="65" charset="-120"/>
              </a:rPr>
              <a:t>三大元素：</a:t>
            </a:r>
          </a:p>
          <a:p>
            <a:r>
              <a:rPr lang="en-US" altLang="zh-TW" sz="2500" dirty="0">
                <a:latin typeface="標楷體" panose="03000509000000000000" pitchFamily="65" charset="-120"/>
                <a:ea typeface="標楷體" panose="03000509000000000000" pitchFamily="65" charset="-120"/>
              </a:rPr>
              <a:t>1.Preconditions</a:t>
            </a:r>
            <a:r>
              <a:rPr lang="zh-TW" altLang="en-US" sz="2500" dirty="0">
                <a:latin typeface="標楷體" panose="03000509000000000000" pitchFamily="65" charset="-120"/>
                <a:ea typeface="標楷體" panose="03000509000000000000" pitchFamily="65" charset="-120"/>
              </a:rPr>
              <a:t>（前置條件）：呼叫者必須滿足的條件（</a:t>
            </a:r>
            <a:r>
              <a:rPr lang="en-US" altLang="zh-TW" sz="2500" dirty="0">
                <a:latin typeface="標楷體" panose="03000509000000000000" pitchFamily="65" charset="-120"/>
                <a:ea typeface="標楷體" panose="03000509000000000000" pitchFamily="65" charset="-120"/>
              </a:rPr>
              <a:t>Caller’s obligation</a:t>
            </a:r>
            <a:r>
              <a:rPr lang="zh-TW" altLang="en-US" sz="2500" dirty="0">
                <a:latin typeface="標楷體" panose="03000509000000000000" pitchFamily="65" charset="-120"/>
                <a:ea typeface="標楷體" panose="03000509000000000000" pitchFamily="65" charset="-120"/>
              </a:rPr>
              <a:t>）。</a:t>
            </a:r>
          </a:p>
          <a:p>
            <a:r>
              <a:rPr lang="en-US" altLang="zh-TW" sz="2500" dirty="0">
                <a:latin typeface="標楷體" panose="03000509000000000000" pitchFamily="65" charset="-120"/>
                <a:ea typeface="標楷體" panose="03000509000000000000" pitchFamily="65" charset="-120"/>
              </a:rPr>
              <a:t>2.Postconditions</a:t>
            </a:r>
            <a:r>
              <a:rPr lang="zh-TW" altLang="en-US" sz="2500" dirty="0">
                <a:latin typeface="標楷體" panose="03000509000000000000" pitchFamily="65" charset="-120"/>
                <a:ea typeface="標楷體" panose="03000509000000000000" pitchFamily="65" charset="-120"/>
              </a:rPr>
              <a:t>（後置條件）：被呼叫者必須保證的結果（</a:t>
            </a:r>
            <a:r>
              <a:rPr lang="en-US" altLang="zh-TW" sz="2500" dirty="0">
                <a:latin typeface="標楷體" panose="03000509000000000000" pitchFamily="65" charset="-120"/>
                <a:ea typeface="標楷體" panose="03000509000000000000" pitchFamily="65" charset="-120"/>
              </a:rPr>
              <a:t>Callee’s obligation</a:t>
            </a:r>
            <a:r>
              <a:rPr lang="zh-TW" altLang="en-US" sz="2500" dirty="0">
                <a:latin typeface="標楷體" panose="03000509000000000000" pitchFamily="65" charset="-120"/>
                <a:ea typeface="標楷體" panose="03000509000000000000" pitchFamily="65" charset="-120"/>
              </a:rPr>
              <a:t>）。</a:t>
            </a:r>
          </a:p>
          <a:p>
            <a:r>
              <a:rPr lang="en-US" altLang="zh-TW" sz="2500" dirty="0">
                <a:latin typeface="標楷體" panose="03000509000000000000" pitchFamily="65" charset="-120"/>
                <a:ea typeface="標楷體" panose="03000509000000000000" pitchFamily="65" charset="-120"/>
              </a:rPr>
              <a:t>3.Invariants</a:t>
            </a:r>
            <a:r>
              <a:rPr lang="zh-TW" altLang="en-US" sz="2500" dirty="0">
                <a:latin typeface="標楷體" panose="03000509000000000000" pitchFamily="65" charset="-120"/>
                <a:ea typeface="標楷體" panose="03000509000000000000" pitchFamily="65" charset="-120"/>
              </a:rPr>
              <a:t>（不變項）：類別在穩定狀態下必須始終成立的條件。</a:t>
            </a:r>
          </a:p>
          <a:p>
            <a:r>
              <a:rPr lang="zh-TW" altLang="en-US" sz="2500" b="1" dirty="0">
                <a:latin typeface="標楷體" panose="03000509000000000000" pitchFamily="65" charset="-120"/>
                <a:ea typeface="標楷體" panose="03000509000000000000" pitchFamily="65" charset="-120"/>
              </a:rPr>
              <a:t>特性</a:t>
            </a:r>
            <a:r>
              <a:rPr lang="zh-TW" altLang="en-US" sz="2500" dirty="0">
                <a:latin typeface="標楷體" panose="03000509000000000000" pitchFamily="65" charset="-120"/>
                <a:ea typeface="標楷體" panose="03000509000000000000" pitchFamily="65" charset="-120"/>
              </a:rPr>
              <a:t>：</a:t>
            </a:r>
          </a:p>
          <a:p>
            <a:r>
              <a:rPr lang="zh-TW" altLang="en-US" sz="2500" dirty="0">
                <a:latin typeface="標楷體" panose="03000509000000000000" pitchFamily="65" charset="-120"/>
                <a:ea typeface="標楷體" panose="03000509000000000000" pitchFamily="65" charset="-120"/>
              </a:rPr>
              <a:t>･ </a:t>
            </a:r>
            <a:r>
              <a:rPr lang="en-US" altLang="zh-TW" sz="2500" dirty="0">
                <a:latin typeface="標楷體" panose="03000509000000000000" pitchFamily="65" charset="-120"/>
                <a:ea typeface="標楷體" panose="03000509000000000000" pitchFamily="65" charset="-120"/>
              </a:rPr>
              <a:t>Reliability</a:t>
            </a:r>
            <a:r>
              <a:rPr lang="zh-TW" altLang="en-US" sz="2500" dirty="0">
                <a:latin typeface="標楷體" panose="03000509000000000000" pitchFamily="65" charset="-120"/>
                <a:ea typeface="標楷體" panose="03000509000000000000" pitchFamily="65" charset="-120"/>
              </a:rPr>
              <a:t>：避免模糊責任歸屬，快速定位錯誤。</a:t>
            </a:r>
          </a:p>
          <a:p>
            <a:r>
              <a:rPr lang="zh-TW" altLang="en-US" sz="2500" dirty="0">
                <a:latin typeface="標楷體" panose="03000509000000000000" pitchFamily="65" charset="-120"/>
                <a:ea typeface="標楷體" panose="03000509000000000000" pitchFamily="65" charset="-120"/>
              </a:rPr>
              <a:t>･ </a:t>
            </a:r>
            <a:r>
              <a:rPr lang="en-US" altLang="zh-TW" sz="2500" dirty="0">
                <a:latin typeface="標楷體" panose="03000509000000000000" pitchFamily="65" charset="-120"/>
                <a:ea typeface="標楷體" panose="03000509000000000000" pitchFamily="65" charset="-120"/>
              </a:rPr>
              <a:t>Maintainability</a:t>
            </a:r>
            <a:r>
              <a:rPr lang="zh-TW" altLang="en-US" sz="2500" dirty="0">
                <a:latin typeface="標楷體" panose="03000509000000000000" pitchFamily="65" charset="-120"/>
                <a:ea typeface="標楷體" panose="03000509000000000000" pitchFamily="65" charset="-120"/>
              </a:rPr>
              <a:t>：減少不必要的防禦性程式碼。</a:t>
            </a:r>
          </a:p>
          <a:p>
            <a:r>
              <a:rPr lang="zh-TW" altLang="en-US" sz="2500" dirty="0">
                <a:latin typeface="標楷體" panose="03000509000000000000" pitchFamily="65" charset="-120"/>
                <a:ea typeface="標楷體" panose="03000509000000000000" pitchFamily="65" charset="-120"/>
              </a:rPr>
              <a:t>･ 支援</a:t>
            </a:r>
            <a:r>
              <a:rPr lang="en-US" altLang="zh-TW" sz="2500" dirty="0">
                <a:latin typeface="標楷體" panose="03000509000000000000" pitchFamily="65" charset="-120"/>
                <a:ea typeface="標楷體" panose="03000509000000000000" pitchFamily="65" charset="-120"/>
              </a:rPr>
              <a:t>OOP</a:t>
            </a:r>
            <a:r>
              <a:rPr lang="zh-TW" altLang="en-US" sz="2500" dirty="0">
                <a:latin typeface="標楷體" panose="03000509000000000000" pitchFamily="65" charset="-120"/>
                <a:ea typeface="標楷體" panose="03000509000000000000" pitchFamily="65" charset="-120"/>
              </a:rPr>
              <a:t>一致性：保證繼承、多型與動態綁定下的行為相容性。</a:t>
            </a:r>
          </a:p>
        </p:txBody>
      </p:sp>
    </p:spTree>
    <p:extLst>
      <p:ext uri="{BB962C8B-B14F-4D97-AF65-F5344CB8AC3E}">
        <p14:creationId xmlns:p14="http://schemas.microsoft.com/office/powerpoint/2010/main" val="40940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180539-9442-EFCD-8826-501DBB828611}"/>
              </a:ext>
            </a:extLst>
          </p:cNvPr>
          <p:cNvSpPr>
            <a:spLocks noGrp="1"/>
          </p:cNvSpPr>
          <p:nvPr>
            <p:ph type="title"/>
          </p:nvPr>
        </p:nvSpPr>
        <p:spPr/>
        <p:txBody>
          <a:bodyPr/>
          <a:lstStyle/>
          <a:p>
            <a:r>
              <a:rPr lang="en-US" altLang="zh-TW" dirty="0"/>
              <a:t>Reference</a:t>
            </a:r>
            <a:endParaRPr lang="zh-TW" altLang="en-US" dirty="0"/>
          </a:p>
        </p:txBody>
      </p:sp>
      <p:sp>
        <p:nvSpPr>
          <p:cNvPr id="3" name="內容版面配置區 2">
            <a:extLst>
              <a:ext uri="{FF2B5EF4-FFF2-40B4-BE49-F238E27FC236}">
                <a16:creationId xmlns:a16="http://schemas.microsoft.com/office/drawing/2014/main" id="{05B72979-8141-3DC5-D38D-2D8A74255D87}"/>
              </a:ext>
            </a:extLst>
          </p:cNvPr>
          <p:cNvSpPr>
            <a:spLocks noGrp="1"/>
          </p:cNvSpPr>
          <p:nvPr>
            <p:ph idx="1"/>
          </p:nvPr>
        </p:nvSpPr>
        <p:spPr/>
        <p:txBody>
          <a:bodyPr/>
          <a:lstStyle/>
          <a:p>
            <a:pPr>
              <a:spcBef>
                <a:spcPts val="1050"/>
              </a:spcBef>
              <a:spcAft>
                <a:spcPts val="750"/>
              </a:spcAft>
            </a:pPr>
            <a:r>
              <a:rPr lang="en-US" altLang="zh-TW" sz="2400" b="1" dirty="0">
                <a:hlinkClick r:id="rId3"/>
              </a:rPr>
              <a:t>Maven Central: tw.teddysoft.ucontract:uContract:1.0.2</a:t>
            </a:r>
            <a:endParaRPr lang="en-US" altLang="zh-TW" sz="2400" b="1" dirty="0">
              <a:hlinkClick r:id="rId4"/>
            </a:endParaRPr>
          </a:p>
          <a:p>
            <a:pPr>
              <a:spcBef>
                <a:spcPts val="1050"/>
              </a:spcBef>
              <a:spcAft>
                <a:spcPts val="750"/>
              </a:spcAft>
            </a:pPr>
            <a:r>
              <a:rPr lang="zh-TW" altLang="en-US" sz="2400" b="1" dirty="0">
                <a:hlinkClick r:id="rId4"/>
              </a:rPr>
              <a:t>搞笑談軟工</a:t>
            </a:r>
            <a:r>
              <a:rPr lang="en-US" altLang="zh-TW" sz="2400" b="1" dirty="0">
                <a:hlinkClick r:id="rId4"/>
              </a:rPr>
              <a:t>:</a:t>
            </a:r>
            <a:r>
              <a:rPr lang="zh-TW" altLang="en-US" sz="2400" b="1" dirty="0">
                <a:hlinkClick r:id="rId4"/>
              </a:rPr>
              <a:t>用合約彌補測試案例的不足（上）：撰寫合約</a:t>
            </a:r>
            <a:endParaRPr lang="en-US" altLang="zh-TW" sz="2400" b="1" dirty="0"/>
          </a:p>
          <a:p>
            <a:pPr>
              <a:spcBef>
                <a:spcPts val="1050"/>
              </a:spcBef>
              <a:spcAft>
                <a:spcPts val="750"/>
              </a:spcAft>
            </a:pPr>
            <a:r>
              <a:rPr lang="zh-TW" altLang="en-US" sz="2400" b="1" dirty="0">
                <a:hlinkClick r:id="rId5"/>
              </a:rPr>
              <a:t>搞笑談軟工</a:t>
            </a:r>
            <a:r>
              <a:rPr lang="en-US" altLang="zh-TW" sz="2400" b="1" dirty="0">
                <a:hlinkClick r:id="rId5"/>
              </a:rPr>
              <a:t>:</a:t>
            </a:r>
            <a:r>
              <a:rPr lang="zh-TW" altLang="en-US" sz="2400" b="1" dirty="0">
                <a:hlinkClick r:id="rId5"/>
              </a:rPr>
              <a:t>用合約彌補測試案例的不足（下）：透過合約發現系統行為缺陷</a:t>
            </a:r>
            <a:endParaRPr lang="en-US" altLang="zh-TW" sz="2400" b="1" dirty="0"/>
          </a:p>
          <a:p>
            <a:pPr>
              <a:spcBef>
                <a:spcPts val="1050"/>
              </a:spcBef>
              <a:spcAft>
                <a:spcPts val="750"/>
              </a:spcAft>
            </a:pPr>
            <a:r>
              <a:rPr lang="zh-TW" altLang="en-US" sz="2400" b="1" dirty="0">
                <a:latin typeface="標楷體" panose="03000509000000000000" pitchFamily="65" charset="-120"/>
                <a:hlinkClick r:id="rId6"/>
              </a:rPr>
              <a:t>事件溯源（</a:t>
            </a:r>
            <a:r>
              <a:rPr lang="en-US" altLang="zh-TW" sz="2400" b="1" dirty="0">
                <a:latin typeface="標楷體" panose="03000509000000000000" pitchFamily="65" charset="-120"/>
                <a:hlinkClick r:id="rId6"/>
              </a:rPr>
              <a:t>8</a:t>
            </a:r>
            <a:r>
              <a:rPr lang="zh-TW" altLang="en-US" sz="2400" b="1" dirty="0">
                <a:latin typeface="標楷體" panose="03000509000000000000" pitchFamily="65" charset="-120"/>
                <a:hlinkClick r:id="rId6"/>
              </a:rPr>
              <a:t>）：什麼是</a:t>
            </a:r>
            <a:r>
              <a:rPr lang="en-US" altLang="zh-TW" sz="2400" b="1" dirty="0">
                <a:latin typeface="標楷體" panose="03000509000000000000" pitchFamily="65" charset="-120"/>
                <a:hlinkClick r:id="rId6"/>
              </a:rPr>
              <a:t>CQRS</a:t>
            </a:r>
            <a:r>
              <a:rPr lang="zh-TW" altLang="en-US" sz="2400" b="1" dirty="0">
                <a:latin typeface="標楷體" panose="03000509000000000000" pitchFamily="65" charset="-120"/>
                <a:hlinkClick r:id="rId6"/>
              </a:rPr>
              <a:t>？</a:t>
            </a:r>
            <a:endParaRPr lang="en-US" altLang="zh-TW" sz="2400" b="1" dirty="0">
              <a:latin typeface="標楷體" panose="03000509000000000000" pitchFamily="65" charset="-120"/>
            </a:endParaRPr>
          </a:p>
          <a:p>
            <a:pPr>
              <a:spcBef>
                <a:spcPts val="1050"/>
              </a:spcBef>
              <a:spcAft>
                <a:spcPts val="750"/>
              </a:spcAft>
            </a:pPr>
            <a:r>
              <a:rPr lang="zh-TW" altLang="en-US" sz="2400" b="1" dirty="0">
                <a:hlinkClick r:id="rId7"/>
              </a:rPr>
              <a:t>契約式設計 </a:t>
            </a:r>
            <a:r>
              <a:rPr lang="en-US" altLang="zh-TW" sz="2400" b="1" dirty="0">
                <a:hlinkClick r:id="rId7"/>
              </a:rPr>
              <a:t>( DBC Design By Contract ) vs </a:t>
            </a:r>
            <a:r>
              <a:rPr lang="zh-TW" altLang="en-US" sz="2400" b="1" dirty="0">
                <a:hlinkClick r:id="rId7"/>
              </a:rPr>
              <a:t>防禦式程式設計</a:t>
            </a:r>
            <a:r>
              <a:rPr lang="en-US" altLang="zh-TW" sz="2400" b="1" dirty="0">
                <a:hlinkClick r:id="rId7"/>
              </a:rPr>
              <a:t>( Defensive Programming )</a:t>
            </a:r>
            <a:endParaRPr lang="en-US" altLang="zh-TW" sz="2400" b="1" dirty="0"/>
          </a:p>
          <a:p>
            <a:pPr>
              <a:spcBef>
                <a:spcPts val="1050"/>
              </a:spcBef>
              <a:spcAft>
                <a:spcPts val="750"/>
              </a:spcAft>
            </a:pPr>
            <a:r>
              <a:rPr lang="en-US" altLang="zh-TW" sz="2400" dirty="0"/>
              <a:t>Meyer, B. (1992). </a:t>
            </a:r>
            <a:r>
              <a:rPr lang="en-US" altLang="zh-TW" sz="2400" i="1" dirty="0"/>
              <a:t>Applying “Design by Contract”</a:t>
            </a:r>
            <a:r>
              <a:rPr lang="en-US" altLang="zh-TW" sz="2400" dirty="0"/>
              <a:t>. </a:t>
            </a:r>
            <a:r>
              <a:rPr lang="en-US" altLang="zh-TW" sz="2400" b="1" dirty="0"/>
              <a:t>Computer</a:t>
            </a:r>
            <a:r>
              <a:rPr lang="en-US" altLang="zh-TW" sz="2400" dirty="0"/>
              <a:t>, 25(10), 40–51. IEEE.</a:t>
            </a:r>
            <a:endParaRPr lang="zh-TW" altLang="en-US" b="1" dirty="0"/>
          </a:p>
          <a:p>
            <a:pPr>
              <a:spcBef>
                <a:spcPts val="1050"/>
              </a:spcBef>
              <a:spcAft>
                <a:spcPts val="750"/>
              </a:spcAft>
            </a:pPr>
            <a:endParaRPr lang="en-US" altLang="zh-TW" b="1" i="0" dirty="0">
              <a:solidFill>
                <a:srgbClr val="000100"/>
              </a:solidFill>
              <a:effectLst/>
              <a:latin typeface="Helvetica Neue"/>
            </a:endParaRPr>
          </a:p>
          <a:p>
            <a:pPr>
              <a:spcBef>
                <a:spcPts val="1050"/>
              </a:spcBef>
              <a:spcAft>
                <a:spcPts val="750"/>
              </a:spcAft>
            </a:pPr>
            <a:endParaRPr lang="en-US" altLang="zh-TW" b="1" i="0" dirty="0">
              <a:solidFill>
                <a:srgbClr val="000100"/>
              </a:solidFill>
              <a:effectLst/>
              <a:latin typeface="Helvetica Neue"/>
            </a:endParaRPr>
          </a:p>
          <a:p>
            <a:pPr algn="l">
              <a:spcBef>
                <a:spcPts val="1050"/>
              </a:spcBef>
              <a:spcAft>
                <a:spcPts val="750"/>
              </a:spcAft>
            </a:pPr>
            <a:endParaRPr lang="en-US" altLang="zh-TW" b="1" i="0" dirty="0">
              <a:solidFill>
                <a:srgbClr val="000100"/>
              </a:solidFill>
              <a:effectLst/>
              <a:latin typeface="Helvetica Neue"/>
            </a:endParaRPr>
          </a:p>
        </p:txBody>
      </p:sp>
      <p:sp>
        <p:nvSpPr>
          <p:cNvPr id="4" name="日期版面配置區 3">
            <a:extLst>
              <a:ext uri="{FF2B5EF4-FFF2-40B4-BE49-F238E27FC236}">
                <a16:creationId xmlns:a16="http://schemas.microsoft.com/office/drawing/2014/main" id="{624DBA7A-CB6E-82CD-53FE-7645DF7911CA}"/>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E64A4E1E-8217-F98F-39BC-872161CBC8CA}"/>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FB21D724-C4DF-C765-B26F-22A6836EAFAA}"/>
              </a:ext>
            </a:extLst>
          </p:cNvPr>
          <p:cNvSpPr>
            <a:spLocks noGrp="1"/>
          </p:cNvSpPr>
          <p:nvPr>
            <p:ph type="sldNum" sz="quarter" idx="12"/>
          </p:nvPr>
        </p:nvSpPr>
        <p:spPr/>
        <p:txBody>
          <a:bodyPr/>
          <a:lstStyle/>
          <a:p>
            <a:fld id="{7408114E-E8DD-9044-BC35-9779A826010B}" type="slidenum">
              <a:rPr lang="zh-TW" altLang="en-US" smtClean="0"/>
              <a:pPr/>
              <a:t>14</a:t>
            </a:fld>
            <a:endParaRPr lang="zh-TW" altLang="en-US" dirty="0"/>
          </a:p>
        </p:txBody>
      </p:sp>
    </p:spTree>
    <p:extLst>
      <p:ext uri="{BB962C8B-B14F-4D97-AF65-F5344CB8AC3E}">
        <p14:creationId xmlns:p14="http://schemas.microsoft.com/office/powerpoint/2010/main" val="36173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49428EBB-52F3-DCDA-004A-C121C19FD1AB}"/>
              </a:ext>
            </a:extLst>
          </p:cNvPr>
          <p:cNvSpPr>
            <a:spLocks noGrp="1"/>
          </p:cNvSpPr>
          <p:nvPr>
            <p:ph type="ctrTitle"/>
          </p:nvPr>
        </p:nvSpPr>
        <p:spPr/>
        <p:txBody>
          <a:bodyPr/>
          <a:lstStyle/>
          <a:p>
            <a:r>
              <a:rPr lang="en-US" altLang="zh-TW" dirty="0"/>
              <a:t>Thanks for listening</a:t>
            </a:r>
            <a:endParaRPr lang="zh-TW" altLang="en-US" dirty="0"/>
          </a:p>
        </p:txBody>
      </p:sp>
      <p:sp>
        <p:nvSpPr>
          <p:cNvPr id="8" name="副標題 7">
            <a:extLst>
              <a:ext uri="{FF2B5EF4-FFF2-40B4-BE49-F238E27FC236}">
                <a16:creationId xmlns:a16="http://schemas.microsoft.com/office/drawing/2014/main" id="{3EA56918-8406-F3CE-1E00-603B5EF3B952}"/>
              </a:ext>
            </a:extLst>
          </p:cNvPr>
          <p:cNvSpPr>
            <a:spLocks noGrp="1"/>
          </p:cNvSpPr>
          <p:nvPr>
            <p:ph type="subTitle" idx="1"/>
          </p:nvPr>
        </p:nvSpPr>
        <p:spPr/>
        <p:txBody>
          <a:bodyPr/>
          <a:lstStyle/>
          <a:p>
            <a:r>
              <a:rPr lang="en-US" altLang="zh-TW" dirty="0"/>
              <a:t>QA</a:t>
            </a:r>
          </a:p>
          <a:p>
            <a:endParaRPr lang="zh-TW" altLang="en-US" dirty="0"/>
          </a:p>
        </p:txBody>
      </p:sp>
      <p:sp>
        <p:nvSpPr>
          <p:cNvPr id="4" name="日期版面配置區 3">
            <a:extLst>
              <a:ext uri="{FF2B5EF4-FFF2-40B4-BE49-F238E27FC236}">
                <a16:creationId xmlns:a16="http://schemas.microsoft.com/office/drawing/2014/main" id="{D92E1E64-631A-4CB4-4C7F-5278B2528B24}"/>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a:p>
        </p:txBody>
      </p:sp>
      <p:sp>
        <p:nvSpPr>
          <p:cNvPr id="5" name="頁尾版面配置區 4">
            <a:extLst>
              <a:ext uri="{FF2B5EF4-FFF2-40B4-BE49-F238E27FC236}">
                <a16:creationId xmlns:a16="http://schemas.microsoft.com/office/drawing/2014/main" id="{9F72B136-F273-B303-3F68-096C82558D91}"/>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B8DADF54-8EE1-BE91-465C-6E328C35B6AE}"/>
              </a:ext>
            </a:extLst>
          </p:cNvPr>
          <p:cNvSpPr>
            <a:spLocks noGrp="1"/>
          </p:cNvSpPr>
          <p:nvPr>
            <p:ph type="sldNum" sz="quarter" idx="12"/>
          </p:nvPr>
        </p:nvSpPr>
        <p:spPr/>
        <p:txBody>
          <a:bodyPr/>
          <a:lstStyle/>
          <a:p>
            <a:fld id="{7408114E-E8DD-9044-BC35-9779A826010B}" type="slidenum">
              <a:rPr lang="zh-TW" altLang="en-US" smtClean="0"/>
              <a:pPr/>
              <a:t>15</a:t>
            </a:fld>
            <a:endParaRPr lang="zh-TW" altLang="en-US"/>
          </a:p>
        </p:txBody>
      </p:sp>
    </p:spTree>
    <p:extLst>
      <p:ext uri="{BB962C8B-B14F-4D97-AF65-F5344CB8AC3E}">
        <p14:creationId xmlns:p14="http://schemas.microsoft.com/office/powerpoint/2010/main" val="4121251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183F-450C-CF4F-7C74-F1DAA1612CB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3763DE0-FDD3-A277-86AC-AC4065D1A079}"/>
              </a:ext>
            </a:extLst>
          </p:cNvPr>
          <p:cNvSpPr>
            <a:spLocks noGrp="1"/>
          </p:cNvSpPr>
          <p:nvPr>
            <p:ph type="title"/>
          </p:nvPr>
        </p:nvSpPr>
        <p:spPr>
          <a:xfrm>
            <a:off x="1233012" y="279640"/>
            <a:ext cx="10972800" cy="1143000"/>
          </a:xfrm>
        </p:spPr>
        <p:txBody>
          <a:bodyPr/>
          <a:lstStyle/>
          <a:p>
            <a:pPr>
              <a:defRPr/>
            </a:pPr>
            <a:r>
              <a:rPr lang="en-US" altLang="zh-TW" sz="3000" dirty="0"/>
              <a:t>Design by Contract </a:t>
            </a:r>
            <a:r>
              <a:rPr lang="en-US" altLang="zh-TW" sz="3000" dirty="0" err="1"/>
              <a:t>v.s</a:t>
            </a:r>
            <a:r>
              <a:rPr lang="en-US" altLang="zh-TW" sz="3000" dirty="0"/>
              <a:t>. Defensive Programming</a:t>
            </a:r>
          </a:p>
        </p:txBody>
      </p:sp>
      <p:sp>
        <p:nvSpPr>
          <p:cNvPr id="4" name="日期版面配置區 3">
            <a:extLst>
              <a:ext uri="{FF2B5EF4-FFF2-40B4-BE49-F238E27FC236}">
                <a16:creationId xmlns:a16="http://schemas.microsoft.com/office/drawing/2014/main" id="{B7181921-9BCA-2743-B04B-15A21A0D703A}"/>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31AD0320-BD00-8D38-945C-CB735FEEA0C8}"/>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8D308A9F-2DEB-D8E9-6803-29238E1BD27D}"/>
              </a:ext>
            </a:extLst>
          </p:cNvPr>
          <p:cNvSpPr>
            <a:spLocks noGrp="1"/>
          </p:cNvSpPr>
          <p:nvPr>
            <p:ph type="sldNum" sz="quarter" idx="12"/>
          </p:nvPr>
        </p:nvSpPr>
        <p:spPr/>
        <p:txBody>
          <a:bodyPr/>
          <a:lstStyle/>
          <a:p>
            <a:fld id="{7408114E-E8DD-9044-BC35-9779A826010B}" type="slidenum">
              <a:rPr lang="zh-TW" altLang="en-US" smtClean="0"/>
              <a:pPr/>
              <a:t>16</a:t>
            </a:fld>
            <a:endParaRPr lang="zh-TW" altLang="en-US"/>
          </a:p>
        </p:txBody>
      </p:sp>
      <p:pic>
        <p:nvPicPr>
          <p:cNvPr id="10" name="圖片 9">
            <a:extLst>
              <a:ext uri="{FF2B5EF4-FFF2-40B4-BE49-F238E27FC236}">
                <a16:creationId xmlns:a16="http://schemas.microsoft.com/office/drawing/2014/main" id="{1B663B0A-DDA5-F2C0-1B00-2CF8311D2500}"/>
              </a:ext>
            </a:extLst>
          </p:cNvPr>
          <p:cNvPicPr>
            <a:picLocks noChangeAspect="1"/>
          </p:cNvPicPr>
          <p:nvPr/>
        </p:nvPicPr>
        <p:blipFill>
          <a:blip r:embed="rId3"/>
          <a:stretch>
            <a:fillRect/>
          </a:stretch>
        </p:blipFill>
        <p:spPr>
          <a:xfrm>
            <a:off x="2531893" y="1422640"/>
            <a:ext cx="7128213" cy="4752142"/>
          </a:xfrm>
          <a:prstGeom prst="rect">
            <a:avLst/>
          </a:prstGeom>
        </p:spPr>
      </p:pic>
    </p:spTree>
    <p:extLst>
      <p:ext uri="{BB962C8B-B14F-4D97-AF65-F5344CB8AC3E}">
        <p14:creationId xmlns:p14="http://schemas.microsoft.com/office/powerpoint/2010/main" val="3582427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20A9-D0CB-F9BC-8B03-CB63613436F3}"/>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5CBFD03F-3F96-96D0-CA5E-EC3C06AED522}"/>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5F515ACF-5930-1C6C-A128-13C91149926D}"/>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A812035E-7B14-27A2-AA75-0B9F9C6E05F1}"/>
              </a:ext>
            </a:extLst>
          </p:cNvPr>
          <p:cNvSpPr>
            <a:spLocks noGrp="1"/>
          </p:cNvSpPr>
          <p:nvPr>
            <p:ph type="sldNum" sz="quarter" idx="12"/>
          </p:nvPr>
        </p:nvSpPr>
        <p:spPr/>
        <p:txBody>
          <a:bodyPr/>
          <a:lstStyle/>
          <a:p>
            <a:fld id="{7408114E-E8DD-9044-BC35-9779A826010B}" type="slidenum">
              <a:rPr lang="zh-TW" altLang="en-US" smtClean="0"/>
              <a:pPr/>
              <a:t>17</a:t>
            </a:fld>
            <a:endParaRPr lang="zh-TW" altLang="en-US"/>
          </a:p>
        </p:txBody>
      </p:sp>
      <p:pic>
        <p:nvPicPr>
          <p:cNvPr id="7" name="圖片 6">
            <a:extLst>
              <a:ext uri="{FF2B5EF4-FFF2-40B4-BE49-F238E27FC236}">
                <a16:creationId xmlns:a16="http://schemas.microsoft.com/office/drawing/2014/main" id="{860183E8-B9DF-6C1E-6CB7-F3B4221AD137}"/>
              </a:ext>
            </a:extLst>
          </p:cNvPr>
          <p:cNvPicPr>
            <a:picLocks noChangeAspect="1"/>
          </p:cNvPicPr>
          <p:nvPr/>
        </p:nvPicPr>
        <p:blipFill>
          <a:blip r:embed="rId3"/>
          <a:stretch>
            <a:fillRect/>
          </a:stretch>
        </p:blipFill>
        <p:spPr>
          <a:xfrm>
            <a:off x="2536911" y="1376396"/>
            <a:ext cx="7118178" cy="5143731"/>
          </a:xfrm>
          <a:prstGeom prst="rect">
            <a:avLst/>
          </a:prstGeom>
        </p:spPr>
      </p:pic>
      <p:sp>
        <p:nvSpPr>
          <p:cNvPr id="12" name="標題 1">
            <a:extLst>
              <a:ext uri="{FF2B5EF4-FFF2-40B4-BE49-F238E27FC236}">
                <a16:creationId xmlns:a16="http://schemas.microsoft.com/office/drawing/2014/main" id="{AD21E07C-FEB3-5C95-1C70-C2812BF87C22}"/>
              </a:ext>
            </a:extLst>
          </p:cNvPr>
          <p:cNvSpPr>
            <a:spLocks noGrp="1"/>
          </p:cNvSpPr>
          <p:nvPr>
            <p:ph type="title"/>
          </p:nvPr>
        </p:nvSpPr>
        <p:spPr>
          <a:xfrm>
            <a:off x="1233012" y="279640"/>
            <a:ext cx="10972800" cy="1143000"/>
          </a:xfrm>
        </p:spPr>
        <p:txBody>
          <a:bodyPr/>
          <a:lstStyle/>
          <a:p>
            <a:pPr>
              <a:defRPr/>
            </a:pPr>
            <a:r>
              <a:rPr lang="en-US" altLang="zh-TW" sz="3000" dirty="0"/>
              <a:t>Design by Contract </a:t>
            </a:r>
            <a:r>
              <a:rPr lang="en-US" altLang="zh-TW" sz="3000" dirty="0" err="1"/>
              <a:t>v.s</a:t>
            </a:r>
            <a:r>
              <a:rPr lang="en-US" altLang="zh-TW" sz="3000" dirty="0"/>
              <a:t>. Defensive Programming</a:t>
            </a:r>
          </a:p>
        </p:txBody>
      </p:sp>
    </p:spTree>
    <p:extLst>
      <p:ext uri="{BB962C8B-B14F-4D97-AF65-F5344CB8AC3E}">
        <p14:creationId xmlns:p14="http://schemas.microsoft.com/office/powerpoint/2010/main" val="2666656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3CCBD-D46C-1DD9-9EF7-05ADFAE8EA21}"/>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D872B022-2A90-4904-FFB7-4E75A940C825}"/>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7E0A2B6D-53CD-828F-D909-20875F93BADB}"/>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2EC5AA43-678C-8A9D-54EF-6E77A8E910D5}"/>
              </a:ext>
            </a:extLst>
          </p:cNvPr>
          <p:cNvSpPr>
            <a:spLocks noGrp="1"/>
          </p:cNvSpPr>
          <p:nvPr>
            <p:ph type="sldNum" sz="quarter" idx="12"/>
          </p:nvPr>
        </p:nvSpPr>
        <p:spPr/>
        <p:txBody>
          <a:bodyPr/>
          <a:lstStyle/>
          <a:p>
            <a:fld id="{7408114E-E8DD-9044-BC35-9779A826010B}" type="slidenum">
              <a:rPr lang="zh-TW" altLang="en-US" smtClean="0"/>
              <a:pPr/>
              <a:t>18</a:t>
            </a:fld>
            <a:endParaRPr lang="zh-TW" altLang="en-US"/>
          </a:p>
        </p:txBody>
      </p:sp>
      <p:pic>
        <p:nvPicPr>
          <p:cNvPr id="8" name="圖片 7">
            <a:extLst>
              <a:ext uri="{FF2B5EF4-FFF2-40B4-BE49-F238E27FC236}">
                <a16:creationId xmlns:a16="http://schemas.microsoft.com/office/drawing/2014/main" id="{C376A698-9166-29FF-34AB-B0B0CF17DDBC}"/>
              </a:ext>
            </a:extLst>
          </p:cNvPr>
          <p:cNvPicPr>
            <a:picLocks noChangeAspect="1"/>
          </p:cNvPicPr>
          <p:nvPr/>
        </p:nvPicPr>
        <p:blipFill>
          <a:blip r:embed="rId3"/>
          <a:stretch>
            <a:fillRect/>
          </a:stretch>
        </p:blipFill>
        <p:spPr>
          <a:xfrm>
            <a:off x="1896170" y="1328958"/>
            <a:ext cx="8399661" cy="5102084"/>
          </a:xfrm>
          <a:prstGeom prst="rect">
            <a:avLst/>
          </a:prstGeom>
        </p:spPr>
      </p:pic>
      <p:sp>
        <p:nvSpPr>
          <p:cNvPr id="12" name="標題 1">
            <a:extLst>
              <a:ext uri="{FF2B5EF4-FFF2-40B4-BE49-F238E27FC236}">
                <a16:creationId xmlns:a16="http://schemas.microsoft.com/office/drawing/2014/main" id="{BBF7D9A8-1028-3542-0763-CA4F9FEA0E3D}"/>
              </a:ext>
            </a:extLst>
          </p:cNvPr>
          <p:cNvSpPr>
            <a:spLocks noGrp="1"/>
          </p:cNvSpPr>
          <p:nvPr>
            <p:ph type="title"/>
          </p:nvPr>
        </p:nvSpPr>
        <p:spPr>
          <a:xfrm>
            <a:off x="1233012" y="279640"/>
            <a:ext cx="10972800" cy="1143000"/>
          </a:xfrm>
        </p:spPr>
        <p:txBody>
          <a:bodyPr/>
          <a:lstStyle/>
          <a:p>
            <a:pPr>
              <a:defRPr/>
            </a:pPr>
            <a:r>
              <a:rPr lang="en-US" altLang="zh-TW" sz="3000" dirty="0"/>
              <a:t>Design by Contract </a:t>
            </a:r>
            <a:r>
              <a:rPr lang="en-US" altLang="zh-TW" sz="3000" dirty="0" err="1"/>
              <a:t>v.s</a:t>
            </a:r>
            <a:r>
              <a:rPr lang="en-US" altLang="zh-TW" sz="3000" dirty="0"/>
              <a:t>. Defensive Programming</a:t>
            </a:r>
          </a:p>
        </p:txBody>
      </p:sp>
    </p:spTree>
    <p:extLst>
      <p:ext uri="{BB962C8B-B14F-4D97-AF65-F5344CB8AC3E}">
        <p14:creationId xmlns:p14="http://schemas.microsoft.com/office/powerpoint/2010/main" val="1378661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A975-15F4-98FE-9880-73B525688EDB}"/>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21BA17AF-B2EE-168A-06B0-2BF7B5DA8C46}"/>
              </a:ext>
            </a:extLst>
          </p:cNvPr>
          <p:cNvSpPr>
            <a:spLocks noGrp="1"/>
          </p:cNvSpPr>
          <p:nvPr>
            <p:ph type="dt" sz="half" idx="10"/>
          </p:nvPr>
        </p:nvSpPr>
        <p:spPr/>
        <p:txBody>
          <a:bodyPr/>
          <a:lstStyle/>
          <a:p>
            <a:pPr>
              <a:defRPr/>
            </a:pPr>
            <a:fld id="{DFE053C5-6C4D-8948-A0B7-F6BA541D276A}" type="datetime1">
              <a:rPr lang="zh-TW" altLang="en-US" smtClean="0"/>
              <a:pPr>
                <a:defRPr/>
              </a:pPr>
              <a:t>2025/8/25</a:t>
            </a:fld>
            <a:endParaRPr lang="zh-TW" altLang="en-US" dirty="0"/>
          </a:p>
        </p:txBody>
      </p:sp>
      <p:sp>
        <p:nvSpPr>
          <p:cNvPr id="5" name="頁尾版面配置區 4">
            <a:extLst>
              <a:ext uri="{FF2B5EF4-FFF2-40B4-BE49-F238E27FC236}">
                <a16:creationId xmlns:a16="http://schemas.microsoft.com/office/drawing/2014/main" id="{E211F7E5-125B-4F79-4821-4D6CAE2C3F98}"/>
              </a:ext>
            </a:extLst>
          </p:cNvPr>
          <p:cNvSpPr>
            <a:spLocks noGrp="1"/>
          </p:cNvSpPr>
          <p:nvPr>
            <p:ph type="ftr" sz="quarter" idx="11"/>
          </p:nvPr>
        </p:nvSpPr>
        <p:spPr>
          <a:xfrm>
            <a:off x="4079776" y="6492875"/>
            <a:ext cx="3860800" cy="365125"/>
          </a:xfrm>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9CE07B3A-0795-8ABD-1F51-DE7690F016E4}"/>
              </a:ext>
            </a:extLst>
          </p:cNvPr>
          <p:cNvSpPr>
            <a:spLocks noGrp="1"/>
          </p:cNvSpPr>
          <p:nvPr>
            <p:ph type="sldNum" sz="quarter" idx="12"/>
          </p:nvPr>
        </p:nvSpPr>
        <p:spPr/>
        <p:txBody>
          <a:bodyPr/>
          <a:lstStyle/>
          <a:p>
            <a:fld id="{7408114E-E8DD-9044-BC35-9779A826010B}" type="slidenum">
              <a:rPr lang="zh-TW" altLang="en-US" smtClean="0"/>
              <a:pPr/>
              <a:t>19</a:t>
            </a:fld>
            <a:endParaRPr lang="zh-TW" altLang="en-US"/>
          </a:p>
        </p:txBody>
      </p:sp>
      <p:graphicFrame>
        <p:nvGraphicFramePr>
          <p:cNvPr id="3" name="表格 2">
            <a:extLst>
              <a:ext uri="{FF2B5EF4-FFF2-40B4-BE49-F238E27FC236}">
                <a16:creationId xmlns:a16="http://schemas.microsoft.com/office/drawing/2014/main" id="{4909FAD2-DFFB-D422-0E95-45BE022E9918}"/>
              </a:ext>
            </a:extLst>
          </p:cNvPr>
          <p:cNvGraphicFramePr>
            <a:graphicFrameLocks noGrp="1"/>
          </p:cNvGraphicFramePr>
          <p:nvPr>
            <p:extLst>
              <p:ext uri="{D42A27DB-BD31-4B8C-83A1-F6EECF244321}">
                <p14:modId xmlns:p14="http://schemas.microsoft.com/office/powerpoint/2010/main" val="3444307277"/>
              </p:ext>
            </p:extLst>
          </p:nvPr>
        </p:nvGraphicFramePr>
        <p:xfrm>
          <a:off x="839416" y="1913393"/>
          <a:ext cx="10600952" cy="3933212"/>
        </p:xfrm>
        <a:graphic>
          <a:graphicData uri="http://schemas.openxmlformats.org/drawingml/2006/table">
            <a:tbl>
              <a:tblPr firstRow="1" bandRow="1">
                <a:tableStyleId>{5C22544A-7EE6-4342-B048-85BDC9FD1C3A}</a:tableStyleId>
              </a:tblPr>
              <a:tblGrid>
                <a:gridCol w="2176016">
                  <a:extLst>
                    <a:ext uri="{9D8B030D-6E8A-4147-A177-3AD203B41FA5}">
                      <a16:colId xmlns:a16="http://schemas.microsoft.com/office/drawing/2014/main" val="2955158425"/>
                    </a:ext>
                  </a:extLst>
                </a:gridCol>
                <a:gridCol w="4757786">
                  <a:extLst>
                    <a:ext uri="{9D8B030D-6E8A-4147-A177-3AD203B41FA5}">
                      <a16:colId xmlns:a16="http://schemas.microsoft.com/office/drawing/2014/main" val="1740283999"/>
                    </a:ext>
                  </a:extLst>
                </a:gridCol>
                <a:gridCol w="3667150">
                  <a:extLst>
                    <a:ext uri="{9D8B030D-6E8A-4147-A177-3AD203B41FA5}">
                      <a16:colId xmlns:a16="http://schemas.microsoft.com/office/drawing/2014/main" val="4025068780"/>
                    </a:ext>
                  </a:extLst>
                </a:gridCol>
              </a:tblGrid>
              <a:tr h="497616">
                <a:tc>
                  <a:txBody>
                    <a:bodyPr/>
                    <a:lstStyle/>
                    <a:p>
                      <a:pPr>
                        <a:buNone/>
                      </a:pPr>
                      <a:r>
                        <a:rPr lang="zh-TW" altLang="en-US" b="1" dirty="0">
                          <a:latin typeface="標楷體" panose="03000509000000000000" pitchFamily="65" charset="-120"/>
                          <a:ea typeface="標楷體" panose="03000509000000000000" pitchFamily="65" charset="-120"/>
                        </a:rPr>
                        <a:t>面向</a:t>
                      </a:r>
                      <a:endParaRPr lang="zh-TW" altLang="en-US" dirty="0">
                        <a:latin typeface="標楷體" panose="03000509000000000000" pitchFamily="65" charset="-120"/>
                        <a:ea typeface="標楷體" panose="03000509000000000000" pitchFamily="65" charset="-120"/>
                      </a:endParaRPr>
                    </a:p>
                  </a:txBody>
                  <a:tcPr anchor="ctr"/>
                </a:tc>
                <a:tc>
                  <a:txBody>
                    <a:bodyPr/>
                    <a:lstStyle/>
                    <a:p>
                      <a:pPr>
                        <a:buNone/>
                      </a:pPr>
                      <a:r>
                        <a:rPr lang="en-US" b="1">
                          <a:latin typeface="標楷體" panose="03000509000000000000" pitchFamily="65" charset="-120"/>
                          <a:ea typeface="標楷體" panose="03000509000000000000" pitchFamily="65" charset="-120"/>
                        </a:rPr>
                        <a:t>Design by Contract</a:t>
                      </a:r>
                      <a:endParaRPr lang="en-US">
                        <a:latin typeface="標楷體" panose="03000509000000000000" pitchFamily="65" charset="-120"/>
                        <a:ea typeface="標楷體" panose="03000509000000000000" pitchFamily="65" charset="-120"/>
                      </a:endParaRPr>
                    </a:p>
                  </a:txBody>
                  <a:tcPr anchor="ctr"/>
                </a:tc>
                <a:tc>
                  <a:txBody>
                    <a:bodyPr/>
                    <a:lstStyle/>
                    <a:p>
                      <a:pPr>
                        <a:buNone/>
                      </a:pPr>
                      <a:r>
                        <a:rPr lang="en-US" b="1">
                          <a:latin typeface="標楷體" panose="03000509000000000000" pitchFamily="65" charset="-120"/>
                          <a:ea typeface="標楷體" panose="03000509000000000000" pitchFamily="65" charset="-120"/>
                        </a:rPr>
                        <a:t>Defensive Programming</a:t>
                      </a:r>
                      <a:endParaRPr lang="en-US">
                        <a:latin typeface="標楷體" panose="03000509000000000000" pitchFamily="65" charset="-120"/>
                        <a:ea typeface="標楷體" panose="03000509000000000000" pitchFamily="65" charset="-120"/>
                      </a:endParaRPr>
                    </a:p>
                  </a:txBody>
                  <a:tcPr anchor="ctr"/>
                </a:tc>
                <a:extLst>
                  <a:ext uri="{0D108BD9-81ED-4DB2-BD59-A6C34878D82A}">
                    <a16:rowId xmlns:a16="http://schemas.microsoft.com/office/drawing/2014/main" val="2605089050"/>
                  </a:ext>
                </a:extLst>
              </a:tr>
              <a:tr h="858899">
                <a:tc>
                  <a:txBody>
                    <a:bodyPr/>
                    <a:lstStyle/>
                    <a:p>
                      <a:pPr>
                        <a:buNone/>
                      </a:pPr>
                      <a:r>
                        <a:rPr lang="zh-TW" altLang="en-US" b="1" dirty="0">
                          <a:latin typeface="標楷體" panose="03000509000000000000" pitchFamily="65" charset="-120"/>
                          <a:ea typeface="標楷體" panose="03000509000000000000" pitchFamily="65" charset="-120"/>
                        </a:rPr>
                        <a:t>核心差異</a:t>
                      </a:r>
                      <a:endParaRPr lang="zh-TW" altLang="en-US" dirty="0">
                        <a:latin typeface="標楷體" panose="03000509000000000000" pitchFamily="65" charset="-120"/>
                        <a:ea typeface="標楷體" panose="03000509000000000000" pitchFamily="65" charset="-120"/>
                      </a:endParaRPr>
                    </a:p>
                  </a:txBody>
                  <a:tcPr anchor="ctr"/>
                </a:tc>
                <a:tc>
                  <a:txBody>
                    <a:bodyPr/>
                    <a:lstStyle/>
                    <a:p>
                      <a:pPr>
                        <a:buNone/>
                      </a:pPr>
                      <a:r>
                        <a:rPr lang="zh-TW" altLang="en-US" dirty="0">
                          <a:latin typeface="標楷體" panose="03000509000000000000" pitchFamily="65" charset="-120"/>
                          <a:ea typeface="標楷體" panose="03000509000000000000" pitchFamily="65" charset="-120"/>
                        </a:rPr>
                        <a:t>明確責任分工，建立軟體元件間的契約</a:t>
                      </a:r>
                    </a:p>
                  </a:txBody>
                  <a:tcPr anchor="ctr"/>
                </a:tc>
                <a:tc>
                  <a:txBody>
                    <a:bodyPr/>
                    <a:lstStyle/>
                    <a:p>
                      <a:pPr>
                        <a:buNone/>
                      </a:pPr>
                      <a:r>
                        <a:rPr lang="zh-TW" altLang="en-US">
                          <a:latin typeface="標楷體" panose="03000509000000000000" pitchFamily="65" charset="-120"/>
                          <a:ea typeface="標楷體" panose="03000509000000000000" pitchFamily="65" charset="-120"/>
                        </a:rPr>
                        <a:t>不信任任何輸入，到處保護</a:t>
                      </a:r>
                    </a:p>
                  </a:txBody>
                  <a:tcPr anchor="ctr"/>
                </a:tc>
                <a:extLst>
                  <a:ext uri="{0D108BD9-81ED-4DB2-BD59-A6C34878D82A}">
                    <a16:rowId xmlns:a16="http://schemas.microsoft.com/office/drawing/2014/main" val="3545768904"/>
                  </a:ext>
                </a:extLst>
              </a:tr>
              <a:tr h="858899">
                <a:tc>
                  <a:txBody>
                    <a:bodyPr/>
                    <a:lstStyle/>
                    <a:p>
                      <a:pPr>
                        <a:buNone/>
                      </a:pPr>
                      <a:r>
                        <a:rPr lang="zh-TW" altLang="en-US" b="1">
                          <a:latin typeface="標楷體" panose="03000509000000000000" pitchFamily="65" charset="-120"/>
                          <a:ea typeface="標楷體" panose="03000509000000000000" pitchFamily="65" charset="-120"/>
                        </a:rPr>
                        <a:t>責任與錯誤處理</a:t>
                      </a:r>
                      <a:endParaRPr lang="zh-TW" altLang="en-US">
                        <a:latin typeface="標楷體" panose="03000509000000000000" pitchFamily="65" charset="-120"/>
                        <a:ea typeface="標楷體" panose="03000509000000000000" pitchFamily="65" charset="-120"/>
                      </a:endParaRPr>
                    </a:p>
                  </a:txBody>
                  <a:tcPr anchor="ctr"/>
                </a:tc>
                <a:tc>
                  <a:txBody>
                    <a:bodyPr/>
                    <a:lstStyle/>
                    <a:p>
                      <a:pPr>
                        <a:buNone/>
                      </a:pPr>
                      <a:r>
                        <a:rPr lang="zh-TW" altLang="en-US" dirty="0">
                          <a:latin typeface="標楷體" panose="03000509000000000000" pitchFamily="65" charset="-120"/>
                          <a:ea typeface="標楷體" panose="03000509000000000000" pitchFamily="65" charset="-120"/>
                        </a:rPr>
                        <a:t>明確責任分工，違反契約精確定責</a:t>
                      </a:r>
                    </a:p>
                  </a:txBody>
                  <a:tcPr anchor="ctr"/>
                </a:tc>
                <a:tc>
                  <a:txBody>
                    <a:bodyPr/>
                    <a:lstStyle/>
                    <a:p>
                      <a:pPr>
                        <a:buNone/>
                      </a:pPr>
                      <a:r>
                        <a:rPr lang="zh-TW" altLang="en-US">
                          <a:latin typeface="標楷體" panose="03000509000000000000" pitchFamily="65" charset="-120"/>
                          <a:ea typeface="標楷體" panose="03000509000000000000" pitchFamily="65" charset="-120"/>
                        </a:rPr>
                        <a:t>假設輸入不可信，統一防禦性例外</a:t>
                      </a:r>
                    </a:p>
                  </a:txBody>
                  <a:tcPr anchor="ctr"/>
                </a:tc>
                <a:extLst>
                  <a:ext uri="{0D108BD9-81ED-4DB2-BD59-A6C34878D82A}">
                    <a16:rowId xmlns:a16="http://schemas.microsoft.com/office/drawing/2014/main" val="4143246513"/>
                  </a:ext>
                </a:extLst>
              </a:tr>
              <a:tr h="858899">
                <a:tc>
                  <a:txBody>
                    <a:bodyPr/>
                    <a:lstStyle/>
                    <a:p>
                      <a:pPr>
                        <a:buNone/>
                      </a:pPr>
                      <a:r>
                        <a:rPr lang="zh-TW" altLang="en-US" b="1">
                          <a:latin typeface="標楷體" panose="03000509000000000000" pitchFamily="65" charset="-120"/>
                          <a:ea typeface="標楷體" panose="03000509000000000000" pitchFamily="65" charset="-120"/>
                        </a:rPr>
                        <a:t>檢查策略</a:t>
                      </a:r>
                      <a:endParaRPr lang="zh-TW" altLang="en-US">
                        <a:latin typeface="標楷體" panose="03000509000000000000" pitchFamily="65" charset="-120"/>
                        <a:ea typeface="標楷體" panose="03000509000000000000" pitchFamily="65" charset="-120"/>
                      </a:endParaRPr>
                    </a:p>
                  </a:txBody>
                  <a:tcPr anchor="ctr"/>
                </a:tc>
                <a:tc>
                  <a:txBody>
                    <a:bodyPr/>
                    <a:lstStyle/>
                    <a:p>
                      <a:pPr>
                        <a:buNone/>
                      </a:pPr>
                      <a:r>
                        <a:rPr lang="zh-TW" altLang="en-US">
                          <a:latin typeface="標楷體" panose="03000509000000000000" pitchFamily="65" charset="-120"/>
                          <a:ea typeface="標楷體" panose="03000509000000000000" pitchFamily="65" charset="-120"/>
                        </a:rPr>
                        <a:t>介面邊界自動檢查，與業務邏輯分離</a:t>
                      </a:r>
                    </a:p>
                  </a:txBody>
                  <a:tcPr anchor="ctr"/>
                </a:tc>
                <a:tc>
                  <a:txBody>
                    <a:bodyPr/>
                    <a:lstStyle/>
                    <a:p>
                      <a:pPr>
                        <a:buNone/>
                      </a:pPr>
                      <a:r>
                        <a:rPr lang="zh-TW" altLang="en-US">
                          <a:latin typeface="標楷體" panose="03000509000000000000" pitchFamily="65" charset="-120"/>
                          <a:ea typeface="標楷體" panose="03000509000000000000" pitchFamily="65" charset="-120"/>
                        </a:rPr>
                        <a:t>內部到處檢查，與業務邏輯混合</a:t>
                      </a:r>
                    </a:p>
                  </a:txBody>
                  <a:tcPr anchor="ctr"/>
                </a:tc>
                <a:extLst>
                  <a:ext uri="{0D108BD9-81ED-4DB2-BD59-A6C34878D82A}">
                    <a16:rowId xmlns:a16="http://schemas.microsoft.com/office/drawing/2014/main" val="19001852"/>
                  </a:ext>
                </a:extLst>
              </a:tr>
              <a:tr h="858899">
                <a:tc>
                  <a:txBody>
                    <a:bodyPr/>
                    <a:lstStyle/>
                    <a:p>
                      <a:pPr>
                        <a:buNone/>
                      </a:pPr>
                      <a:r>
                        <a:rPr lang="zh-TW" altLang="en-US" b="1">
                          <a:latin typeface="標楷體" panose="03000509000000000000" pitchFamily="65" charset="-120"/>
                          <a:ea typeface="標楷體" panose="03000509000000000000" pitchFamily="65" charset="-120"/>
                        </a:rPr>
                        <a:t>開發特徵</a:t>
                      </a:r>
                      <a:endParaRPr lang="zh-TW" altLang="en-US">
                        <a:latin typeface="標楷體" panose="03000509000000000000" pitchFamily="65" charset="-120"/>
                        <a:ea typeface="標楷體" panose="03000509000000000000" pitchFamily="65" charset="-120"/>
                      </a:endParaRPr>
                    </a:p>
                  </a:txBody>
                  <a:tcPr anchor="ctr"/>
                </a:tc>
                <a:tc>
                  <a:txBody>
                    <a:bodyPr/>
                    <a:lstStyle/>
                    <a:p>
                      <a:pPr>
                        <a:buNone/>
                      </a:pPr>
                      <a:r>
                        <a:rPr lang="zh-TW" altLang="en-US">
                          <a:latin typeface="標楷體" panose="03000509000000000000" pitchFamily="65" charset="-120"/>
                          <a:ea typeface="標楷體" panose="03000509000000000000" pitchFamily="65" charset="-120"/>
                        </a:rPr>
                        <a:t>契約優先設計，文件同步，需理解責任分工</a:t>
                      </a:r>
                    </a:p>
                  </a:txBody>
                  <a:tcPr anchor="ctr"/>
                </a:tc>
                <a:tc>
                  <a:txBody>
                    <a:bodyPr/>
                    <a:lstStyle/>
                    <a:p>
                      <a:pPr>
                        <a:buNone/>
                      </a:pPr>
                      <a:r>
                        <a:rPr lang="zh-TW" altLang="en-US" dirty="0">
                          <a:latin typeface="標楷體" panose="03000509000000000000" pitchFamily="65" charset="-120"/>
                          <a:ea typeface="標楷體" panose="03000509000000000000" pitchFamily="65" charset="-120"/>
                        </a:rPr>
                        <a:t>實作時防護，邏輯散落，概念直觀簡單</a:t>
                      </a:r>
                    </a:p>
                  </a:txBody>
                  <a:tcPr anchor="ctr"/>
                </a:tc>
                <a:extLst>
                  <a:ext uri="{0D108BD9-81ED-4DB2-BD59-A6C34878D82A}">
                    <a16:rowId xmlns:a16="http://schemas.microsoft.com/office/drawing/2014/main" val="2574788692"/>
                  </a:ext>
                </a:extLst>
              </a:tr>
            </a:tbl>
          </a:graphicData>
        </a:graphic>
      </p:graphicFrame>
      <p:sp>
        <p:nvSpPr>
          <p:cNvPr id="11" name="標題 1">
            <a:extLst>
              <a:ext uri="{FF2B5EF4-FFF2-40B4-BE49-F238E27FC236}">
                <a16:creationId xmlns:a16="http://schemas.microsoft.com/office/drawing/2014/main" id="{026A8B3B-E4D6-C6FB-8CD8-956C42417440}"/>
              </a:ext>
            </a:extLst>
          </p:cNvPr>
          <p:cNvSpPr>
            <a:spLocks noGrp="1"/>
          </p:cNvSpPr>
          <p:nvPr>
            <p:ph type="title"/>
          </p:nvPr>
        </p:nvSpPr>
        <p:spPr>
          <a:xfrm>
            <a:off x="1233012" y="279640"/>
            <a:ext cx="10972800" cy="1143000"/>
          </a:xfrm>
        </p:spPr>
        <p:txBody>
          <a:bodyPr/>
          <a:lstStyle/>
          <a:p>
            <a:pPr>
              <a:defRPr/>
            </a:pPr>
            <a:r>
              <a:rPr lang="en-US" altLang="zh-TW" sz="3000" dirty="0"/>
              <a:t>Design by Contract </a:t>
            </a:r>
            <a:r>
              <a:rPr lang="en-US" altLang="zh-TW" sz="3000" dirty="0" err="1"/>
              <a:t>v.s</a:t>
            </a:r>
            <a:r>
              <a:rPr lang="en-US" altLang="zh-TW" sz="3000" dirty="0"/>
              <a:t>. Defensive Programming</a:t>
            </a:r>
          </a:p>
        </p:txBody>
      </p:sp>
    </p:spTree>
    <p:extLst>
      <p:ext uri="{BB962C8B-B14F-4D97-AF65-F5344CB8AC3E}">
        <p14:creationId xmlns:p14="http://schemas.microsoft.com/office/powerpoint/2010/main" val="2983013633"/>
      </p:ext>
    </p:extLst>
  </p:cSld>
  <p:clrMapOvr>
    <a:masterClrMapping/>
  </p:clrMapOvr>
</p:sld>
</file>

<file path=ppt/theme/theme1.xml><?xml version="1.0" encoding="utf-8"?>
<a:theme xmlns:a="http://schemas.openxmlformats.org/drawingml/2006/main" name="blue_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簡報11" id="{6922D46F-0F15-BD4E-912F-2E75D1E2E774}" vid="{92D0F2A3-209E-254B-B530-A3E9B9D9A732}"/>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blue_w</Template>
  <TotalTime>7266</TotalTime>
  <Words>2181</Words>
  <Application>Microsoft Office PowerPoint</Application>
  <PresentationFormat>寬螢幕</PresentationFormat>
  <Paragraphs>202</Paragraphs>
  <Slides>19</Slides>
  <Notes>18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Helvetica Neue</vt:lpstr>
      <vt:lpstr>微軟正黑體</vt:lpstr>
      <vt:lpstr>標楷體</vt:lpstr>
      <vt:lpstr>Arial</vt:lpstr>
      <vt:lpstr>Calibri</vt:lpstr>
      <vt:lpstr>Times New Roman</vt:lpstr>
      <vt:lpstr>blue_w</vt:lpstr>
      <vt:lpstr>Make Your Domain Keep Its Promises!</vt:lpstr>
      <vt:lpstr>Outline</vt:lpstr>
      <vt:lpstr>Design by contract</vt:lpstr>
      <vt:lpstr>Design by contract</vt:lpstr>
      <vt:lpstr>The Three Pillars</vt:lpstr>
      <vt:lpstr>Meet uContract</vt:lpstr>
      <vt:lpstr>Meet uContract</vt:lpstr>
      <vt:lpstr>Meet uContract</vt:lpstr>
      <vt:lpstr>Case Study</vt:lpstr>
      <vt:lpstr>Case Study</vt:lpstr>
      <vt:lpstr>Case Study</vt:lpstr>
      <vt:lpstr>DBC and OOP</vt:lpstr>
      <vt:lpstr>Conclusion</vt:lpstr>
      <vt:lpstr>Reference</vt:lpstr>
      <vt:lpstr>Thanks for listening</vt:lpstr>
      <vt:lpstr>Design by Contract v.s. Defensive Programming</vt:lpstr>
      <vt:lpstr>Design by Contract v.s. Defensive Programming</vt:lpstr>
      <vt:lpstr>Design by Contract v.s. Defensive Programming</vt:lpstr>
      <vt:lpstr>Design by Contract v.s. Defensive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Architecture</dc:title>
  <dc:creator>李俊威</dc:creator>
  <cp:lastModifiedBy>Frank Li</cp:lastModifiedBy>
  <cp:revision>273</cp:revision>
  <dcterms:created xsi:type="dcterms:W3CDTF">2024-11-04T15:08:33Z</dcterms:created>
  <dcterms:modified xsi:type="dcterms:W3CDTF">2025-08-25T17:19:53Z</dcterms:modified>
</cp:coreProperties>
</file>